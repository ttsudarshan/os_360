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C278A68-8C2F-4C5E-9041-8CCB1ED7C24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Arial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24B87A-427E-49A0-97BA-9B0EE9334FDE}" type="slidenum">
              <a:rPr b="0" lang="en-US" sz="13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11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Arial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C38B16-C83E-4DAC-9DBF-E9DA9F12B9B1}" type="slidenum">
              <a:rPr b="0" lang="en-US" sz="13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11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Arial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A97D53-A2F2-438C-95FC-C658153BCCA5}" type="slidenum">
              <a:rPr b="0" lang="en-US" sz="13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11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Arial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5CE8A0-A0DC-4C55-9A7D-98EEFE9870DC}" type="slidenum">
              <a:rPr b="0" lang="en-US" sz="13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11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Arial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CFAADA-5173-4305-85FC-F76072DB7577}" type="slidenum">
              <a:rPr b="0" lang="en-US" sz="13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1864C9-9DBC-47B9-B314-6A6E88F4C4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0E95D-D608-4472-85F1-A2D33D823D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AACC7F-E285-47A2-9161-7522E9027B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3FDEF-4BB2-4A6F-B5BC-4A05ADC8C0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E6145A-94AF-4C1A-80C8-3520B83E24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A1AD9E-E4F7-4A62-BBC7-7DC8FCF926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6FAF0B-C401-47CE-850B-7BBC0C6940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3803B6-A8C1-4199-B0C9-149289DDE7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9E96D3-DC5D-43BD-9951-550E55886A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0720CC-319E-4275-A0AB-5FD88D7C0A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A8A216-2115-45D7-9533-76B4EA1A2A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50E5E8-F4F6-48E4-9588-A87E276EB21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111FDD-71EC-4DCD-A341-A6020894D2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72687D-3196-4E3C-8A8D-10A7D32EE2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07D11D-ADFD-4580-99E6-356F84F480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4B0C25-9130-4510-9D2A-51E6CE2628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649940-3C32-46E8-A95D-CA68A4AE43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A147E8-F0F6-4540-9FFE-2ADDCBDEC2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18C2FF-724D-4674-BBCB-2B6381D149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A12374-5AC7-4BD7-94EE-E5361C7252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3F593F-7628-447A-BF99-EF46FD5A5F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541C0B-E374-4EE3-B01F-7455250004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D52994-460D-468E-941C-0C5194E300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DB941A-410E-46E5-9BAD-2F058A1DB3E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B33749C-9B5C-4CFF-B5A0-64526FC32AF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4202AA-D35C-408A-836B-CFFFD454AB3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CSC360/660 Midterm Exam Review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503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000"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Exam Rules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069920"/>
            <a:ext cx="10515240" cy="5106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-2286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This is a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75-minute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 exam.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-2286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This exam includes all material covered from chapter 1 to 5 (inclusive).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-2286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This is a </a:t>
            </a:r>
            <a:r>
              <a:rPr b="1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</a:rPr>
              <a:t>close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 Book and </a:t>
            </a:r>
            <a:r>
              <a:rPr b="1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</a:rPr>
              <a:t>close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 Notes Exam.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-2286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You are not allowed to consult with any other student.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-2286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If you need to make assumptions to answer a question,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make sure to state them explicitly in your answer.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-2286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Calculator is allowed to use during the exam.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Contents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2286000" y="1932480"/>
            <a:ext cx="7351200" cy="3928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Chapter 1: OS Overview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Chapter 2: OS Structures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Chapter 3: Processes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Chapter 4: Threads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Chapter 5: CPU Scheduling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Chapter 1, 2: OS Overview and Structures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86880" cy="4169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OS Services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System Calls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User mode and Kernel mode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APIs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Structures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Monolithic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Layered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Microkernel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Chapter 3: Processes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86880" cy="4169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Process memory layout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Process states and transitions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Process context switch – compare with mode switch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fork(), exec(), and wait()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Inter-process communication (IPC)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Shared memory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Message passing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Chapter 4: Threads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86880" cy="4169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Difference between Process and Thread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Pthreads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Chapter 5: CPU Schduling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86880" cy="4169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Scheduling Algorithms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Non-preemptive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Preemptive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First Come First Serve (FCFS)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Shortest Job First (SJF)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Shortest Remaining Time First (SRTF)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Priority Scheduling (PS)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Round Robin Scheduling (RR)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7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en-US" sz="2800" spc="72" strike="noStrike">
                <a:solidFill>
                  <a:srgbClr val="000000"/>
                </a:solidFill>
                <a:latin typeface="Times New Roman"/>
                <a:ea typeface="SimSun"/>
              </a:rPr>
              <a:t>Using the program giving below: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lphaLcPeriod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What is the total number of processes created (including the main process)?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lphaLcPeriod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How many times does this code print "hello"? 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ourier New"/>
                <a:ea typeface="Calibri"/>
              </a:rPr>
              <a:t> 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2286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#include &lt;stdio.h&gt;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>
              <a:lnSpc>
                <a:spcPct val="107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int main() {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for (int i=0; i&lt; 3; i++){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    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fork();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}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printf(“hello\n”);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 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return 0;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Calibri"/>
              </a:rPr>
              <a:t>}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000"/>
          </a:bodyPr>
          <a:p>
            <a:pPr>
              <a:lnSpc>
                <a:spcPct val="107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Times New Roman"/>
                <a:ea typeface="SimSun"/>
              </a:rPr>
              <a:t>Using the program given below, identify the values of pid at lines A, B, C, and D.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7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Times New Roman"/>
                <a:ea typeface="SimSun"/>
              </a:rPr>
              <a:t>(Assume that the actual pids of the parent and child are 2600 and 2603, respectively. </a:t>
            </a: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getpid()</a:t>
            </a:r>
            <a:r>
              <a:rPr b="0" lang="en-US" sz="1800" spc="72" strike="noStrike">
                <a:solidFill>
                  <a:srgbClr val="000000"/>
                </a:solidFill>
                <a:latin typeface="Times New Roman"/>
                <a:ea typeface="SimSun"/>
              </a:rPr>
              <a:t> returns the pid of current process.)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#include &lt; sys/types.h &gt;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#include &lt; stdio.h &gt;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#include &lt; unistd.h &gt;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int main()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{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6858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pid_t pid, pid1;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6858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/* fork a child process */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6858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pid = fork();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6858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if (pid &lt; 0) { /* error occurred */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11430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fprintf(stderr, "Fork Failed");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11430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return 1;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6858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6858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else if (pid == 0) { /* child process */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11430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pid1 = getpid();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11430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printf("child: pid = %d",pid);     /* A */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11430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printf("child: pid1 = %d",pid1);   /* B */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6858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6858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else { /* parent process */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11430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pid1 = getpid();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11430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printf("parent: pid = %d",pid);    /* C */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11430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printf("parent: pid1 = %d",pid1);  /* D */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11430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wait(NULL);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6858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6858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return 0;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457200">
              <a:lnSpc>
                <a:spcPct val="107000"/>
              </a:lnSpc>
              <a:buNone/>
              <a:tabLst>
                <a:tab algn="l" pos="0"/>
              </a:tabLst>
            </a:pPr>
            <a:r>
              <a:rPr b="0" lang="en-US" sz="1800" spc="72" strike="noStrike">
                <a:solidFill>
                  <a:srgbClr val="000000"/>
                </a:solidFill>
                <a:latin typeface="Courier New"/>
                <a:ea typeface="SimSun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What is the output is the following program?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#include &lt;sys/types.h&gt;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#include &lt;stdio.h&gt;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#include &lt;unistd.h&gt;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int value = 5;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int main()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{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pid_t pid = fork();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if (pid == 0) {    /* child process */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value += 15;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printf("PARENT: value = %d",value);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}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else if (pid &gt; 0) {/* parent process */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wait(NULL);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value += 20;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printf("PARENT: value = %d",value);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   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exit(0);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Calibri"/>
              </a:rPr>
              <a:t>}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00"/>
          </a:bodyPr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Will it produce any output? If so, what is the output? If not fix it by adding additional lines to the code.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Does it produce the same output every time the program is executed (order of output doesn’t matter).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#include &lt;stdio.h&gt;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#include &lt;stdlib.h&gt;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#include &lt;pthread.h&gt;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void *functionCount1();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void *functionCount2();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pthread_mutex_t mutex1 = PTHREAD_MUTEX_INITIALIZER;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int count = 15;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int main(){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pthread_t thread1, thread2;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fork();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pthread_create(&amp;thread1, NULL, &amp;functionCount1, NULL);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pthread_join(thread1, NULL);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fork();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pthread_create(&amp;thread2, NULL, &amp;functionCount2, NULL);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pthread_join(thread2, NULL);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exit(0);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void *functionCount1(){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count = count * 2;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printf("fC1 = %d\n",count);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return(NULL);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void *functionCount2(){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for (int i = 0; i &lt; 2; i++)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{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pthread_mutex_lock(&amp;mutex1);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count = count + 5;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printf("fC2 = %d\n",count);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pthread_mutex_unlock(&amp;mutex1);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return(NULL);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Times New Roman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883120" y="2057400"/>
            <a:ext cx="193932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Won’t be in exam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Sample Questions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08" name="Content Placeholder 3"/>
          <p:cNvGraphicFramePr/>
          <p:nvPr/>
        </p:nvGraphicFramePr>
        <p:xfrm>
          <a:off x="2569680" y="1690560"/>
          <a:ext cx="5885280" cy="0"/>
        </p:xfrm>
        <a:graphic>
          <a:graphicData uri="http://schemas.openxmlformats.org/drawingml/2006/table">
            <a:tbl>
              <a:tblPr/>
              <a:tblGrid>
                <a:gridCol w="1178280"/>
                <a:gridCol w="1568880"/>
                <a:gridCol w="1308600"/>
                <a:gridCol w="1829160"/>
              </a:tblGrid>
              <a:tr h="0"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Process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Burst Time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Priority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Arrival Time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P1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4ms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3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0ms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0"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P2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3ms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1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2ms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0"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P3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2ms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2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Courier New"/>
                          <a:ea typeface="MS PGothic"/>
                        </a:rPr>
                        <a:t>4ms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</a:tbl>
          </a:graphicData>
        </a:graphic>
      </p:graphicFrame>
      <p:sp>
        <p:nvSpPr>
          <p:cNvPr id="109" name="Rectangle 3"/>
          <p:cNvSpPr/>
          <p:nvPr/>
        </p:nvSpPr>
        <p:spPr>
          <a:xfrm>
            <a:off x="2351160" y="3429000"/>
            <a:ext cx="7484760" cy="24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629"/>
              </a:spcBef>
              <a:buClr>
                <a:srgbClr val="993300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Q1: Show the schedule in Draw Gantt chart using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SRTF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algorithm.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9"/>
              </a:spcBef>
              <a:buClr>
                <a:srgbClr val="993300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Q2: What is the average waiting time?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29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9"/>
              </a:spcBef>
              <a:buClr>
                <a:srgbClr val="993300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ＭＳ Ｐゴシック"/>
              </a:rPr>
              <a:t>Q3: Other 4 algorithms (SJF, FCFS, PS, RR)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29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29"/>
              </a:spcBef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1381</TotalTime>
  <Application>LibreOffice/7.3.7.2$Linux_X86_64 LibreOffice_project/30$Build-2</Application>
  <AppVersion>15.0000</AppVersion>
  <Words>943</Words>
  <Paragraphs>175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2020-09-16T20:59:55Z</dcterms:created>
  <dc:creator>Liu, Siming</dc:creator>
  <dc:description/>
  <dc:language>en-US</dc:language>
  <cp:lastModifiedBy/>
  <dcterms:modified xsi:type="dcterms:W3CDTF">2024-09-17T13:14:44Z</dcterms:modified>
  <cp:revision>3</cp:revision>
  <dc:subject/>
  <dc:title>CSC360/660 Midterm1 Review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