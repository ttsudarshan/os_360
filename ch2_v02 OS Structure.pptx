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52"/>
  </p:notesMasterIdLst>
  <p:handoutMasterIdLst>
    <p:handoutMasterId r:id="rId53"/>
  </p:handoutMasterIdLst>
  <p:sldIdLst>
    <p:sldId id="330" r:id="rId2"/>
    <p:sldId id="275" r:id="rId3"/>
    <p:sldId id="277" r:id="rId4"/>
    <p:sldId id="373" r:id="rId5"/>
    <p:sldId id="288" r:id="rId6"/>
    <p:sldId id="336" r:id="rId7"/>
    <p:sldId id="371" r:id="rId8"/>
    <p:sldId id="278" r:id="rId9"/>
    <p:sldId id="289" r:id="rId10"/>
    <p:sldId id="365" r:id="rId11"/>
    <p:sldId id="374" r:id="rId12"/>
    <p:sldId id="348" r:id="rId13"/>
    <p:sldId id="366" r:id="rId14"/>
    <p:sldId id="372" r:id="rId15"/>
    <p:sldId id="279" r:id="rId16"/>
    <p:sldId id="290" r:id="rId17"/>
    <p:sldId id="367" r:id="rId18"/>
    <p:sldId id="294" r:id="rId19"/>
    <p:sldId id="293" r:id="rId20"/>
    <p:sldId id="295" r:id="rId21"/>
    <p:sldId id="368" r:id="rId22"/>
    <p:sldId id="280" r:id="rId23"/>
    <p:sldId id="349" r:id="rId24"/>
    <p:sldId id="339" r:id="rId25"/>
    <p:sldId id="335" r:id="rId26"/>
    <p:sldId id="344" r:id="rId27"/>
    <p:sldId id="345" r:id="rId28"/>
    <p:sldId id="302" r:id="rId29"/>
    <p:sldId id="329" r:id="rId30"/>
    <p:sldId id="351" r:id="rId31"/>
    <p:sldId id="282" r:id="rId32"/>
    <p:sldId id="333" r:id="rId33"/>
    <p:sldId id="375" r:id="rId34"/>
    <p:sldId id="353" r:id="rId35"/>
    <p:sldId id="303" r:id="rId36"/>
    <p:sldId id="305" r:id="rId37"/>
    <p:sldId id="306" r:id="rId38"/>
    <p:sldId id="369" r:id="rId39"/>
    <p:sldId id="370" r:id="rId40"/>
    <p:sldId id="307" r:id="rId41"/>
    <p:sldId id="310" r:id="rId42"/>
    <p:sldId id="354" r:id="rId43"/>
    <p:sldId id="313" r:id="rId44"/>
    <p:sldId id="314" r:id="rId45"/>
    <p:sldId id="355" r:id="rId46"/>
    <p:sldId id="356" r:id="rId47"/>
    <p:sldId id="357" r:id="rId48"/>
    <p:sldId id="358" r:id="rId49"/>
    <p:sldId id="359" r:id="rId50"/>
    <p:sldId id="331" r:id="rId51"/>
  </p:sldIdLst>
  <p:sldSz cx="9144000" cy="6858000" type="screen4x3"/>
  <p:notesSz cx="6881813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A"/>
    <a:srgbClr val="FF0000"/>
    <a:srgbClr val="CCECFF"/>
    <a:srgbClr val="66CCFF"/>
    <a:srgbClr val="CCFFFF"/>
    <a:srgbClr val="F8F8F8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A5C5147-602F-4AB4-A176-43FC86AF19E6}" v="8" dt="2024-01-18T02:43:48.0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220" autoAdjust="0"/>
  </p:normalViewPr>
  <p:slideViewPr>
    <p:cSldViewPr snapToGrid="0">
      <p:cViewPr varScale="1">
        <p:scale>
          <a:sx n="85" d="100"/>
          <a:sy n="85" d="100"/>
        </p:scale>
        <p:origin x="72" y="73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2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u, Siming" userId="1e4b75e0-8938-470c-9583-bf4243e4c4f1" providerId="ADAL" clId="{5A5C5147-602F-4AB4-A176-43FC86AF19E6}"/>
    <pc:docChg chg="custSel addSld delSld modSld">
      <pc:chgData name="Liu, Siming" userId="1e4b75e0-8938-470c-9583-bf4243e4c4f1" providerId="ADAL" clId="{5A5C5147-602F-4AB4-A176-43FC86AF19E6}" dt="2024-01-18T02:43:48.094" v="36"/>
      <pc:docMkLst>
        <pc:docMk/>
      </pc:docMkLst>
      <pc:sldChg chg="add">
        <pc:chgData name="Liu, Siming" userId="1e4b75e0-8938-470c-9583-bf4243e4c4f1" providerId="ADAL" clId="{5A5C5147-602F-4AB4-A176-43FC86AF19E6}" dt="2024-01-18T02:42:55.219" v="35"/>
        <pc:sldMkLst>
          <pc:docMk/>
          <pc:sldMk cId="0" sldId="303"/>
        </pc:sldMkLst>
      </pc:sldChg>
      <pc:sldChg chg="del">
        <pc:chgData name="Liu, Siming" userId="1e4b75e0-8938-470c-9583-bf4243e4c4f1" providerId="ADAL" clId="{5A5C5147-602F-4AB4-A176-43FC86AF19E6}" dt="2024-01-18T02:37:09.718" v="1" actId="47"/>
        <pc:sldMkLst>
          <pc:docMk/>
          <pc:sldMk cId="0" sldId="332"/>
        </pc:sldMkLst>
      </pc:sldChg>
      <pc:sldChg chg="add">
        <pc:chgData name="Liu, Siming" userId="1e4b75e0-8938-470c-9583-bf4243e4c4f1" providerId="ADAL" clId="{5A5C5147-602F-4AB4-A176-43FC86AF19E6}" dt="2024-01-18T02:39:37.359" v="4"/>
        <pc:sldMkLst>
          <pc:docMk/>
          <pc:sldMk cId="0" sldId="344"/>
        </pc:sldMkLst>
      </pc:sldChg>
      <pc:sldChg chg="add">
        <pc:chgData name="Liu, Siming" userId="1e4b75e0-8938-470c-9583-bf4243e4c4f1" providerId="ADAL" clId="{5A5C5147-602F-4AB4-A176-43FC86AF19E6}" dt="2024-01-18T02:39:52.757" v="5"/>
        <pc:sldMkLst>
          <pc:docMk/>
          <pc:sldMk cId="0" sldId="345"/>
        </pc:sldMkLst>
      </pc:sldChg>
      <pc:sldChg chg="add">
        <pc:chgData name="Liu, Siming" userId="1e4b75e0-8938-470c-9583-bf4243e4c4f1" providerId="ADAL" clId="{5A5C5147-602F-4AB4-A176-43FC86AF19E6}" dt="2024-01-18T02:37:58.888" v="3"/>
        <pc:sldMkLst>
          <pc:docMk/>
          <pc:sldMk cId="0" sldId="348"/>
        </pc:sldMkLst>
      </pc:sldChg>
      <pc:sldChg chg="del">
        <pc:chgData name="Liu, Siming" userId="1e4b75e0-8938-470c-9583-bf4243e4c4f1" providerId="ADAL" clId="{5A5C5147-602F-4AB4-A176-43FC86AF19E6}" dt="2024-01-18T02:42:19.527" v="7" actId="47"/>
        <pc:sldMkLst>
          <pc:docMk/>
          <pc:sldMk cId="0" sldId="352"/>
        </pc:sldMkLst>
      </pc:sldChg>
      <pc:sldChg chg="modSp mod">
        <pc:chgData name="Liu, Siming" userId="1e4b75e0-8938-470c-9583-bf4243e4c4f1" providerId="ADAL" clId="{5A5C5147-602F-4AB4-A176-43FC86AF19E6}" dt="2024-01-18T02:42:36.142" v="34" actId="20577"/>
        <pc:sldMkLst>
          <pc:docMk/>
          <pc:sldMk cId="0" sldId="353"/>
        </pc:sldMkLst>
        <pc:spChg chg="mod">
          <ac:chgData name="Liu, Siming" userId="1e4b75e0-8938-470c-9583-bf4243e4c4f1" providerId="ADAL" clId="{5A5C5147-602F-4AB4-A176-43FC86AF19E6}" dt="2024-01-18T02:42:36.142" v="34" actId="20577"/>
          <ac:spMkLst>
            <pc:docMk/>
            <pc:sldMk cId="0" sldId="353"/>
            <ac:spMk id="37891" creationId="{00000000-0000-0000-0000-000000000000}"/>
          </ac:spMkLst>
        </pc:spChg>
      </pc:sldChg>
      <pc:sldChg chg="add">
        <pc:chgData name="Liu, Siming" userId="1e4b75e0-8938-470c-9583-bf4243e4c4f1" providerId="ADAL" clId="{5A5C5147-602F-4AB4-A176-43FC86AF19E6}" dt="2024-01-18T02:43:48.094" v="36"/>
        <pc:sldMkLst>
          <pc:docMk/>
          <pc:sldMk cId="0" sldId="357"/>
        </pc:sldMkLst>
      </pc:sldChg>
      <pc:sldChg chg="add">
        <pc:chgData name="Liu, Siming" userId="1e4b75e0-8938-470c-9583-bf4243e4c4f1" providerId="ADAL" clId="{5A5C5147-602F-4AB4-A176-43FC86AF19E6}" dt="2024-01-18T02:43:48.094" v="36"/>
        <pc:sldMkLst>
          <pc:docMk/>
          <pc:sldMk cId="0" sldId="358"/>
        </pc:sldMkLst>
      </pc:sldChg>
      <pc:sldChg chg="add">
        <pc:chgData name="Liu, Siming" userId="1e4b75e0-8938-470c-9583-bf4243e4c4f1" providerId="ADAL" clId="{5A5C5147-602F-4AB4-A176-43FC86AF19E6}" dt="2024-01-18T02:43:48.094" v="36"/>
        <pc:sldMkLst>
          <pc:docMk/>
          <pc:sldMk cId="0" sldId="359"/>
        </pc:sldMkLst>
      </pc:sldChg>
      <pc:sldChg chg="add">
        <pc:chgData name="Liu, Siming" userId="1e4b75e0-8938-470c-9583-bf4243e4c4f1" providerId="ADAL" clId="{5A5C5147-602F-4AB4-A176-43FC86AF19E6}" dt="2024-01-18T02:37:30.072" v="2"/>
        <pc:sldMkLst>
          <pc:docMk/>
          <pc:sldMk cId="0" sldId="365"/>
        </pc:sldMkLst>
      </pc:sldChg>
      <pc:sldChg chg="add">
        <pc:chgData name="Liu, Siming" userId="1e4b75e0-8938-470c-9583-bf4243e4c4f1" providerId="ADAL" clId="{5A5C5147-602F-4AB4-A176-43FC86AF19E6}" dt="2024-01-18T02:37:58.888" v="3"/>
        <pc:sldMkLst>
          <pc:docMk/>
          <pc:sldMk cId="0" sldId="366"/>
        </pc:sldMkLst>
      </pc:sldChg>
      <pc:sldChg chg="add">
        <pc:chgData name="Liu, Siming" userId="1e4b75e0-8938-470c-9583-bf4243e4c4f1" providerId="ADAL" clId="{5A5C5147-602F-4AB4-A176-43FC86AF19E6}" dt="2024-01-18T02:36:58.031" v="0"/>
        <pc:sldMkLst>
          <pc:docMk/>
          <pc:sldMk cId="0" sldId="373"/>
        </pc:sldMkLst>
      </pc:sldChg>
      <pc:sldChg chg="add">
        <pc:chgData name="Liu, Siming" userId="1e4b75e0-8938-470c-9583-bf4243e4c4f1" providerId="ADAL" clId="{5A5C5147-602F-4AB4-A176-43FC86AF19E6}" dt="2024-01-18T02:37:58.888" v="3"/>
        <pc:sldMkLst>
          <pc:docMk/>
          <pc:sldMk cId="0" sldId="374"/>
        </pc:sldMkLst>
      </pc:sldChg>
      <pc:sldChg chg="add">
        <pc:chgData name="Liu, Siming" userId="1e4b75e0-8938-470c-9583-bf4243e4c4f1" providerId="ADAL" clId="{5A5C5147-602F-4AB4-A176-43FC86AF19E6}" dt="2024-01-18T02:41:56.323" v="6"/>
        <pc:sldMkLst>
          <pc:docMk/>
          <pc:sldMk cId="0" sldId="375"/>
        </pc:sldMkLst>
      </pc:sldChg>
    </pc:docChg>
  </pc:docChgLst>
  <pc:docChgLst>
    <pc:chgData name="Siming Liu" userId="1e4b75e0-8938-470c-9583-bf4243e4c4f1" providerId="ADAL" clId="{6AD28F10-D6BB-4E17-9104-2D62CCA7FE4A}"/>
    <pc:docChg chg="undo custSel addSld delSld modSld sldOrd">
      <pc:chgData name="Siming Liu" userId="1e4b75e0-8938-470c-9583-bf4243e4c4f1" providerId="ADAL" clId="{6AD28F10-D6BB-4E17-9104-2D62CCA7FE4A}" dt="2020-08-21T05:07:08.527" v="155" actId="14100"/>
      <pc:docMkLst>
        <pc:docMk/>
      </pc:docMkLst>
      <pc:sldChg chg="addSp delSp modSp add del mod ord">
        <pc:chgData name="Siming Liu" userId="1e4b75e0-8938-470c-9583-bf4243e4c4f1" providerId="ADAL" clId="{6AD28F10-D6BB-4E17-9104-2D62CCA7FE4A}" dt="2020-08-21T05:07:08.527" v="155" actId="14100"/>
        <pc:sldMkLst>
          <pc:docMk/>
          <pc:sldMk cId="0" sldId="279"/>
        </pc:sldMkLst>
        <pc:spChg chg="add del">
          <ac:chgData name="Siming Liu" userId="1e4b75e0-8938-470c-9583-bf4243e4c4f1" providerId="ADAL" clId="{6AD28F10-D6BB-4E17-9104-2D62CCA7FE4A}" dt="2020-08-21T04:45:04.597" v="1" actId="22"/>
          <ac:spMkLst>
            <pc:docMk/>
            <pc:sldMk cId="0" sldId="279"/>
            <ac:spMk id="6" creationId="{50F3C9A6-8492-4CD1-8F6B-26E5DF5ABA01}"/>
          </ac:spMkLst>
        </pc:spChg>
        <pc:spChg chg="add del">
          <ac:chgData name="Siming Liu" userId="1e4b75e0-8938-470c-9583-bf4243e4c4f1" providerId="ADAL" clId="{6AD28F10-D6BB-4E17-9104-2D62CCA7FE4A}" dt="2020-08-21T04:45:07.668" v="3" actId="22"/>
          <ac:spMkLst>
            <pc:docMk/>
            <pc:sldMk cId="0" sldId="279"/>
            <ac:spMk id="8" creationId="{F0B21892-16E9-47F9-BB41-8D09A6DC11E4}"/>
          </ac:spMkLst>
        </pc:spChg>
        <pc:spChg chg="mod">
          <ac:chgData name="Siming Liu" userId="1e4b75e0-8938-470c-9583-bf4243e4c4f1" providerId="ADAL" clId="{6AD28F10-D6BB-4E17-9104-2D62CCA7FE4A}" dt="2020-08-21T05:07:08.527" v="155" actId="14100"/>
          <ac:spMkLst>
            <pc:docMk/>
            <pc:sldMk cId="0" sldId="279"/>
            <ac:spMk id="15363" creationId="{00000000-0000-0000-0000-000000000000}"/>
          </ac:spMkLst>
        </pc:spChg>
        <pc:spChg chg="del">
          <ac:chgData name="Siming Liu" userId="1e4b75e0-8938-470c-9583-bf4243e4c4f1" providerId="ADAL" clId="{6AD28F10-D6BB-4E17-9104-2D62CCA7FE4A}" dt="2020-08-21T04:49:24.318" v="51" actId="478"/>
          <ac:spMkLst>
            <pc:docMk/>
            <pc:sldMk cId="0" sldId="279"/>
            <ac:spMk id="15364" creationId="{00000000-0000-0000-0000-000000000000}"/>
          </ac:spMkLst>
        </pc:spChg>
      </pc:sldChg>
      <pc:sldChg chg="addSp">
        <pc:chgData name="Siming Liu" userId="1e4b75e0-8938-470c-9583-bf4243e4c4f1" providerId="ADAL" clId="{6AD28F10-D6BB-4E17-9104-2D62CCA7FE4A}" dt="2020-08-21T05:04:17.393" v="60"/>
        <pc:sldMkLst>
          <pc:docMk/>
          <pc:sldMk cId="507034974" sldId="279"/>
        </pc:sldMkLst>
        <pc:spChg chg="add">
          <ac:chgData name="Siming Liu" userId="1e4b75e0-8938-470c-9583-bf4243e4c4f1" providerId="ADAL" clId="{6AD28F10-D6BB-4E17-9104-2D62CCA7FE4A}" dt="2020-08-21T05:04:17.393" v="60"/>
          <ac:spMkLst>
            <pc:docMk/>
            <pc:sldMk cId="507034974" sldId="279"/>
            <ac:spMk id="2" creationId="{6CAF0AC9-9B9B-40D8-86FE-D20C94ACED8B}"/>
          </ac:spMkLst>
        </pc:spChg>
      </pc:sldChg>
      <pc:sldChg chg="addSp">
        <pc:chgData name="Siming Liu" userId="1e4b75e0-8938-470c-9583-bf4243e4c4f1" providerId="ADAL" clId="{6AD28F10-D6BB-4E17-9104-2D62CCA7FE4A}" dt="2020-08-21T05:04:37.617" v="63"/>
        <pc:sldMkLst>
          <pc:docMk/>
          <pc:sldMk cId="2053928347" sldId="279"/>
        </pc:sldMkLst>
        <pc:spChg chg="add">
          <ac:chgData name="Siming Liu" userId="1e4b75e0-8938-470c-9583-bf4243e4c4f1" providerId="ADAL" clId="{6AD28F10-D6BB-4E17-9104-2D62CCA7FE4A}" dt="2020-08-21T05:04:37.617" v="63"/>
          <ac:spMkLst>
            <pc:docMk/>
            <pc:sldMk cId="2053928347" sldId="279"/>
            <ac:spMk id="2" creationId="{67962858-4454-4145-8428-2EFFFC3BED68}"/>
          </ac:spMkLst>
        </pc:spChg>
      </pc:sldChg>
      <pc:sldChg chg="addSp">
        <pc:chgData name="Siming Liu" userId="1e4b75e0-8938-470c-9583-bf4243e4c4f1" providerId="ADAL" clId="{6AD28F10-D6BB-4E17-9104-2D62CCA7FE4A}" dt="2020-08-21T05:04:03.058" v="55"/>
        <pc:sldMkLst>
          <pc:docMk/>
          <pc:sldMk cId="2869999385" sldId="279"/>
        </pc:sldMkLst>
        <pc:spChg chg="add">
          <ac:chgData name="Siming Liu" userId="1e4b75e0-8938-470c-9583-bf4243e4c4f1" providerId="ADAL" clId="{6AD28F10-D6BB-4E17-9104-2D62CCA7FE4A}" dt="2020-08-21T05:04:03.058" v="55"/>
          <ac:spMkLst>
            <pc:docMk/>
            <pc:sldMk cId="2869999385" sldId="279"/>
            <ac:spMk id="2" creationId="{C916ADB8-AB8C-4CFE-B4D0-AE6EF0D0CCB5}"/>
          </ac:spMkLst>
        </pc:spChg>
      </pc:sldChg>
      <pc:sldChg chg="modSp new mod">
        <pc:chgData name="Siming Liu" userId="1e4b75e0-8938-470c-9583-bf4243e4c4f1" providerId="ADAL" clId="{6AD28F10-D6BB-4E17-9104-2D62CCA7FE4A}" dt="2020-08-21T04:48:45.989" v="48" actId="20577"/>
        <pc:sldMkLst>
          <pc:docMk/>
          <pc:sldMk cId="3399691244" sldId="372"/>
        </pc:sldMkLst>
        <pc:spChg chg="mod">
          <ac:chgData name="Siming Liu" userId="1e4b75e0-8938-470c-9583-bf4243e4c4f1" providerId="ADAL" clId="{6AD28F10-D6BB-4E17-9104-2D62CCA7FE4A}" dt="2020-08-21T04:48:45.989" v="48" actId="20577"/>
          <ac:spMkLst>
            <pc:docMk/>
            <pc:sldMk cId="3399691244" sldId="372"/>
            <ac:spMk id="2" creationId="{57A8C649-882D-4CA7-B033-3CE1DD39AE52}"/>
          </ac:spMkLst>
        </pc:spChg>
        <pc:spChg chg="mod">
          <ac:chgData name="Siming Liu" userId="1e4b75e0-8938-470c-9583-bf4243e4c4f1" providerId="ADAL" clId="{6AD28F10-D6BB-4E17-9104-2D62CCA7FE4A}" dt="2020-08-21T04:48:37.570" v="36" actId="20577"/>
          <ac:spMkLst>
            <pc:docMk/>
            <pc:sldMk cId="3399691244" sldId="372"/>
            <ac:spMk id="3" creationId="{B40A8EB5-8E6B-4B2D-B684-28A0A3B19D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78263" y="0"/>
            <a:ext cx="301625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ctr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defTabSz="87630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78263" y="8866188"/>
            <a:ext cx="301625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7575" tIns="43788" rIns="87575" bIns="43788" numCol="1" anchor="b" anchorCtr="0" compatLnSpc="1">
            <a:prstTxWarp prst="textNoShape">
              <a:avLst/>
            </a:prstTxWarp>
          </a:bodyPr>
          <a:lstStyle>
            <a:lvl1pPr algn="r" defTabSz="876300">
              <a:defRPr sz="1100">
                <a:latin typeface="Helvetica" pitchFamily="-84" charset="0"/>
              </a:defRPr>
            </a:lvl1pPr>
          </a:lstStyle>
          <a:p>
            <a:pPr>
              <a:defRPr/>
            </a:pPr>
            <a:fld id="{41811997-0BE3-4A82-83B2-96895B201D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024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93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17600" y="698500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6425"/>
            <a:ext cx="5046663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defTabSz="923925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32850"/>
            <a:ext cx="29813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2436" tIns="46217" rIns="92436" bIns="4621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C546C26E-E018-4685-AE39-71ADB6E9CC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0680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18CA042-5871-4770-8228-07F84ACAA90A}" type="slidenum">
              <a:rPr lang="en-US" altLang="en-US" smtClean="0">
                <a:latin typeface="Times New Roman" pitchFamily="18" charset="0"/>
              </a:rPr>
              <a:pPr/>
              <a:t>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981562AE-ADBD-4DFF-B04D-B47ABDC0CE4D}" type="slidenum">
              <a:rPr lang="en-US" altLang="en-US" smtClean="0">
                <a:latin typeface="Times New Roman" pitchFamily="18" charset="0"/>
              </a:rPr>
              <a:pPr/>
              <a:t>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F01DF97-186A-496A-9FF9-BC97665ED6B1}" type="slidenum">
              <a:rPr lang="en-US" altLang="en-US" smtClean="0">
                <a:latin typeface="Times New Roman" pitchFamily="18" charset="0"/>
              </a:rPr>
              <a:pPr/>
              <a:t>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14C46652-8FC9-9A66-B4B2-30982BE5A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D87E83B-8BEA-4CFB-9BEE-3FCD94FAD747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6B78333-C219-D059-2F57-526FDF3A862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C98C1D0A-C9CC-9572-F60F-B7E46D4136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D8E380C-AA03-4842-9E2E-0315168C5754}" type="slidenum">
              <a:rPr lang="en-US" altLang="en-US" smtClean="0">
                <a:latin typeface="Times New Roman" pitchFamily="18" charset="0"/>
              </a:rPr>
              <a:pPr/>
              <a:t>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hardware and software used in providing applications to a user can be viewed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 a layered or hierarchical fashion, as depicted in Figure 2.1 . The user of those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applications, the end user, generally is not concerned with the details of computer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hardware. Thus, the end user views a computer system in terms of a set of applications.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 application can be expressed in a programming language and is developed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by an application programmer. If one were to develop an application program as a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set of machine instructions that is completely responsible for controlling the computer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hardware, one would be faced with an overwhelmingly complex undertaking.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 ease this chore, a set of system programs is provided. Some of these programs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 referred to as utilities, or library programs. These implement frequently used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functions that assist in program creation, the management of files, and the control of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I/O devices. A programmer will make use of these facilities in developing an application,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and the application, while it is running, will invoke the utilities to perform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certain functions. The most important collection of system programs comprises the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OS. The OS masks the details of the hardware from the programmer and provides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programmer with a convenient interface for using the system. It acts as mediator,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making it easier for the programmer and for application programs to access and</a:t>
            </a:r>
          </a:p>
          <a:p>
            <a:r>
              <a:rPr lang="en-US" sz="1200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 those facilities and 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1F781F4-099F-4112-9B1E-8A4E4163911A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C263FF5A-1CD5-4C59-99E5-E0017A4F78BA}" type="slidenum">
              <a:rPr lang="en-US" altLang="en-US" smtClean="0">
                <a:latin typeface="Times New Roman" pitchFamily="18" charset="0"/>
              </a:rPr>
              <a:pPr/>
              <a:t>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6C81FDB-F09D-4B6F-AD97-5882C7AED59F}" type="slidenum">
              <a:rPr lang="en-US" altLang="en-US" smtClean="0">
                <a:latin typeface="Times New Roman" pitchFamily="18" charset="0"/>
              </a:rPr>
              <a:pPr/>
              <a:t>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696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DC5F8331-AF33-2C8D-86E8-CFAB469BBCC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4A58F0AC-CEF9-7CD6-BB16-13F175962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7">
            <a:extLst>
              <a:ext uri="{FF2B5EF4-FFF2-40B4-BE49-F238E27FC236}">
                <a16:creationId xmlns:a16="http://schemas.microsoft.com/office/drawing/2014/main" id="{5181BADE-1148-53DF-A86E-8DC32CF40F0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E8DA39-F8CD-408F-B3C8-407477D39D50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9635" name="Rectangle 2">
            <a:extLst>
              <a:ext uri="{FF2B5EF4-FFF2-40B4-BE49-F238E27FC236}">
                <a16:creationId xmlns:a16="http://schemas.microsoft.com/office/drawing/2014/main" id="{47BBFB75-AE50-3966-DF88-5CA66FC3A99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A695CB9B-36C8-ED42-405C-89739952BC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52C5D93C-4C27-AF38-0E3D-EBAC95E612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99047CF-7B4C-4B39-97BA-087DBEB18E54}" type="slidenum">
              <a:rPr lang="en-US" altLang="en-US">
                <a:latin typeface="Times New Roman" panose="02020603050405020304" pitchFamily="18" charset="0"/>
              </a:rPr>
              <a:pPr/>
              <a:t>12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D946BAB8-51C5-86B5-A3EE-C436EC215007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E9827953-A3FD-D887-7605-02BE1E410D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2170DAD0-87D8-1A63-43FC-958F89FC6BB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13FF5A4F-77BA-F9BD-8F42-C25AC1D4E4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5F97351-209A-45C0-8AFE-6A4D90DEA76A}" type="slidenum">
              <a:rPr lang="en-US" altLang="en-US" smtClean="0">
                <a:latin typeface="Times New Roman" pitchFamily="18" charset="0"/>
              </a:rPr>
              <a:pPr/>
              <a:t>15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F44C8C7-9B7E-42AA-A61F-2759D7EE6557}" type="slidenum">
              <a:rPr lang="en-US" altLang="en-US" smtClean="0">
                <a:latin typeface="Times New Roman" pitchFamily="18" charset="0"/>
              </a:rPr>
              <a:pPr/>
              <a:t>16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BA2B8D7-5815-4BB3-877A-DDA17F0702D5}" type="slidenum">
              <a:rPr lang="en-US" altLang="en-US" smtClean="0">
                <a:latin typeface="Times New Roman" pitchFamily="18" charset="0"/>
              </a:rPr>
              <a:pPr/>
              <a:t>17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A151E11B-A423-4118-A650-67C869F2FD9F}" type="slidenum">
              <a:rPr lang="en-US" altLang="en-US" smtClean="0">
                <a:latin typeface="Times New Roman" pitchFamily="18" charset="0"/>
              </a:rPr>
              <a:pPr/>
              <a:t>18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 dirty="0">
                <a:latin typeface="Times New Roman" pitchFamily="18" charset="0"/>
              </a:rPr>
              <a:t>Linux 32 bits system calls:    http://syscalls.kernelgrok.com/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486709B-0A19-4D30-B744-F774A53385DB}" type="slidenum">
              <a:rPr lang="en-US" altLang="en-US" smtClean="0">
                <a:latin typeface="Times New Roman" pitchFamily="18" charset="0"/>
              </a:rPr>
              <a:pPr/>
              <a:t>19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30B26E2-0C98-432B-A0E8-EE659A32AFA4}" type="slidenum">
              <a:rPr lang="en-US" altLang="en-US" smtClean="0">
                <a:latin typeface="Times New Roman" pitchFamily="18" charset="0"/>
              </a:rPr>
              <a:pPr/>
              <a:t>20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068F225-F738-4240-840C-735BB59D0DE3}" type="slidenum">
              <a:rPr lang="en-US" altLang="en-US" smtClean="0">
                <a:latin typeface="Times New Roman" pitchFamily="18" charset="0"/>
              </a:rPr>
              <a:pPr/>
              <a:t>22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7802E2A9-4CF1-463F-AD37-4139AF8CCBA0}" type="slidenum">
              <a:rPr lang="en-US" altLang="en-US" smtClean="0">
                <a:latin typeface="Times New Roman" pitchFamily="18" charset="0"/>
              </a:rPr>
              <a:pPr/>
              <a:t>23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3BABC92-657D-45FD-B919-E52ABDDF485E}" type="slidenum">
              <a:rPr lang="en-US" altLang="en-US" smtClean="0">
                <a:latin typeface="Times New Roman" pitchFamily="18" charset="0"/>
              </a:rPr>
              <a:pPr/>
              <a:t>25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482CE1B-58AF-44AA-A16C-7AF2EE737F99}" type="slidenum">
              <a:rPr lang="en-US" altLang="en-US" smtClean="0">
                <a:latin typeface="Times New Roman" pitchFamily="18" charset="0"/>
              </a:rPr>
              <a:pPr/>
              <a:t>28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0B1CE48-AC16-4F15-A8B7-214956EB6244}" type="slidenum">
              <a:rPr lang="en-US" altLang="en-US" smtClean="0">
                <a:latin typeface="Times New Roman" pitchFamily="18" charset="0"/>
              </a:rPr>
              <a:pPr/>
              <a:t>29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80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6A52B6E5-4BF3-45EF-93A7-4BC9E3DA8B36}" type="slidenum">
              <a:rPr lang="en-US" altLang="en-US" smtClean="0">
                <a:latin typeface="Times New Roman" pitchFamily="18" charset="0"/>
              </a:rPr>
              <a:pPr/>
              <a:t>30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18253F56-08B6-4C56-8C53-5B17323B6FDA}" type="slidenum">
              <a:rPr lang="en-US" altLang="en-US" smtClean="0">
                <a:latin typeface="Times New Roman" pitchFamily="18" charset="0"/>
              </a:rPr>
              <a:pPr/>
              <a:t>31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3487E440-3A3D-4C34-A686-BD1EAD67EDA0}" type="slidenum">
              <a:rPr lang="en-US" altLang="en-US" smtClean="0">
                <a:latin typeface="Times New Roman" pitchFamily="18" charset="0"/>
              </a:rPr>
              <a:pPr/>
              <a:t>32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D4578F58-E9F3-3DB2-C6C9-E12B1F22CB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4A96BCD-2379-4EC8-AEA6-914AFBB3FF49}" type="slidenum">
              <a:rPr lang="en-US" altLang="en-US">
                <a:latin typeface="Times New Roman" panose="02020603050405020304" pitchFamily="18" charset="0"/>
              </a:rPr>
              <a:pPr/>
              <a:t>33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61A51378-4394-26F2-2788-725DE47902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E163EDD9-82F2-8BB1-B084-B959A3CC66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A7199886-5873-C4F2-F84D-5A78E7F7C5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844AB2E-F7F8-4844-8888-40F24A8E7698}" type="slidenum">
              <a:rPr lang="en-US" altLang="en-US">
                <a:latin typeface="Times New Roman" panose="02020603050405020304" pitchFamily="18" charset="0"/>
              </a:rPr>
              <a:pPr/>
              <a:t>35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B314B7A3-2EDE-90D5-DE02-E29742E7203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68BE97D7-87AA-CDF7-FD9C-E310DC8266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E19B6D6-A778-40DC-8097-FDCD80613486}" type="slidenum">
              <a:rPr lang="en-US" altLang="en-US" smtClean="0">
                <a:latin typeface="Times New Roman" pitchFamily="18" charset="0"/>
              </a:rPr>
              <a:pPr/>
              <a:t>36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270A2B67-30A1-4112-81C0-4BE282D5574F}" type="slidenum">
              <a:rPr lang="en-US" altLang="en-US" smtClean="0">
                <a:latin typeface="Times New Roman" pitchFamily="18" charset="0"/>
              </a:rPr>
              <a:pPr/>
              <a:t>37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B7B0AAB8-6936-4976-895C-E621BE65ADB2}" type="slidenum">
              <a:rPr lang="en-US" altLang="en-US" smtClean="0">
                <a:latin typeface="Times New Roman" pitchFamily="18" charset="0"/>
              </a:rPr>
              <a:pPr/>
              <a:t>40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4A951262-A8CC-4021-99AD-6759911406DA}" type="slidenum">
              <a:rPr lang="en-US" altLang="en-US" smtClean="0">
                <a:latin typeface="Times New Roman" pitchFamily="18" charset="0"/>
              </a:rPr>
              <a:pPr/>
              <a:t>41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BE04160-6918-4834-A7B1-9EA84522C4B0}" type="slidenum">
              <a:rPr lang="en-US" altLang="en-US" smtClean="0">
                <a:latin typeface="Times New Roman" pitchFamily="18" charset="0"/>
              </a:rPr>
              <a:pPr/>
              <a:t>42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D0F4A981-0E0E-43B4-80BF-502342B0FC30}" type="slidenum">
              <a:rPr lang="en-US" altLang="en-US" smtClean="0">
                <a:latin typeface="Times New Roman" pitchFamily="18" charset="0"/>
              </a:rPr>
              <a:pPr/>
              <a:t>43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5906D7E3-1418-4A51-BECF-97AFA0F47994}" type="slidenum">
              <a:rPr lang="en-US" altLang="en-US" smtClean="0">
                <a:latin typeface="Times New Roman" pitchFamily="18" charset="0"/>
              </a:rPr>
              <a:pPr/>
              <a:t>44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E4E06D7D-90C4-494B-99EB-700135F19ABA}" type="slidenum">
              <a:rPr lang="en-US" altLang="en-US" smtClean="0">
                <a:latin typeface="Times New Roman" pitchFamily="18" charset="0"/>
              </a:rPr>
              <a:pPr/>
              <a:t>45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9BC4F449-0867-BF3F-AD11-7EA92FEFAD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E2369F-4985-44F5-AF81-D758187D97C4}" type="slidenum">
              <a:rPr lang="en-US" altLang="en-US">
                <a:latin typeface="Times New Roman" panose="02020603050405020304" pitchFamily="18" charset="0"/>
              </a:rPr>
              <a:pPr/>
              <a:t>47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B08E4719-361A-7866-9A9A-C5649DC2A06B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4BDFB8F2-3034-661B-BC92-2B0FBCBEEE7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9C94913-9CD8-3CA6-D5BE-1EF4DC7E78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CF81E53-89E9-476D-BFDC-25CC719289FE}" type="slidenum">
              <a:rPr lang="en-US" altLang="en-US">
                <a:latin typeface="Times New Roman" panose="02020603050405020304" pitchFamily="18" charset="0"/>
              </a:rPr>
              <a:pPr/>
              <a:t>48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0064BD97-F0C3-87EB-D629-8F5AF24C33F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3C501FFC-208B-7110-E603-5E0EA9A7FC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B055AD1C-B094-7D89-CF32-D10038B5FC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71FCEDF-32F1-4EE0-A9E6-7FFBC8E5DF90}" type="slidenum">
              <a:rPr lang="en-US" altLang="en-US">
                <a:latin typeface="Times New Roman" panose="02020603050405020304" pitchFamily="18" charset="0"/>
              </a:rPr>
              <a:pPr/>
              <a:t>49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97E5EC65-31EC-07DC-4369-671D5AA4760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0FEFD08-4FC4-B300-01EE-D65335F20A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fld id="{F24FB46F-60F9-4C60-9451-D5BBD6982AA3}" type="slidenum">
              <a:rPr lang="en-US" altLang="en-US" smtClean="0">
                <a:latin typeface="Times New Roman" pitchFamily="18" charset="0"/>
              </a:rPr>
              <a:pPr/>
              <a:t>50</a:t>
            </a:fld>
            <a:endParaRPr lang="en-US" altLang="en-US">
              <a:latin typeface="Times New Roman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638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6759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2392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2583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8404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05105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56612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3208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14027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54959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6804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1583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86759" y="5513948"/>
            <a:ext cx="7759700" cy="83343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3"/>
          </p:nvPr>
        </p:nvSpPr>
        <p:spPr>
          <a:xfrm>
            <a:off x="215900" y="6492875"/>
            <a:ext cx="8672513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Tanenbaum &amp; Bo, Modern  Operating Systems:4th ed., (c) 2013 Prentice-Hall, Inc. All rights reserved. </a:t>
            </a:r>
          </a:p>
        </p:txBody>
      </p:sp>
    </p:spTree>
    <p:extLst>
      <p:ext uri="{BB962C8B-B14F-4D97-AF65-F5344CB8AC3E}">
        <p14:creationId xmlns:p14="http://schemas.microsoft.com/office/powerpoint/2010/main" val="78853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822960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0" name="Line 6"/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>
              <a:defRPr/>
            </a:pPr>
            <a:endParaRPr lang="en-US" sz="2400">
              <a:latin typeface="Times New Roman" pitchFamily="18" charset="0"/>
            </a:endParaRPr>
          </a:p>
        </p:txBody>
      </p:sp>
      <p:sp>
        <p:nvSpPr>
          <p:cNvPr id="151561" name="Text Box 9"/>
          <p:cNvSpPr txBox="1">
            <a:spLocks noChangeArrowheads="1"/>
          </p:cNvSpPr>
          <p:nvPr/>
        </p:nvSpPr>
        <p:spPr bwMode="auto">
          <a:xfrm>
            <a:off x="4257675" y="6613525"/>
            <a:ext cx="4445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2.</a:t>
            </a:r>
            <a:fld id="{7250BE57-BAC6-4841-B867-03BD44AA7A82}" type="slidenum">
              <a:rPr lang="en-US" sz="1000" b="1">
                <a:solidFill>
                  <a:srgbClr val="006699"/>
                </a:solidFill>
                <a:latin typeface="Helvetica" pitchFamily="-84" charset="0"/>
              </a:rPr>
              <a:pPr algn="ctr">
                <a:spcBef>
                  <a:spcPct val="50000"/>
                </a:spcBef>
                <a:defRPr/>
              </a:pPr>
              <a:t>‹#›</a:t>
            </a:fld>
            <a:endParaRPr lang="en-US" sz="1000" b="1">
              <a:solidFill>
                <a:srgbClr val="006699"/>
              </a:solidFill>
              <a:latin typeface="Helvetica" pitchFamily="-84" charset="0"/>
            </a:endParaRPr>
          </a:p>
        </p:txBody>
      </p:sp>
      <p:sp>
        <p:nvSpPr>
          <p:cNvPr id="151562" name="Text Box 10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Silberschatz, Galvin and Gagne ©2013</a:t>
            </a:r>
          </a:p>
        </p:txBody>
      </p:sp>
      <p:sp>
        <p:nvSpPr>
          <p:cNvPr id="151563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6384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Operating System Concepts – 9</a:t>
            </a:r>
            <a:r>
              <a:rPr lang="en-US" sz="1000" b="1" baseline="3000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sz="1000" b="1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55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  <p:sldLayoutId id="214748385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71475" y="1900238"/>
            <a:ext cx="8458200" cy="1143000"/>
          </a:xfrm>
          <a:noFill/>
        </p:spPr>
        <p:txBody>
          <a:bodyPr/>
          <a:lstStyle/>
          <a:p>
            <a:pPr eaLnBrk="1" hangingPunct="1"/>
            <a:r>
              <a:rPr lang="en-US" altLang="en-US" dirty="0"/>
              <a:t>Chapter 2:  Operating-System Structures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27000"/>
            <a:ext cx="8553450" cy="576263"/>
          </a:xfrm>
        </p:spPr>
        <p:txBody>
          <a:bodyPr/>
          <a:lstStyle/>
          <a:p>
            <a:pPr eaLnBrk="1" hangingPunct="1"/>
            <a:r>
              <a:rPr lang="en-US" altLang="en-US" sz="3000"/>
              <a:t>Chapter 2:  Operating-System Structures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38238"/>
            <a:ext cx="8229600" cy="4530725"/>
          </a:xfrm>
        </p:spPr>
        <p:txBody>
          <a:bodyPr/>
          <a:lstStyle/>
          <a:p>
            <a:r>
              <a:rPr lang="en-US" altLang="en-US" sz="2400" dirty="0"/>
              <a:t>Operating System Services</a:t>
            </a:r>
          </a:p>
          <a:p>
            <a:r>
              <a:rPr lang="en-US" altLang="en-US" sz="2400" dirty="0"/>
              <a:t>User Operating System Interface</a:t>
            </a:r>
          </a:p>
          <a:p>
            <a:r>
              <a:rPr lang="en-US" altLang="en-US" sz="2400" b="1" dirty="0"/>
              <a:t>System Calls</a:t>
            </a:r>
          </a:p>
          <a:p>
            <a:r>
              <a:rPr lang="en-US" altLang="en-US" sz="2400" dirty="0"/>
              <a:t>Types of System Calls</a:t>
            </a:r>
          </a:p>
          <a:p>
            <a:r>
              <a:rPr lang="en-US" altLang="en-US" sz="2400" dirty="0"/>
              <a:t>System Programs</a:t>
            </a:r>
          </a:p>
          <a:p>
            <a:r>
              <a:rPr lang="en-US" altLang="en-US" sz="2400" dirty="0"/>
              <a:t>Operating System Design and Implementation</a:t>
            </a:r>
          </a:p>
          <a:p>
            <a:r>
              <a:rPr lang="en-US" altLang="en-US" sz="2400" dirty="0"/>
              <a:t>Operating System Structure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1050925" y="198438"/>
            <a:ext cx="7635875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Services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46138" y="1143000"/>
            <a:ext cx="6862762" cy="4865688"/>
          </a:xfrm>
          <a:noFill/>
        </p:spPr>
        <p:txBody>
          <a:bodyPr/>
          <a:lstStyle/>
          <a:p>
            <a:r>
              <a:rPr lang="en-US" altLang="en-US" sz="1600"/>
              <a:t>OS provides </a:t>
            </a:r>
            <a:r>
              <a:rPr lang="en-US" altLang="en-US" sz="1600" dirty="0"/>
              <a:t>an environment for execution of programs and services to programs and users</a:t>
            </a:r>
          </a:p>
          <a:p>
            <a:endParaRPr lang="en-US" altLang="en-US" sz="1600" dirty="0"/>
          </a:p>
          <a:p>
            <a:r>
              <a:rPr lang="en-US" altLang="en-US" sz="1600" dirty="0"/>
              <a:t>OS services provides functions that are helpful to the user:</a:t>
            </a:r>
          </a:p>
          <a:p>
            <a:pPr lvl="1"/>
            <a:r>
              <a:rPr lang="en-US" altLang="en-US" sz="1600" b="1" dirty="0"/>
              <a:t>User interface </a:t>
            </a:r>
            <a:r>
              <a:rPr lang="en-US" altLang="en-US" sz="1600" dirty="0"/>
              <a:t>- Almost all operating systems have a user interface (</a:t>
            </a:r>
            <a:r>
              <a:rPr lang="en-US" altLang="en-US" sz="1600" b="1" dirty="0">
                <a:solidFill>
                  <a:srgbClr val="3366FF"/>
                </a:solidFill>
              </a:rPr>
              <a:t>UI</a:t>
            </a:r>
            <a:r>
              <a:rPr lang="en-US" altLang="en-US" sz="1600" dirty="0"/>
              <a:t>).</a:t>
            </a:r>
          </a:p>
          <a:p>
            <a:pPr lvl="2"/>
            <a:r>
              <a:rPr lang="en-US" altLang="en-US" sz="1600" dirty="0"/>
              <a:t>Varies between </a:t>
            </a:r>
            <a:r>
              <a:rPr lang="en-US" altLang="en-US" sz="1600" b="1" dirty="0">
                <a:solidFill>
                  <a:srgbClr val="3366FF"/>
                </a:solidFill>
              </a:rPr>
              <a:t>Command-Line </a:t>
            </a:r>
            <a:r>
              <a:rPr lang="en-US" altLang="en-US" sz="1600" b="1" dirty="0"/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CLI</a:t>
            </a:r>
            <a:r>
              <a:rPr lang="en-US" altLang="en-US" sz="1600" b="1" dirty="0">
                <a:solidFill>
                  <a:srgbClr val="000000"/>
                </a:solidFill>
              </a:rPr>
              <a:t>)</a:t>
            </a:r>
            <a:r>
              <a:rPr lang="en-US" altLang="en-US" sz="1600" dirty="0">
                <a:solidFill>
                  <a:srgbClr val="000000"/>
                </a:solidFill>
              </a:rPr>
              <a:t>, </a:t>
            </a:r>
            <a:r>
              <a:rPr lang="en-US" altLang="en-US" sz="1600" b="1" dirty="0">
                <a:solidFill>
                  <a:srgbClr val="3366FF"/>
                </a:solidFill>
              </a:rPr>
              <a:t>Graphics User Interface </a:t>
            </a:r>
            <a:r>
              <a:rPr lang="en-US" altLang="en-US" sz="1600" b="1" dirty="0">
                <a:solidFill>
                  <a:srgbClr val="000000"/>
                </a:solidFill>
              </a:rPr>
              <a:t>(</a:t>
            </a:r>
            <a:r>
              <a:rPr lang="en-US" altLang="en-US" sz="1600" b="1" dirty="0">
                <a:solidFill>
                  <a:srgbClr val="3366FF"/>
                </a:solidFill>
              </a:rPr>
              <a:t>GUI</a:t>
            </a:r>
            <a:r>
              <a:rPr lang="en-US" altLang="en-US" sz="1600" b="1" dirty="0">
                <a:solidFill>
                  <a:srgbClr val="000000"/>
                </a:solidFill>
              </a:rPr>
              <a:t>)</a:t>
            </a:r>
            <a:r>
              <a:rPr lang="en-US" altLang="en-US" sz="1600" dirty="0">
                <a:solidFill>
                  <a:srgbClr val="000000"/>
                </a:solidFill>
              </a:rPr>
              <a:t>,</a:t>
            </a:r>
            <a:r>
              <a:rPr lang="en-US" altLang="en-US" sz="1600" b="1" dirty="0">
                <a:solidFill>
                  <a:srgbClr val="3366FF"/>
                </a:solidFill>
              </a:rPr>
              <a:t>   Batch</a:t>
            </a:r>
          </a:p>
          <a:p>
            <a:pPr lvl="1"/>
            <a:r>
              <a:rPr lang="en-US" altLang="en-US" sz="1600" b="1" dirty="0"/>
              <a:t>Program execution </a:t>
            </a:r>
            <a:r>
              <a:rPr lang="en-US" altLang="en-US" sz="1600" dirty="0"/>
              <a:t>- The system must be able to load a program into memory and to run that program, end execution, either normally or abnormally (indicating error)</a:t>
            </a:r>
          </a:p>
          <a:p>
            <a:pPr lvl="1"/>
            <a:r>
              <a:rPr lang="en-US" altLang="en-US" sz="1600" b="1" dirty="0"/>
              <a:t>I/O operations </a:t>
            </a:r>
            <a:r>
              <a:rPr lang="en-US" altLang="en-US" sz="1600" dirty="0"/>
              <a:t>-  A running program may require I/O, which may involve a file or an I/O device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7254AB0-6E62-A1BB-BE9F-1C34C7CC2A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6150" y="182563"/>
            <a:ext cx="7869238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Services (Cont.)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BC8D7B2-A308-D566-DF69-72703C9D35C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2638" y="892175"/>
            <a:ext cx="7542212" cy="5729288"/>
          </a:xfrm>
          <a:noFill/>
        </p:spPr>
        <p:txBody>
          <a:bodyPr/>
          <a:lstStyle/>
          <a:p>
            <a:pPr lvl="1"/>
            <a:endParaRPr lang="en-US" altLang="en-US" sz="1600" b="1" dirty="0"/>
          </a:p>
          <a:p>
            <a:r>
              <a:rPr lang="en-US" altLang="en-US" sz="1600" dirty="0"/>
              <a:t>One set of operating-system services provides functions that are helpful to the user (Cont.):</a:t>
            </a:r>
            <a:endParaRPr lang="en-US" altLang="en-US" sz="1600" b="1" dirty="0"/>
          </a:p>
          <a:p>
            <a:pPr lvl="1"/>
            <a:r>
              <a:rPr lang="en-US" altLang="en-US" sz="1600" b="1" dirty="0"/>
              <a:t>File-system manipulation </a:t>
            </a:r>
            <a:r>
              <a:rPr lang="en-US" altLang="en-US" sz="1600" dirty="0"/>
              <a:t>-  The file system is of particular interest. Programs need to read and write files and directories, create and delete them, search them, list file Information, permission management.</a:t>
            </a:r>
            <a:endParaRPr lang="en-US" altLang="en-US" sz="1600" b="1" dirty="0"/>
          </a:p>
          <a:p>
            <a:pPr lvl="1"/>
            <a:r>
              <a:rPr lang="en-US" altLang="en-US" sz="1600" b="1" dirty="0"/>
              <a:t>Communications</a:t>
            </a:r>
            <a:r>
              <a:rPr lang="en-US" altLang="en-US" sz="1600" dirty="0"/>
              <a:t> – Processes may exchange information, on the same computer or between computers over a network</a:t>
            </a:r>
          </a:p>
          <a:p>
            <a:pPr lvl="2"/>
            <a:r>
              <a:rPr lang="en-US" altLang="en-US" sz="1600" dirty="0"/>
              <a:t>Communications may be via shared memory or through message passing (packets moved by the OS)</a:t>
            </a:r>
          </a:p>
          <a:p>
            <a:pPr lvl="1"/>
            <a:r>
              <a:rPr lang="en-US" altLang="en-US" sz="1600" b="1" dirty="0"/>
              <a:t>Error detection </a:t>
            </a:r>
            <a:r>
              <a:rPr lang="en-US" altLang="en-US" sz="1600" dirty="0"/>
              <a:t>– OS needs to be constantly aware of possible errors</a:t>
            </a:r>
          </a:p>
          <a:p>
            <a:pPr lvl="2"/>
            <a:r>
              <a:rPr lang="en-US" altLang="en-US" sz="1600" dirty="0"/>
              <a:t>May occur in the CPU and memory hardware, in I/O devices, in user program</a:t>
            </a:r>
          </a:p>
          <a:p>
            <a:pPr lvl="2"/>
            <a:r>
              <a:rPr lang="en-US" altLang="en-US" sz="1600" dirty="0"/>
              <a:t>For each type of error, OS should take the appropriate action to ensure correct and consistent computing</a:t>
            </a:r>
          </a:p>
          <a:p>
            <a:pPr lvl="2"/>
            <a:r>
              <a:rPr lang="en-US" altLang="en-US" sz="1600" dirty="0"/>
              <a:t>Debugging facilities can greatly enhance the user</a:t>
            </a:r>
            <a:r>
              <a:rPr lang="ja-JP" altLang="en-US" sz="1600" dirty="0"/>
              <a:t>’</a:t>
            </a:r>
            <a:r>
              <a:rPr lang="en-US" altLang="ja-JP" sz="1600" dirty="0"/>
              <a:t>s and programmer</a:t>
            </a:r>
            <a:r>
              <a:rPr lang="ja-JP" altLang="en-US" sz="1600" dirty="0"/>
              <a:t>’</a:t>
            </a:r>
            <a:r>
              <a:rPr lang="en-US" altLang="ja-JP" sz="1600" dirty="0"/>
              <a:t>s abilities to efficiently use the system</a:t>
            </a:r>
            <a:endParaRPr lang="en-US" alt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03300" y="182563"/>
            <a:ext cx="7812088" cy="576262"/>
          </a:xfrm>
        </p:spPr>
        <p:txBody>
          <a:bodyPr/>
          <a:lstStyle/>
          <a:p>
            <a:pPr eaLnBrk="1" hangingPunct="1"/>
            <a:r>
              <a:rPr lang="en-US" altLang="en-US"/>
              <a:t>Operating System Services (Cont.)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42950" y="1168400"/>
            <a:ext cx="7404100" cy="49053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1600" dirty="0"/>
              <a:t>OS functions exists for ensuring the efficient operation of the system itself via resource sharing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Resource allocation - </a:t>
            </a:r>
            <a:r>
              <a:rPr lang="en-US" altLang="en-US" sz="1600" dirty="0"/>
              <a:t>When  multiple users or multiple jobs running concurrently, resources must be allocated to each of them</a:t>
            </a:r>
          </a:p>
          <a:p>
            <a:pPr lvl="2">
              <a:lnSpc>
                <a:spcPct val="90000"/>
              </a:lnSpc>
            </a:pPr>
            <a:r>
              <a:rPr lang="en-US" altLang="en-US" sz="1600" dirty="0"/>
              <a:t>Many types of resources -   CPU cycles, main memory, file storage, I/O devices.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Accounting -</a:t>
            </a:r>
            <a:r>
              <a:rPr lang="en-US" altLang="en-US" sz="1600" dirty="0"/>
              <a:t> To keep track of which users use how much and what kinds of computer resources</a:t>
            </a:r>
          </a:p>
          <a:p>
            <a:pPr lvl="1">
              <a:lnSpc>
                <a:spcPct val="90000"/>
              </a:lnSpc>
            </a:pPr>
            <a:r>
              <a:rPr lang="en-US" altLang="en-US" sz="1600" b="1" dirty="0"/>
              <a:t>Protection and security - </a:t>
            </a:r>
            <a:r>
              <a:rPr lang="en-US" altLang="en-US" sz="1600" dirty="0"/>
              <a:t>The owners of information stored in a multiuser or networked computer system may want to control use of that information, concurrent processes should not interfere with each other</a:t>
            </a:r>
          </a:p>
          <a:p>
            <a:pPr lvl="2">
              <a:lnSpc>
                <a:spcPct val="90000"/>
              </a:lnSpc>
            </a:pPr>
            <a:r>
              <a:rPr lang="en-US" altLang="en-US" sz="1600" b="1" dirty="0"/>
              <a:t>Protection</a:t>
            </a:r>
            <a:r>
              <a:rPr lang="en-US" altLang="en-US" sz="1600" dirty="0"/>
              <a:t> involves ensuring that all access to system resources is controlled</a:t>
            </a:r>
          </a:p>
          <a:p>
            <a:pPr lvl="2">
              <a:lnSpc>
                <a:spcPct val="90000"/>
              </a:lnSpc>
            </a:pPr>
            <a:r>
              <a:rPr lang="en-US" altLang="en-US" sz="1600" b="1" dirty="0"/>
              <a:t>Security</a:t>
            </a:r>
            <a:r>
              <a:rPr lang="en-US" altLang="en-US" sz="1600" dirty="0"/>
              <a:t> of the system from outsiders requires user authentication, extends to defending external I/O devices from invalid access attempts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992188" y="1412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 View of Operating System Services</a:t>
            </a:r>
          </a:p>
        </p:txBody>
      </p:sp>
      <p:pic>
        <p:nvPicPr>
          <p:cNvPr id="9219" name="Picture 4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7575" y="1601788"/>
            <a:ext cx="7218363" cy="360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f1.pdf"/>
          <p:cNvPicPr>
            <a:picLocks noChangeAspect="1"/>
          </p:cNvPicPr>
          <p:nvPr/>
        </p:nvPicPr>
        <p:blipFill>
          <a:blip r:embed="rId3"/>
          <a:srcRect t="20000" b="25455"/>
          <a:stretch>
            <a:fillRect/>
          </a:stretch>
        </p:blipFill>
        <p:spPr>
          <a:xfrm>
            <a:off x="228600" y="1327150"/>
            <a:ext cx="8420230" cy="5010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25895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08063" y="1460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User Operating System Interface - CLI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2000" y="1223963"/>
            <a:ext cx="7121525" cy="4483100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CLI or </a:t>
            </a:r>
            <a:r>
              <a:rPr lang="en-US" altLang="en-US" b="1">
                <a:solidFill>
                  <a:srgbClr val="3366FF"/>
                </a:solidFill>
              </a:rPr>
              <a:t>command interpreter</a:t>
            </a:r>
            <a:r>
              <a:rPr lang="en-US" altLang="en-US">
                <a:solidFill>
                  <a:srgbClr val="3366FF"/>
                </a:solidFill>
              </a:rPr>
              <a:t> </a:t>
            </a:r>
            <a:r>
              <a:rPr lang="en-US" altLang="en-US"/>
              <a:t>allows direct command entry</a:t>
            </a:r>
          </a:p>
          <a:p>
            <a:pPr lvl="1"/>
            <a:r>
              <a:rPr lang="en-US" altLang="en-US"/>
              <a:t>Sometimes implemented in kernel, sometimes by systems program</a:t>
            </a:r>
          </a:p>
          <a:p>
            <a:pPr lvl="1"/>
            <a:r>
              <a:rPr lang="en-US" altLang="en-US"/>
              <a:t>Sometimes multiple flavors implemented – </a:t>
            </a:r>
            <a:r>
              <a:rPr lang="en-US" altLang="en-US" b="1">
                <a:solidFill>
                  <a:srgbClr val="3366FF"/>
                </a:solidFill>
              </a:rPr>
              <a:t>shells</a:t>
            </a:r>
          </a:p>
          <a:p>
            <a:pPr lvl="1"/>
            <a:r>
              <a:rPr lang="en-US" altLang="en-US"/>
              <a:t>Primarily fetches a command from user and executes it</a:t>
            </a:r>
          </a:p>
          <a:p>
            <a:pPr lvl="1"/>
            <a:r>
              <a:rPr lang="en-US" altLang="en-US"/>
              <a:t>Sometimes commands built-in, sometimes just names of programs</a:t>
            </a:r>
          </a:p>
          <a:p>
            <a:pPr lvl="2"/>
            <a:r>
              <a:rPr lang="en-US" altLang="en-US"/>
              <a:t>If the latter, adding new features doesn’</a:t>
            </a:r>
            <a:r>
              <a:rPr lang="en-US" altLang="ja-JP"/>
              <a:t>t require shell modification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1036638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000"/>
              <a:t>User Operating System Interface - GUI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1154113"/>
            <a:ext cx="7327900" cy="4530725"/>
          </a:xfrm>
        </p:spPr>
        <p:txBody>
          <a:bodyPr/>
          <a:lstStyle/>
          <a:p>
            <a:r>
              <a:rPr lang="en-US" altLang="en-US"/>
              <a:t>User-friendly </a:t>
            </a:r>
            <a:r>
              <a:rPr lang="en-US" altLang="en-US" b="1">
                <a:solidFill>
                  <a:srgbClr val="3366FF"/>
                </a:solidFill>
              </a:rPr>
              <a:t>desktop</a:t>
            </a:r>
            <a:r>
              <a:rPr lang="en-US" altLang="en-US"/>
              <a:t> metaphor interface</a:t>
            </a:r>
          </a:p>
          <a:p>
            <a:pPr lvl="1"/>
            <a:r>
              <a:rPr lang="en-US" altLang="en-US"/>
              <a:t>Usually mouse, keyboard, and monitor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Icons</a:t>
            </a:r>
            <a:r>
              <a:rPr lang="en-US" altLang="en-US"/>
              <a:t> represent files, programs, actions, etc</a:t>
            </a:r>
          </a:p>
          <a:p>
            <a:pPr lvl="1"/>
            <a:r>
              <a:rPr lang="en-US" altLang="en-US"/>
              <a:t>Various mouse buttons over objects in the interface cause various actions (provide information, options, execute function, open directory (known as a </a:t>
            </a:r>
            <a:r>
              <a:rPr lang="en-US" altLang="en-US" b="1">
                <a:solidFill>
                  <a:srgbClr val="3366FF"/>
                </a:solidFill>
              </a:rPr>
              <a:t>folder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Invented at Xerox PARC</a:t>
            </a:r>
          </a:p>
          <a:p>
            <a:r>
              <a:rPr lang="en-US" altLang="en-US"/>
              <a:t>Many systems now include both CLI and GUI interfaces</a:t>
            </a:r>
          </a:p>
          <a:p>
            <a:pPr lvl="1"/>
            <a:r>
              <a:rPr lang="en-US" altLang="en-US"/>
              <a:t>Microsoft Windows is GUI with CLI </a:t>
            </a:r>
            <a:r>
              <a:rPr lang="ja-JP" altLang="en-US"/>
              <a:t>“</a:t>
            </a:r>
            <a:r>
              <a:rPr lang="en-US" altLang="ja-JP"/>
              <a:t>command</a:t>
            </a:r>
            <a:r>
              <a:rPr lang="ja-JP" altLang="en-US"/>
              <a:t>”</a:t>
            </a:r>
            <a:r>
              <a:rPr lang="en-US" altLang="ja-JP"/>
              <a:t> shell</a:t>
            </a:r>
          </a:p>
          <a:p>
            <a:pPr lvl="1"/>
            <a:r>
              <a:rPr lang="en-US" altLang="en-US"/>
              <a:t>Apple Mac OS X is </a:t>
            </a:r>
            <a:r>
              <a:rPr lang="ja-JP" altLang="en-US"/>
              <a:t>“</a:t>
            </a:r>
            <a:r>
              <a:rPr lang="en-US" altLang="ja-JP"/>
              <a:t>Aqua</a:t>
            </a:r>
            <a:r>
              <a:rPr lang="ja-JP" altLang="en-US"/>
              <a:t>”</a:t>
            </a:r>
            <a:r>
              <a:rPr lang="en-US" altLang="ja-JP"/>
              <a:t> GUI interface with UNIX kernel underneath and shells available</a:t>
            </a:r>
          </a:p>
          <a:p>
            <a:pPr lvl="1"/>
            <a:r>
              <a:rPr lang="en-US" altLang="en-US"/>
              <a:t>Unix and Linux have CLI with optional GUI interfaces (CDE, KDE, GNOME)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13912DA0-CB7A-3C02-95F8-0ABBA9B74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188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Bourne Shell Command Interpreter</a:t>
            </a:r>
          </a:p>
        </p:txBody>
      </p:sp>
      <p:pic>
        <p:nvPicPr>
          <p:cNvPr id="11267" name="Picture 1" descr="fig2.2.pdf">
            <a:extLst>
              <a:ext uri="{FF2B5EF4-FFF2-40B4-BE49-F238E27FC236}">
                <a16:creationId xmlns:a16="http://schemas.microsoft.com/office/drawing/2014/main" id="{EEF397C4-C360-2972-273E-2D0405FBFE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019175"/>
            <a:ext cx="6372225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D7D9E72-B6AF-5E1B-73DA-05013D8878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36638" y="1682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3000"/>
              <a:t>User Operating System Interface - GUI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68360469-C5C9-A2C4-39FC-E7478DBD41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54113"/>
            <a:ext cx="7327900" cy="4530725"/>
          </a:xfrm>
        </p:spPr>
        <p:txBody>
          <a:bodyPr/>
          <a:lstStyle/>
          <a:p>
            <a:r>
              <a:rPr lang="en-US" altLang="en-US"/>
              <a:t>User-friendly </a:t>
            </a:r>
            <a:r>
              <a:rPr lang="en-US" altLang="en-US" b="1">
                <a:solidFill>
                  <a:srgbClr val="3366FF"/>
                </a:solidFill>
              </a:rPr>
              <a:t>desktop</a:t>
            </a:r>
            <a:r>
              <a:rPr lang="en-US" altLang="en-US"/>
              <a:t> metaphor interface</a:t>
            </a:r>
          </a:p>
          <a:p>
            <a:pPr lvl="1"/>
            <a:r>
              <a:rPr lang="en-US" altLang="en-US"/>
              <a:t>Usually mouse, keyboard, and monitor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Icons</a:t>
            </a:r>
            <a:r>
              <a:rPr lang="en-US" altLang="en-US"/>
              <a:t> represent files, programs, actions, etc</a:t>
            </a:r>
          </a:p>
          <a:p>
            <a:pPr lvl="1"/>
            <a:r>
              <a:rPr lang="en-US" altLang="en-US"/>
              <a:t>Various mouse buttons over objects in the interface cause various actions (provide information, options, execute function, open directory (known as a </a:t>
            </a:r>
            <a:r>
              <a:rPr lang="en-US" altLang="en-US" b="1">
                <a:solidFill>
                  <a:srgbClr val="3366FF"/>
                </a:solidFill>
              </a:rPr>
              <a:t>folder</a:t>
            </a:r>
            <a:r>
              <a:rPr lang="en-US" altLang="en-US"/>
              <a:t>)</a:t>
            </a:r>
          </a:p>
          <a:p>
            <a:pPr lvl="1"/>
            <a:r>
              <a:rPr lang="en-US" altLang="en-US"/>
              <a:t>Invented at Xerox PARC</a:t>
            </a:r>
          </a:p>
          <a:p>
            <a:r>
              <a:rPr lang="en-US" altLang="en-US"/>
              <a:t>Many systems now include both CLI and GUI interfaces</a:t>
            </a:r>
          </a:p>
          <a:p>
            <a:pPr lvl="1"/>
            <a:r>
              <a:rPr lang="en-US" altLang="en-US"/>
              <a:t>Microsoft Windows is GUI with CLI </a:t>
            </a:r>
            <a:r>
              <a:rPr lang="ja-JP" altLang="en-US"/>
              <a:t>“</a:t>
            </a:r>
            <a:r>
              <a:rPr lang="en-US" altLang="ja-JP"/>
              <a:t>command</a:t>
            </a:r>
            <a:r>
              <a:rPr lang="ja-JP" altLang="en-US"/>
              <a:t>”</a:t>
            </a:r>
            <a:r>
              <a:rPr lang="en-US" altLang="ja-JP"/>
              <a:t> shell</a:t>
            </a:r>
          </a:p>
          <a:p>
            <a:pPr lvl="1"/>
            <a:r>
              <a:rPr lang="en-US" altLang="en-US"/>
              <a:t>Apple Mac OS X is </a:t>
            </a:r>
            <a:r>
              <a:rPr lang="ja-JP" altLang="en-US"/>
              <a:t>“</a:t>
            </a:r>
            <a:r>
              <a:rPr lang="en-US" altLang="ja-JP"/>
              <a:t>Aqua</a:t>
            </a:r>
            <a:r>
              <a:rPr lang="ja-JP" altLang="en-US"/>
              <a:t>”</a:t>
            </a:r>
            <a:r>
              <a:rPr lang="en-US" altLang="ja-JP"/>
              <a:t> GUI interface with UNIX kernel underneath and shells available</a:t>
            </a:r>
          </a:p>
          <a:p>
            <a:pPr lvl="1"/>
            <a:r>
              <a:rPr lang="en-US" altLang="en-US"/>
              <a:t>Unix and Linux have CLI with optional GUI interfaces (CDE, KDE, GNOME)</a:t>
            </a:r>
          </a:p>
          <a:p>
            <a:pPr lvl="1"/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353C0EC-1F3E-BBF2-C900-BC5C974D85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22325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3000"/>
              <a:t>Touchscreen Interfaces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6BA4220F-DFD8-88F0-77B8-9A30045D32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4121150" cy="4530725"/>
          </a:xfrm>
        </p:spPr>
        <p:txBody>
          <a:bodyPr/>
          <a:lstStyle/>
          <a:p>
            <a:pPr>
              <a:buFont typeface="Monotype Sorts" charset="0"/>
              <a:buChar char="n"/>
              <a:defRPr/>
            </a:pPr>
            <a:r>
              <a:rPr lang="en-US" dirty="0">
                <a:ea typeface="ＭＳ Ｐゴシック" charset="-128"/>
              </a:rPr>
              <a:t>Touchscreen devices require new interfaces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Mouse not possible or not desired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Actions and selection based on gestures</a:t>
            </a:r>
          </a:p>
          <a:p>
            <a:pPr lvl="1"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Virtual keyboard for text entry</a:t>
            </a:r>
          </a:p>
          <a:p>
            <a:pPr>
              <a:buFont typeface="Monotype Sorts" charset="0"/>
              <a:buChar char="l"/>
              <a:defRPr/>
            </a:pPr>
            <a:r>
              <a:rPr lang="en-US" sz="1600" dirty="0">
                <a:ea typeface="ＭＳ Ｐゴシック" charset="-128"/>
              </a:rPr>
              <a:t>Voice commands.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13316" name="Picture 3" descr="ipad.pdf">
            <a:extLst>
              <a:ext uri="{FF2B5EF4-FFF2-40B4-BE49-F238E27FC236}">
                <a16:creationId xmlns:a16="http://schemas.microsoft.com/office/drawing/2014/main" id="{155E50C6-7B08-2984-3475-8C8E0C8096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5713" y="1343025"/>
            <a:ext cx="3441700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8A42BD54-F121-635A-EC8A-660CF014E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The Mac OS X GUI</a:t>
            </a:r>
          </a:p>
        </p:txBody>
      </p:sp>
      <p:pic>
        <p:nvPicPr>
          <p:cNvPr id="14339" name="Picture 4" descr="2">
            <a:extLst>
              <a:ext uri="{FF2B5EF4-FFF2-40B4-BE49-F238E27FC236}">
                <a16:creationId xmlns:a16="http://schemas.microsoft.com/office/drawing/2014/main" id="{7E56D16B-D386-A17A-CE2D-5285F903CA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2388" y="1274763"/>
            <a:ext cx="6410325" cy="494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8C649-882D-4CA7-B033-3CE1DD39A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Calls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A8EB5-8E6B-4B2D-B684-28A0A3B19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en-US" b="0" i="0" dirty="0">
                <a:effectLst/>
                <a:latin typeface="Roboto"/>
              </a:rPr>
              <a:t>A </a:t>
            </a:r>
            <a:r>
              <a:rPr lang="en-US" b="1" i="0" dirty="0">
                <a:effectLst/>
                <a:latin typeface="Roboto"/>
              </a:rPr>
              <a:t>system call</a:t>
            </a:r>
            <a:r>
              <a:rPr lang="en-US" b="0" i="0" dirty="0">
                <a:effectLst/>
                <a:latin typeface="Roboto"/>
              </a:rPr>
              <a:t> is the programmatic way in which a computer program requests a service from the </a:t>
            </a:r>
            <a:r>
              <a:rPr lang="en-US" b="1" i="0" dirty="0">
                <a:effectLst/>
                <a:latin typeface="Roboto"/>
              </a:rPr>
              <a:t>kernel</a:t>
            </a:r>
            <a:r>
              <a:rPr lang="en-US" b="0" i="0" dirty="0">
                <a:effectLst/>
                <a:latin typeface="Roboto"/>
              </a:rPr>
              <a:t>. </a:t>
            </a:r>
          </a:p>
          <a:p>
            <a:pPr algn="l" fontAlgn="base"/>
            <a:r>
              <a:rPr lang="en-US" b="0" i="0" dirty="0">
                <a:effectLst/>
                <a:latin typeface="Roboto"/>
              </a:rPr>
              <a:t>System call </a:t>
            </a:r>
            <a:r>
              <a:rPr lang="en-US" b="1" i="0" dirty="0">
                <a:effectLst/>
                <a:latin typeface="Roboto"/>
              </a:rPr>
              <a:t>provides</a:t>
            </a:r>
            <a:r>
              <a:rPr lang="en-US" b="0" i="0" dirty="0">
                <a:effectLst/>
                <a:latin typeface="Roboto"/>
              </a:rPr>
              <a:t> the services of the operating system to the user programs via Application Program Interface(API). </a:t>
            </a:r>
          </a:p>
          <a:p>
            <a:pPr algn="l" fontAlgn="base"/>
            <a:r>
              <a:rPr lang="en-US" b="0" i="0" dirty="0">
                <a:effectLst/>
                <a:latin typeface="Roboto"/>
              </a:rPr>
              <a:t>System calls are the only entry points into the kernel system. All programs needing resources must use system calls.</a:t>
            </a:r>
          </a:p>
          <a:p>
            <a:pPr algn="l" fontAlgn="base"/>
            <a:endParaRPr lang="en-US" b="0" i="0" dirty="0">
              <a:effectLst/>
              <a:latin typeface="Roboto"/>
            </a:endParaRPr>
          </a:p>
          <a:p>
            <a:pPr algn="l" fontAlgn="base"/>
            <a:r>
              <a:rPr lang="en-US" b="1" i="0" dirty="0">
                <a:effectLst/>
                <a:latin typeface="Roboto"/>
              </a:rPr>
              <a:t>Services Provided by System Calls :</a:t>
            </a:r>
            <a:endParaRPr lang="en-US" b="0" i="0" dirty="0">
              <a:effectLst/>
              <a:latin typeface="Roboto"/>
            </a:endParaRP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Process creation and management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Main memory management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File Access, Directory and File system management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Device handling(I/O)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Protection</a:t>
            </a:r>
          </a:p>
          <a:p>
            <a:pPr lvl="1">
              <a:buFont typeface="+mj-lt"/>
              <a:buAutoNum type="arabicPeriod"/>
            </a:pPr>
            <a:r>
              <a:rPr lang="en-US" b="0" i="0" dirty="0">
                <a:effectLst/>
                <a:latin typeface="Roboto"/>
              </a:rPr>
              <a:t>Networking,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6912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55575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System Calls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49325" y="1106488"/>
            <a:ext cx="7661275" cy="5209471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Programming interface to the services provided by the OS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Typically written in a high-level language (C or C++)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Mostly accessed by programs via a high-level </a:t>
            </a:r>
            <a:r>
              <a:rPr lang="en-US" altLang="en-US" b="1" dirty="0">
                <a:solidFill>
                  <a:srgbClr val="3366FF"/>
                </a:solidFill>
              </a:rPr>
              <a:t>Application Programming Interface </a:t>
            </a:r>
            <a:r>
              <a:rPr lang="en-US" altLang="en-US" b="1" dirty="0">
                <a:solidFill>
                  <a:srgbClr val="000000"/>
                </a:solidFill>
              </a:rPr>
              <a:t>(</a:t>
            </a:r>
            <a:r>
              <a:rPr lang="en-US" altLang="en-US" b="1" dirty="0">
                <a:solidFill>
                  <a:srgbClr val="3366FF"/>
                </a:solidFill>
              </a:rPr>
              <a:t>API</a:t>
            </a:r>
            <a:r>
              <a:rPr lang="en-US" altLang="en-US" b="1" dirty="0">
                <a:solidFill>
                  <a:srgbClr val="000000"/>
                </a:solidFill>
              </a:rPr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rather than direct system call use</a:t>
            </a: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Three most common APIs: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Win32 API </a:t>
            </a:r>
            <a:r>
              <a:rPr lang="en-US" altLang="en-US" dirty="0"/>
              <a:t>for Windows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POSIX API </a:t>
            </a:r>
            <a:r>
              <a:rPr lang="en-US" altLang="en-US" dirty="0"/>
              <a:t>for POSIX-based systems (UNIX, Linux, Mac OS X)</a:t>
            </a:r>
          </a:p>
          <a:p>
            <a:pPr lvl="1">
              <a:lnSpc>
                <a:spcPct val="90000"/>
              </a:lnSpc>
            </a:pPr>
            <a:r>
              <a:rPr lang="en-US" altLang="en-US" b="1" dirty="0">
                <a:solidFill>
                  <a:srgbClr val="3366FF"/>
                </a:solidFill>
              </a:rPr>
              <a:t>Java API </a:t>
            </a:r>
            <a:r>
              <a:rPr lang="en-US" altLang="en-US" dirty="0"/>
              <a:t>for the Java virtual machine (JVM)</a:t>
            </a:r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 lvl="1">
              <a:lnSpc>
                <a:spcPct val="90000"/>
              </a:lnSpc>
            </a:pP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Linux standard manual include (man):    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User Commands    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System Calls    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C Library Functions    </a:t>
            </a:r>
          </a:p>
          <a:p>
            <a:pPr marL="800100" lvl="1" indent="-342900">
              <a:lnSpc>
                <a:spcPct val="90000"/>
              </a:lnSpc>
              <a:buFont typeface="+mj-lt"/>
              <a:buAutoNum type="arabicPeriod"/>
            </a:pPr>
            <a:r>
              <a:rPr lang="en-US" altLang="en-US" dirty="0"/>
              <a:t>…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System Calls</a:t>
            </a:r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System call sequence to copy the contents of one file to another file</a:t>
            </a:r>
          </a:p>
        </p:txBody>
      </p:sp>
      <p:pic>
        <p:nvPicPr>
          <p:cNvPr id="1638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8913" y="1965325"/>
            <a:ext cx="5937250" cy="401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Line 6"/>
          <p:cNvSpPr>
            <a:spLocks noChangeShapeType="1"/>
          </p:cNvSpPr>
          <p:nvPr/>
        </p:nvSpPr>
        <p:spPr bwMode="auto">
          <a:xfrm>
            <a:off x="7358063" y="2022475"/>
            <a:ext cx="0" cy="4206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  <p:sp>
        <p:nvSpPr>
          <p:cNvPr id="16390" name="Line 7"/>
          <p:cNvSpPr>
            <a:spLocks noChangeShapeType="1"/>
          </p:cNvSpPr>
          <p:nvPr/>
        </p:nvSpPr>
        <p:spPr bwMode="auto">
          <a:xfrm>
            <a:off x="1503363" y="2012950"/>
            <a:ext cx="0" cy="430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Example of Standard API</a:t>
            </a:r>
          </a:p>
        </p:txBody>
      </p:sp>
      <p:pic>
        <p:nvPicPr>
          <p:cNvPr id="17411" name="Picture 1" descr="Screen Shot 2012-12-01 at 12.25.0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38" y="1066800"/>
            <a:ext cx="5094287" cy="5192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Implementation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50113" cy="4530725"/>
          </a:xfrm>
        </p:spPr>
        <p:txBody>
          <a:bodyPr/>
          <a:lstStyle/>
          <a:p>
            <a:r>
              <a:rPr lang="en-US" altLang="en-US" dirty="0"/>
              <a:t>Typically, a </a:t>
            </a:r>
            <a:r>
              <a:rPr lang="en-US" altLang="en-US" b="1" dirty="0">
                <a:solidFill>
                  <a:srgbClr val="0070C0"/>
                </a:solidFill>
              </a:rPr>
              <a:t>number</a:t>
            </a:r>
            <a:r>
              <a:rPr lang="en-US" altLang="en-US" dirty="0"/>
              <a:t> associated with each system call</a:t>
            </a:r>
          </a:p>
          <a:p>
            <a:pPr lvl="1"/>
            <a:r>
              <a:rPr lang="en-US" altLang="en-US" b="1" dirty="0">
                <a:solidFill>
                  <a:srgbClr val="3366FF"/>
                </a:solidFill>
              </a:rPr>
              <a:t>System-call interface </a:t>
            </a:r>
            <a:r>
              <a:rPr lang="en-US" altLang="en-US" dirty="0"/>
              <a:t>maintains a table indexed according to these numbers</a:t>
            </a:r>
            <a:endParaRPr lang="en-US" altLang="en-US" sz="800" dirty="0"/>
          </a:p>
          <a:p>
            <a:r>
              <a:rPr lang="en-US" altLang="en-US" dirty="0"/>
              <a:t>The system call interface invokes  the intended system call in OS kernel and returns status of the system call and any return values</a:t>
            </a:r>
            <a:endParaRPr lang="en-US" altLang="en-US" sz="800" dirty="0"/>
          </a:p>
          <a:p>
            <a:r>
              <a:rPr lang="en-US" altLang="en-US" dirty="0"/>
              <a:t>The caller need know nothing about how the system call is implemented</a:t>
            </a:r>
          </a:p>
          <a:p>
            <a:pPr lvl="1"/>
            <a:r>
              <a:rPr lang="en-US" altLang="en-US" dirty="0"/>
              <a:t>Just needs to obey API and understand what OS will do as a result call</a:t>
            </a:r>
          </a:p>
          <a:p>
            <a:pPr lvl="1"/>
            <a:r>
              <a:rPr lang="en-US" altLang="en-US" dirty="0"/>
              <a:t>Most details of  OS interface hidden from programmer by API 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92075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API – System Call – OS Relationship</a:t>
            </a:r>
          </a:p>
        </p:txBody>
      </p:sp>
      <p:pic>
        <p:nvPicPr>
          <p:cNvPr id="19459" name="Picture 5" descr="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75" y="1425575"/>
            <a:ext cx="7153275" cy="438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982663" y="198438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Call Parameter Passing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97738" cy="453072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000" dirty="0"/>
              <a:t>Three general methods used to pass parameters to the OS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Pass the parameters in </a:t>
            </a:r>
            <a:r>
              <a:rPr lang="en-US" altLang="en-US" sz="2000" b="1" dirty="0">
                <a:solidFill>
                  <a:srgbClr val="0070C0"/>
                </a:solidFill>
              </a:rPr>
              <a:t>registers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Parameters stored in a </a:t>
            </a:r>
            <a:r>
              <a:rPr lang="en-US" altLang="en-US" sz="2000" b="1" dirty="0">
                <a:solidFill>
                  <a:srgbClr val="0070C0"/>
                </a:solidFill>
              </a:rPr>
              <a:t>block</a:t>
            </a:r>
            <a:r>
              <a:rPr lang="en-US" altLang="en-US" sz="2000" i="1" dirty="0"/>
              <a:t>, </a:t>
            </a:r>
            <a:r>
              <a:rPr lang="en-US" altLang="en-US" sz="2000" dirty="0"/>
              <a:t>or table, in memory, and address of block passed as a parameter in a register </a:t>
            </a:r>
          </a:p>
          <a:p>
            <a:pPr lvl="2">
              <a:lnSpc>
                <a:spcPct val="90000"/>
              </a:lnSpc>
            </a:pPr>
            <a:r>
              <a:rPr lang="en-US" altLang="en-US" sz="2000" dirty="0"/>
              <a:t>E.g. Linux, Solaris</a:t>
            </a:r>
          </a:p>
          <a:p>
            <a:pPr marL="914400" lvl="1" indent="-457200">
              <a:lnSpc>
                <a:spcPct val="90000"/>
              </a:lnSpc>
              <a:buFont typeface="+mj-lt"/>
              <a:buAutoNum type="arabicPeriod"/>
            </a:pPr>
            <a:r>
              <a:rPr lang="en-US" altLang="en-US" sz="2000" dirty="0"/>
              <a:t>Parameters </a:t>
            </a:r>
            <a:r>
              <a:rPr lang="en-US" altLang="en-US" sz="2000" b="1" dirty="0">
                <a:solidFill>
                  <a:srgbClr val="3366FF"/>
                </a:solidFill>
              </a:rPr>
              <a:t>pushed</a:t>
            </a:r>
            <a:r>
              <a:rPr lang="en-US" altLang="en-US" sz="2000" i="1" dirty="0"/>
              <a:t>, </a:t>
            </a:r>
            <a:r>
              <a:rPr lang="en-US" altLang="en-US" sz="2000" dirty="0"/>
              <a:t>onto the </a:t>
            </a:r>
            <a:r>
              <a:rPr lang="en-US" altLang="en-US" sz="2000" b="1" dirty="0">
                <a:solidFill>
                  <a:srgbClr val="3366FF"/>
                </a:solidFill>
              </a:rPr>
              <a:t>stack</a:t>
            </a:r>
            <a:r>
              <a:rPr lang="en-US" altLang="en-US" sz="2000" i="1" dirty="0"/>
              <a:t> </a:t>
            </a:r>
            <a:r>
              <a:rPr lang="en-US" altLang="en-US" sz="2000" dirty="0"/>
              <a:t>by the program and </a:t>
            </a:r>
            <a:r>
              <a:rPr lang="en-US" altLang="en-US" sz="2000" b="1" dirty="0">
                <a:solidFill>
                  <a:srgbClr val="3366FF"/>
                </a:solidFill>
              </a:rPr>
              <a:t>popped</a:t>
            </a:r>
            <a:r>
              <a:rPr lang="en-US" altLang="en-US" sz="2000" i="1" dirty="0"/>
              <a:t> </a:t>
            </a:r>
            <a:r>
              <a:rPr lang="en-US" altLang="en-US" sz="2000" dirty="0"/>
              <a:t>off the stack by the operating system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0070C0"/>
                </a:solidFill>
              </a:rPr>
              <a:t>System Calls </a:t>
            </a:r>
          </a:p>
        </p:txBody>
      </p:sp>
      <p:sp>
        <p:nvSpPr>
          <p:cNvPr id="39939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887413" y="5621338"/>
            <a:ext cx="7759700" cy="725487"/>
          </a:xfrm>
        </p:spPr>
        <p:txBody>
          <a:bodyPr/>
          <a:lstStyle/>
          <a:p>
            <a:r>
              <a:rPr lang="en-US" altLang="en-US" dirty="0"/>
              <a:t>The 11 steps in making the system call </a:t>
            </a:r>
            <a:br>
              <a:rPr lang="en-US" altLang="en-US" dirty="0"/>
            </a:br>
            <a:r>
              <a:rPr lang="en-US" altLang="en-US" i="1" dirty="0"/>
              <a:t>read(</a:t>
            </a:r>
            <a:r>
              <a:rPr lang="en-US" altLang="en-US" i="1" dirty="0" err="1"/>
              <a:t>fd</a:t>
            </a:r>
            <a:r>
              <a:rPr lang="en-US" altLang="en-US" i="1" dirty="0"/>
              <a:t>, buffer, </a:t>
            </a:r>
            <a:r>
              <a:rPr lang="en-US" altLang="en-US" i="1" dirty="0" err="1"/>
              <a:t>nbytes</a:t>
            </a:r>
            <a:r>
              <a:rPr lang="en-US" altLang="en-US" i="1" dirty="0"/>
              <a:t>).</a:t>
            </a:r>
          </a:p>
        </p:txBody>
      </p:sp>
      <p:pic>
        <p:nvPicPr>
          <p:cNvPr id="39941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875" y="1414463"/>
            <a:ext cx="5048250" cy="4029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45590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73075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sp>
        <p:nvSpPr>
          <p:cNvPr id="22531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854075" y="1138238"/>
            <a:ext cx="8229600" cy="4530725"/>
          </a:xfrm>
        </p:spPr>
        <p:txBody>
          <a:bodyPr/>
          <a:lstStyle/>
          <a:p>
            <a:r>
              <a:rPr lang="en-US" altLang="en-US" dirty="0"/>
              <a:t>Some of the major POSIX system calls</a:t>
            </a:r>
            <a:endParaRPr lang="en-US" altLang="en-US" b="1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49" y="1575645"/>
            <a:ext cx="7216775" cy="1827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075" y="3733800"/>
            <a:ext cx="6936252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Types of System Calls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450" y="1397000"/>
            <a:ext cx="6757987" cy="2115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912" y="3897313"/>
            <a:ext cx="6867525" cy="1628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179513" y="106363"/>
            <a:ext cx="764857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Examples of Windows and  Unix System Calls</a:t>
            </a:r>
          </a:p>
        </p:txBody>
      </p:sp>
      <p:pic>
        <p:nvPicPr>
          <p:cNvPr id="26627" name="Picture 6" descr="OS8-p6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8838" y="1203325"/>
            <a:ext cx="5395912" cy="4811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841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Standard C Library Example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68350" y="1173163"/>
            <a:ext cx="7642225" cy="5078412"/>
          </a:xfrm>
        </p:spPr>
        <p:txBody>
          <a:bodyPr/>
          <a:lstStyle/>
          <a:p>
            <a:r>
              <a:rPr lang="en-US" altLang="en-US"/>
              <a:t>C program invoking printf() library call, which calls write() system call</a:t>
            </a:r>
          </a:p>
        </p:txBody>
      </p:sp>
      <p:pic>
        <p:nvPicPr>
          <p:cNvPr id="27652" name="Picture 1" descr="Screen Shot 2012-12-01 at 1.12.0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1852613"/>
            <a:ext cx="4168775" cy="421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9F154CD7-0891-D977-007E-56EDF2702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/>
          <a:lstStyle/>
          <a:p>
            <a:r>
              <a:rPr lang="en-US" altLang="en-US"/>
              <a:t>Example: MS-DOS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6F4F9379-F006-0B48-5CA2-0ADC4C3A8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6450" y="1233488"/>
            <a:ext cx="3525838" cy="4594225"/>
          </a:xfrm>
        </p:spPr>
        <p:txBody>
          <a:bodyPr/>
          <a:lstStyle/>
          <a:p>
            <a:r>
              <a:rPr lang="en-US" altLang="en-US"/>
              <a:t>Single-tasking</a:t>
            </a:r>
          </a:p>
          <a:p>
            <a:r>
              <a:rPr lang="en-US" altLang="en-US"/>
              <a:t>Shell invoked when system booted</a:t>
            </a:r>
          </a:p>
          <a:p>
            <a:r>
              <a:rPr lang="en-US" altLang="en-US"/>
              <a:t>Simple method to run program</a:t>
            </a:r>
          </a:p>
          <a:p>
            <a:pPr lvl="1"/>
            <a:r>
              <a:rPr lang="en-US" altLang="en-US"/>
              <a:t>No process created</a:t>
            </a:r>
          </a:p>
          <a:p>
            <a:r>
              <a:rPr lang="en-US" altLang="en-US"/>
              <a:t>Single memory space</a:t>
            </a:r>
          </a:p>
          <a:p>
            <a:r>
              <a:rPr lang="en-US" altLang="en-US"/>
              <a:t>Loads program into memory, overwriting all but the kernel</a:t>
            </a:r>
          </a:p>
          <a:p>
            <a:r>
              <a:rPr lang="en-US" altLang="en-US"/>
              <a:t>Program exit -&gt; shell reloaded</a:t>
            </a:r>
          </a:p>
        </p:txBody>
      </p:sp>
      <p:pic>
        <p:nvPicPr>
          <p:cNvPr id="28676" name="Picture 9" descr="2">
            <a:extLst>
              <a:ext uri="{FF2B5EF4-FFF2-40B4-BE49-F238E27FC236}">
                <a16:creationId xmlns:a16="http://schemas.microsoft.com/office/drawing/2014/main" id="{C4F5B699-ACF4-32D1-B466-40DD0E40F9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4850" y="1704975"/>
            <a:ext cx="4127500" cy="3490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Rectangle 5">
            <a:extLst>
              <a:ext uri="{FF2B5EF4-FFF2-40B4-BE49-F238E27FC236}">
                <a16:creationId xmlns:a16="http://schemas.microsoft.com/office/drawing/2014/main" id="{6DEBCD57-7AF6-F264-410D-53460D14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75" y="5307013"/>
            <a:ext cx="5029200" cy="779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pitchFamily="-84" charset="2"/>
              <a:buNone/>
            </a:pPr>
            <a:r>
              <a:rPr kumimoji="1" lang="en-US" altLang="en-US">
                <a:latin typeface="Helvetica" panose="020B0604020202020204" pitchFamily="34" charset="0"/>
              </a:rPr>
              <a:t>At system startup          running a program</a:t>
            </a:r>
          </a:p>
          <a:p>
            <a:pPr>
              <a:spcBef>
                <a:spcPct val="50000"/>
              </a:spcBef>
              <a:buClr>
                <a:srgbClr val="993300"/>
              </a:buClr>
              <a:buSzPct val="90000"/>
              <a:buFont typeface="Monotype Sorts" pitchFamily="-84" charset="2"/>
              <a:buNone/>
            </a:pPr>
            <a:endParaRPr kumimoji="1" lang="en-US" altLang="en-US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ECDAF297-C89F-3A98-0B30-ED18E8D8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41288"/>
            <a:ext cx="8229600" cy="576262"/>
          </a:xfrm>
        </p:spPr>
        <p:txBody>
          <a:bodyPr/>
          <a:lstStyle/>
          <a:p>
            <a:r>
              <a:rPr lang="en-US" altLang="en-US"/>
              <a:t>Example: FreeBSD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10B7F7CD-9B85-33D4-E612-9299480B28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9950" y="1044575"/>
            <a:ext cx="4781550" cy="4530725"/>
          </a:xfrm>
        </p:spPr>
        <p:txBody>
          <a:bodyPr/>
          <a:lstStyle/>
          <a:p>
            <a:r>
              <a:rPr lang="en-US" altLang="en-US"/>
              <a:t>Unix variant</a:t>
            </a:r>
          </a:p>
          <a:p>
            <a:r>
              <a:rPr lang="en-US" altLang="en-US"/>
              <a:t>Multitasking</a:t>
            </a:r>
          </a:p>
          <a:p>
            <a:r>
              <a:rPr lang="en-US" altLang="en-US"/>
              <a:t>User login -&gt; invoke user</a:t>
            </a:r>
            <a:r>
              <a:rPr lang="ja-JP" altLang="en-US"/>
              <a:t>’</a:t>
            </a:r>
            <a:r>
              <a:rPr lang="en-US" altLang="ja-JP"/>
              <a:t>s choice of shell</a:t>
            </a:r>
          </a:p>
          <a:p>
            <a:r>
              <a:rPr lang="en-US" altLang="en-US"/>
              <a:t>Shell executes fork() system call to create process</a:t>
            </a:r>
          </a:p>
          <a:p>
            <a:pPr lvl="1"/>
            <a:r>
              <a:rPr lang="en-US" altLang="en-US"/>
              <a:t>Executes exec() to load program into process</a:t>
            </a:r>
          </a:p>
          <a:p>
            <a:pPr lvl="1"/>
            <a:r>
              <a:rPr lang="en-US" altLang="en-US"/>
              <a:t>Shell waits for process to terminate or continues with user commands</a:t>
            </a:r>
          </a:p>
          <a:p>
            <a:r>
              <a:rPr lang="en-US" altLang="en-US"/>
              <a:t>Process exits with:</a:t>
            </a:r>
          </a:p>
          <a:p>
            <a:pPr lvl="1"/>
            <a:r>
              <a:rPr lang="en-US" altLang="en-US"/>
              <a:t> code = 0 – no error </a:t>
            </a:r>
          </a:p>
          <a:p>
            <a:pPr lvl="1"/>
            <a:r>
              <a:rPr lang="en-US" altLang="en-US"/>
              <a:t> code &gt; 0 – error code</a:t>
            </a:r>
          </a:p>
          <a:p>
            <a:endParaRPr lang="en-US" altLang="en-US"/>
          </a:p>
        </p:txBody>
      </p:sp>
      <p:pic>
        <p:nvPicPr>
          <p:cNvPr id="29700" name="Picture 3">
            <a:extLst>
              <a:ext uri="{FF2B5EF4-FFF2-40B4-BE49-F238E27FC236}">
                <a16:creationId xmlns:a16="http://schemas.microsoft.com/office/drawing/2014/main" id="{949AAA88-A44A-EB2B-F263-BC048C1DA8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691" t="500" r="31691" b="500"/>
          <a:stretch>
            <a:fillRect/>
          </a:stretch>
        </p:blipFill>
        <p:spPr bwMode="auto">
          <a:xfrm>
            <a:off x="6146800" y="1163638"/>
            <a:ext cx="2305050" cy="4676775"/>
          </a:xfrm>
          <a:prstGeom prst="rect">
            <a:avLst/>
          </a:prstGeom>
          <a:noFill/>
          <a:ln w="38100" cmpd="dbl">
            <a:solidFill>
              <a:schemeClr val="bg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Programs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092200"/>
            <a:ext cx="7359650" cy="5027613"/>
          </a:xfrm>
          <a:noFill/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Provide a convenient environment for program development and execution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Some of them are simply user interfaces to system calls; others are considerably more complex</a:t>
            </a:r>
          </a:p>
          <a:p>
            <a:pPr lvl="1"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File management </a:t>
            </a:r>
            <a:r>
              <a:rPr lang="en-US" altLang="en-US"/>
              <a:t>- Create, delete, copy, rename, print, dump, list, and generally manipulate files and directories</a:t>
            </a:r>
          </a:p>
          <a:p>
            <a:pPr>
              <a:lnSpc>
                <a:spcPct val="90000"/>
              </a:lnSpc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Status information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Some ask the system for info - date, time, amount of available memory, disk space, number of users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Others provide detailed performance, logging, and debugging information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Typically, these programs format and print the output to the terminal or other output devices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Some systems implement  a </a:t>
            </a:r>
            <a:r>
              <a:rPr lang="en-US" altLang="en-US" b="1">
                <a:solidFill>
                  <a:srgbClr val="3366FF"/>
                </a:solidFill>
              </a:rPr>
              <a:t>registry</a:t>
            </a:r>
            <a:r>
              <a:rPr lang="en-US" altLang="en-US"/>
              <a:t> - used to store and retrieve configuration information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198438"/>
            <a:ext cx="7667625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Programs (Cont.)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54075" y="1122363"/>
            <a:ext cx="7138988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File modification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Text editors to create and modify files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Special commands to search contents of files or perform transformations of the text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Programming-language support </a:t>
            </a:r>
            <a:r>
              <a:rPr lang="en-US" altLang="en-US"/>
              <a:t>- Compilers, assemblers, debuggers and interpreters sometimes provided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Program loading and execution</a:t>
            </a:r>
            <a:r>
              <a:rPr lang="en-US" altLang="en-US"/>
              <a:t>- Absolute loaders, relocatable loaders, linkage editors, and overlay-loaders, debugging systems for higher-level and machine language</a:t>
            </a: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Communications</a:t>
            </a:r>
            <a:r>
              <a:rPr lang="en-US" altLang="en-US"/>
              <a:t> - Provide the mechanism for creating virtual connections among processes, users, and computer systems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Allow users to send messages to one another</a:t>
            </a:r>
            <a:r>
              <a:rPr lang="ja-JP" altLang="en-US"/>
              <a:t>’</a:t>
            </a:r>
            <a:r>
              <a:rPr lang="en-US" altLang="ja-JP"/>
              <a:t>s screens, browse web pages, send electronic-mail messages, log in remotely, transfer files from one machine to another</a:t>
            </a:r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19175" y="198438"/>
            <a:ext cx="7667625" cy="576262"/>
          </a:xfrm>
        </p:spPr>
        <p:txBody>
          <a:bodyPr/>
          <a:lstStyle/>
          <a:p>
            <a:pPr eaLnBrk="1" hangingPunct="1"/>
            <a:r>
              <a:rPr lang="en-US" altLang="en-US"/>
              <a:t>System Programs (Cont.)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108075"/>
            <a:ext cx="7675563" cy="518795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Background Services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Launch at boot time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Some for system startup, then terminate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Some from system boot to shutdown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Provide facilities like disk checking, process scheduling, error logging, printing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Run in user context not kernel context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Known as </a:t>
            </a:r>
            <a:r>
              <a:rPr lang="en-US" altLang="en-US" b="1">
                <a:solidFill>
                  <a:srgbClr val="3366FF"/>
                </a:solidFill>
              </a:rPr>
              <a:t>services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subsystems</a:t>
            </a:r>
            <a:r>
              <a:rPr lang="en-US" altLang="en-US"/>
              <a:t>, </a:t>
            </a:r>
            <a:r>
              <a:rPr lang="en-US" altLang="en-US" b="1">
                <a:solidFill>
                  <a:srgbClr val="3366FF"/>
                </a:solidFill>
              </a:rPr>
              <a:t>daemons</a:t>
            </a:r>
            <a:r>
              <a:rPr lang="en-US" altLang="en-US"/>
              <a:t> </a:t>
            </a:r>
            <a:endParaRPr lang="en-US" altLang="en-US" b="1"/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800"/>
          </a:p>
          <a:p>
            <a:pPr>
              <a:lnSpc>
                <a:spcPct val="90000"/>
              </a:lnSpc>
            </a:pPr>
            <a:r>
              <a:rPr lang="en-US" altLang="en-US" b="1"/>
              <a:t>Application programs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Don’t pertain to system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Run by users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Not typically considered part of OS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Launched by command line, mouse click, finger poke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079500" y="65088"/>
            <a:ext cx="7712075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Operating System Design and Implementation</a:t>
            </a:r>
          </a:p>
        </p:txBody>
      </p:sp>
      <p:sp>
        <p:nvSpPr>
          <p:cNvPr id="34819" name="Rectangle 1027"/>
          <p:cNvSpPr>
            <a:spLocks noGrp="1" noChangeArrowheads="1"/>
          </p:cNvSpPr>
          <p:nvPr>
            <p:ph idx="1"/>
          </p:nvPr>
        </p:nvSpPr>
        <p:spPr>
          <a:xfrm>
            <a:off x="838200" y="1108075"/>
            <a:ext cx="7375525" cy="5006975"/>
          </a:xfrm>
        </p:spPr>
        <p:txBody>
          <a:bodyPr/>
          <a:lstStyle/>
          <a:p>
            <a:r>
              <a:rPr lang="en-US" altLang="en-US" dirty="0"/>
              <a:t>Design and Implementation of OS not </a:t>
            </a:r>
            <a:r>
              <a:rPr lang="ja-JP" altLang="en-US" dirty="0"/>
              <a:t>“</a:t>
            </a:r>
            <a:r>
              <a:rPr lang="en-US" altLang="ja-JP" dirty="0"/>
              <a:t>solvable</a:t>
            </a:r>
            <a:r>
              <a:rPr lang="ja-JP" altLang="en-US" dirty="0"/>
              <a:t>”</a:t>
            </a:r>
            <a:r>
              <a:rPr lang="en-US" altLang="ja-JP" dirty="0"/>
              <a:t>, but some approaches have proven successful</a:t>
            </a:r>
          </a:p>
          <a:p>
            <a:endParaRPr lang="en-US" altLang="en-US" sz="800" dirty="0"/>
          </a:p>
          <a:p>
            <a:r>
              <a:rPr lang="en-US" altLang="en-US" dirty="0"/>
              <a:t>Affected by choice of hardware, type of system</a:t>
            </a:r>
          </a:p>
          <a:p>
            <a:endParaRPr lang="en-US" altLang="en-US" sz="800" dirty="0"/>
          </a:p>
          <a:p>
            <a:r>
              <a:rPr lang="en-US" altLang="en-US" b="1" dirty="0">
                <a:solidFill>
                  <a:srgbClr val="3366FF"/>
                </a:solidFill>
              </a:rPr>
              <a:t>User </a:t>
            </a:r>
            <a:r>
              <a:rPr lang="en-US" altLang="en-US" dirty="0"/>
              <a:t>goals and </a:t>
            </a:r>
            <a:r>
              <a:rPr lang="en-US" altLang="en-US" b="1" dirty="0">
                <a:solidFill>
                  <a:srgbClr val="3366FF"/>
                </a:solidFill>
              </a:rPr>
              <a:t>System </a:t>
            </a:r>
            <a:r>
              <a:rPr lang="en-US" altLang="en-US" dirty="0"/>
              <a:t>goals</a:t>
            </a:r>
          </a:p>
          <a:p>
            <a:pPr lvl="1"/>
            <a:r>
              <a:rPr lang="en-US" altLang="en-US" dirty="0"/>
              <a:t>User goals – operating system should be convenient to use, easy to learn, reliable, safe, and fast</a:t>
            </a:r>
          </a:p>
          <a:p>
            <a:pPr lvl="1"/>
            <a:r>
              <a:rPr lang="en-US" altLang="en-US" dirty="0"/>
              <a:t>System goals – operating system should be easy to design, implement, and maintain, as well as flexible, reliable, error-free, and efficient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>
          <a:xfrm>
            <a:off x="1069975" y="1063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sz="2400"/>
              <a:t>Operating System Design and Implementation (Cont.)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7575" y="1076325"/>
            <a:ext cx="6965950" cy="4530725"/>
          </a:xfrm>
        </p:spPr>
        <p:txBody>
          <a:bodyPr/>
          <a:lstStyle/>
          <a:p>
            <a:r>
              <a:rPr lang="en-US" altLang="en-US"/>
              <a:t>Important principle to separate</a:t>
            </a:r>
          </a:p>
          <a:p>
            <a:pPr>
              <a:buFont typeface="Monotype Sorts" pitchFamily="-84" charset="2"/>
              <a:buNone/>
            </a:pPr>
            <a:r>
              <a:rPr lang="en-US" altLang="en-US" b="1"/>
              <a:t>	</a:t>
            </a:r>
            <a:r>
              <a:rPr lang="en-US" altLang="en-US" b="1">
                <a:solidFill>
                  <a:srgbClr val="3366FF"/>
                </a:solidFill>
              </a:rPr>
              <a:t>Policy</a:t>
            </a:r>
            <a:r>
              <a:rPr lang="en-US" altLang="en-US" b="1"/>
              <a:t>:   </a:t>
            </a:r>
            <a:r>
              <a:rPr lang="en-US" altLang="en-US" b="1" i="1"/>
              <a:t>What</a:t>
            </a:r>
            <a:r>
              <a:rPr lang="en-US" altLang="en-US"/>
              <a:t> will be done?</a:t>
            </a:r>
            <a:r>
              <a:rPr lang="en-US" altLang="en-US" b="1"/>
              <a:t> </a:t>
            </a:r>
            <a:br>
              <a:rPr lang="en-US" altLang="en-US" b="1"/>
            </a:br>
            <a:r>
              <a:rPr lang="en-US" altLang="en-US" b="1">
                <a:solidFill>
                  <a:srgbClr val="3366FF"/>
                </a:solidFill>
              </a:rPr>
              <a:t>Mechanism</a:t>
            </a:r>
            <a:r>
              <a:rPr lang="en-US" altLang="en-US" b="1"/>
              <a:t>:  </a:t>
            </a:r>
            <a:r>
              <a:rPr lang="en-US" altLang="en-US" b="1" i="1"/>
              <a:t>How</a:t>
            </a:r>
            <a:r>
              <a:rPr lang="en-US" altLang="en-US"/>
              <a:t> to do it?</a:t>
            </a:r>
          </a:p>
          <a:p>
            <a:r>
              <a:rPr lang="en-US" altLang="en-US"/>
              <a:t>Mechanisms determine how to do something, policies decide what will be done</a:t>
            </a:r>
          </a:p>
          <a:p>
            <a:r>
              <a:rPr lang="en-US" altLang="en-US"/>
              <a:t>The separation of policy from mechanism is a very important principle, it allows maximum flexibility if policy decisions are to be changed later (example – timer)</a:t>
            </a:r>
          </a:p>
          <a:p>
            <a:r>
              <a:rPr lang="en-US" altLang="en-US"/>
              <a:t>Specifying and designing an OS is highly creative task of </a:t>
            </a:r>
            <a:r>
              <a:rPr lang="en-US" altLang="en-US" b="1">
                <a:solidFill>
                  <a:srgbClr val="3366FF"/>
                </a:solidFill>
              </a:rPr>
              <a:t>software engineering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8D00C80-5B5E-D5F9-9514-D7C0B898FF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17145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sz="2800"/>
              <a:t>Implementation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A048252-38C8-3ADA-68AE-FB95ED9CB9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4075" y="1092200"/>
            <a:ext cx="7713663" cy="4530725"/>
          </a:xfrm>
        </p:spPr>
        <p:txBody>
          <a:bodyPr/>
          <a:lstStyle/>
          <a:p>
            <a:r>
              <a:rPr lang="en-US" altLang="en-US"/>
              <a:t>Much variation</a:t>
            </a:r>
          </a:p>
          <a:p>
            <a:pPr lvl="1"/>
            <a:r>
              <a:rPr lang="en-US" altLang="en-US"/>
              <a:t>Early OSes in assembly language</a:t>
            </a:r>
          </a:p>
          <a:p>
            <a:pPr lvl="1"/>
            <a:r>
              <a:rPr lang="en-US" altLang="en-US"/>
              <a:t>Then system programming languages like Algol, PL/1</a:t>
            </a:r>
          </a:p>
          <a:p>
            <a:pPr lvl="1"/>
            <a:r>
              <a:rPr lang="en-US" altLang="en-US"/>
              <a:t>Now C, C++</a:t>
            </a:r>
          </a:p>
          <a:p>
            <a:r>
              <a:rPr lang="en-US" altLang="en-US"/>
              <a:t>Actually usually a mix of languages</a:t>
            </a:r>
          </a:p>
          <a:p>
            <a:pPr lvl="1"/>
            <a:r>
              <a:rPr lang="en-US" altLang="en-US"/>
              <a:t>Lowest levels in assembly</a:t>
            </a:r>
          </a:p>
          <a:p>
            <a:pPr lvl="1"/>
            <a:r>
              <a:rPr lang="en-US" altLang="en-US"/>
              <a:t>Main body in C</a:t>
            </a:r>
          </a:p>
          <a:p>
            <a:pPr lvl="1"/>
            <a:r>
              <a:rPr lang="en-US" altLang="en-US"/>
              <a:t>Systems programs in C, C++, scripting languages like PERL, Python, shell scripts</a:t>
            </a:r>
          </a:p>
          <a:p>
            <a:r>
              <a:rPr lang="en-US" altLang="en-US"/>
              <a:t>More high-level language easier to</a:t>
            </a:r>
            <a:r>
              <a:rPr lang="en-US" altLang="en-US" b="1">
                <a:solidFill>
                  <a:srgbClr val="3366FF"/>
                </a:solidFill>
              </a:rPr>
              <a:t> port </a:t>
            </a:r>
            <a:r>
              <a:rPr lang="en-US" altLang="en-US"/>
              <a:t>to other hardware</a:t>
            </a:r>
          </a:p>
          <a:p>
            <a:pPr lvl="1"/>
            <a:r>
              <a:rPr lang="en-US" altLang="en-US"/>
              <a:t>But slower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Emulation</a:t>
            </a:r>
            <a:r>
              <a:rPr lang="en-US" altLang="en-US"/>
              <a:t> can allow an OS to run on non-native hardware</a:t>
            </a:r>
          </a:p>
          <a:p>
            <a:pPr>
              <a:buFont typeface="Monotype Sorts" pitchFamily="-84" charset="2"/>
              <a:buNone/>
            </a:pPr>
            <a:endParaRPr lang="en-US" altLang="en-US"/>
          </a:p>
          <a:p>
            <a:pPr>
              <a:buFont typeface="Monotype Sorts" pitchFamily="-84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r>
              <a:rPr lang="en-US" altLang="en-US"/>
              <a:t>Operating System Structure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idx="1"/>
          </p:nvPr>
        </p:nvSpPr>
        <p:spPr>
          <a:xfrm>
            <a:off x="806450" y="1092200"/>
            <a:ext cx="6918325" cy="4530725"/>
          </a:xfrm>
        </p:spPr>
        <p:txBody>
          <a:bodyPr/>
          <a:lstStyle/>
          <a:p>
            <a:r>
              <a:rPr lang="en-US" altLang="en-US" dirty="0"/>
              <a:t>General-purpose OS is a very large program</a:t>
            </a:r>
          </a:p>
          <a:p>
            <a:r>
              <a:rPr lang="en-US" altLang="en-US" dirty="0"/>
              <a:t>Various ways to structure ones</a:t>
            </a:r>
          </a:p>
          <a:p>
            <a:pPr lvl="1"/>
            <a:r>
              <a:rPr lang="en-US" altLang="en-US" dirty="0"/>
              <a:t>Simple structure – MS-DOS</a:t>
            </a:r>
          </a:p>
          <a:p>
            <a:pPr lvl="1"/>
            <a:r>
              <a:rPr lang="en-US" altLang="en-US" dirty="0"/>
              <a:t>Monolithic - UNIX</a:t>
            </a:r>
          </a:p>
          <a:p>
            <a:pPr lvl="1"/>
            <a:r>
              <a:rPr lang="en-US" altLang="en-US" dirty="0"/>
              <a:t>Layered - an abstraction</a:t>
            </a:r>
          </a:p>
          <a:p>
            <a:pPr lvl="1"/>
            <a:r>
              <a:rPr lang="en-US" altLang="en-US" dirty="0"/>
              <a:t>Microkernel -Mach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16A80232-F24D-E4EC-FB20-E411DFEC5D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8256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Simple Structure  -- MS-DOS</a:t>
            </a:r>
            <a:endParaRPr lang="en-US" altLang="en-US" sz="2400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8F06ED01-EBF9-8145-3155-BCA661216B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960813" cy="4530725"/>
          </a:xfrm>
        </p:spPr>
        <p:txBody>
          <a:bodyPr/>
          <a:lstStyle/>
          <a:p>
            <a:r>
              <a:rPr lang="en-US" altLang="en-US"/>
              <a:t>MS-DOS – written to provide the most functionality in the least space</a:t>
            </a:r>
          </a:p>
          <a:p>
            <a:pPr lvl="1"/>
            <a:r>
              <a:rPr lang="en-US" altLang="en-US"/>
              <a:t>Not divided into modules</a:t>
            </a:r>
          </a:p>
          <a:p>
            <a:pPr lvl="1"/>
            <a:r>
              <a:rPr lang="en-US" altLang="en-US"/>
              <a:t>Although MS-DOS has some structure, its interfaces and levels of functionality are not well separated</a:t>
            </a:r>
          </a:p>
        </p:txBody>
      </p:sp>
      <p:pic>
        <p:nvPicPr>
          <p:cNvPr id="38916" name="Picture 6" descr="2">
            <a:extLst>
              <a:ext uri="{FF2B5EF4-FFF2-40B4-BE49-F238E27FC236}">
                <a16:creationId xmlns:a16="http://schemas.microsoft.com/office/drawing/2014/main" id="{A81FB639-76BC-6158-2E8B-255E40883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6175" y="1712913"/>
            <a:ext cx="3570288" cy="3433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90663" y="255588"/>
            <a:ext cx="6773862" cy="457200"/>
          </a:xfrm>
        </p:spPr>
        <p:txBody>
          <a:bodyPr/>
          <a:lstStyle/>
          <a:p>
            <a:pPr eaLnBrk="1" hangingPunct="1"/>
            <a:r>
              <a:rPr lang="en-US" altLang="en-US"/>
              <a:t>Non Simple Structure  -- UNIX</a:t>
            </a:r>
            <a:endParaRPr lang="en-US" altLang="en-US" sz="2400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98500" y="1155700"/>
            <a:ext cx="6932613" cy="4073525"/>
          </a:xfrm>
        </p:spPr>
        <p:txBody>
          <a:bodyPr/>
          <a:lstStyle/>
          <a:p>
            <a:pPr>
              <a:buFont typeface="Monotype Sorts" pitchFamily="-84" charset="2"/>
              <a:buNone/>
            </a:pPr>
            <a:r>
              <a:rPr lang="en-US" altLang="en-US"/>
              <a:t>      UNIX – limited by hardware functionality, the original UNIX operating system had limited structuring.  The UNIX OS consists of two separable parts</a:t>
            </a:r>
          </a:p>
          <a:p>
            <a:pPr lvl="1"/>
            <a:r>
              <a:rPr lang="en-US" altLang="en-US"/>
              <a:t>Systems programs</a:t>
            </a:r>
          </a:p>
          <a:p>
            <a:pPr lvl="1"/>
            <a:r>
              <a:rPr lang="en-US" altLang="en-US"/>
              <a:t>The kernel</a:t>
            </a:r>
          </a:p>
          <a:p>
            <a:pPr lvl="2"/>
            <a:r>
              <a:rPr lang="en-US" altLang="en-US"/>
              <a:t>Consists of everything below the system-call interface and above the physical hardware</a:t>
            </a:r>
          </a:p>
          <a:p>
            <a:pPr lvl="2"/>
            <a:r>
              <a:rPr lang="en-US" altLang="en-US"/>
              <a:t>Provides the file system, CPU scheduling, memory management, and other operating-system functions; a large number of functions for one level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863600" y="1508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Traditional UNIX System Structure</a:t>
            </a:r>
          </a:p>
        </p:txBody>
      </p:sp>
      <p:pic>
        <p:nvPicPr>
          <p:cNvPr id="4096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975" y="1635125"/>
            <a:ext cx="6923088" cy="420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64" name="TextBox 1"/>
          <p:cNvSpPr txBox="1">
            <a:spLocks noChangeArrowheads="1"/>
          </p:cNvSpPr>
          <p:nvPr/>
        </p:nvSpPr>
        <p:spPr bwMode="auto">
          <a:xfrm>
            <a:off x="1225550" y="1096963"/>
            <a:ext cx="69881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r>
              <a:rPr lang="en-US" altLang="en-US"/>
              <a:t>Beyond simple but not fully layered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/>
              <a:t>Simplified history of Unix-like OSes</a:t>
            </a:r>
            <a:endParaRPr lang="en-US" dirty="0"/>
          </a:p>
        </p:txBody>
      </p:sp>
      <p:pic>
        <p:nvPicPr>
          <p:cNvPr id="6146" name="Picture 2" descr="https://upload.wikimedia.org/wikipedia/commons/thumb/c/cd/Unix_timeline.en.svg/870px-Unix_timeline.en.sv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768350"/>
            <a:ext cx="8140701" cy="5916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560400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8 Structure</a:t>
            </a:r>
          </a:p>
        </p:txBody>
      </p:sp>
      <p:pic>
        <p:nvPicPr>
          <p:cNvPr id="7170" name="Picture 2" descr="Related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7412" y="1733942"/>
            <a:ext cx="7369175" cy="3860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28866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Layered Approach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3749675" cy="4530725"/>
          </a:xfrm>
        </p:spPr>
        <p:txBody>
          <a:bodyPr/>
          <a:lstStyle/>
          <a:p>
            <a:r>
              <a:rPr lang="en-US" altLang="en-US" dirty="0"/>
              <a:t>The operating system is divided into a number of layers (levels), each built on top of lower layers.  </a:t>
            </a:r>
          </a:p>
          <a:p>
            <a:r>
              <a:rPr lang="en-US" altLang="en-US" dirty="0"/>
              <a:t>The bottom layer (layer 0), is the hardware; the highest (layer N) is the user interface.</a:t>
            </a:r>
          </a:p>
          <a:p>
            <a:r>
              <a:rPr lang="en-US" altLang="en-US" dirty="0"/>
              <a:t>With modularity, layers are selected such that each uses functions (operations) and services of only lower-level layers</a:t>
            </a:r>
          </a:p>
        </p:txBody>
      </p:sp>
      <p:pic>
        <p:nvPicPr>
          <p:cNvPr id="4198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325" y="1393825"/>
            <a:ext cx="3629025" cy="360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>
          <a:xfrm>
            <a:off x="757238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854075" y="1108075"/>
            <a:ext cx="6934200" cy="4921250"/>
          </a:xfrm>
        </p:spPr>
        <p:txBody>
          <a:bodyPr/>
          <a:lstStyle/>
          <a:p>
            <a:r>
              <a:rPr lang="en-US" altLang="en-US"/>
              <a:t>Moves as much from the kernel into user space</a:t>
            </a:r>
          </a:p>
          <a:p>
            <a:r>
              <a:rPr lang="en-US" altLang="en-US" b="1">
                <a:solidFill>
                  <a:srgbClr val="3366FF"/>
                </a:solidFill>
              </a:rPr>
              <a:t>Mach </a:t>
            </a:r>
            <a:r>
              <a:rPr lang="en-US" altLang="en-US"/>
              <a:t>example of </a:t>
            </a:r>
            <a:r>
              <a:rPr lang="en-US" altLang="en-US" b="1">
                <a:solidFill>
                  <a:srgbClr val="3366FF"/>
                </a:solidFill>
              </a:rPr>
              <a:t>microkernel</a:t>
            </a:r>
          </a:p>
          <a:p>
            <a:pPr lvl="1"/>
            <a:r>
              <a:rPr lang="en-US" altLang="en-US"/>
              <a:t>Mac OS X kernel (</a:t>
            </a:r>
            <a:r>
              <a:rPr lang="en-US" altLang="en-US" b="1">
                <a:solidFill>
                  <a:srgbClr val="3366FF"/>
                </a:solidFill>
              </a:rPr>
              <a:t>Darwin</a:t>
            </a:r>
            <a:r>
              <a:rPr lang="en-US" altLang="en-US"/>
              <a:t>) partly based on Mach</a:t>
            </a:r>
            <a:endParaRPr lang="en-US" altLang="en-US" sz="800"/>
          </a:p>
          <a:p>
            <a:r>
              <a:rPr lang="en-US" altLang="en-US"/>
              <a:t>Communication takes place between user modules using </a:t>
            </a:r>
            <a:r>
              <a:rPr lang="en-US" altLang="en-US" b="1">
                <a:solidFill>
                  <a:srgbClr val="3366FF"/>
                </a:solidFill>
              </a:rPr>
              <a:t>message passing</a:t>
            </a:r>
            <a:endParaRPr lang="en-US" altLang="en-US" sz="800"/>
          </a:p>
          <a:p>
            <a:r>
              <a:rPr lang="en-US" altLang="en-US"/>
              <a:t>Benefits:</a:t>
            </a:r>
          </a:p>
          <a:p>
            <a:pPr lvl="1"/>
            <a:r>
              <a:rPr lang="en-US" altLang="en-US"/>
              <a:t>Easier to extend a microkernel</a:t>
            </a:r>
          </a:p>
          <a:p>
            <a:pPr lvl="1"/>
            <a:r>
              <a:rPr lang="en-US" altLang="en-US"/>
              <a:t>Easier to port the operating system to new architectures</a:t>
            </a:r>
          </a:p>
          <a:p>
            <a:pPr lvl="1"/>
            <a:r>
              <a:rPr lang="en-US" altLang="en-US"/>
              <a:t>More reliable (less code is running in kernel mode)</a:t>
            </a:r>
          </a:p>
          <a:p>
            <a:pPr lvl="1"/>
            <a:r>
              <a:rPr lang="en-US" altLang="en-US"/>
              <a:t>More secure</a:t>
            </a:r>
            <a:endParaRPr lang="en-US" altLang="en-US" sz="800"/>
          </a:p>
          <a:p>
            <a:r>
              <a:rPr lang="en-US" altLang="en-US"/>
              <a:t>Detriments:</a:t>
            </a:r>
          </a:p>
          <a:p>
            <a:pPr lvl="1"/>
            <a:r>
              <a:rPr lang="en-US" altLang="en-US"/>
              <a:t>Performance overhead of user space to kernel space communication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504825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Microkernel System Structure </a:t>
            </a:r>
            <a:endParaRPr lang="en-US" altLang="en-US" sz="2400"/>
          </a:p>
        </p:txBody>
      </p:sp>
      <p:pic>
        <p:nvPicPr>
          <p:cNvPr id="44035" name="Picture 2" descr="2_14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813" y="1282700"/>
            <a:ext cx="7427912" cy="3594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Modules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6997700" cy="4530725"/>
          </a:xfrm>
        </p:spPr>
        <p:txBody>
          <a:bodyPr/>
          <a:lstStyle/>
          <a:p>
            <a:r>
              <a:rPr lang="en-US" altLang="en-US"/>
              <a:t>Many modern operating systems implement </a:t>
            </a:r>
            <a:r>
              <a:rPr lang="en-US" altLang="en-US" b="1">
                <a:solidFill>
                  <a:srgbClr val="3366FF"/>
                </a:solidFill>
              </a:rPr>
              <a:t>loadable</a:t>
            </a:r>
            <a:r>
              <a:rPr lang="en-US" altLang="en-US"/>
              <a:t> </a:t>
            </a:r>
            <a:r>
              <a:rPr lang="en-US" altLang="en-US" b="1">
                <a:solidFill>
                  <a:srgbClr val="3366FF"/>
                </a:solidFill>
              </a:rPr>
              <a:t>kernel modules</a:t>
            </a:r>
          </a:p>
          <a:p>
            <a:pPr lvl="1"/>
            <a:r>
              <a:rPr lang="en-US" altLang="en-US"/>
              <a:t>Uses object-oriented approach</a:t>
            </a:r>
          </a:p>
          <a:p>
            <a:pPr lvl="1"/>
            <a:r>
              <a:rPr lang="en-US" altLang="en-US"/>
              <a:t>Each core component is separate</a:t>
            </a:r>
          </a:p>
          <a:p>
            <a:pPr lvl="1"/>
            <a:r>
              <a:rPr lang="en-US" altLang="en-US"/>
              <a:t>Each talks to the others over known interfaces</a:t>
            </a:r>
          </a:p>
          <a:p>
            <a:pPr lvl="1"/>
            <a:r>
              <a:rPr lang="en-US" altLang="en-US"/>
              <a:t>Each is loadable as needed within the kernel</a:t>
            </a:r>
          </a:p>
          <a:p>
            <a:r>
              <a:rPr lang="en-US" altLang="en-US"/>
              <a:t>Overall, similar to layers but with more flexible</a:t>
            </a:r>
          </a:p>
          <a:p>
            <a:pPr lvl="1"/>
            <a:r>
              <a:rPr lang="en-US" altLang="en-US"/>
              <a:t>Linux, Solaris, etc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Solaris Modular Approach</a:t>
            </a:r>
          </a:p>
        </p:txBody>
      </p:sp>
      <p:pic>
        <p:nvPicPr>
          <p:cNvPr id="4608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0475" y="1301750"/>
            <a:ext cx="6956425" cy="3748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9843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Hybrid Systems</a:t>
            </a:r>
          </a:p>
        </p:txBody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7265988" cy="4530725"/>
          </a:xfrm>
        </p:spPr>
        <p:txBody>
          <a:bodyPr/>
          <a:lstStyle/>
          <a:p>
            <a:r>
              <a:rPr lang="en-US" altLang="en-US"/>
              <a:t>Most modern operating systems are actually not one pure model</a:t>
            </a:r>
          </a:p>
          <a:p>
            <a:pPr lvl="1"/>
            <a:r>
              <a:rPr lang="en-US" altLang="en-US"/>
              <a:t>Hybrid combines multiple approaches to address performance, security, usability needs</a:t>
            </a:r>
          </a:p>
          <a:p>
            <a:pPr lvl="1"/>
            <a:r>
              <a:rPr lang="en-US" altLang="en-US"/>
              <a:t>Linux and Solaris kernels in kernel address space, so monolithic, plus modular for dynamic loading of functionality</a:t>
            </a:r>
          </a:p>
          <a:p>
            <a:pPr lvl="1"/>
            <a:r>
              <a:rPr lang="en-US" altLang="en-US"/>
              <a:t>Windows mostly monolithic, plus microkernel for different subsystem </a:t>
            </a:r>
            <a:r>
              <a:rPr lang="en-US" altLang="en-US" b="1" i="1"/>
              <a:t>personalities</a:t>
            </a:r>
          </a:p>
          <a:p>
            <a:r>
              <a:rPr lang="en-US" altLang="en-US"/>
              <a:t>Apple Mac OS X hybrid, layered, </a:t>
            </a:r>
            <a:r>
              <a:rPr lang="en-US" altLang="en-US" b="1">
                <a:solidFill>
                  <a:srgbClr val="3366FF"/>
                </a:solidFill>
              </a:rPr>
              <a:t>Aqua</a:t>
            </a:r>
            <a:r>
              <a:rPr lang="en-US" altLang="en-US"/>
              <a:t> UI plus </a:t>
            </a:r>
            <a:r>
              <a:rPr lang="en-US" altLang="en-US" b="1">
                <a:solidFill>
                  <a:srgbClr val="3366FF"/>
                </a:solidFill>
              </a:rPr>
              <a:t>Cocoa</a:t>
            </a:r>
            <a:r>
              <a:rPr lang="en-US" altLang="en-US"/>
              <a:t> programming environment</a:t>
            </a:r>
          </a:p>
          <a:p>
            <a:pPr lvl="1"/>
            <a:r>
              <a:rPr lang="en-US" altLang="en-US"/>
              <a:t>Below is kernel consisting of Mach microkernel and BSD Unix parts, plus I/O kit and dynamically loadable modules (called </a:t>
            </a:r>
            <a:r>
              <a:rPr lang="en-US" altLang="en-US" b="1">
                <a:solidFill>
                  <a:srgbClr val="3366FF"/>
                </a:solidFill>
              </a:rPr>
              <a:t>kernel extensions</a:t>
            </a:r>
            <a:r>
              <a:rPr lang="en-US" altLang="en-US"/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Mac OS X Structure</a:t>
            </a:r>
          </a:p>
        </p:txBody>
      </p:sp>
      <p:pic>
        <p:nvPicPr>
          <p:cNvPr id="48131" name="Content Placeholder 3" descr="2_16.pdf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4" r="554"/>
          <a:stretch>
            <a:fillRect/>
          </a:stretch>
        </p:blipFill>
        <p:spPr>
          <a:xfrm>
            <a:off x="928688" y="1458913"/>
            <a:ext cx="7410450" cy="4079875"/>
          </a:xfr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FCC60CB1-695F-8440-2739-3AF98F8FA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666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iOS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34351A38-A84B-D68B-89EF-0323D55EA3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6450" y="1233488"/>
            <a:ext cx="5484813" cy="4530725"/>
          </a:xfrm>
        </p:spPr>
        <p:txBody>
          <a:bodyPr/>
          <a:lstStyle/>
          <a:p>
            <a:r>
              <a:rPr lang="en-US" altLang="en-US"/>
              <a:t>Apple mobile OS for </a:t>
            </a:r>
            <a:r>
              <a:rPr lang="en-US" altLang="en-US" b="1" i="1"/>
              <a:t>iPhone</a:t>
            </a:r>
            <a:r>
              <a:rPr lang="en-US" altLang="en-US"/>
              <a:t>, </a:t>
            </a:r>
            <a:r>
              <a:rPr lang="en-US" altLang="en-US" b="1" i="1"/>
              <a:t>iPad</a:t>
            </a:r>
            <a:endParaRPr lang="en-US" altLang="en-US"/>
          </a:p>
          <a:p>
            <a:pPr lvl="1"/>
            <a:r>
              <a:rPr lang="en-US" altLang="en-US"/>
              <a:t>Structured on Mac OS X, added functionality</a:t>
            </a:r>
          </a:p>
          <a:p>
            <a:pPr lvl="1"/>
            <a:r>
              <a:rPr lang="en-US" altLang="en-US"/>
              <a:t>Does not run OS X applications natively</a:t>
            </a:r>
          </a:p>
          <a:p>
            <a:pPr lvl="2"/>
            <a:r>
              <a:rPr lang="en-US" altLang="en-US"/>
              <a:t>Also runs on different CPU architecture (ARM vs. Intel)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Cocoa Touch </a:t>
            </a:r>
            <a:r>
              <a:rPr lang="en-US" altLang="en-US"/>
              <a:t>Objective-C API for developing apps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Media services </a:t>
            </a:r>
            <a:r>
              <a:rPr lang="en-US" altLang="en-US"/>
              <a:t>layer for graphics, audio, video</a:t>
            </a:r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Core services </a:t>
            </a:r>
            <a:r>
              <a:rPr lang="en-US" altLang="en-US"/>
              <a:t>provides cloud computing, databases</a:t>
            </a:r>
          </a:p>
          <a:p>
            <a:pPr lvl="1"/>
            <a:r>
              <a:rPr lang="en-US" altLang="en-US"/>
              <a:t>Core operating system, based on Mac OS X kernel</a:t>
            </a:r>
          </a:p>
        </p:txBody>
      </p:sp>
      <p:pic>
        <p:nvPicPr>
          <p:cNvPr id="49156" name="Picture 1" descr="2_17.pdf">
            <a:extLst>
              <a:ext uri="{FF2B5EF4-FFF2-40B4-BE49-F238E27FC236}">
                <a16:creationId xmlns:a16="http://schemas.microsoft.com/office/drawing/2014/main" id="{4E0858B0-4E5F-8872-3698-C32782403C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1313" y="2430463"/>
            <a:ext cx="1952625" cy="2043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088266CE-F2E5-84F3-AFFF-E7029568E3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52400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/>
              <a:t>Android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974F4AEA-FC0F-FC49-A6A9-11850E871F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044575"/>
            <a:ext cx="7250113" cy="4530725"/>
          </a:xfrm>
        </p:spPr>
        <p:txBody>
          <a:bodyPr/>
          <a:lstStyle/>
          <a:p>
            <a:r>
              <a:rPr lang="en-US" altLang="en-US"/>
              <a:t>Developed by Open Handset Alliance (mostly Google)</a:t>
            </a:r>
          </a:p>
          <a:p>
            <a:pPr lvl="1"/>
            <a:r>
              <a:rPr lang="en-US" altLang="en-US"/>
              <a:t>Open Source</a:t>
            </a:r>
          </a:p>
          <a:p>
            <a:r>
              <a:rPr lang="en-US" altLang="en-US"/>
              <a:t>Similar stack to IOS</a:t>
            </a:r>
          </a:p>
          <a:p>
            <a:r>
              <a:rPr lang="en-US" altLang="en-US"/>
              <a:t>Based on Linux kernel but modified</a:t>
            </a:r>
          </a:p>
          <a:p>
            <a:pPr lvl="1"/>
            <a:r>
              <a:rPr lang="en-US" altLang="en-US"/>
              <a:t>Provides process, memory, device-driver management</a:t>
            </a:r>
          </a:p>
          <a:p>
            <a:pPr lvl="1"/>
            <a:r>
              <a:rPr lang="en-US" altLang="en-US"/>
              <a:t>Adds power management </a:t>
            </a:r>
          </a:p>
          <a:p>
            <a:r>
              <a:rPr lang="en-US" altLang="en-US"/>
              <a:t>Runtime environment includes core set of libraries and Dalvik virtual machine</a:t>
            </a:r>
          </a:p>
          <a:p>
            <a:pPr lvl="1"/>
            <a:r>
              <a:rPr lang="en-US" altLang="en-US"/>
              <a:t>Apps developed in Java plus Android API</a:t>
            </a:r>
          </a:p>
          <a:p>
            <a:pPr lvl="2"/>
            <a:r>
              <a:rPr lang="en-US" altLang="en-US"/>
              <a:t>Java class files compiled to Java bytecode then translated to executable than runs in Dalvik VM</a:t>
            </a:r>
          </a:p>
          <a:p>
            <a:r>
              <a:rPr lang="en-US" altLang="en-US"/>
              <a:t>Libraries include frameworks for web browser (webkit), database (SQLite), multimedia, smaller libc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0443AFB7-6293-54E9-0E13-7C616431F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14313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Android Architecture</a:t>
            </a:r>
          </a:p>
        </p:txBody>
      </p:sp>
      <p:pic>
        <p:nvPicPr>
          <p:cNvPr id="51203" name="Content Placeholder 2" descr="2_18.pdf">
            <a:extLst>
              <a:ext uri="{FF2B5EF4-FFF2-40B4-BE49-F238E27FC236}">
                <a16:creationId xmlns:a16="http://schemas.microsoft.com/office/drawing/2014/main" id="{046BA25B-92DA-EFD2-31DB-BE9FF763C2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273" b="15273"/>
          <a:stretch>
            <a:fillRect/>
          </a:stretch>
        </p:blipFill>
        <p:spPr>
          <a:xfrm>
            <a:off x="1182688" y="1181100"/>
            <a:ext cx="7254875" cy="3995738"/>
          </a:xfr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End of Chapter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s-8 8">
    <a:dk1>
      <a:srgbClr val="000000"/>
    </a:dk1>
    <a:lt1>
      <a:srgbClr val="FFFFFF"/>
    </a:lt1>
    <a:dk2>
      <a:srgbClr val="999900"/>
    </a:dk2>
    <a:lt2>
      <a:srgbClr val="666600"/>
    </a:lt2>
    <a:accent1>
      <a:srgbClr val="99CC00"/>
    </a:accent1>
    <a:accent2>
      <a:srgbClr val="CCCC66"/>
    </a:accent2>
    <a:accent3>
      <a:srgbClr val="FFFFFF"/>
    </a:accent3>
    <a:accent4>
      <a:srgbClr val="000000"/>
    </a:accent4>
    <a:accent5>
      <a:srgbClr val="CAE2AA"/>
    </a:accent5>
    <a:accent6>
      <a:srgbClr val="B9B95C"/>
    </a:accent6>
    <a:hlink>
      <a:srgbClr val="FFCC00"/>
    </a:hlink>
    <a:folHlink>
      <a:srgbClr val="CC9900"/>
    </a:folHlink>
  </a:clrScheme>
</a:themeOverride>
</file>

<file path=ppt/theme/themeOverride2.xml><?xml version="1.0" encoding="utf-8"?>
<a:themeOverride xmlns:a="http://schemas.openxmlformats.org/drawingml/2006/main">
  <a:clrScheme name="os-8 8">
    <a:dk1>
      <a:srgbClr val="000000"/>
    </a:dk1>
    <a:lt1>
      <a:srgbClr val="FFFFFF"/>
    </a:lt1>
    <a:dk2>
      <a:srgbClr val="999900"/>
    </a:dk2>
    <a:lt2>
      <a:srgbClr val="666600"/>
    </a:lt2>
    <a:accent1>
      <a:srgbClr val="99CC00"/>
    </a:accent1>
    <a:accent2>
      <a:srgbClr val="CCCC66"/>
    </a:accent2>
    <a:accent3>
      <a:srgbClr val="FFFFFF"/>
    </a:accent3>
    <a:accent4>
      <a:srgbClr val="000000"/>
    </a:accent4>
    <a:accent5>
      <a:srgbClr val="CAE2AA"/>
    </a:accent5>
    <a:accent6>
      <a:srgbClr val="B9B95C"/>
    </a:accent6>
    <a:hlink>
      <a:srgbClr val="FFCC00"/>
    </a:hlink>
    <a:folHlink>
      <a:srgbClr val="CC99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10767</TotalTime>
  <Words>2728</Words>
  <Application>Microsoft Office PowerPoint</Application>
  <PresentationFormat>On-screen Show (4:3)</PresentationFormat>
  <Paragraphs>335</Paragraphs>
  <Slides>50</Slides>
  <Notes>42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9" baseType="lpstr">
      <vt:lpstr>MS PGothic</vt:lpstr>
      <vt:lpstr>Arial</vt:lpstr>
      <vt:lpstr>Helvetica</vt:lpstr>
      <vt:lpstr>Monotype Sorts</vt:lpstr>
      <vt:lpstr>Roboto</vt:lpstr>
      <vt:lpstr>Times New Roman</vt:lpstr>
      <vt:lpstr>Verdana</vt:lpstr>
      <vt:lpstr>Webdings</vt:lpstr>
      <vt:lpstr>os-8</vt:lpstr>
      <vt:lpstr>Chapter 2:  Operating-System Structures</vt:lpstr>
      <vt:lpstr>Chapter 2:  Operating-System Structures</vt:lpstr>
      <vt:lpstr>Operating System Services</vt:lpstr>
      <vt:lpstr>Operating System Services (Cont.)</vt:lpstr>
      <vt:lpstr>Operating System Services (Cont.)</vt:lpstr>
      <vt:lpstr>A View of Operating System Services</vt:lpstr>
      <vt:lpstr>PowerPoint Presentation</vt:lpstr>
      <vt:lpstr>User Operating System Interface - CLI</vt:lpstr>
      <vt:lpstr>User Operating System Interface - GUI</vt:lpstr>
      <vt:lpstr>Bourne Shell Command Interpreter</vt:lpstr>
      <vt:lpstr>User Operating System Interface - GUI</vt:lpstr>
      <vt:lpstr>Touchscreen Interfaces</vt:lpstr>
      <vt:lpstr>The Mac OS X GUI</vt:lpstr>
      <vt:lpstr>System Calls</vt:lpstr>
      <vt:lpstr>System Calls</vt:lpstr>
      <vt:lpstr>Example of System Calls</vt:lpstr>
      <vt:lpstr>Example of Standard API</vt:lpstr>
      <vt:lpstr>System Call Implementation</vt:lpstr>
      <vt:lpstr>API – System Call – OS Relationship</vt:lpstr>
      <vt:lpstr>System Call Parameter Passing</vt:lpstr>
      <vt:lpstr>System Calls </vt:lpstr>
      <vt:lpstr>Types of System Calls</vt:lpstr>
      <vt:lpstr>Types of System Calls</vt:lpstr>
      <vt:lpstr>Examples of Windows and  Unix System Calls</vt:lpstr>
      <vt:lpstr>Standard C Library Example</vt:lpstr>
      <vt:lpstr>Example: MS-DOS</vt:lpstr>
      <vt:lpstr>Example: FreeBSD</vt:lpstr>
      <vt:lpstr>System Programs</vt:lpstr>
      <vt:lpstr>System Programs (Cont.)</vt:lpstr>
      <vt:lpstr>System Programs (Cont.)</vt:lpstr>
      <vt:lpstr>Operating System Design and Implementation</vt:lpstr>
      <vt:lpstr>Operating System Design and Implementation (Cont.)</vt:lpstr>
      <vt:lpstr>Implementation</vt:lpstr>
      <vt:lpstr>Operating System Structure</vt:lpstr>
      <vt:lpstr>Simple Structure  -- MS-DOS</vt:lpstr>
      <vt:lpstr>Non Simple Structure  -- UNIX</vt:lpstr>
      <vt:lpstr>Traditional UNIX System Structure</vt:lpstr>
      <vt:lpstr>Simplified history of Unix-like OSes</vt:lpstr>
      <vt:lpstr>Windows 8 Structure</vt:lpstr>
      <vt:lpstr>Layered Approach</vt:lpstr>
      <vt:lpstr>Microkernel System Structure </vt:lpstr>
      <vt:lpstr>Microkernel System Structure </vt:lpstr>
      <vt:lpstr>Modules</vt:lpstr>
      <vt:lpstr>Solaris Modular Approach</vt:lpstr>
      <vt:lpstr>Hybrid Systems</vt:lpstr>
      <vt:lpstr>Mac OS X Structure</vt:lpstr>
      <vt:lpstr>iOS</vt:lpstr>
      <vt:lpstr>Android</vt:lpstr>
      <vt:lpstr>Android Architecture</vt:lpstr>
      <vt:lpstr>End of Chapter 2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Liu, Siming</cp:lastModifiedBy>
  <cp:revision>256</cp:revision>
  <cp:lastPrinted>2001-06-14T13:58:17Z</cp:lastPrinted>
  <dcterms:created xsi:type="dcterms:W3CDTF">2011-01-13T23:43:38Z</dcterms:created>
  <dcterms:modified xsi:type="dcterms:W3CDTF">2024-01-18T02:43:48Z</dcterms:modified>
</cp:coreProperties>
</file>