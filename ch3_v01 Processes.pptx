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4" r:id="rId1"/>
  </p:sldMasterIdLst>
  <p:notesMasterIdLst>
    <p:notesMasterId r:id="rId47"/>
  </p:notesMasterIdLst>
  <p:handoutMasterIdLst>
    <p:handoutMasterId r:id="rId48"/>
  </p:handoutMasterIdLst>
  <p:sldIdLst>
    <p:sldId id="330" r:id="rId2"/>
    <p:sldId id="411" r:id="rId3"/>
    <p:sldId id="413" r:id="rId4"/>
    <p:sldId id="468" r:id="rId5"/>
    <p:sldId id="414" r:id="rId6"/>
    <p:sldId id="415" r:id="rId7"/>
    <p:sldId id="416" r:id="rId8"/>
    <p:sldId id="499" r:id="rId9"/>
    <p:sldId id="417" r:id="rId10"/>
    <p:sldId id="418" r:id="rId11"/>
    <p:sldId id="419" r:id="rId12"/>
    <p:sldId id="469" r:id="rId13"/>
    <p:sldId id="421" r:id="rId14"/>
    <p:sldId id="422" r:id="rId15"/>
    <p:sldId id="423" r:id="rId16"/>
    <p:sldId id="424" r:id="rId17"/>
    <p:sldId id="425" r:id="rId18"/>
    <p:sldId id="500" r:id="rId19"/>
    <p:sldId id="427" r:id="rId20"/>
    <p:sldId id="428" r:id="rId21"/>
    <p:sldId id="429" r:id="rId22"/>
    <p:sldId id="430" r:id="rId23"/>
    <p:sldId id="431" r:id="rId24"/>
    <p:sldId id="432" r:id="rId25"/>
    <p:sldId id="434" r:id="rId26"/>
    <p:sldId id="471" r:id="rId27"/>
    <p:sldId id="435" r:id="rId28"/>
    <p:sldId id="436" r:id="rId29"/>
    <p:sldId id="437" r:id="rId30"/>
    <p:sldId id="488" r:id="rId31"/>
    <p:sldId id="489" r:id="rId32"/>
    <p:sldId id="490" r:id="rId33"/>
    <p:sldId id="491" r:id="rId34"/>
    <p:sldId id="492" r:id="rId35"/>
    <p:sldId id="443" r:id="rId36"/>
    <p:sldId id="479" r:id="rId37"/>
    <p:sldId id="473" r:id="rId38"/>
    <p:sldId id="445" r:id="rId39"/>
    <p:sldId id="449" r:id="rId40"/>
    <p:sldId id="495" r:id="rId41"/>
    <p:sldId id="458" r:id="rId42"/>
    <p:sldId id="459" r:id="rId43"/>
    <p:sldId id="460" r:id="rId44"/>
    <p:sldId id="461" r:id="rId45"/>
    <p:sldId id="467" r:id="rId46"/>
  </p:sldIdLst>
  <p:sldSz cx="9144000" cy="6858000" type="screen4x3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Verdana" pitchFamily="34" charset="0"/>
        <a:ea typeface="MS PGothic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16">
          <p15:clr>
            <a:srgbClr val="A4A3A4"/>
          </p15:clr>
        </p15:guide>
        <p15:guide id="2" pos="4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CCECFF"/>
    <a:srgbClr val="66CCFF"/>
    <a:srgbClr val="CCFFFF"/>
    <a:srgbClr val="F8F8F8"/>
    <a:srgbClr val="EAEAEA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727D5B-06C8-4B32-A0E1-1885DE8D881C}" v="22" dt="2024-08-27T13:49:20.0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0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843" y="48"/>
      </p:cViewPr>
      <p:guideLst>
        <p:guide orient="horz" pos="816"/>
        <p:guide pos="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ing Liu" userId="1e4b75e0-8938-470c-9583-bf4243e4c4f1" providerId="ADAL" clId="{195339DB-EC42-4B0D-AE71-519140076CAF}"/>
    <pc:docChg chg="undo custSel addSld delSld modSld">
      <pc:chgData name="Siming Liu" userId="1e4b75e0-8938-470c-9583-bf4243e4c4f1" providerId="ADAL" clId="{195339DB-EC42-4B0D-AE71-519140076CAF}" dt="2020-08-24T21:23:32.112" v="17" actId="47"/>
      <pc:docMkLst>
        <pc:docMk/>
      </pc:docMkLst>
      <pc:sldChg chg="addSp delSp mod">
        <pc:chgData name="Siming Liu" userId="1e4b75e0-8938-470c-9583-bf4243e4c4f1" providerId="ADAL" clId="{195339DB-EC42-4B0D-AE71-519140076CAF}" dt="2020-08-23T05:11:15.972" v="1" actId="9405"/>
        <pc:sldMkLst>
          <pc:docMk/>
          <pc:sldMk cId="0" sldId="330"/>
        </pc:sldMkLst>
        <pc:inkChg chg="add del">
          <ac:chgData name="Siming Liu" userId="1e4b75e0-8938-470c-9583-bf4243e4c4f1" providerId="ADAL" clId="{195339DB-EC42-4B0D-AE71-519140076CAF}" dt="2020-08-23T05:11:15.972" v="1" actId="9405"/>
          <ac:inkMkLst>
            <pc:docMk/>
            <pc:sldMk cId="0" sldId="330"/>
            <ac:inkMk id="2" creationId="{4FE62FAB-848B-4C65-AD78-4C7CB967D2DA}"/>
          </ac:inkMkLst>
        </pc:inkChg>
      </pc:sldChg>
      <pc:sldChg chg="del">
        <pc:chgData name="Siming Liu" userId="1e4b75e0-8938-470c-9583-bf4243e4c4f1" providerId="ADAL" clId="{195339DB-EC42-4B0D-AE71-519140076CAF}" dt="2020-08-24T21:18:27.799" v="5" actId="47"/>
        <pc:sldMkLst>
          <pc:docMk/>
          <pc:sldMk cId="0" sldId="446"/>
        </pc:sldMkLst>
      </pc:sldChg>
      <pc:sldChg chg="del">
        <pc:chgData name="Siming Liu" userId="1e4b75e0-8938-470c-9583-bf4243e4c4f1" providerId="ADAL" clId="{195339DB-EC42-4B0D-AE71-519140076CAF}" dt="2020-08-24T21:18:22.865" v="4" actId="47"/>
        <pc:sldMkLst>
          <pc:docMk/>
          <pc:sldMk cId="0" sldId="447"/>
        </pc:sldMkLst>
      </pc:sldChg>
      <pc:sldChg chg="del">
        <pc:chgData name="Siming Liu" userId="1e4b75e0-8938-470c-9583-bf4243e4c4f1" providerId="ADAL" clId="{195339DB-EC42-4B0D-AE71-519140076CAF}" dt="2020-08-24T21:18:19.362" v="3" actId="47"/>
        <pc:sldMkLst>
          <pc:docMk/>
          <pc:sldMk cId="0" sldId="448"/>
        </pc:sldMkLst>
      </pc:sldChg>
      <pc:sldChg chg="del">
        <pc:chgData name="Siming Liu" userId="1e4b75e0-8938-470c-9583-bf4243e4c4f1" providerId="ADAL" clId="{195339DB-EC42-4B0D-AE71-519140076CAF}" dt="2020-08-24T21:19:22.844" v="14" actId="47"/>
        <pc:sldMkLst>
          <pc:docMk/>
          <pc:sldMk cId="0" sldId="451"/>
        </pc:sldMkLst>
      </pc:sldChg>
      <pc:sldChg chg="del">
        <pc:chgData name="Siming Liu" userId="1e4b75e0-8938-470c-9583-bf4243e4c4f1" providerId="ADAL" clId="{195339DB-EC42-4B0D-AE71-519140076CAF}" dt="2020-08-24T21:18:57.955" v="10" actId="47"/>
        <pc:sldMkLst>
          <pc:docMk/>
          <pc:sldMk cId="0" sldId="464"/>
        </pc:sldMkLst>
      </pc:sldChg>
      <pc:sldChg chg="del">
        <pc:chgData name="Siming Liu" userId="1e4b75e0-8938-470c-9583-bf4243e4c4f1" providerId="ADAL" clId="{195339DB-EC42-4B0D-AE71-519140076CAF}" dt="2020-08-24T21:18:56.177" v="9" actId="47"/>
        <pc:sldMkLst>
          <pc:docMk/>
          <pc:sldMk cId="0" sldId="465"/>
        </pc:sldMkLst>
      </pc:sldChg>
      <pc:sldChg chg="del">
        <pc:chgData name="Siming Liu" userId="1e4b75e0-8938-470c-9583-bf4243e4c4f1" providerId="ADAL" clId="{195339DB-EC42-4B0D-AE71-519140076CAF}" dt="2020-08-24T21:18:51.970" v="6" actId="47"/>
        <pc:sldMkLst>
          <pc:docMk/>
          <pc:sldMk cId="0" sldId="466"/>
        </pc:sldMkLst>
      </pc:sldChg>
      <pc:sldChg chg="add del">
        <pc:chgData name="Siming Liu" userId="1e4b75e0-8938-470c-9583-bf4243e4c4f1" providerId="ADAL" clId="{195339DB-EC42-4B0D-AE71-519140076CAF}" dt="2020-08-24T21:18:54.575" v="8" actId="47"/>
        <pc:sldMkLst>
          <pc:docMk/>
          <pc:sldMk cId="0" sldId="467"/>
        </pc:sldMkLst>
      </pc:sldChg>
      <pc:sldChg chg="del">
        <pc:chgData name="Siming Liu" userId="1e4b75e0-8938-470c-9583-bf4243e4c4f1" providerId="ADAL" clId="{195339DB-EC42-4B0D-AE71-519140076CAF}" dt="2020-08-23T05:11:55.578" v="2" actId="47"/>
        <pc:sldMkLst>
          <pc:docMk/>
          <pc:sldMk cId="0" sldId="469"/>
        </pc:sldMkLst>
      </pc:sldChg>
      <pc:sldChg chg="del">
        <pc:chgData name="Siming Liu" userId="1e4b75e0-8938-470c-9583-bf4243e4c4f1" providerId="ADAL" clId="{195339DB-EC42-4B0D-AE71-519140076CAF}" dt="2020-08-24T21:23:32.112" v="17" actId="47"/>
        <pc:sldMkLst>
          <pc:docMk/>
          <pc:sldMk cId="0" sldId="476"/>
        </pc:sldMkLst>
      </pc:sldChg>
      <pc:sldChg chg="del">
        <pc:chgData name="Siming Liu" userId="1e4b75e0-8938-470c-9583-bf4243e4c4f1" providerId="ADAL" clId="{195339DB-EC42-4B0D-AE71-519140076CAF}" dt="2020-08-24T21:19:15.016" v="13" actId="47"/>
        <pc:sldMkLst>
          <pc:docMk/>
          <pc:sldMk cId="0" sldId="496"/>
        </pc:sldMkLst>
      </pc:sldChg>
      <pc:sldChg chg="del">
        <pc:chgData name="Siming Liu" userId="1e4b75e0-8938-470c-9583-bf4243e4c4f1" providerId="ADAL" clId="{195339DB-EC42-4B0D-AE71-519140076CAF}" dt="2020-08-24T21:19:10.654" v="11" actId="47"/>
        <pc:sldMkLst>
          <pc:docMk/>
          <pc:sldMk cId="0" sldId="497"/>
        </pc:sldMkLst>
      </pc:sldChg>
      <pc:sldChg chg="del">
        <pc:chgData name="Siming Liu" userId="1e4b75e0-8938-470c-9583-bf4243e4c4f1" providerId="ADAL" clId="{195339DB-EC42-4B0D-AE71-519140076CAF}" dt="2020-08-24T21:19:11.136" v="12" actId="47"/>
        <pc:sldMkLst>
          <pc:docMk/>
          <pc:sldMk cId="0" sldId="498"/>
        </pc:sldMkLst>
      </pc:sldChg>
      <pc:sldChg chg="del">
        <pc:chgData name="Siming Liu" userId="1e4b75e0-8938-470c-9583-bf4243e4c4f1" providerId="ADAL" clId="{195339DB-EC42-4B0D-AE71-519140076CAF}" dt="2020-08-24T21:19:43.163" v="15" actId="47"/>
        <pc:sldMkLst>
          <pc:docMk/>
          <pc:sldMk cId="1909953017" sldId="501"/>
        </pc:sldMkLst>
      </pc:sldChg>
      <pc:sldChg chg="del">
        <pc:chgData name="Siming Liu" userId="1e4b75e0-8938-470c-9583-bf4243e4c4f1" providerId="ADAL" clId="{195339DB-EC42-4B0D-AE71-519140076CAF}" dt="2020-08-24T21:19:43.677" v="16" actId="47"/>
        <pc:sldMkLst>
          <pc:docMk/>
          <pc:sldMk cId="2310095677" sldId="502"/>
        </pc:sldMkLst>
      </pc:sldChg>
    </pc:docChg>
  </pc:docChgLst>
  <pc:docChgLst>
    <pc:chgData name="Liu, Siming" userId="1e4b75e0-8938-470c-9583-bf4243e4c4f1" providerId="ADAL" clId="{93727D5B-06C8-4B32-A0E1-1885DE8D881C}"/>
    <pc:docChg chg="undo custSel addSld delSld modSld">
      <pc:chgData name="Liu, Siming" userId="1e4b75e0-8938-470c-9583-bf4243e4c4f1" providerId="ADAL" clId="{93727D5B-06C8-4B32-A0E1-1885DE8D881C}" dt="2024-08-27T13:49:20.073" v="86" actId="14100"/>
      <pc:docMkLst>
        <pc:docMk/>
      </pc:docMkLst>
      <pc:sldChg chg="addSp delSp modSp mod">
        <pc:chgData name="Liu, Siming" userId="1e4b75e0-8938-470c-9583-bf4243e4c4f1" providerId="ADAL" clId="{93727D5B-06C8-4B32-A0E1-1885DE8D881C}" dt="2024-08-27T13:42:08.999" v="26" actId="22"/>
        <pc:sldMkLst>
          <pc:docMk/>
          <pc:sldMk cId="0" sldId="413"/>
        </pc:sldMkLst>
        <pc:spChg chg="add del">
          <ac:chgData name="Liu, Siming" userId="1e4b75e0-8938-470c-9583-bf4243e4c4f1" providerId="ADAL" clId="{93727D5B-06C8-4B32-A0E1-1885DE8D881C}" dt="2024-08-27T13:41:59.675" v="22" actId="22"/>
          <ac:spMkLst>
            <pc:docMk/>
            <pc:sldMk cId="0" sldId="413"/>
            <ac:spMk id="3" creationId="{B37A3E61-E724-59F2-5BB1-82ED68496BDB}"/>
          </ac:spMkLst>
        </pc:spChg>
        <pc:spChg chg="add del">
          <ac:chgData name="Liu, Siming" userId="1e4b75e0-8938-470c-9583-bf4243e4c4f1" providerId="ADAL" clId="{93727D5B-06C8-4B32-A0E1-1885DE8D881C}" dt="2024-08-27T13:42:06.607" v="24" actId="22"/>
          <ac:spMkLst>
            <pc:docMk/>
            <pc:sldMk cId="0" sldId="413"/>
            <ac:spMk id="5" creationId="{BB4DDCBD-50FE-064D-87F4-5508C830E83F}"/>
          </ac:spMkLst>
        </pc:spChg>
        <pc:spChg chg="add del">
          <ac:chgData name="Liu, Siming" userId="1e4b75e0-8938-470c-9583-bf4243e4c4f1" providerId="ADAL" clId="{93727D5B-06C8-4B32-A0E1-1885DE8D881C}" dt="2024-08-27T13:42:08.999" v="26" actId="22"/>
          <ac:spMkLst>
            <pc:docMk/>
            <pc:sldMk cId="0" sldId="413"/>
            <ac:spMk id="7" creationId="{21623B0F-3457-2F5E-74B3-6E9808056DED}"/>
          </ac:spMkLst>
        </pc:spChg>
        <pc:spChg chg="mod">
          <ac:chgData name="Liu, Siming" userId="1e4b75e0-8938-470c-9583-bf4243e4c4f1" providerId="ADAL" clId="{93727D5B-06C8-4B32-A0E1-1885DE8D881C}" dt="2024-08-27T13:41:36.856" v="20"/>
          <ac:spMkLst>
            <pc:docMk/>
            <pc:sldMk cId="0" sldId="413"/>
            <ac:spMk id="6147" creationId="{00000000-0000-0000-0000-000000000000}"/>
          </ac:spMkLst>
        </pc:spChg>
      </pc:sldChg>
      <pc:sldChg chg="addSp delSp modSp mod">
        <pc:chgData name="Liu, Siming" userId="1e4b75e0-8938-470c-9583-bf4243e4c4f1" providerId="ADAL" clId="{93727D5B-06C8-4B32-A0E1-1885DE8D881C}" dt="2024-08-27T13:36:49.457" v="18" actId="1076"/>
        <pc:sldMkLst>
          <pc:docMk/>
          <pc:sldMk cId="0" sldId="414"/>
        </pc:sldMkLst>
        <pc:spChg chg="add">
          <ac:chgData name="Liu, Siming" userId="1e4b75e0-8938-470c-9583-bf4243e4c4f1" providerId="ADAL" clId="{93727D5B-06C8-4B32-A0E1-1885DE8D881C}" dt="2024-08-27T13:34:39.753" v="0"/>
          <ac:spMkLst>
            <pc:docMk/>
            <pc:sldMk cId="0" sldId="414"/>
            <ac:spMk id="2" creationId="{11C7A727-6DCB-D2DB-A4A2-CDEEBE833C83}"/>
          </ac:spMkLst>
        </pc:spChg>
        <pc:spChg chg="add mod">
          <ac:chgData name="Liu, Siming" userId="1e4b75e0-8938-470c-9583-bf4243e4c4f1" providerId="ADAL" clId="{93727D5B-06C8-4B32-A0E1-1885DE8D881C}" dt="2024-08-27T13:34:48.052" v="3" actId="14100"/>
          <ac:spMkLst>
            <pc:docMk/>
            <pc:sldMk cId="0" sldId="414"/>
            <ac:spMk id="3" creationId="{86FE521E-AC31-E65E-A4DF-F2E7D369162C}"/>
          </ac:spMkLst>
        </pc:spChg>
        <pc:spChg chg="add">
          <ac:chgData name="Liu, Siming" userId="1e4b75e0-8938-470c-9583-bf4243e4c4f1" providerId="ADAL" clId="{93727D5B-06C8-4B32-A0E1-1885DE8D881C}" dt="2024-08-27T13:35:04.414" v="4"/>
          <ac:spMkLst>
            <pc:docMk/>
            <pc:sldMk cId="0" sldId="414"/>
            <ac:spMk id="4" creationId="{2619393D-F9D7-DB33-24C5-A985C4801D6F}"/>
          </ac:spMkLst>
        </pc:spChg>
        <pc:picChg chg="add del mod">
          <ac:chgData name="Liu, Siming" userId="1e4b75e0-8938-470c-9583-bf4243e4c4f1" providerId="ADAL" clId="{93727D5B-06C8-4B32-A0E1-1885DE8D881C}" dt="2024-08-27T13:36:34.597" v="13" actId="478"/>
          <ac:picMkLst>
            <pc:docMk/>
            <pc:sldMk cId="0" sldId="414"/>
            <ac:picMk id="6" creationId="{355B1167-9749-6F6A-B0D0-E39E4DB07B91}"/>
          </ac:picMkLst>
        </pc:picChg>
        <pc:picChg chg="add mod">
          <ac:chgData name="Liu, Siming" userId="1e4b75e0-8938-470c-9583-bf4243e4c4f1" providerId="ADAL" clId="{93727D5B-06C8-4B32-A0E1-1885DE8D881C}" dt="2024-08-27T13:36:49.457" v="18" actId="1076"/>
          <ac:picMkLst>
            <pc:docMk/>
            <pc:sldMk cId="0" sldId="414"/>
            <ac:picMk id="8" creationId="{E41AF009-916A-AC51-AD27-DF462922B8C8}"/>
          </ac:picMkLst>
        </pc:picChg>
        <pc:picChg chg="mod">
          <ac:chgData name="Liu, Siming" userId="1e4b75e0-8938-470c-9583-bf4243e4c4f1" providerId="ADAL" clId="{93727D5B-06C8-4B32-A0E1-1885DE8D881C}" dt="2024-08-27T13:36:45.199" v="17" actId="1076"/>
          <ac:picMkLst>
            <pc:docMk/>
            <pc:sldMk cId="0" sldId="414"/>
            <ac:picMk id="8195" creationId="{00000000-0000-0000-0000-000000000000}"/>
          </ac:picMkLst>
        </pc:picChg>
      </pc:sldChg>
      <pc:sldChg chg="add">
        <pc:chgData name="Liu, Siming" userId="1e4b75e0-8938-470c-9583-bf4243e4c4f1" providerId="ADAL" clId="{93727D5B-06C8-4B32-A0E1-1885DE8D881C}" dt="2024-08-27T13:43:22.596" v="28"/>
        <pc:sldMkLst>
          <pc:docMk/>
          <pc:sldMk cId="0" sldId="417"/>
        </pc:sldMkLst>
      </pc:sldChg>
      <pc:sldChg chg="add">
        <pc:chgData name="Liu, Siming" userId="1e4b75e0-8938-470c-9583-bf4243e4c4f1" providerId="ADAL" clId="{93727D5B-06C8-4B32-A0E1-1885DE8D881C}" dt="2024-08-27T13:42:16.477" v="27"/>
        <pc:sldMkLst>
          <pc:docMk/>
          <pc:sldMk cId="0" sldId="468"/>
        </pc:sldMkLst>
      </pc:sldChg>
      <pc:sldChg chg="add">
        <pc:chgData name="Liu, Siming" userId="1e4b75e0-8938-470c-9583-bf4243e4c4f1" providerId="ADAL" clId="{93727D5B-06C8-4B32-A0E1-1885DE8D881C}" dt="2024-08-27T13:39:41.141" v="19"/>
        <pc:sldMkLst>
          <pc:docMk/>
          <pc:sldMk cId="0" sldId="469"/>
        </pc:sldMkLst>
      </pc:sldChg>
      <pc:sldChg chg="addSp modSp new mod">
        <pc:chgData name="Liu, Siming" userId="1e4b75e0-8938-470c-9583-bf4243e4c4f1" providerId="ADAL" clId="{93727D5B-06C8-4B32-A0E1-1885DE8D881C}" dt="2024-08-27T13:49:20.073" v="86" actId="14100"/>
        <pc:sldMkLst>
          <pc:docMk/>
          <pc:sldMk cId="1306631943" sldId="500"/>
        </pc:sldMkLst>
        <pc:spChg chg="mod">
          <ac:chgData name="Liu, Siming" userId="1e4b75e0-8938-470c-9583-bf4243e4c4f1" providerId="ADAL" clId="{93727D5B-06C8-4B32-A0E1-1885DE8D881C}" dt="2024-08-27T13:49:20.073" v="86" actId="14100"/>
          <ac:spMkLst>
            <pc:docMk/>
            <pc:sldMk cId="1306631943" sldId="500"/>
            <ac:spMk id="2" creationId="{DABBF14D-C9A5-CAFC-DE91-678B257A23DB}"/>
          </ac:spMkLst>
        </pc:spChg>
        <pc:spChg chg="add mod">
          <ac:chgData name="Liu, Siming" userId="1e4b75e0-8938-470c-9583-bf4243e4c4f1" providerId="ADAL" clId="{93727D5B-06C8-4B32-A0E1-1885DE8D881C}" dt="2024-08-27T13:48:13.407" v="73" actId="1076"/>
          <ac:spMkLst>
            <pc:docMk/>
            <pc:sldMk cId="1306631943" sldId="500"/>
            <ac:spMk id="4" creationId="{A38D22E8-6EE4-3482-8A9A-6DC2EFDDF53C}"/>
          </ac:spMkLst>
        </pc:spChg>
        <pc:picChg chg="add mod">
          <ac:chgData name="Liu, Siming" userId="1e4b75e0-8938-470c-9583-bf4243e4c4f1" providerId="ADAL" clId="{93727D5B-06C8-4B32-A0E1-1885DE8D881C}" dt="2024-08-27T13:49:03.839" v="74" actId="1076"/>
          <ac:picMkLst>
            <pc:docMk/>
            <pc:sldMk cId="1306631943" sldId="500"/>
            <ac:picMk id="2050" creationId="{80FE5678-F1CB-70B9-58D8-507AEB9B357B}"/>
          </ac:picMkLst>
        </pc:picChg>
      </pc:sldChg>
      <pc:sldChg chg="del">
        <pc:chgData name="Liu, Siming" userId="1e4b75e0-8938-470c-9583-bf4243e4c4f1" providerId="ADAL" clId="{93727D5B-06C8-4B32-A0E1-1885DE8D881C}" dt="2024-08-27T13:43:25.188" v="29" actId="47"/>
        <pc:sldMkLst>
          <pc:docMk/>
          <pc:sldMk cId="3857679476" sldId="500"/>
        </pc:sldMkLst>
      </pc:sldChg>
      <pc:sldMasterChg chg="delSldLayout">
        <pc:chgData name="Liu, Siming" userId="1e4b75e0-8938-470c-9583-bf4243e4c4f1" providerId="ADAL" clId="{93727D5B-06C8-4B32-A0E1-1885DE8D881C}" dt="2024-08-27T13:43:25.188" v="29" actId="47"/>
        <pc:sldMasterMkLst>
          <pc:docMk/>
          <pc:sldMasterMk cId="0" sldId="2147483664"/>
        </pc:sldMasterMkLst>
        <pc:sldLayoutChg chg="del">
          <pc:chgData name="Liu, Siming" userId="1e4b75e0-8938-470c-9583-bf4243e4c4f1" providerId="ADAL" clId="{93727D5B-06C8-4B32-A0E1-1885DE8D881C}" dt="2024-08-27T13:43:25.188" v="29" actId="47"/>
          <pc:sldLayoutMkLst>
            <pc:docMk/>
            <pc:sldMasterMk cId="0" sldId="2147483664"/>
            <pc:sldLayoutMk cId="2868410088" sldId="2147484168"/>
          </pc:sldLayoutMkLst>
        </pc:sldLayoutChg>
      </pc:sldMasterChg>
    </pc:docChg>
  </pc:docChgLst>
  <pc:docChgLst>
    <pc:chgData name="Liu, Siming" userId="1e4b75e0-8938-470c-9583-bf4243e4c4f1" providerId="ADAL" clId="{E008AEEB-DE1F-48B7-BDCC-CDB02B8251E2}"/>
    <pc:docChg chg="modSld">
      <pc:chgData name="Liu, Siming" userId="1e4b75e0-8938-470c-9583-bf4243e4c4f1" providerId="ADAL" clId="{E008AEEB-DE1F-48B7-BDCC-CDB02B8251E2}" dt="2023-09-12T17:34:20.882" v="0" actId="108"/>
      <pc:docMkLst>
        <pc:docMk/>
      </pc:docMkLst>
      <pc:sldChg chg="modSp mod">
        <pc:chgData name="Liu, Siming" userId="1e4b75e0-8938-470c-9583-bf4243e4c4f1" providerId="ADAL" clId="{E008AEEB-DE1F-48B7-BDCC-CDB02B8251E2}" dt="2023-09-12T17:34:20.882" v="0" actId="108"/>
        <pc:sldMkLst>
          <pc:docMk/>
          <pc:sldMk cId="0" sldId="491"/>
        </pc:sldMkLst>
        <pc:spChg chg="mod">
          <ac:chgData name="Liu, Siming" userId="1e4b75e0-8938-470c-9583-bf4243e4c4f1" providerId="ADAL" clId="{E008AEEB-DE1F-48B7-BDCC-CDB02B8251E2}" dt="2023-09-12T17:34:20.882" v="0" actId="108"/>
          <ac:spMkLst>
            <pc:docMk/>
            <pc:sldMk cId="0" sldId="491"/>
            <ac:spMk id="33795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3400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54" tIns="44128" rIns="88254" bIns="44128" numCol="1" anchor="ctr" anchorCtr="0" compatLnSpc="1">
            <a:prstTxWarp prst="textNoShape">
              <a:avLst/>
            </a:prstTxWarp>
          </a:bodyPr>
          <a:lstStyle>
            <a:lvl1pPr defTabSz="883092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51288" y="0"/>
            <a:ext cx="3071812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54" tIns="44128" rIns="88254" bIns="44128" numCol="1" anchor="ctr" anchorCtr="0" compatLnSpc="1">
            <a:prstTxWarp prst="textNoShape">
              <a:avLst/>
            </a:prstTxWarp>
          </a:bodyPr>
          <a:lstStyle>
            <a:lvl1pPr algn="r" defTabSz="883092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66188"/>
            <a:ext cx="3073400" cy="4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54" tIns="44128" rIns="88254" bIns="44128" numCol="1" anchor="b" anchorCtr="0" compatLnSpc="1">
            <a:prstTxWarp prst="textNoShape">
              <a:avLst/>
            </a:prstTxWarp>
          </a:bodyPr>
          <a:lstStyle>
            <a:lvl1pPr defTabSz="883092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51288" y="8866188"/>
            <a:ext cx="3071812" cy="4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54" tIns="44128" rIns="88254" bIns="44128" numCol="1" anchor="b" anchorCtr="0" compatLnSpc="1">
            <a:prstTxWarp prst="textNoShape">
              <a:avLst/>
            </a:prstTxWarp>
          </a:bodyPr>
          <a:lstStyle>
            <a:lvl1pPr algn="r" defTabSz="883092">
              <a:defRPr sz="1100">
                <a:latin typeface="Helvetica" pitchFamily="-84" charset="0"/>
              </a:defRPr>
            </a:lvl1pPr>
          </a:lstStyle>
          <a:p>
            <a:pPr>
              <a:defRPr/>
            </a:pPr>
            <a:fld id="{A6E4C252-AA7E-4307-8E29-971D63BEEB5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714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52" tIns="46576" rIns="93152" bIns="46576" numCol="1" anchor="ctr" anchorCtr="0" compatLnSpc="1">
            <a:prstTxWarp prst="textNoShape">
              <a:avLst/>
            </a:prstTxWarp>
          </a:bodyPr>
          <a:lstStyle>
            <a:lvl1pPr defTabSz="93108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3513" y="0"/>
            <a:ext cx="303688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52" tIns="46576" rIns="93152" bIns="46576" numCol="1" anchor="ctr" anchorCtr="0" compatLnSpc="1">
            <a:prstTxWarp prst="textNoShape">
              <a:avLst/>
            </a:prstTxWarp>
          </a:bodyPr>
          <a:lstStyle>
            <a:lvl1pPr algn="r" defTabSz="93108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75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2688" y="698500"/>
            <a:ext cx="4646612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5038" y="4416425"/>
            <a:ext cx="5140325" cy="418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52" tIns="46576" rIns="93152" bIns="46576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2850"/>
            <a:ext cx="303688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52" tIns="46576" rIns="93152" bIns="46576" numCol="1" anchor="b" anchorCtr="0" compatLnSpc="1">
            <a:prstTxWarp prst="textNoShape">
              <a:avLst/>
            </a:prstTxWarp>
          </a:bodyPr>
          <a:lstStyle>
            <a:lvl1pPr defTabSz="93108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3513" y="8832850"/>
            <a:ext cx="303688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52" tIns="46576" rIns="93152" bIns="46576" numCol="1" anchor="b" anchorCtr="0" compatLnSpc="1">
            <a:prstTxWarp prst="textNoShape">
              <a:avLst/>
            </a:prstTxWarp>
          </a:bodyPr>
          <a:lstStyle>
            <a:lvl1pPr algn="r" defTabSz="931088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D783E149-4619-4B4C-BA70-B848E6AFFF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84438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688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 defTabSz="928688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 defTabSz="928688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 defTabSz="928688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 defTabSz="928688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defTabSz="928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fld id="{0A823439-BC13-43DA-A0A4-3FFDC6E044E5}" type="slidenum">
              <a:rPr lang="en-US" altLang="en-US" smtClean="0">
                <a:latin typeface="Times New Roman" pitchFamily="18" charset="0"/>
              </a:rPr>
              <a:pPr/>
              <a:t>1</a:t>
            </a:fld>
            <a:endParaRPr lang="en-US" altLang="en-US">
              <a:latin typeface="Times New Roman" pitchFamily="18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>
            <a:extLst>
              <a:ext uri="{FF2B5EF4-FFF2-40B4-BE49-F238E27FC236}">
                <a16:creationId xmlns:a16="http://schemas.microsoft.com/office/drawing/2014/main" id="{35F8603D-09F0-D7BE-C03B-418656D56052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7" name="Rectangle 3">
            <a:extLst>
              <a:ext uri="{FF2B5EF4-FFF2-40B4-BE49-F238E27FC236}">
                <a16:creationId xmlns:a16="http://schemas.microsoft.com/office/drawing/2014/main" id="{C4FB1356-F848-A85F-FA7F-B0F2ABBBF6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>
            <a:extLst>
              <a:ext uri="{FF2B5EF4-FFF2-40B4-BE49-F238E27FC236}">
                <a16:creationId xmlns:a16="http://schemas.microsoft.com/office/drawing/2014/main" id="{419BA76F-4965-AD76-A45C-8E1165C3DB0D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3" name="Rectangle 3">
            <a:extLst>
              <a:ext uri="{FF2B5EF4-FFF2-40B4-BE49-F238E27FC236}">
                <a16:creationId xmlns:a16="http://schemas.microsoft.com/office/drawing/2014/main" id="{95710ECD-75AF-D3FB-C496-6D48E621DE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11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83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16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8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8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0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>
            <a:grpSpLocks/>
          </p:cNvGrpSpPr>
          <p:nvPr/>
        </p:nvGrpSpPr>
        <p:grpSpPr bwMode="auto">
          <a:xfrm>
            <a:off x="198438" y="2960688"/>
            <a:ext cx="8610600" cy="201612"/>
            <a:chOff x="125" y="1865"/>
            <a:chExt cx="5424" cy="127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125" y="1865"/>
              <a:ext cx="1808" cy="127"/>
            </a:xfrm>
            <a:prstGeom prst="rect">
              <a:avLst/>
            </a:prstGeom>
            <a:solidFill>
              <a:srgbClr val="3366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5" name="Rectangle 5"/>
            <p:cNvSpPr>
              <a:spLocks noChangeArrowheads="1"/>
            </p:cNvSpPr>
            <p:nvPr/>
          </p:nvSpPr>
          <p:spPr bwMode="auto">
            <a:xfrm>
              <a:off x="1933" y="1865"/>
              <a:ext cx="1808" cy="127"/>
            </a:xfrm>
            <a:prstGeom prst="rect">
              <a:avLst/>
            </a:prstGeom>
            <a:solidFill>
              <a:srgbClr val="99CC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6" name="Rectangle 6"/>
            <p:cNvSpPr>
              <a:spLocks noChangeArrowheads="1"/>
            </p:cNvSpPr>
            <p:nvPr/>
          </p:nvSpPr>
          <p:spPr bwMode="auto">
            <a:xfrm>
              <a:off x="3741" y="1865"/>
              <a:ext cx="1808" cy="127"/>
            </a:xfrm>
            <a:prstGeom prst="rect">
              <a:avLst/>
            </a:prstGeom>
            <a:solidFill>
              <a:srgbClr val="3366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</p:grp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6489700" y="6588125"/>
            <a:ext cx="2713038" cy="2444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sz="1000" b="1">
                <a:solidFill>
                  <a:srgbClr val="336699"/>
                </a:solidFill>
                <a:latin typeface="Helvetica" pitchFamily="-84" charset="0"/>
              </a:rPr>
              <a:t>Silberschatz, Galvin and Gagne ©2013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988" y="6613525"/>
            <a:ext cx="2695575" cy="2460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sz="1000" b="1">
                <a:solidFill>
                  <a:srgbClr val="336699"/>
                </a:solidFill>
                <a:latin typeface="Helvetica" pitchFamily="-84" charset="0"/>
              </a:rPr>
              <a:t>Operating System Concepts – 9</a:t>
            </a:r>
            <a:r>
              <a:rPr lang="en-US" sz="1000" b="1" baseline="30000">
                <a:solidFill>
                  <a:srgbClr val="336699"/>
                </a:solidFill>
                <a:latin typeface="Helvetica" pitchFamily="-84" charset="0"/>
              </a:rPr>
              <a:t>th</a:t>
            </a:r>
            <a:r>
              <a:rPr lang="en-US" sz="1000" b="1">
                <a:solidFill>
                  <a:srgbClr val="336699"/>
                </a:solidFill>
                <a:latin typeface="Helvetica" pitchFamily="-84" charset="0"/>
              </a:rPr>
              <a:t> Edition</a:t>
            </a:r>
          </a:p>
        </p:txBody>
      </p:sp>
      <p:pic>
        <p:nvPicPr>
          <p:cNvPr id="9" name="Picture 9" descr="dino_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0738" y="4157663"/>
            <a:ext cx="2062162" cy="1593850"/>
          </a:xfrm>
          <a:prstGeom prst="rect">
            <a:avLst/>
          </a:prstGeom>
          <a:noFill/>
          <a:ln w="76200">
            <a:solidFill>
              <a:srgbClr val="3366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3224213" y="4006850"/>
            <a:ext cx="2336800" cy="1887538"/>
          </a:xfrm>
          <a:prstGeom prst="rect">
            <a:avLst/>
          </a:prstGeom>
          <a:noFill/>
          <a:ln w="57150" cmpd="thinThick">
            <a:solidFill>
              <a:srgbClr val="66CCFF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5257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85800"/>
            <a:ext cx="7772400" cy="2127250"/>
          </a:xfrm>
        </p:spPr>
        <p:txBody>
          <a:bodyPr/>
          <a:lstStyle>
            <a:lvl1pPr>
              <a:defRPr sz="43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46180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74002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1830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6450" y="1233488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97450" y="1233488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905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64939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4288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3256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4049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7238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4863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91338" y="277813"/>
            <a:ext cx="2144712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7813"/>
            <a:ext cx="6281738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0562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no_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" y="0"/>
            <a:ext cx="1195388" cy="908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7813"/>
            <a:ext cx="8229600" cy="576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806450" y="1233488"/>
            <a:ext cx="8229600" cy="453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auto">
          <a:xfrm>
            <a:off x="0" y="0"/>
            <a:ext cx="228600" cy="22860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defRPr/>
            </a:pPr>
            <a:endParaRPr lang="en-US" sz="2400">
              <a:latin typeface="Times New Roman" pitchFamily="18" charset="0"/>
            </a:endParaRPr>
          </a:p>
        </p:txBody>
      </p:sp>
      <p:sp>
        <p:nvSpPr>
          <p:cNvPr id="1030" name="Line 6"/>
          <p:cNvSpPr>
            <a:spLocks noChangeShapeType="1"/>
          </p:cNvSpPr>
          <p:nvPr/>
        </p:nvSpPr>
        <p:spPr bwMode="auto">
          <a:xfrm>
            <a:off x="457200" y="860425"/>
            <a:ext cx="8077200" cy="0"/>
          </a:xfrm>
          <a:prstGeom prst="line">
            <a:avLst/>
          </a:prstGeom>
          <a:noFill/>
          <a:ln w="19050">
            <a:solidFill>
              <a:srgbClr val="336699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auto">
          <a:xfrm>
            <a:off x="0" y="2286000"/>
            <a:ext cx="228600" cy="2286000"/>
          </a:xfrm>
          <a:prstGeom prst="rect">
            <a:avLst/>
          </a:prstGeom>
          <a:solidFill>
            <a:srgbClr val="99CC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defRPr/>
            </a:pPr>
            <a:endParaRPr lang="en-US" sz="2400">
              <a:latin typeface="Times New Roman" pitchFamily="18" charset="0"/>
            </a:endParaRP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auto">
          <a:xfrm>
            <a:off x="0" y="4572000"/>
            <a:ext cx="228600" cy="22860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defRPr/>
            </a:pPr>
            <a:endParaRPr lang="en-US" sz="2400">
              <a:latin typeface="Times New Roman" pitchFamily="18" charset="0"/>
            </a:endParaRPr>
          </a:p>
        </p:txBody>
      </p:sp>
      <p:sp>
        <p:nvSpPr>
          <p:cNvPr id="1033" name="Text Box 9"/>
          <p:cNvSpPr txBox="1">
            <a:spLocks noChangeArrowheads="1"/>
          </p:cNvSpPr>
          <p:nvPr/>
        </p:nvSpPr>
        <p:spPr bwMode="auto">
          <a:xfrm>
            <a:off x="4256088" y="6613525"/>
            <a:ext cx="447675" cy="2460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sz="1000" b="1" dirty="0">
                <a:solidFill>
                  <a:srgbClr val="006699"/>
                </a:solidFill>
                <a:latin typeface="Helvetica" pitchFamily="-84" charset="0"/>
              </a:rPr>
              <a:t>3.</a:t>
            </a:r>
            <a:fld id="{3105BFCE-1AD8-4E70-A247-A3DC0A84D7DF}" type="slidenum">
              <a:rPr lang="en-US" sz="1000" b="1" smtClean="0">
                <a:solidFill>
                  <a:srgbClr val="006699"/>
                </a:solidFill>
                <a:latin typeface="Helvetica" pitchFamily="-84" charset="0"/>
              </a:rPr>
              <a:pPr algn="ctr">
                <a:spcBef>
                  <a:spcPct val="50000"/>
                </a:spcBef>
                <a:defRPr/>
              </a:pPr>
              <a:t>‹#›</a:t>
            </a:fld>
            <a:endParaRPr lang="en-US" sz="1000" b="1" dirty="0">
              <a:solidFill>
                <a:srgbClr val="006699"/>
              </a:solidFill>
              <a:latin typeface="Helvetica" pitchFamily="-84" charset="0"/>
            </a:endParaRPr>
          </a:p>
        </p:txBody>
      </p:sp>
      <p:sp>
        <p:nvSpPr>
          <p:cNvPr id="1034" name="Text Box 10"/>
          <p:cNvSpPr txBox="1">
            <a:spLocks noChangeArrowheads="1"/>
          </p:cNvSpPr>
          <p:nvPr/>
        </p:nvSpPr>
        <p:spPr bwMode="auto">
          <a:xfrm>
            <a:off x="6489700" y="6588125"/>
            <a:ext cx="2713038" cy="2444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sz="1000" b="1">
                <a:solidFill>
                  <a:srgbClr val="006699"/>
                </a:solidFill>
                <a:latin typeface="Helvetica" pitchFamily="-84" charset="0"/>
              </a:rPr>
              <a:t>Silberschatz, Galvin and Gagne ©2013</a:t>
            </a:r>
          </a:p>
        </p:txBody>
      </p:sp>
      <p:sp>
        <p:nvSpPr>
          <p:cNvPr id="1035" name="Text Box 11"/>
          <p:cNvSpPr txBox="1">
            <a:spLocks noChangeArrowheads="1"/>
          </p:cNvSpPr>
          <p:nvPr/>
        </p:nvSpPr>
        <p:spPr bwMode="auto">
          <a:xfrm>
            <a:off x="185738" y="6621463"/>
            <a:ext cx="2638425" cy="2444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sz="1000" b="1">
                <a:solidFill>
                  <a:srgbClr val="006699"/>
                </a:solidFill>
                <a:latin typeface="Helvetica" pitchFamily="-84" charset="0"/>
              </a:rPr>
              <a:t>Operating System Concepts – 9</a:t>
            </a:r>
            <a:r>
              <a:rPr lang="en-US" sz="1000" b="1" baseline="30000">
                <a:solidFill>
                  <a:srgbClr val="006699"/>
                </a:solidFill>
                <a:latin typeface="Helvetica" pitchFamily="-84" charset="0"/>
              </a:rPr>
              <a:t>th</a:t>
            </a:r>
            <a:r>
              <a:rPr lang="en-US" sz="1000" b="1">
                <a:solidFill>
                  <a:srgbClr val="006699"/>
                </a:solidFill>
                <a:latin typeface="Helvetica" pitchFamily="-84" charset="0"/>
              </a:rPr>
              <a:t> Edition</a:t>
            </a:r>
          </a:p>
        </p:txBody>
      </p:sp>
      <p:pic>
        <p:nvPicPr>
          <p:cNvPr id="1036" name="Picture 12" descr="dino_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988" y="5849938"/>
            <a:ext cx="1284287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167" r:id="rId1"/>
    <p:sldLayoutId id="2147484157" r:id="rId2"/>
    <p:sldLayoutId id="2147484158" r:id="rId3"/>
    <p:sldLayoutId id="2147484159" r:id="rId4"/>
    <p:sldLayoutId id="2147484160" r:id="rId5"/>
    <p:sldLayoutId id="2147484161" r:id="rId6"/>
    <p:sldLayoutId id="2147484162" r:id="rId7"/>
    <p:sldLayoutId id="2147484163" r:id="rId8"/>
    <p:sldLayoutId id="2147484164" r:id="rId9"/>
    <p:sldLayoutId id="2147484165" r:id="rId10"/>
    <p:sldLayoutId id="2147484166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+mj-lt"/>
          <a:ea typeface="MS PGothic" pitchFamily="34" charset="-128"/>
          <a:cs typeface="ＭＳ Ｐゴシック" charset="-128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MS PGothic" pitchFamily="34" charset="-128"/>
          <a:cs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MS PGothic" pitchFamily="34" charset="-128"/>
          <a:cs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MS PGothic" pitchFamily="34" charset="-128"/>
          <a:cs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MS PGothic" pitchFamily="34" charset="-128"/>
          <a:cs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35000"/>
        </a:spcBef>
        <a:spcAft>
          <a:spcPct val="0"/>
        </a:spcAft>
        <a:buClr>
          <a:srgbClr val="993300"/>
        </a:buClr>
        <a:buSzPct val="90000"/>
        <a:buFont typeface="Monotype Sorts" pitchFamily="-84" charset="2"/>
        <a:buChar char="n"/>
        <a:defRPr kumimoji="1">
          <a:solidFill>
            <a:schemeClr val="tx1"/>
          </a:solidFill>
          <a:latin typeface="+mn-lt"/>
          <a:ea typeface="MS PGothic" pitchFamily="34" charset="-128"/>
          <a:cs typeface="ＭＳ Ｐゴシック" charset="-128"/>
        </a:defRPr>
      </a:lvl1pPr>
      <a:lvl2pPr marL="742950" indent="-285750" algn="l" rtl="0" eaLnBrk="0" fontAlgn="base" hangingPunct="0">
        <a:spcBef>
          <a:spcPct val="35000"/>
        </a:spcBef>
        <a:spcAft>
          <a:spcPct val="0"/>
        </a:spcAft>
        <a:buClr>
          <a:srgbClr val="CC6600"/>
        </a:buClr>
        <a:buSzPct val="80000"/>
        <a:buFont typeface="Monotype Sorts" pitchFamily="-84" charset="2"/>
        <a:buChar char="l"/>
        <a:defRPr kumimoji="1">
          <a:solidFill>
            <a:schemeClr val="tx1"/>
          </a:solidFill>
          <a:latin typeface="+mn-lt"/>
          <a:ea typeface="MS PGothic" pitchFamily="34" charset="-128"/>
        </a:defRPr>
      </a:lvl2pPr>
      <a:lvl3pPr marL="1085850" indent="-228600" algn="l" rtl="0" eaLnBrk="0" fontAlgn="base" hangingPunct="0">
        <a:spcBef>
          <a:spcPct val="35000"/>
        </a:spcBef>
        <a:spcAft>
          <a:spcPct val="0"/>
        </a:spcAft>
        <a:buClr>
          <a:srgbClr val="009900"/>
        </a:buClr>
        <a:buSzPct val="75000"/>
        <a:buFont typeface="Webdings" pitchFamily="18" charset="2"/>
        <a:buChar char="4"/>
        <a:defRPr kumimoji="1">
          <a:solidFill>
            <a:schemeClr val="tx1"/>
          </a:solidFill>
          <a:latin typeface="+mn-lt"/>
          <a:ea typeface="MS PGothic" pitchFamily="34" charset="-128"/>
        </a:defRPr>
      </a:lvl3pPr>
      <a:lvl4pPr marL="1428750" indent="-228600" algn="l" rtl="0" eaLnBrk="0" fontAlgn="base" hangingPunct="0">
        <a:spcBef>
          <a:spcPct val="35000"/>
        </a:spcBef>
        <a:spcAft>
          <a:spcPct val="0"/>
        </a:spcAft>
        <a:buClr>
          <a:schemeClr val="hlink"/>
        </a:buClr>
        <a:buSzPct val="75000"/>
        <a:buChar char="–"/>
        <a:defRPr kumimoji="1">
          <a:solidFill>
            <a:schemeClr val="tx1"/>
          </a:solidFill>
          <a:latin typeface="+mn-lt"/>
          <a:ea typeface="MS PGothic" pitchFamily="34" charset="-128"/>
        </a:defRPr>
      </a:lvl4pPr>
      <a:lvl5pPr marL="17716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MS PGothic" pitchFamily="34" charset="-128"/>
        </a:defRPr>
      </a:lvl5pPr>
      <a:lvl6pPr marL="22288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6pPr>
      <a:lvl7pPr marL="26860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7pPr>
      <a:lvl8pPr marL="31432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8pPr>
      <a:lvl9pPr marL="36004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4"/>
          <p:cNvSpPr>
            <a:spLocks noGrp="1" noChangeArrowheads="1"/>
          </p:cNvSpPr>
          <p:nvPr>
            <p:ph type="ctrTitle"/>
          </p:nvPr>
        </p:nvSpPr>
        <p:spPr>
          <a:xfrm>
            <a:off x="371475" y="1831975"/>
            <a:ext cx="8458200" cy="1143000"/>
          </a:xfrm>
          <a:noFill/>
        </p:spPr>
        <p:txBody>
          <a:bodyPr/>
          <a:lstStyle/>
          <a:p>
            <a:pPr eaLnBrk="1" hangingPunct="1"/>
            <a:r>
              <a:rPr lang="en-US" altLang="en-US"/>
              <a:t>Chapter 3:  Processes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644650" y="182563"/>
            <a:ext cx="6380163" cy="576262"/>
          </a:xfrm>
        </p:spPr>
        <p:txBody>
          <a:bodyPr/>
          <a:lstStyle/>
          <a:p>
            <a:pPr eaLnBrk="1" hangingPunct="1"/>
            <a:r>
              <a:rPr lang="en-US" altLang="en-US"/>
              <a:t>Chapter 3:  Processes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06450" y="1120775"/>
            <a:ext cx="7370763" cy="3822700"/>
          </a:xfrm>
        </p:spPr>
        <p:txBody>
          <a:bodyPr/>
          <a:lstStyle/>
          <a:p>
            <a:r>
              <a:rPr lang="en-US" altLang="en-US"/>
              <a:t>Process Concept</a:t>
            </a:r>
          </a:p>
          <a:p>
            <a:r>
              <a:rPr lang="en-US" altLang="en-US"/>
              <a:t>Process Scheduling</a:t>
            </a:r>
          </a:p>
          <a:p>
            <a:r>
              <a:rPr lang="en-US" altLang="en-US"/>
              <a:t>Operations on Processes</a:t>
            </a:r>
          </a:p>
          <a:p>
            <a:r>
              <a:rPr lang="en-US" altLang="en-US"/>
              <a:t>Interprocess Communication</a:t>
            </a:r>
          </a:p>
          <a:p>
            <a:r>
              <a:rPr lang="en-US" altLang="en-US"/>
              <a:t>Examples of IPC Systems</a:t>
            </a:r>
          </a:p>
          <a:p>
            <a:r>
              <a:rPr lang="en-US" altLang="en-US"/>
              <a:t>Communication in Client-Server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576388" y="166688"/>
            <a:ext cx="6107112" cy="576262"/>
          </a:xfrm>
        </p:spPr>
        <p:txBody>
          <a:bodyPr/>
          <a:lstStyle/>
          <a:p>
            <a:pPr eaLnBrk="1" hangingPunct="1"/>
            <a:r>
              <a:rPr lang="en-US" altLang="en-US"/>
              <a:t>Process Concept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8688" y="1177925"/>
            <a:ext cx="7370762" cy="478631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dirty="0"/>
              <a:t>An operating system executes a variety of programs: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Batch system – </a:t>
            </a:r>
            <a:r>
              <a:rPr lang="en-US" altLang="en-US" b="1" dirty="0">
                <a:solidFill>
                  <a:srgbClr val="3366FF"/>
                </a:solidFill>
              </a:rPr>
              <a:t>jobs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Time-shared systems – </a:t>
            </a:r>
            <a:r>
              <a:rPr lang="en-US" altLang="en-US" b="1" dirty="0">
                <a:solidFill>
                  <a:srgbClr val="3366FF"/>
                </a:solidFill>
              </a:rPr>
              <a:t>user programs </a:t>
            </a:r>
            <a:r>
              <a:rPr lang="en-US" altLang="en-US" dirty="0"/>
              <a:t>or </a:t>
            </a:r>
            <a:r>
              <a:rPr lang="en-US" altLang="en-US" b="1" dirty="0">
                <a:solidFill>
                  <a:srgbClr val="3366FF"/>
                </a:solidFill>
              </a:rPr>
              <a:t>tasks</a:t>
            </a:r>
            <a:endParaRPr lang="en-US" altLang="en-US" dirty="0"/>
          </a:p>
          <a:p>
            <a:pPr>
              <a:lnSpc>
                <a:spcPct val="90000"/>
              </a:lnSpc>
            </a:pPr>
            <a:r>
              <a:rPr lang="en-US" altLang="en-US" dirty="0"/>
              <a:t>Textbook uses the terms </a:t>
            </a:r>
            <a:r>
              <a:rPr lang="en-US" altLang="en-US" b="1" i="1" dirty="0"/>
              <a:t>job</a:t>
            </a:r>
            <a:r>
              <a:rPr lang="en-US" altLang="en-US" dirty="0"/>
              <a:t> and </a:t>
            </a:r>
            <a:r>
              <a:rPr lang="en-US" altLang="en-US" b="1" i="1" dirty="0"/>
              <a:t>process</a:t>
            </a:r>
            <a:r>
              <a:rPr lang="en-US" altLang="en-US" dirty="0"/>
              <a:t> almost interchangeably</a:t>
            </a:r>
          </a:p>
          <a:p>
            <a:pPr>
              <a:lnSpc>
                <a:spcPct val="90000"/>
              </a:lnSpc>
            </a:pPr>
            <a:r>
              <a:rPr lang="en-US" altLang="en-US" b="1" dirty="0">
                <a:solidFill>
                  <a:srgbClr val="3366FF"/>
                </a:solidFill>
              </a:rPr>
              <a:t>Process</a:t>
            </a:r>
            <a:r>
              <a:rPr lang="en-US" altLang="en-US" dirty="0"/>
              <a:t> – a program in execution; process execution must progress in sequential fashion</a:t>
            </a:r>
          </a:p>
          <a:p>
            <a:r>
              <a:rPr lang="en-US" altLang="en-US" dirty="0"/>
              <a:t>Multiple parts</a:t>
            </a:r>
          </a:p>
          <a:p>
            <a:pPr lvl="1"/>
            <a:r>
              <a:rPr lang="en-US" altLang="en-US" dirty="0"/>
              <a:t>The program code, also called </a:t>
            </a:r>
            <a:r>
              <a:rPr lang="en-US" altLang="en-US" b="1" dirty="0">
                <a:solidFill>
                  <a:srgbClr val="3366FF"/>
                </a:solidFill>
              </a:rPr>
              <a:t>text section</a:t>
            </a:r>
          </a:p>
          <a:p>
            <a:pPr lvl="1"/>
            <a:r>
              <a:rPr lang="en-US" altLang="en-US" dirty="0"/>
              <a:t>Current activity including</a:t>
            </a:r>
            <a:r>
              <a:rPr lang="en-US" altLang="en-US" b="1" dirty="0">
                <a:solidFill>
                  <a:srgbClr val="3366FF"/>
                </a:solidFill>
              </a:rPr>
              <a:t> program</a:t>
            </a:r>
            <a:r>
              <a:rPr lang="en-US" altLang="en-US" b="1" dirty="0"/>
              <a:t> </a:t>
            </a:r>
            <a:r>
              <a:rPr lang="en-US" altLang="en-US" b="1" dirty="0">
                <a:solidFill>
                  <a:srgbClr val="3366FF"/>
                </a:solidFill>
              </a:rPr>
              <a:t>counter</a:t>
            </a:r>
            <a:r>
              <a:rPr lang="en-US" altLang="en-US" dirty="0"/>
              <a:t>, processor registers</a:t>
            </a:r>
          </a:p>
          <a:p>
            <a:pPr lvl="1"/>
            <a:r>
              <a:rPr lang="en-US" altLang="en-US" b="1" dirty="0">
                <a:solidFill>
                  <a:srgbClr val="3366FF"/>
                </a:solidFill>
              </a:rPr>
              <a:t>Stack</a:t>
            </a:r>
            <a:r>
              <a:rPr lang="en-US" altLang="en-US" b="1" dirty="0"/>
              <a:t> </a:t>
            </a:r>
            <a:r>
              <a:rPr lang="en-US" altLang="en-US" dirty="0"/>
              <a:t>containing temporary data</a:t>
            </a:r>
          </a:p>
          <a:p>
            <a:pPr lvl="2"/>
            <a:r>
              <a:rPr lang="en-US" altLang="en-US" dirty="0"/>
              <a:t>Function parameters, return addresses, local variables</a:t>
            </a:r>
          </a:p>
          <a:p>
            <a:pPr lvl="1"/>
            <a:r>
              <a:rPr lang="en-US" altLang="en-US" b="1" dirty="0">
                <a:solidFill>
                  <a:srgbClr val="3366FF"/>
                </a:solidFill>
              </a:rPr>
              <a:t>Data section</a:t>
            </a:r>
            <a:r>
              <a:rPr lang="en-US" altLang="en-US" b="1" dirty="0"/>
              <a:t> </a:t>
            </a:r>
            <a:r>
              <a:rPr lang="en-US" altLang="en-US" dirty="0"/>
              <a:t>containing global variables</a:t>
            </a:r>
          </a:p>
          <a:p>
            <a:pPr lvl="1"/>
            <a:r>
              <a:rPr lang="en-US" altLang="en-US" b="1" dirty="0">
                <a:solidFill>
                  <a:srgbClr val="3366FF"/>
                </a:solidFill>
              </a:rPr>
              <a:t>Heap</a:t>
            </a:r>
            <a:r>
              <a:rPr lang="en-US" altLang="en-US" b="1" dirty="0"/>
              <a:t> </a:t>
            </a:r>
            <a:r>
              <a:rPr lang="en-US" altLang="en-US" dirty="0"/>
              <a:t>containing memory dynamically allocated during run time</a:t>
            </a:r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7D32E785-E06F-98D0-DB12-66F329746B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76388" y="155575"/>
            <a:ext cx="6107112" cy="576263"/>
          </a:xfrm>
        </p:spPr>
        <p:txBody>
          <a:bodyPr/>
          <a:lstStyle/>
          <a:p>
            <a:pPr eaLnBrk="1" hangingPunct="1"/>
            <a:r>
              <a:rPr lang="en-US" altLang="en-US"/>
              <a:t>Process Concept (Cont.)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879517E4-88D0-D3A9-D6C9-B68518D072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3450" y="1041400"/>
            <a:ext cx="7164388" cy="4786313"/>
          </a:xfrm>
        </p:spPr>
        <p:txBody>
          <a:bodyPr/>
          <a:lstStyle/>
          <a:p>
            <a:r>
              <a:rPr lang="en-US" altLang="en-US"/>
              <a:t>Program is </a:t>
            </a:r>
            <a:r>
              <a:rPr lang="en-US" altLang="en-US" b="1" i="1"/>
              <a:t>passive</a:t>
            </a:r>
            <a:r>
              <a:rPr lang="en-US" altLang="en-US"/>
              <a:t> entity stored on disk (</a:t>
            </a:r>
            <a:r>
              <a:rPr lang="en-US" altLang="en-US" b="1">
                <a:solidFill>
                  <a:srgbClr val="3366FF"/>
                </a:solidFill>
              </a:rPr>
              <a:t>executable file</a:t>
            </a:r>
            <a:r>
              <a:rPr lang="en-US" altLang="en-US"/>
              <a:t>), process is </a:t>
            </a:r>
            <a:r>
              <a:rPr lang="en-US" altLang="en-US" b="1" i="1"/>
              <a:t>active </a:t>
            </a:r>
          </a:p>
          <a:p>
            <a:pPr lvl="1"/>
            <a:r>
              <a:rPr lang="en-US" altLang="en-US"/>
              <a:t>Program becomes process when executable file loaded into memory</a:t>
            </a:r>
          </a:p>
          <a:p>
            <a:r>
              <a:rPr lang="en-US" altLang="en-US"/>
              <a:t>Execution of program started via GUI mouse clicks, command line entry of its name, etc</a:t>
            </a:r>
          </a:p>
          <a:p>
            <a:r>
              <a:rPr lang="en-US" altLang="en-US"/>
              <a:t>One program can be several processes</a:t>
            </a:r>
          </a:p>
          <a:p>
            <a:pPr lvl="1"/>
            <a:r>
              <a:rPr lang="en-US" altLang="en-US"/>
              <a:t>Consider multiple users executing the same program</a:t>
            </a:r>
          </a:p>
          <a:p>
            <a:pPr>
              <a:lnSpc>
                <a:spcPct val="90000"/>
              </a:lnSpc>
            </a:pPr>
            <a:endParaRPr lang="en-US" altLang="en-US"/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66688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Process in Memory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1AF009-916A-AC51-AD27-DF462922B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000" y="1954696"/>
            <a:ext cx="6873000" cy="3295345"/>
          </a:xfrm>
          <a:prstGeom prst="rect">
            <a:avLst/>
          </a:prstGeom>
        </p:spPr>
      </p:pic>
      <p:pic>
        <p:nvPicPr>
          <p:cNvPr id="8195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13504"/>
            <a:ext cx="2473777" cy="390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360488" y="182563"/>
            <a:ext cx="6251575" cy="576262"/>
          </a:xfrm>
        </p:spPr>
        <p:txBody>
          <a:bodyPr/>
          <a:lstStyle/>
          <a:p>
            <a:pPr eaLnBrk="1" hangingPunct="1"/>
            <a:r>
              <a:rPr lang="en-US" altLang="en-US"/>
              <a:t>Process State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06450" y="1246188"/>
            <a:ext cx="7370763" cy="3254375"/>
          </a:xfrm>
        </p:spPr>
        <p:txBody>
          <a:bodyPr/>
          <a:lstStyle/>
          <a:p>
            <a:r>
              <a:rPr lang="en-US" altLang="en-US"/>
              <a:t>As a process executes, it changes </a:t>
            </a:r>
            <a:r>
              <a:rPr lang="en-US" altLang="en-US" b="1">
                <a:solidFill>
                  <a:srgbClr val="3366FF"/>
                </a:solidFill>
              </a:rPr>
              <a:t>state</a:t>
            </a:r>
          </a:p>
          <a:p>
            <a:pPr lvl="1"/>
            <a:r>
              <a:rPr lang="en-US" altLang="en-US" b="1"/>
              <a:t>new</a:t>
            </a:r>
            <a:r>
              <a:rPr lang="en-US" altLang="en-US"/>
              <a:t>:  The process is being created</a:t>
            </a:r>
          </a:p>
          <a:p>
            <a:pPr lvl="1"/>
            <a:r>
              <a:rPr lang="en-US" altLang="en-US" b="1"/>
              <a:t>running</a:t>
            </a:r>
            <a:r>
              <a:rPr lang="en-US" altLang="en-US"/>
              <a:t>:  Instructions are being executed</a:t>
            </a:r>
          </a:p>
          <a:p>
            <a:pPr lvl="1"/>
            <a:r>
              <a:rPr lang="en-US" altLang="en-US" b="1"/>
              <a:t>waiting</a:t>
            </a:r>
            <a:r>
              <a:rPr lang="en-US" altLang="en-US"/>
              <a:t>:  The process is waiting for some event to occur</a:t>
            </a:r>
          </a:p>
          <a:p>
            <a:pPr lvl="1"/>
            <a:r>
              <a:rPr lang="en-US" altLang="en-US" b="1"/>
              <a:t>ready</a:t>
            </a:r>
            <a:r>
              <a:rPr lang="en-US" altLang="en-US"/>
              <a:t>:  The process is waiting to be assigned to a processor</a:t>
            </a:r>
          </a:p>
          <a:p>
            <a:pPr lvl="1"/>
            <a:r>
              <a:rPr lang="en-US" altLang="en-US" b="1"/>
              <a:t>terminated</a:t>
            </a:r>
            <a:r>
              <a:rPr lang="en-US" altLang="en-US"/>
              <a:t>:  The process has finished execution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739775" y="182563"/>
            <a:ext cx="7947025" cy="576262"/>
          </a:xfrm>
        </p:spPr>
        <p:txBody>
          <a:bodyPr/>
          <a:lstStyle/>
          <a:p>
            <a:pPr eaLnBrk="1" hangingPunct="1"/>
            <a:r>
              <a:rPr lang="en-US" altLang="en-US"/>
              <a:t>Diagram of Process State</a:t>
            </a:r>
          </a:p>
        </p:txBody>
      </p:sp>
      <p:pic>
        <p:nvPicPr>
          <p:cNvPr id="10243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0" y="1308100"/>
            <a:ext cx="6635750" cy="2646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 Seven State System - Stallings</a:t>
            </a:r>
          </a:p>
        </p:txBody>
      </p:sp>
      <p:sp>
        <p:nvSpPr>
          <p:cNvPr id="12291" name="Rectangle 7"/>
          <p:cNvSpPr>
            <a:spLocks noChangeArrowheads="1"/>
          </p:cNvSpPr>
          <p:nvPr/>
        </p:nvSpPr>
        <p:spPr bwMode="auto">
          <a:xfrm>
            <a:off x="2963863" y="1871663"/>
            <a:ext cx="3505200" cy="2547937"/>
          </a:xfrm>
          <a:prstGeom prst="rect">
            <a:avLst/>
          </a:prstGeom>
          <a:noFill/>
          <a:ln w="12700">
            <a:solidFill>
              <a:schemeClr val="folHlink"/>
            </a:solidFill>
            <a:prstDash val="dash"/>
            <a:miter lim="800000"/>
            <a:headEnd/>
            <a:tailEnd type="non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292" name="Rectangle 8"/>
          <p:cNvSpPr>
            <a:spLocks noChangeArrowheads="1"/>
          </p:cNvSpPr>
          <p:nvPr/>
        </p:nvSpPr>
        <p:spPr bwMode="auto">
          <a:xfrm>
            <a:off x="5411788" y="3868738"/>
            <a:ext cx="1020762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med" len="lg"/>
              </a14:hiddenLine>
            </a:ext>
          </a:extLst>
        </p:spPr>
        <p:txBody>
          <a:bodyPr wrap="none">
            <a:spAutoFit/>
          </a:bodyPr>
          <a:lstStyle/>
          <a:p>
            <a:pPr algn="r">
              <a:buFont typeface="Wingdings" pitchFamily="2" charset="2"/>
              <a:buNone/>
            </a:pPr>
            <a:r>
              <a:rPr lang="en-US" sz="1400">
                <a:solidFill>
                  <a:schemeClr val="folHlink"/>
                </a:solidFill>
                <a:latin typeface="Arial" charset="0"/>
              </a:rPr>
              <a:t>program is</a:t>
            </a:r>
          </a:p>
          <a:p>
            <a:pPr algn="r">
              <a:buFont typeface="Wingdings" pitchFamily="2" charset="2"/>
              <a:buNone/>
            </a:pPr>
            <a:r>
              <a:rPr lang="en-US" sz="1400">
                <a:solidFill>
                  <a:schemeClr val="folHlink"/>
                </a:solidFill>
                <a:latin typeface="Arial" charset="0"/>
              </a:rPr>
              <a:t>in memory</a:t>
            </a:r>
          </a:p>
        </p:txBody>
      </p:sp>
      <p:sp>
        <p:nvSpPr>
          <p:cNvPr id="12293" name="Oval 9"/>
          <p:cNvSpPr>
            <a:spLocks noChangeArrowheads="1"/>
          </p:cNvSpPr>
          <p:nvPr/>
        </p:nvSpPr>
        <p:spPr bwMode="auto">
          <a:xfrm>
            <a:off x="3192463" y="3776663"/>
            <a:ext cx="1143000" cy="571500"/>
          </a:xfrm>
          <a:prstGeom prst="ellipse">
            <a:avLst/>
          </a:prstGeom>
          <a:gradFill rotWithShape="0">
            <a:gsLst>
              <a:gs pos="0">
                <a:schemeClr val="bg1"/>
              </a:gs>
              <a:gs pos="100000">
                <a:srgbClr val="CCCCFF"/>
              </a:gs>
            </a:gsLst>
            <a:path path="shape">
              <a:fillToRect l="50000" t="50000" r="50000" b="50000"/>
            </a:path>
          </a:gradFill>
          <a:ln>
            <a:noFill/>
          </a:ln>
          <a:extLs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anchor="ctr"/>
          <a:lstStyle/>
          <a:p>
            <a:pPr algn="ctr">
              <a:buFont typeface="Wingdings" pitchFamily="2" charset="2"/>
              <a:buNone/>
            </a:pPr>
            <a:r>
              <a:rPr lang="en-US" sz="1400" b="1">
                <a:latin typeface="Arial Narrow" pitchFamily="34" charset="0"/>
              </a:rPr>
              <a:t>Blocked</a:t>
            </a:r>
          </a:p>
        </p:txBody>
      </p:sp>
      <p:sp>
        <p:nvSpPr>
          <p:cNvPr id="12294" name="Oval 10"/>
          <p:cNvSpPr>
            <a:spLocks noChangeArrowheads="1"/>
          </p:cNvSpPr>
          <p:nvPr/>
        </p:nvSpPr>
        <p:spPr bwMode="auto">
          <a:xfrm>
            <a:off x="3192463" y="2062163"/>
            <a:ext cx="1143000" cy="571500"/>
          </a:xfrm>
          <a:prstGeom prst="ellipse">
            <a:avLst/>
          </a:prstGeom>
          <a:gradFill rotWithShape="0">
            <a:gsLst>
              <a:gs pos="0">
                <a:schemeClr val="bg1"/>
              </a:gs>
              <a:gs pos="100000">
                <a:srgbClr val="CCCCFF"/>
              </a:gs>
            </a:gsLst>
            <a:path path="shape">
              <a:fillToRect l="50000" t="50000" r="50000" b="50000"/>
            </a:path>
          </a:gradFill>
          <a:ln>
            <a:noFill/>
          </a:ln>
          <a:extLs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anchor="ctr"/>
          <a:lstStyle/>
          <a:p>
            <a:pPr algn="ctr">
              <a:buFont typeface="Wingdings" pitchFamily="2" charset="2"/>
              <a:buNone/>
            </a:pPr>
            <a:r>
              <a:rPr lang="en-US" sz="1600" b="1">
                <a:latin typeface="Arial Narrow" pitchFamily="34" charset="0"/>
              </a:rPr>
              <a:t>Ready</a:t>
            </a:r>
          </a:p>
        </p:txBody>
      </p:sp>
      <p:sp>
        <p:nvSpPr>
          <p:cNvPr id="12295" name="Oval 11"/>
          <p:cNvSpPr>
            <a:spLocks noChangeArrowheads="1"/>
          </p:cNvSpPr>
          <p:nvPr/>
        </p:nvSpPr>
        <p:spPr bwMode="auto">
          <a:xfrm>
            <a:off x="5173663" y="2062163"/>
            <a:ext cx="1143000" cy="571500"/>
          </a:xfrm>
          <a:prstGeom prst="ellipse">
            <a:avLst/>
          </a:prstGeom>
          <a:gradFill rotWithShape="0">
            <a:gsLst>
              <a:gs pos="0">
                <a:schemeClr val="bg1"/>
              </a:gs>
              <a:gs pos="100000">
                <a:srgbClr val="CCCCFF"/>
              </a:gs>
            </a:gsLst>
            <a:path path="shape">
              <a:fillToRect l="50000" t="50000" r="50000" b="50000"/>
            </a:path>
          </a:gradFill>
          <a:ln>
            <a:noFill/>
          </a:ln>
          <a:extLs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1400" b="1">
                <a:latin typeface="Arial Narrow" pitchFamily="34" charset="0"/>
              </a:rPr>
              <a:t>Running</a:t>
            </a:r>
          </a:p>
        </p:txBody>
      </p:sp>
      <p:sp>
        <p:nvSpPr>
          <p:cNvPr id="12296" name="Oval 12"/>
          <p:cNvSpPr>
            <a:spLocks noChangeArrowheads="1"/>
          </p:cNvSpPr>
          <p:nvPr/>
        </p:nvSpPr>
        <p:spPr bwMode="auto">
          <a:xfrm>
            <a:off x="7383463" y="2062163"/>
            <a:ext cx="1143000" cy="571500"/>
          </a:xfrm>
          <a:prstGeom prst="ellipse">
            <a:avLst/>
          </a:prstGeom>
          <a:gradFill rotWithShape="0">
            <a:gsLst>
              <a:gs pos="0">
                <a:schemeClr val="bg1"/>
              </a:gs>
              <a:gs pos="100000">
                <a:srgbClr val="CCCCFF"/>
              </a:gs>
            </a:gsLst>
            <a:path path="shape">
              <a:fillToRect l="50000" t="50000" r="50000" b="50000"/>
            </a:path>
          </a:gradFill>
          <a:ln>
            <a:noFill/>
          </a:ln>
          <a:extLs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1600" b="1">
                <a:latin typeface="Arial Narrow" pitchFamily="34" charset="0"/>
              </a:rPr>
              <a:t>Exit</a:t>
            </a:r>
          </a:p>
        </p:txBody>
      </p:sp>
      <p:sp>
        <p:nvSpPr>
          <p:cNvPr id="12297" name="Oval 13"/>
          <p:cNvSpPr>
            <a:spLocks noChangeArrowheads="1"/>
          </p:cNvSpPr>
          <p:nvPr/>
        </p:nvSpPr>
        <p:spPr bwMode="auto">
          <a:xfrm>
            <a:off x="1058863" y="2062163"/>
            <a:ext cx="1143000" cy="571500"/>
          </a:xfrm>
          <a:prstGeom prst="ellipse">
            <a:avLst/>
          </a:prstGeom>
          <a:gradFill rotWithShape="0">
            <a:gsLst>
              <a:gs pos="0">
                <a:schemeClr val="bg1"/>
              </a:gs>
              <a:gs pos="100000">
                <a:srgbClr val="CCCCFF"/>
              </a:gs>
            </a:gsLst>
            <a:path path="shape">
              <a:fillToRect l="50000" t="50000" r="50000" b="50000"/>
            </a:path>
          </a:gradFill>
          <a:ln>
            <a:noFill/>
          </a:ln>
          <a:extLs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anchor="ctr"/>
          <a:lstStyle/>
          <a:p>
            <a:pPr algn="ctr">
              <a:buFont typeface="Wingdings" pitchFamily="2" charset="2"/>
              <a:buNone/>
            </a:pPr>
            <a:r>
              <a:rPr lang="en-US" sz="1600" b="1">
                <a:latin typeface="Arial Narrow" pitchFamily="34" charset="0"/>
              </a:rPr>
              <a:t>New</a:t>
            </a:r>
          </a:p>
        </p:txBody>
      </p:sp>
      <p:cxnSp>
        <p:nvCxnSpPr>
          <p:cNvPr id="12298" name="AutoShape 14"/>
          <p:cNvCxnSpPr>
            <a:cxnSpLocks noChangeShapeType="1"/>
            <a:stCxn id="12297" idx="6"/>
            <a:endCxn id="12294" idx="2"/>
          </p:cNvCxnSpPr>
          <p:nvPr/>
        </p:nvCxnSpPr>
        <p:spPr bwMode="auto">
          <a:xfrm>
            <a:off x="2201863" y="2347913"/>
            <a:ext cx="990600" cy="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299" name="AutoShape 15"/>
          <p:cNvCxnSpPr>
            <a:cxnSpLocks noChangeShapeType="1"/>
            <a:stCxn id="12295" idx="6"/>
            <a:endCxn id="12296" idx="2"/>
          </p:cNvCxnSpPr>
          <p:nvPr/>
        </p:nvCxnSpPr>
        <p:spPr bwMode="auto">
          <a:xfrm>
            <a:off x="6316663" y="2347913"/>
            <a:ext cx="1066800" cy="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300" name="AutoShape 16"/>
          <p:cNvCxnSpPr>
            <a:cxnSpLocks noChangeShapeType="1"/>
            <a:stCxn id="12295" idx="4"/>
            <a:endCxn id="12293" idx="7"/>
          </p:cNvCxnSpPr>
          <p:nvPr/>
        </p:nvCxnSpPr>
        <p:spPr bwMode="auto">
          <a:xfrm flipH="1">
            <a:off x="4168775" y="2633663"/>
            <a:ext cx="1576388" cy="1227137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301" name="AutoShape 17"/>
          <p:cNvCxnSpPr>
            <a:cxnSpLocks noChangeShapeType="1"/>
            <a:stCxn id="12293" idx="0"/>
            <a:endCxn id="12294" idx="4"/>
          </p:cNvCxnSpPr>
          <p:nvPr/>
        </p:nvCxnSpPr>
        <p:spPr bwMode="auto">
          <a:xfrm flipV="1">
            <a:off x="3763963" y="2633663"/>
            <a:ext cx="0" cy="114300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302" name="AutoShape 18"/>
          <p:cNvCxnSpPr>
            <a:cxnSpLocks noChangeShapeType="1"/>
          </p:cNvCxnSpPr>
          <p:nvPr/>
        </p:nvCxnSpPr>
        <p:spPr bwMode="auto">
          <a:xfrm>
            <a:off x="4259263" y="2481263"/>
            <a:ext cx="990600" cy="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 type="stealth" w="med" len="lg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303" name="Text Box 19"/>
          <p:cNvSpPr txBox="1">
            <a:spLocks noChangeArrowheads="1"/>
          </p:cNvSpPr>
          <p:nvPr/>
        </p:nvSpPr>
        <p:spPr bwMode="auto">
          <a:xfrm>
            <a:off x="4335463" y="1871663"/>
            <a:ext cx="8445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med" len="lg"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pPr algn="ctr">
              <a:spcBef>
                <a:spcPct val="20000"/>
              </a:spcBef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dispatch</a:t>
            </a:r>
          </a:p>
        </p:txBody>
      </p:sp>
      <p:sp>
        <p:nvSpPr>
          <p:cNvPr id="12304" name="Text Box 20"/>
          <p:cNvSpPr txBox="1">
            <a:spLocks noChangeArrowheads="1"/>
          </p:cNvSpPr>
          <p:nvPr/>
        </p:nvSpPr>
        <p:spPr bwMode="auto">
          <a:xfrm>
            <a:off x="4376738" y="2481263"/>
            <a:ext cx="7651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med" len="lg"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pPr algn="ctr">
              <a:spcBef>
                <a:spcPct val="20000"/>
              </a:spcBef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timeout</a:t>
            </a:r>
          </a:p>
        </p:txBody>
      </p:sp>
      <p:sp>
        <p:nvSpPr>
          <p:cNvPr id="12305" name="Text Box 21"/>
          <p:cNvSpPr txBox="1">
            <a:spLocks noChangeArrowheads="1"/>
          </p:cNvSpPr>
          <p:nvPr/>
        </p:nvSpPr>
        <p:spPr bwMode="auto">
          <a:xfrm>
            <a:off x="6502400" y="2024063"/>
            <a:ext cx="7651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med" len="lg"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pPr algn="ctr">
              <a:spcBef>
                <a:spcPct val="20000"/>
              </a:spcBef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release</a:t>
            </a:r>
          </a:p>
        </p:txBody>
      </p:sp>
      <p:sp>
        <p:nvSpPr>
          <p:cNvPr id="12306" name="Text Box 22"/>
          <p:cNvSpPr txBox="1">
            <a:spLocks noChangeArrowheads="1"/>
          </p:cNvSpPr>
          <p:nvPr/>
        </p:nvSpPr>
        <p:spPr bwMode="auto">
          <a:xfrm>
            <a:off x="2319338" y="2024063"/>
            <a:ext cx="6175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med" len="lg"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pPr algn="ctr">
              <a:spcBef>
                <a:spcPct val="20000"/>
              </a:spcBef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admit</a:t>
            </a:r>
          </a:p>
        </p:txBody>
      </p:sp>
      <p:sp>
        <p:nvSpPr>
          <p:cNvPr id="12307" name="Text Box 23"/>
          <p:cNvSpPr txBox="1">
            <a:spLocks noChangeArrowheads="1"/>
          </p:cNvSpPr>
          <p:nvPr/>
        </p:nvSpPr>
        <p:spPr bwMode="auto">
          <a:xfrm>
            <a:off x="5021263" y="3167063"/>
            <a:ext cx="61753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med" len="lg"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pPr algn="ctr">
              <a:lnSpc>
                <a:spcPct val="80000"/>
              </a:lnSpc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event</a:t>
            </a:r>
          </a:p>
          <a:p>
            <a:pPr algn="ctr">
              <a:lnSpc>
                <a:spcPct val="80000"/>
              </a:lnSpc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wait</a:t>
            </a:r>
          </a:p>
        </p:txBody>
      </p:sp>
      <p:sp>
        <p:nvSpPr>
          <p:cNvPr id="12308" name="Text Box 24"/>
          <p:cNvSpPr txBox="1">
            <a:spLocks noChangeArrowheads="1"/>
          </p:cNvSpPr>
          <p:nvPr/>
        </p:nvSpPr>
        <p:spPr bwMode="auto">
          <a:xfrm>
            <a:off x="3749675" y="3014663"/>
            <a:ext cx="706438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med" len="lg"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pPr algn="ctr">
              <a:lnSpc>
                <a:spcPct val="80000"/>
              </a:lnSpc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event</a:t>
            </a:r>
          </a:p>
          <a:p>
            <a:pPr algn="ctr">
              <a:lnSpc>
                <a:spcPct val="80000"/>
              </a:lnSpc>
              <a:buFont typeface="Wingdings" pitchFamily="2" charset="2"/>
              <a:buNone/>
            </a:pPr>
            <a:r>
              <a:rPr lang="en-US" sz="1400">
                <a:latin typeface="Arial" charset="0"/>
              </a:rPr>
              <a:t>occurs</a:t>
            </a:r>
          </a:p>
        </p:txBody>
      </p:sp>
      <p:cxnSp>
        <p:nvCxnSpPr>
          <p:cNvPr id="12309" name="AutoShape 25"/>
          <p:cNvCxnSpPr>
            <a:cxnSpLocks noChangeShapeType="1"/>
          </p:cNvCxnSpPr>
          <p:nvPr/>
        </p:nvCxnSpPr>
        <p:spPr bwMode="auto">
          <a:xfrm>
            <a:off x="4259263" y="2216150"/>
            <a:ext cx="990600" cy="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2310" name="Group 26"/>
          <p:cNvGrpSpPr>
            <a:grpSpLocks/>
          </p:cNvGrpSpPr>
          <p:nvPr/>
        </p:nvGrpSpPr>
        <p:grpSpPr bwMode="auto">
          <a:xfrm>
            <a:off x="1668463" y="3167063"/>
            <a:ext cx="1143000" cy="571500"/>
            <a:chOff x="912" y="2544"/>
            <a:chExt cx="720" cy="360"/>
          </a:xfrm>
        </p:grpSpPr>
        <p:sp>
          <p:nvSpPr>
            <p:cNvPr id="12355" name="Oval 27"/>
            <p:cNvSpPr>
              <a:spLocks noChangeArrowheads="1"/>
            </p:cNvSpPr>
            <p:nvPr/>
          </p:nvSpPr>
          <p:spPr bwMode="auto">
            <a:xfrm>
              <a:off x="912" y="2544"/>
              <a:ext cx="720" cy="360"/>
            </a:xfrm>
            <a:prstGeom prst="ellipse">
              <a:avLst/>
            </a:prstGeom>
            <a:gradFill rotWithShape="0">
              <a:gsLst>
                <a:gs pos="0">
                  <a:schemeClr val="bg1"/>
                </a:gs>
                <a:gs pos="100000">
                  <a:srgbClr val="CCCC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>
                <a:buFont typeface="Wingdings" pitchFamily="2" charset="2"/>
                <a:buNone/>
              </a:pPr>
              <a:endParaRPr lang="en-US" sz="1600" b="1">
                <a:latin typeface="Arial Narrow" pitchFamily="34" charset="0"/>
              </a:endParaRPr>
            </a:p>
          </p:txBody>
        </p:sp>
        <p:sp>
          <p:nvSpPr>
            <p:cNvPr id="12356" name="Rectangle 28"/>
            <p:cNvSpPr>
              <a:spLocks noChangeArrowheads="1"/>
            </p:cNvSpPr>
            <p:nvPr/>
          </p:nvSpPr>
          <p:spPr bwMode="auto">
            <a:xfrm>
              <a:off x="932" y="2613"/>
              <a:ext cx="6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600" b="1">
                  <a:latin typeface="Arial Narrow" pitchFamily="34" charset="0"/>
                </a:rPr>
                <a:t>Suspended</a:t>
              </a:r>
            </a:p>
          </p:txBody>
        </p:sp>
      </p:grpSp>
      <p:cxnSp>
        <p:nvCxnSpPr>
          <p:cNvPr id="12311" name="AutoShape 30"/>
          <p:cNvCxnSpPr>
            <a:cxnSpLocks noChangeShapeType="1"/>
            <a:endCxn id="12355" idx="5"/>
          </p:cNvCxnSpPr>
          <p:nvPr/>
        </p:nvCxnSpPr>
        <p:spPr bwMode="auto">
          <a:xfrm flipH="1" flipV="1">
            <a:off x="2644775" y="3654425"/>
            <a:ext cx="714375" cy="206375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312" name="Text Box 36"/>
          <p:cNvSpPr txBox="1">
            <a:spLocks noChangeArrowheads="1"/>
          </p:cNvSpPr>
          <p:nvPr/>
        </p:nvSpPr>
        <p:spPr bwMode="auto">
          <a:xfrm>
            <a:off x="2900363" y="5238750"/>
            <a:ext cx="3949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pPr algn="ctr"/>
            <a:r>
              <a:rPr lang="en-US" b="1">
                <a:solidFill>
                  <a:schemeClr val="tx2"/>
                </a:solidFill>
                <a:latin typeface="Arial Narrow" pitchFamily="34" charset="0"/>
              </a:rPr>
              <a:t>Transition diagram of a seven-state model</a:t>
            </a:r>
          </a:p>
        </p:txBody>
      </p:sp>
      <p:grpSp>
        <p:nvGrpSpPr>
          <p:cNvPr id="12313" name="Group 38"/>
          <p:cNvGrpSpPr>
            <a:grpSpLocks/>
          </p:cNvGrpSpPr>
          <p:nvPr/>
        </p:nvGrpSpPr>
        <p:grpSpPr bwMode="auto">
          <a:xfrm>
            <a:off x="449263" y="1871663"/>
            <a:ext cx="8077200" cy="3657600"/>
            <a:chOff x="144" y="1728"/>
            <a:chExt cx="5088" cy="2304"/>
          </a:xfrm>
        </p:grpSpPr>
        <p:sp>
          <p:nvSpPr>
            <p:cNvPr id="12317" name="Rectangle 39"/>
            <p:cNvSpPr>
              <a:spLocks noChangeArrowheads="1"/>
            </p:cNvSpPr>
            <p:nvPr/>
          </p:nvSpPr>
          <p:spPr bwMode="auto">
            <a:xfrm>
              <a:off x="816" y="2496"/>
              <a:ext cx="864" cy="1536"/>
            </a:xfrm>
            <a:prstGeom prst="rect">
              <a:avLst/>
            </a:prstGeom>
            <a:noFill/>
            <a:ln w="12700">
              <a:solidFill>
                <a:schemeClr val="folHlink"/>
              </a:solidFill>
              <a:prstDash val="dash"/>
              <a:miter lim="800000"/>
              <a:headEnd/>
              <a:tailEnd type="none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18" name="Rectangle 40"/>
            <p:cNvSpPr>
              <a:spLocks noChangeArrowheads="1"/>
            </p:cNvSpPr>
            <p:nvPr/>
          </p:nvSpPr>
          <p:spPr bwMode="auto">
            <a:xfrm>
              <a:off x="144" y="3696"/>
              <a:ext cx="643" cy="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r">
                <a:buFont typeface="Wingdings" pitchFamily="2" charset="2"/>
                <a:buNone/>
              </a:pPr>
              <a:r>
                <a:rPr lang="en-US" sz="1400">
                  <a:solidFill>
                    <a:schemeClr val="folHlink"/>
                  </a:solidFill>
                  <a:latin typeface="Arial" charset="0"/>
                </a:rPr>
                <a:t>program is</a:t>
              </a:r>
            </a:p>
            <a:p>
              <a:pPr algn="r">
                <a:buFont typeface="Wingdings" pitchFamily="2" charset="2"/>
                <a:buNone/>
              </a:pPr>
              <a:r>
                <a:rPr lang="en-US" sz="1400">
                  <a:solidFill>
                    <a:schemeClr val="folHlink"/>
                  </a:solidFill>
                  <a:latin typeface="Arial" charset="0"/>
                </a:rPr>
                <a:t>on disk</a:t>
              </a:r>
            </a:p>
          </p:txBody>
        </p:sp>
        <p:sp>
          <p:nvSpPr>
            <p:cNvPr id="12319" name="Rectangle 41"/>
            <p:cNvSpPr>
              <a:spLocks noChangeArrowheads="1"/>
            </p:cNvSpPr>
            <p:nvPr/>
          </p:nvSpPr>
          <p:spPr bwMode="auto">
            <a:xfrm>
              <a:off x="1728" y="1728"/>
              <a:ext cx="2208" cy="1605"/>
            </a:xfrm>
            <a:prstGeom prst="rect">
              <a:avLst/>
            </a:prstGeom>
            <a:noFill/>
            <a:ln w="12700">
              <a:solidFill>
                <a:srgbClr val="CC6600"/>
              </a:solidFill>
              <a:prstDash val="dash"/>
              <a:miter lim="800000"/>
              <a:headEnd/>
              <a:tailEnd type="none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20" name="Oval 42"/>
            <p:cNvSpPr>
              <a:spLocks noChangeArrowheads="1"/>
            </p:cNvSpPr>
            <p:nvPr/>
          </p:nvSpPr>
          <p:spPr bwMode="auto">
            <a:xfrm>
              <a:off x="1872" y="2928"/>
              <a:ext cx="720" cy="360"/>
            </a:xfrm>
            <a:prstGeom prst="ellipse">
              <a:avLst/>
            </a:prstGeom>
            <a:gradFill rotWithShape="0">
              <a:gsLst>
                <a:gs pos="0">
                  <a:schemeClr val="bg1"/>
                </a:gs>
                <a:gs pos="100000">
                  <a:srgbClr val="CCCC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>
                <a:buFont typeface="Wingdings" pitchFamily="2" charset="2"/>
                <a:buNone/>
              </a:pPr>
              <a:r>
                <a:rPr lang="en-US" sz="1400" b="1">
                  <a:latin typeface="Arial Narrow" pitchFamily="34" charset="0"/>
                </a:rPr>
                <a:t>Blocked</a:t>
              </a:r>
            </a:p>
          </p:txBody>
        </p:sp>
        <p:sp>
          <p:nvSpPr>
            <p:cNvPr id="12321" name="Oval 43"/>
            <p:cNvSpPr>
              <a:spLocks noChangeArrowheads="1"/>
            </p:cNvSpPr>
            <p:nvPr/>
          </p:nvSpPr>
          <p:spPr bwMode="auto">
            <a:xfrm>
              <a:off x="1872" y="1848"/>
              <a:ext cx="720" cy="360"/>
            </a:xfrm>
            <a:prstGeom prst="ellipse">
              <a:avLst/>
            </a:prstGeom>
            <a:gradFill rotWithShape="0">
              <a:gsLst>
                <a:gs pos="0">
                  <a:schemeClr val="bg1"/>
                </a:gs>
                <a:gs pos="100000">
                  <a:srgbClr val="CCCC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>
                <a:buFont typeface="Wingdings" pitchFamily="2" charset="2"/>
                <a:buNone/>
              </a:pPr>
              <a:r>
                <a:rPr lang="en-US" sz="1600" b="1">
                  <a:latin typeface="Arial Narrow" pitchFamily="34" charset="0"/>
                </a:rPr>
                <a:t>Ready</a:t>
              </a:r>
            </a:p>
          </p:txBody>
        </p:sp>
        <p:sp>
          <p:nvSpPr>
            <p:cNvPr id="12322" name="Oval 44"/>
            <p:cNvSpPr>
              <a:spLocks noChangeArrowheads="1"/>
            </p:cNvSpPr>
            <p:nvPr/>
          </p:nvSpPr>
          <p:spPr bwMode="auto">
            <a:xfrm>
              <a:off x="3120" y="1848"/>
              <a:ext cx="720" cy="360"/>
            </a:xfrm>
            <a:prstGeom prst="ellipse">
              <a:avLst/>
            </a:prstGeom>
            <a:gradFill rotWithShape="0">
              <a:gsLst>
                <a:gs pos="0">
                  <a:schemeClr val="bg1"/>
                </a:gs>
                <a:gs pos="100000">
                  <a:srgbClr val="CCCC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r>
                <a:rPr lang="en-US" sz="1400" b="1">
                  <a:latin typeface="Arial Narrow" pitchFamily="34" charset="0"/>
                </a:rPr>
                <a:t>Running</a:t>
              </a:r>
            </a:p>
          </p:txBody>
        </p:sp>
        <p:sp>
          <p:nvSpPr>
            <p:cNvPr id="12323" name="Oval 45"/>
            <p:cNvSpPr>
              <a:spLocks noChangeArrowheads="1"/>
            </p:cNvSpPr>
            <p:nvPr/>
          </p:nvSpPr>
          <p:spPr bwMode="auto">
            <a:xfrm>
              <a:off x="4512" y="1848"/>
              <a:ext cx="720" cy="360"/>
            </a:xfrm>
            <a:prstGeom prst="ellipse">
              <a:avLst/>
            </a:prstGeom>
            <a:gradFill rotWithShape="0">
              <a:gsLst>
                <a:gs pos="0">
                  <a:schemeClr val="bg1"/>
                </a:gs>
                <a:gs pos="100000">
                  <a:srgbClr val="CCCC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r>
                <a:rPr lang="en-US" sz="1600" b="1">
                  <a:latin typeface="Arial Narrow" pitchFamily="34" charset="0"/>
                </a:rPr>
                <a:t>Exit</a:t>
              </a:r>
            </a:p>
          </p:txBody>
        </p:sp>
        <p:sp>
          <p:nvSpPr>
            <p:cNvPr id="12324" name="Oval 46"/>
            <p:cNvSpPr>
              <a:spLocks noChangeArrowheads="1"/>
            </p:cNvSpPr>
            <p:nvPr/>
          </p:nvSpPr>
          <p:spPr bwMode="auto">
            <a:xfrm>
              <a:off x="528" y="1848"/>
              <a:ext cx="720" cy="360"/>
            </a:xfrm>
            <a:prstGeom prst="ellipse">
              <a:avLst/>
            </a:prstGeom>
            <a:gradFill rotWithShape="0">
              <a:gsLst>
                <a:gs pos="0">
                  <a:schemeClr val="bg1"/>
                </a:gs>
                <a:gs pos="100000">
                  <a:srgbClr val="CCCC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>
                <a:buFont typeface="Wingdings" pitchFamily="2" charset="2"/>
                <a:buNone/>
              </a:pPr>
              <a:r>
                <a:rPr lang="en-US" sz="1600" b="1">
                  <a:latin typeface="Arial Narrow" pitchFamily="34" charset="0"/>
                </a:rPr>
                <a:t>New</a:t>
              </a:r>
            </a:p>
          </p:txBody>
        </p:sp>
        <p:cxnSp>
          <p:nvCxnSpPr>
            <p:cNvPr id="12325" name="AutoShape 47"/>
            <p:cNvCxnSpPr>
              <a:cxnSpLocks noChangeShapeType="1"/>
              <a:stCxn id="12322" idx="6"/>
              <a:endCxn id="12323" idx="2"/>
            </p:cNvCxnSpPr>
            <p:nvPr/>
          </p:nvCxnSpPr>
          <p:spPr bwMode="auto">
            <a:xfrm>
              <a:off x="3840" y="2028"/>
              <a:ext cx="672" cy="0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26" name="AutoShape 48"/>
            <p:cNvCxnSpPr>
              <a:cxnSpLocks noChangeShapeType="1"/>
              <a:stCxn id="12322" idx="4"/>
              <a:endCxn id="12320" idx="7"/>
            </p:cNvCxnSpPr>
            <p:nvPr/>
          </p:nvCxnSpPr>
          <p:spPr bwMode="auto">
            <a:xfrm flipH="1">
              <a:off x="2487" y="2208"/>
              <a:ext cx="993" cy="773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27" name="AutoShape 49"/>
            <p:cNvCxnSpPr>
              <a:cxnSpLocks noChangeShapeType="1"/>
              <a:stCxn id="12320" idx="0"/>
              <a:endCxn id="12321" idx="4"/>
            </p:cNvCxnSpPr>
            <p:nvPr/>
          </p:nvCxnSpPr>
          <p:spPr bwMode="auto">
            <a:xfrm flipV="1">
              <a:off x="2232" y="2208"/>
              <a:ext cx="0" cy="720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28" name="AutoShape 50"/>
            <p:cNvCxnSpPr>
              <a:cxnSpLocks noChangeShapeType="1"/>
            </p:cNvCxnSpPr>
            <p:nvPr/>
          </p:nvCxnSpPr>
          <p:spPr bwMode="auto">
            <a:xfrm>
              <a:off x="2544" y="2112"/>
              <a:ext cx="624" cy="0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 type="stealth" w="med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329" name="Text Box 51"/>
            <p:cNvSpPr txBox="1">
              <a:spLocks noChangeArrowheads="1"/>
            </p:cNvSpPr>
            <p:nvPr/>
          </p:nvSpPr>
          <p:spPr bwMode="auto">
            <a:xfrm>
              <a:off x="2592" y="1728"/>
              <a:ext cx="53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dispatch</a:t>
              </a:r>
            </a:p>
          </p:txBody>
        </p:sp>
        <p:sp>
          <p:nvSpPr>
            <p:cNvPr id="12330" name="Text Box 52"/>
            <p:cNvSpPr txBox="1">
              <a:spLocks noChangeArrowheads="1"/>
            </p:cNvSpPr>
            <p:nvPr/>
          </p:nvSpPr>
          <p:spPr bwMode="auto">
            <a:xfrm>
              <a:off x="2618" y="2112"/>
              <a:ext cx="48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timeout</a:t>
              </a:r>
            </a:p>
          </p:txBody>
        </p:sp>
        <p:sp>
          <p:nvSpPr>
            <p:cNvPr id="12331" name="Text Box 54"/>
            <p:cNvSpPr txBox="1">
              <a:spLocks noChangeArrowheads="1"/>
            </p:cNvSpPr>
            <p:nvPr/>
          </p:nvSpPr>
          <p:spPr bwMode="auto">
            <a:xfrm>
              <a:off x="1322" y="1824"/>
              <a:ext cx="38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admit</a:t>
              </a:r>
            </a:p>
          </p:txBody>
        </p:sp>
        <p:sp>
          <p:nvSpPr>
            <p:cNvPr id="12332" name="Text Box 55"/>
            <p:cNvSpPr txBox="1">
              <a:spLocks noChangeArrowheads="1"/>
            </p:cNvSpPr>
            <p:nvPr/>
          </p:nvSpPr>
          <p:spPr bwMode="auto">
            <a:xfrm>
              <a:off x="3024" y="2544"/>
              <a:ext cx="389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lnSpc>
                  <a:spcPct val="80000"/>
                </a:lnSpc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event</a:t>
              </a:r>
            </a:p>
            <a:p>
              <a:pPr algn="ctr">
                <a:lnSpc>
                  <a:spcPct val="80000"/>
                </a:lnSpc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wait</a:t>
              </a:r>
            </a:p>
          </p:txBody>
        </p:sp>
        <p:sp>
          <p:nvSpPr>
            <p:cNvPr id="12333" name="Text Box 56"/>
            <p:cNvSpPr txBox="1">
              <a:spLocks noChangeArrowheads="1"/>
            </p:cNvSpPr>
            <p:nvPr/>
          </p:nvSpPr>
          <p:spPr bwMode="auto">
            <a:xfrm>
              <a:off x="2223" y="2448"/>
              <a:ext cx="445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lnSpc>
                  <a:spcPct val="80000"/>
                </a:lnSpc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event</a:t>
              </a:r>
            </a:p>
            <a:p>
              <a:pPr algn="ctr">
                <a:lnSpc>
                  <a:spcPct val="80000"/>
                </a:lnSpc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occurs</a:t>
              </a:r>
            </a:p>
          </p:txBody>
        </p:sp>
        <p:cxnSp>
          <p:nvCxnSpPr>
            <p:cNvPr id="12334" name="AutoShape 57"/>
            <p:cNvCxnSpPr>
              <a:cxnSpLocks noChangeShapeType="1"/>
            </p:cNvCxnSpPr>
            <p:nvPr/>
          </p:nvCxnSpPr>
          <p:spPr bwMode="auto">
            <a:xfrm>
              <a:off x="2544" y="1945"/>
              <a:ext cx="624" cy="0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35" name="AutoShape 58"/>
            <p:cNvCxnSpPr>
              <a:cxnSpLocks noChangeShapeType="1"/>
              <a:stCxn id="12324" idx="6"/>
              <a:endCxn id="12321" idx="2"/>
            </p:cNvCxnSpPr>
            <p:nvPr/>
          </p:nvCxnSpPr>
          <p:spPr bwMode="auto">
            <a:xfrm>
              <a:off x="1248" y="2028"/>
              <a:ext cx="624" cy="0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2336" name="Group 59"/>
            <p:cNvGrpSpPr>
              <a:grpSpLocks/>
            </p:cNvGrpSpPr>
            <p:nvPr/>
          </p:nvGrpSpPr>
          <p:grpSpPr bwMode="auto">
            <a:xfrm>
              <a:off x="912" y="2544"/>
              <a:ext cx="720" cy="360"/>
              <a:chOff x="912" y="2544"/>
              <a:chExt cx="720" cy="360"/>
            </a:xfrm>
          </p:grpSpPr>
          <p:sp>
            <p:nvSpPr>
              <p:cNvPr id="12353" name="Oval 60"/>
              <p:cNvSpPr>
                <a:spLocks noChangeArrowheads="1"/>
              </p:cNvSpPr>
              <p:nvPr/>
            </p:nvSpPr>
            <p:spPr bwMode="auto">
              <a:xfrm>
                <a:off x="912" y="2544"/>
                <a:ext cx="720" cy="360"/>
              </a:xfrm>
              <a:prstGeom prst="ellipse">
                <a:avLst/>
              </a:prstGeom>
              <a:gradFill rotWithShape="0">
                <a:gsLst>
                  <a:gs pos="0">
                    <a:schemeClr val="bg1"/>
                  </a:gs>
                  <a:gs pos="100000">
                    <a:srgbClr val="CCCCFF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317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>
                  <a:buFont typeface="Wingdings" pitchFamily="2" charset="2"/>
                  <a:buNone/>
                </a:pPr>
                <a:endParaRPr lang="en-US" sz="1600" b="1">
                  <a:solidFill>
                    <a:srgbClr val="FF0000"/>
                  </a:solidFill>
                  <a:latin typeface="Arial Narrow" pitchFamily="34" charset="0"/>
                </a:endParaRPr>
              </a:p>
            </p:txBody>
          </p:sp>
          <p:sp>
            <p:nvSpPr>
              <p:cNvPr id="12354" name="Rectangle 61"/>
              <p:cNvSpPr>
                <a:spLocks noChangeArrowheads="1"/>
              </p:cNvSpPr>
              <p:nvPr/>
            </p:nvSpPr>
            <p:spPr bwMode="auto">
              <a:xfrm>
                <a:off x="964" y="2560"/>
                <a:ext cx="615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med" len="lg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 algn="ctr">
                  <a:buFont typeface="Wingdings" pitchFamily="2" charset="2"/>
                  <a:buNone/>
                </a:pPr>
                <a:r>
                  <a:rPr lang="en-US" sz="1400" b="1">
                    <a:latin typeface="Arial Narrow" pitchFamily="34" charset="0"/>
                  </a:rPr>
                  <a:t>Suspended</a:t>
                </a:r>
              </a:p>
              <a:p>
                <a:pPr algn="ctr">
                  <a:buFont typeface="Wingdings" pitchFamily="2" charset="2"/>
                  <a:buNone/>
                </a:pPr>
                <a:r>
                  <a:rPr lang="en-US" sz="1400" b="1">
                    <a:latin typeface="Arial Narrow" pitchFamily="34" charset="0"/>
                  </a:rPr>
                  <a:t>Ready</a:t>
                </a:r>
              </a:p>
            </p:txBody>
          </p:sp>
        </p:grpSp>
        <p:sp>
          <p:nvSpPr>
            <p:cNvPr id="12337" name="Text Box 62"/>
            <p:cNvSpPr txBox="1">
              <a:spLocks noChangeArrowheads="1"/>
            </p:cNvSpPr>
            <p:nvPr/>
          </p:nvSpPr>
          <p:spPr bwMode="auto">
            <a:xfrm rot="-2712273">
              <a:off x="1353" y="2186"/>
              <a:ext cx="50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activate</a:t>
              </a:r>
            </a:p>
          </p:txBody>
        </p:sp>
        <p:cxnSp>
          <p:nvCxnSpPr>
            <p:cNvPr id="12338" name="AutoShape 63"/>
            <p:cNvCxnSpPr>
              <a:cxnSpLocks noChangeShapeType="1"/>
              <a:stCxn id="12351" idx="0"/>
              <a:endCxn id="12353" idx="4"/>
            </p:cNvCxnSpPr>
            <p:nvPr/>
          </p:nvCxnSpPr>
          <p:spPr bwMode="auto">
            <a:xfrm flipV="1">
              <a:off x="1272" y="2904"/>
              <a:ext cx="0" cy="720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339" name="Text Box 64"/>
            <p:cNvSpPr txBox="1">
              <a:spLocks noChangeArrowheads="1"/>
            </p:cNvSpPr>
            <p:nvPr/>
          </p:nvSpPr>
          <p:spPr bwMode="auto">
            <a:xfrm>
              <a:off x="814" y="3120"/>
              <a:ext cx="449" cy="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lnSpc>
                  <a:spcPct val="80000"/>
                </a:lnSpc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event</a:t>
              </a:r>
            </a:p>
            <a:p>
              <a:pPr algn="ctr">
                <a:lnSpc>
                  <a:spcPct val="80000"/>
                </a:lnSpc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occurs</a:t>
              </a:r>
            </a:p>
          </p:txBody>
        </p:sp>
        <p:cxnSp>
          <p:nvCxnSpPr>
            <p:cNvPr id="12340" name="AutoShape 65"/>
            <p:cNvCxnSpPr>
              <a:cxnSpLocks noChangeShapeType="1"/>
            </p:cNvCxnSpPr>
            <p:nvPr/>
          </p:nvCxnSpPr>
          <p:spPr bwMode="auto">
            <a:xfrm flipV="1">
              <a:off x="1584" y="3264"/>
              <a:ext cx="450" cy="442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 type="stealth" w="med" len="lg"/>
              <a:tailEnd type="non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41" name="AutoShape 66"/>
            <p:cNvCxnSpPr>
              <a:cxnSpLocks noChangeShapeType="1"/>
            </p:cNvCxnSpPr>
            <p:nvPr/>
          </p:nvCxnSpPr>
          <p:spPr bwMode="auto">
            <a:xfrm flipV="1">
              <a:off x="1488" y="3216"/>
              <a:ext cx="450" cy="442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42" name="AutoShape 67"/>
            <p:cNvCxnSpPr>
              <a:cxnSpLocks noChangeShapeType="1"/>
            </p:cNvCxnSpPr>
            <p:nvPr/>
          </p:nvCxnSpPr>
          <p:spPr bwMode="auto">
            <a:xfrm flipV="1">
              <a:off x="1574" y="2175"/>
              <a:ext cx="450" cy="442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 type="stealth" w="med" len="lg"/>
              <a:tailEnd type="non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43" name="AutoShape 68"/>
            <p:cNvCxnSpPr>
              <a:cxnSpLocks noChangeShapeType="1"/>
            </p:cNvCxnSpPr>
            <p:nvPr/>
          </p:nvCxnSpPr>
          <p:spPr bwMode="auto">
            <a:xfrm flipV="1">
              <a:off x="1478" y="2127"/>
              <a:ext cx="450" cy="442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344" name="Text Box 69"/>
            <p:cNvSpPr txBox="1">
              <a:spLocks noChangeArrowheads="1"/>
            </p:cNvSpPr>
            <p:nvPr/>
          </p:nvSpPr>
          <p:spPr bwMode="auto">
            <a:xfrm rot="-2654534">
              <a:off x="1607" y="2370"/>
              <a:ext cx="53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suspend</a:t>
              </a:r>
            </a:p>
          </p:txBody>
        </p:sp>
        <p:sp>
          <p:nvSpPr>
            <p:cNvPr id="12345" name="Text Box 70"/>
            <p:cNvSpPr txBox="1">
              <a:spLocks noChangeArrowheads="1"/>
            </p:cNvSpPr>
            <p:nvPr/>
          </p:nvSpPr>
          <p:spPr bwMode="auto">
            <a:xfrm rot="-2712273">
              <a:off x="1401" y="3237"/>
              <a:ext cx="50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activate</a:t>
              </a:r>
            </a:p>
          </p:txBody>
        </p:sp>
        <p:sp>
          <p:nvSpPr>
            <p:cNvPr id="12346" name="Text Box 71"/>
            <p:cNvSpPr txBox="1">
              <a:spLocks noChangeArrowheads="1"/>
            </p:cNvSpPr>
            <p:nvPr/>
          </p:nvSpPr>
          <p:spPr bwMode="auto">
            <a:xfrm rot="-2654534">
              <a:off x="1640" y="3426"/>
              <a:ext cx="53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suspend</a:t>
              </a:r>
            </a:p>
          </p:txBody>
        </p:sp>
        <p:cxnSp>
          <p:nvCxnSpPr>
            <p:cNvPr id="12347" name="AutoShape 72"/>
            <p:cNvCxnSpPr>
              <a:cxnSpLocks noChangeShapeType="1"/>
              <a:stCxn id="12324" idx="4"/>
              <a:endCxn id="12353" idx="1"/>
            </p:cNvCxnSpPr>
            <p:nvPr/>
          </p:nvCxnSpPr>
          <p:spPr bwMode="auto">
            <a:xfrm>
              <a:off x="888" y="2208"/>
              <a:ext cx="129" cy="389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348" name="Text Box 73"/>
            <p:cNvSpPr txBox="1">
              <a:spLocks noChangeArrowheads="1"/>
            </p:cNvSpPr>
            <p:nvPr/>
          </p:nvSpPr>
          <p:spPr bwMode="auto">
            <a:xfrm>
              <a:off x="528" y="2304"/>
              <a:ext cx="38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charset="0"/>
                  <a:ea typeface="ＭＳ Ｐゴシック" charset="-128"/>
                </a:defRPr>
              </a:lvl9pPr>
            </a:lstStyle>
            <a:p>
              <a:pPr algn="ctr">
                <a:spcBef>
                  <a:spcPct val="20000"/>
                </a:spcBef>
                <a:buFont typeface="Wingdings" pitchFamily="2" charset="2"/>
                <a:buNone/>
              </a:pPr>
              <a:r>
                <a:rPr lang="en-US" sz="1400">
                  <a:latin typeface="Arial" charset="0"/>
                </a:rPr>
                <a:t>admit</a:t>
              </a:r>
            </a:p>
          </p:txBody>
        </p:sp>
        <p:grpSp>
          <p:nvGrpSpPr>
            <p:cNvPr id="12349" name="Group 74"/>
            <p:cNvGrpSpPr>
              <a:grpSpLocks/>
            </p:cNvGrpSpPr>
            <p:nvPr/>
          </p:nvGrpSpPr>
          <p:grpSpPr bwMode="auto">
            <a:xfrm>
              <a:off x="912" y="3624"/>
              <a:ext cx="720" cy="360"/>
              <a:chOff x="912" y="3624"/>
              <a:chExt cx="720" cy="360"/>
            </a:xfrm>
          </p:grpSpPr>
          <p:sp>
            <p:nvSpPr>
              <p:cNvPr id="12351" name="Oval 75"/>
              <p:cNvSpPr>
                <a:spLocks noChangeArrowheads="1"/>
              </p:cNvSpPr>
              <p:nvPr/>
            </p:nvSpPr>
            <p:spPr bwMode="auto">
              <a:xfrm>
                <a:off x="912" y="3624"/>
                <a:ext cx="720" cy="360"/>
              </a:xfrm>
              <a:prstGeom prst="ellipse">
                <a:avLst/>
              </a:prstGeom>
              <a:gradFill rotWithShape="0">
                <a:gsLst>
                  <a:gs pos="0">
                    <a:schemeClr val="bg1"/>
                  </a:gs>
                  <a:gs pos="100000">
                    <a:srgbClr val="CCCCFF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317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>
                  <a:buFont typeface="Wingdings" pitchFamily="2" charset="2"/>
                  <a:buNone/>
                </a:pPr>
                <a:endParaRPr lang="en-US" sz="1400">
                  <a:solidFill>
                    <a:srgbClr val="FF0000"/>
                  </a:solidFill>
                  <a:latin typeface="Arial" charset="0"/>
                </a:endParaRPr>
              </a:p>
            </p:txBody>
          </p:sp>
          <p:sp>
            <p:nvSpPr>
              <p:cNvPr id="12352" name="Rectangle 76"/>
              <p:cNvSpPr>
                <a:spLocks noChangeArrowheads="1"/>
              </p:cNvSpPr>
              <p:nvPr/>
            </p:nvSpPr>
            <p:spPr bwMode="auto">
              <a:xfrm>
                <a:off x="962" y="3638"/>
                <a:ext cx="615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med" len="lg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 algn="ctr">
                  <a:buFont typeface="Wingdings" pitchFamily="2" charset="2"/>
                  <a:buNone/>
                </a:pPr>
                <a:r>
                  <a:rPr lang="en-US" sz="1400" b="1" dirty="0">
                    <a:latin typeface="Arial Narrow" pitchFamily="34" charset="0"/>
                  </a:rPr>
                  <a:t>Suspended</a:t>
                </a:r>
              </a:p>
              <a:p>
                <a:pPr algn="ctr">
                  <a:buFont typeface="Wingdings" pitchFamily="2" charset="2"/>
                  <a:buNone/>
                </a:pPr>
                <a:r>
                  <a:rPr lang="en-US" sz="1400" b="1" dirty="0">
                    <a:latin typeface="Arial Narrow" pitchFamily="34" charset="0"/>
                  </a:rPr>
                  <a:t>Blocked</a:t>
                </a:r>
              </a:p>
            </p:txBody>
          </p:sp>
        </p:grpSp>
        <p:sp>
          <p:nvSpPr>
            <p:cNvPr id="12350" name="Rectangle 77"/>
            <p:cNvSpPr>
              <a:spLocks noChangeArrowheads="1"/>
            </p:cNvSpPr>
            <p:nvPr/>
          </p:nvSpPr>
          <p:spPr bwMode="auto">
            <a:xfrm>
              <a:off x="3265" y="2986"/>
              <a:ext cx="648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med" len="lg"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r">
                <a:buFont typeface="Wingdings" pitchFamily="2" charset="2"/>
                <a:buNone/>
              </a:pPr>
              <a:r>
                <a:rPr lang="en-US" sz="1400">
                  <a:solidFill>
                    <a:srgbClr val="CC6600"/>
                  </a:solidFill>
                  <a:latin typeface="Arial" charset="0"/>
                </a:rPr>
                <a:t>program is</a:t>
              </a:r>
            </a:p>
            <a:p>
              <a:pPr algn="r">
                <a:buFont typeface="Wingdings" pitchFamily="2" charset="2"/>
                <a:buNone/>
              </a:pPr>
              <a:r>
                <a:rPr lang="en-US" sz="1400">
                  <a:solidFill>
                    <a:srgbClr val="CC6600"/>
                  </a:solidFill>
                  <a:latin typeface="Arial" charset="0"/>
                </a:rPr>
                <a:t>in memory</a:t>
              </a:r>
            </a:p>
          </p:txBody>
        </p:sp>
      </p:grpSp>
      <p:sp>
        <p:nvSpPr>
          <p:cNvPr id="12314" name="Text Box 35"/>
          <p:cNvSpPr txBox="1">
            <a:spLocks noChangeArrowheads="1"/>
          </p:cNvSpPr>
          <p:nvPr/>
        </p:nvSpPr>
        <p:spPr bwMode="auto">
          <a:xfrm>
            <a:off x="5653088" y="5780088"/>
            <a:ext cx="3490912" cy="10779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ＭＳ Ｐゴシック" charset="-128"/>
              </a:defRPr>
            </a:lvl9pPr>
          </a:lstStyle>
          <a:p>
            <a:endParaRPr lang="en-US" sz="1600" dirty="0">
              <a:solidFill>
                <a:schemeClr val="folHlink"/>
              </a:solidFill>
              <a:latin typeface="Arial Narrow" pitchFamily="34" charset="0"/>
            </a:endParaRPr>
          </a:p>
          <a:p>
            <a:r>
              <a:rPr lang="en-US" sz="1600" dirty="0">
                <a:solidFill>
                  <a:schemeClr val="folHlink"/>
                </a:solidFill>
                <a:latin typeface="Arial Narrow" pitchFamily="34" charset="0"/>
              </a:rPr>
              <a:t>Stallings, W. (2004) </a:t>
            </a:r>
            <a:r>
              <a:rPr lang="en-US" sz="1600" i="1" dirty="0">
                <a:solidFill>
                  <a:schemeClr val="folHlink"/>
                </a:solidFill>
                <a:latin typeface="Arial Narrow" pitchFamily="34" charset="0"/>
              </a:rPr>
              <a:t>Operating Systems:</a:t>
            </a:r>
          </a:p>
          <a:p>
            <a:r>
              <a:rPr lang="en-US" sz="1600" i="1" dirty="0">
                <a:solidFill>
                  <a:schemeClr val="folHlink"/>
                </a:solidFill>
                <a:latin typeface="Arial Narrow" pitchFamily="34" charset="0"/>
              </a:rPr>
              <a:t>Internals and Design Principles (5th Edition).</a:t>
            </a:r>
          </a:p>
          <a:p>
            <a:r>
              <a:rPr lang="en-US" sz="1600" i="1" dirty="0">
                <a:solidFill>
                  <a:schemeClr val="folHlink"/>
                </a:solidFill>
                <a:latin typeface="Arial Narrow" pitchFamily="34" charset="0"/>
              </a:rPr>
              <a:t> </a:t>
            </a:r>
          </a:p>
        </p:txBody>
      </p:sp>
      <p:sp>
        <p:nvSpPr>
          <p:cNvPr id="12315" name="Rectangle 1"/>
          <p:cNvSpPr>
            <a:spLocks noChangeArrowheads="1"/>
          </p:cNvSpPr>
          <p:nvPr/>
        </p:nvSpPr>
        <p:spPr bwMode="auto">
          <a:xfrm>
            <a:off x="285750" y="6173788"/>
            <a:ext cx="2452688" cy="688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316" name="Rectangle 78"/>
          <p:cNvSpPr>
            <a:spLocks noChangeArrowheads="1"/>
          </p:cNvSpPr>
          <p:nvPr/>
        </p:nvSpPr>
        <p:spPr bwMode="auto">
          <a:xfrm>
            <a:off x="361950" y="25400"/>
            <a:ext cx="1108075" cy="8096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559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84871039-F3CB-9EB9-844D-F57C0241A8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66813" y="136525"/>
            <a:ext cx="7519987" cy="576263"/>
          </a:xfrm>
        </p:spPr>
        <p:txBody>
          <a:bodyPr/>
          <a:lstStyle/>
          <a:p>
            <a:pPr eaLnBrk="1" hangingPunct="1"/>
            <a:r>
              <a:rPr lang="en-US" altLang="en-US"/>
              <a:t>Process Control Block (PCB)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DD2DA783-57B4-C808-82AD-8FD7AD125B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06450" y="1041400"/>
            <a:ext cx="4579938" cy="4772025"/>
          </a:xfrm>
        </p:spPr>
        <p:txBody>
          <a:bodyPr/>
          <a:lstStyle/>
          <a:p>
            <a:pPr>
              <a:buFont typeface="Monotype Sorts" pitchFamily="-84" charset="2"/>
              <a:buNone/>
            </a:pPr>
            <a:r>
              <a:rPr lang="en-US" altLang="en-US"/>
              <a:t>Information associated with each process </a:t>
            </a:r>
          </a:p>
          <a:p>
            <a:pPr>
              <a:buFont typeface="Monotype Sorts" pitchFamily="-84" charset="2"/>
              <a:buNone/>
            </a:pPr>
            <a:r>
              <a:rPr lang="en-US" altLang="en-US"/>
              <a:t>(also called </a:t>
            </a:r>
            <a:r>
              <a:rPr lang="en-US" altLang="en-US" b="1">
                <a:solidFill>
                  <a:srgbClr val="3366FF"/>
                </a:solidFill>
              </a:rPr>
              <a:t>task control block</a:t>
            </a:r>
            <a:r>
              <a:rPr lang="en-US" altLang="en-US"/>
              <a:t>)</a:t>
            </a:r>
          </a:p>
          <a:p>
            <a:r>
              <a:rPr lang="en-US" altLang="en-US"/>
              <a:t>Process state – running, waiting, etc</a:t>
            </a:r>
          </a:p>
          <a:p>
            <a:r>
              <a:rPr lang="en-US" altLang="en-US"/>
              <a:t>Program counter – location of instruction to next execute</a:t>
            </a:r>
          </a:p>
          <a:p>
            <a:r>
              <a:rPr lang="en-US" altLang="en-US"/>
              <a:t>CPU registers – contents of all process-centric registers</a:t>
            </a:r>
          </a:p>
          <a:p>
            <a:r>
              <a:rPr lang="en-US" altLang="en-US"/>
              <a:t>CPU scheduling information- priorities, scheduling queue pointers</a:t>
            </a:r>
          </a:p>
          <a:p>
            <a:r>
              <a:rPr lang="en-US" altLang="en-US"/>
              <a:t>Memory-management information – memory allocated to the process</a:t>
            </a:r>
          </a:p>
          <a:p>
            <a:r>
              <a:rPr lang="en-US" altLang="en-US"/>
              <a:t>Accounting information – CPU used, clock time elapsed since start, time limits</a:t>
            </a:r>
          </a:p>
          <a:p>
            <a:r>
              <a:rPr lang="en-US" altLang="en-US"/>
              <a:t>I/O status information – I/O devices allocated to process, list of open files</a:t>
            </a:r>
          </a:p>
          <a:p>
            <a:endParaRPr lang="en-US" altLang="en-US"/>
          </a:p>
        </p:txBody>
      </p:sp>
      <p:pic>
        <p:nvPicPr>
          <p:cNvPr id="11268" name="Picture 9">
            <a:extLst>
              <a:ext uri="{FF2B5EF4-FFF2-40B4-BE49-F238E27FC236}">
                <a16:creationId xmlns:a16="http://schemas.microsoft.com/office/drawing/2014/main" id="{2E38FDE2-DBDE-5186-488B-D4273B067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1393825"/>
            <a:ext cx="2795588" cy="448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982663" y="18256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CPU Switch From Process to Process</a:t>
            </a:r>
          </a:p>
        </p:txBody>
      </p:sp>
      <p:pic>
        <p:nvPicPr>
          <p:cNvPr id="12291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4300" y="1104900"/>
            <a:ext cx="6969125" cy="4679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41400" y="136525"/>
            <a:ext cx="7645400" cy="576263"/>
          </a:xfrm>
        </p:spPr>
        <p:txBody>
          <a:bodyPr/>
          <a:lstStyle/>
          <a:p>
            <a:pPr eaLnBrk="1" hangingPunct="1"/>
            <a:r>
              <a:rPr lang="en-US" altLang="en-US"/>
              <a:t>Threads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87425" y="1093788"/>
            <a:ext cx="6975475" cy="3983037"/>
          </a:xfrm>
        </p:spPr>
        <p:txBody>
          <a:bodyPr/>
          <a:lstStyle/>
          <a:p>
            <a:r>
              <a:rPr lang="en-US" altLang="en-US" dirty="0"/>
              <a:t>So far, process has a single thread of execution</a:t>
            </a:r>
          </a:p>
          <a:p>
            <a:r>
              <a:rPr lang="en-US" altLang="en-US" dirty="0"/>
              <a:t>Consider having multiple program counters per process</a:t>
            </a:r>
          </a:p>
          <a:p>
            <a:pPr lvl="1"/>
            <a:r>
              <a:rPr lang="en-US" altLang="en-US" dirty="0"/>
              <a:t>Multiple locations can execute at once</a:t>
            </a:r>
          </a:p>
          <a:p>
            <a:pPr lvl="2"/>
            <a:r>
              <a:rPr lang="en-US" altLang="en-US" dirty="0"/>
              <a:t>Multiple threads of control -&gt; </a:t>
            </a:r>
            <a:r>
              <a:rPr lang="en-US" altLang="en-US" b="1" dirty="0">
                <a:solidFill>
                  <a:srgbClr val="3366FF"/>
                </a:solidFill>
              </a:rPr>
              <a:t>threads</a:t>
            </a:r>
          </a:p>
          <a:p>
            <a:r>
              <a:rPr lang="en-US" altLang="en-US" dirty="0"/>
              <a:t>Must then have storage for thread details, multiple program counters in PCB</a:t>
            </a:r>
          </a:p>
          <a:p>
            <a:r>
              <a:rPr lang="en-US" altLang="en-US"/>
              <a:t>More about this in the next chapter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BF4BB626-C643-7099-2960-2F0BF2C60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438" y="144463"/>
            <a:ext cx="8229600" cy="576262"/>
          </a:xfrm>
        </p:spPr>
        <p:txBody>
          <a:bodyPr/>
          <a:lstStyle/>
          <a:p>
            <a:r>
              <a:rPr lang="en-US" altLang="en-US"/>
              <a:t>Process Representation in Linux</a:t>
            </a:r>
          </a:p>
        </p:txBody>
      </p:sp>
      <p:sp>
        <p:nvSpPr>
          <p:cNvPr id="14339" name="Content Placeholder 2">
            <a:extLst>
              <a:ext uri="{FF2B5EF4-FFF2-40B4-BE49-F238E27FC236}">
                <a16:creationId xmlns:a16="http://schemas.microsoft.com/office/drawing/2014/main" id="{D619A7CC-7C2D-C7C8-DDFE-0F5FB0809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pitchFamily="-84" charset="2"/>
              <a:buNone/>
            </a:pPr>
            <a:r>
              <a:rPr lang="en-US" altLang="en-US"/>
              <a:t>Represented by the C structure </a:t>
            </a:r>
            <a:r>
              <a:rPr lang="en-US" altLang="en-US">
                <a:latin typeface="Courier New" panose="02070309020205020404" pitchFamily="49" charset="0"/>
                <a:cs typeface="Courier New" panose="02070309020205020404" pitchFamily="49" charset="0"/>
              </a:rPr>
              <a:t>task_struct</a:t>
            </a:r>
          </a:p>
          <a:p>
            <a:pPr>
              <a:buFont typeface="Monotype Sorts" pitchFamily="-84" charset="2"/>
              <a:buNone/>
            </a:pPr>
            <a:br>
              <a:rPr lang="en-US" alt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pid t_pid; /* process identifier */ </a:t>
            </a:r>
            <a:br>
              <a:rPr lang="en-US" altLang="en-US" sz="16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long state; /* state of the process */ </a:t>
            </a:r>
            <a:br>
              <a:rPr lang="en-US" altLang="en-US" sz="16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unsigned int time_slice /* scheduling information */ </a:t>
            </a:r>
            <a:br>
              <a:rPr lang="en-US" altLang="en-US" sz="16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struct task_struct *parent; /* this process</a:t>
            </a:r>
            <a:r>
              <a:rPr lang="ja-JP" alt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  <a:t>s parent */ </a:t>
            </a:r>
            <a:b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  <a:t>struct list_head children; /* this process</a:t>
            </a:r>
            <a:r>
              <a:rPr lang="ja-JP" alt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  <a:t>s children */ </a:t>
            </a:r>
            <a:b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  <a:t>struct files_struct *files; /* list of open files */ </a:t>
            </a:r>
            <a:b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ja-JP" sz="1600">
                <a:latin typeface="Courier New" panose="02070309020205020404" pitchFamily="49" charset="0"/>
                <a:cs typeface="Courier New" panose="02070309020205020404" pitchFamily="49" charset="0"/>
              </a:rPr>
              <a:t>struct mm_struct *mm; /* address space of this process */</a:t>
            </a:r>
            <a:endParaRPr lang="en-US" altLang="en-US" sz="16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340" name="Picture 3" descr="C:\Users\as668\Desktop\in-3_1.jpg">
            <a:extLst>
              <a:ext uri="{FF2B5EF4-FFF2-40B4-BE49-F238E27FC236}">
                <a16:creationId xmlns:a16="http://schemas.microsoft.com/office/drawing/2014/main" id="{8DD86267-8E76-09E4-9A7E-4E6248A46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111625"/>
            <a:ext cx="5865812" cy="201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041400" y="136525"/>
            <a:ext cx="7645400" cy="576263"/>
          </a:xfrm>
        </p:spPr>
        <p:txBody>
          <a:bodyPr/>
          <a:lstStyle/>
          <a:p>
            <a:pPr eaLnBrk="1" hangingPunct="1"/>
            <a:r>
              <a:rPr lang="en-US" altLang="en-US"/>
              <a:t>Process Scheduling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7413" y="1168400"/>
            <a:ext cx="6975475" cy="3983038"/>
          </a:xfrm>
        </p:spPr>
        <p:txBody>
          <a:bodyPr/>
          <a:lstStyle/>
          <a:p>
            <a:r>
              <a:rPr lang="en-US" altLang="en-US"/>
              <a:t>Maximize CPU use, quickly switch processes onto CPU for time sharing</a:t>
            </a:r>
          </a:p>
          <a:p>
            <a:r>
              <a:rPr lang="en-US" altLang="en-US" b="1">
                <a:solidFill>
                  <a:srgbClr val="3366FF"/>
                </a:solidFill>
              </a:rPr>
              <a:t>Process scheduler </a:t>
            </a:r>
            <a:r>
              <a:rPr lang="en-US" altLang="en-US"/>
              <a:t>selects among available processes for next execution on CPU</a:t>
            </a:r>
          </a:p>
          <a:p>
            <a:r>
              <a:rPr lang="en-US" altLang="en-US"/>
              <a:t>Maintains </a:t>
            </a:r>
            <a:r>
              <a:rPr lang="en-US" altLang="en-US" b="1">
                <a:solidFill>
                  <a:srgbClr val="3366FF"/>
                </a:solidFill>
              </a:rPr>
              <a:t>scheduling queues </a:t>
            </a:r>
            <a:r>
              <a:rPr lang="en-US" altLang="en-US"/>
              <a:t>of processes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Job queue </a:t>
            </a:r>
            <a:r>
              <a:rPr lang="en-US" altLang="en-US"/>
              <a:t>– set of all processes in the system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Ready queue </a:t>
            </a:r>
            <a:r>
              <a:rPr lang="en-US" altLang="en-US"/>
              <a:t>– set of all processes residing in main memory, ready and waiting to execute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Device queues </a:t>
            </a:r>
            <a:r>
              <a:rPr lang="en-US" altLang="en-US"/>
              <a:t>– set of processes waiting for an I/O device</a:t>
            </a:r>
          </a:p>
          <a:p>
            <a:pPr lvl="1"/>
            <a:r>
              <a:rPr lang="en-US" altLang="en-US"/>
              <a:t>Processes migrate among the various queues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74725" y="236538"/>
            <a:ext cx="7983538" cy="457200"/>
          </a:xfrm>
        </p:spPr>
        <p:txBody>
          <a:bodyPr/>
          <a:lstStyle/>
          <a:p>
            <a:pPr eaLnBrk="1" hangingPunct="1"/>
            <a:r>
              <a:rPr lang="en-US" altLang="en-US" sz="2400"/>
              <a:t>Ready Queue And Various I/O Device Queues</a:t>
            </a:r>
          </a:p>
        </p:txBody>
      </p:sp>
      <p:pic>
        <p:nvPicPr>
          <p:cNvPr id="16387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8475" y="1214438"/>
            <a:ext cx="5822950" cy="5021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971550" y="1524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800"/>
              <a:t>Representation of Process Scheduling</a:t>
            </a:r>
          </a:p>
        </p:txBody>
      </p:sp>
      <p:pic>
        <p:nvPicPr>
          <p:cNvPr id="17411" name="Picture 4" descr="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488" y="1966913"/>
            <a:ext cx="6546850" cy="378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2" name="Rectangle 3"/>
          <p:cNvSpPr txBox="1">
            <a:spLocks noChangeArrowheads="1"/>
          </p:cNvSpPr>
          <p:nvPr/>
        </p:nvSpPr>
        <p:spPr bwMode="auto">
          <a:xfrm>
            <a:off x="808038" y="1303338"/>
            <a:ext cx="6975475" cy="398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4008" tIns="32004" rIns="64008" bIns="32004"/>
          <a:lstStyle>
            <a:lvl1pPr marL="488950" indent="-4889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r>
              <a:rPr kumimoji="1" lang="en-US" altLang="en-US" b="1">
                <a:solidFill>
                  <a:srgbClr val="3366FF"/>
                </a:solidFill>
                <a:latin typeface="Helvetica" pitchFamily="-84" charset="0"/>
              </a:rPr>
              <a:t>Queueing diagram </a:t>
            </a:r>
            <a:r>
              <a:rPr kumimoji="1" lang="en-US" altLang="en-US">
                <a:latin typeface="Helvetica" pitchFamily="-84" charset="0"/>
              </a:rPr>
              <a:t>represents queues, resources, flows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8256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Schedulers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7413" y="1108075"/>
            <a:ext cx="7453312" cy="5022850"/>
          </a:xfrm>
        </p:spPr>
        <p:txBody>
          <a:bodyPr/>
          <a:lstStyle/>
          <a:p>
            <a:r>
              <a:rPr lang="en-US" altLang="en-US" sz="1600" b="1">
                <a:solidFill>
                  <a:srgbClr val="3366FF"/>
                </a:solidFill>
              </a:rPr>
              <a:t>Short-term scheduler  </a:t>
            </a:r>
            <a:r>
              <a:rPr lang="en-US" altLang="en-US" sz="1600"/>
              <a:t>(or </a:t>
            </a:r>
            <a:r>
              <a:rPr lang="en-US" altLang="en-US" sz="1600" b="1">
                <a:solidFill>
                  <a:srgbClr val="3366FF"/>
                </a:solidFill>
              </a:rPr>
              <a:t>CPU scheduler</a:t>
            </a:r>
            <a:r>
              <a:rPr lang="en-US" altLang="en-US" sz="1600"/>
              <a:t>) – selects which process should be executed next and allocates CPU</a:t>
            </a:r>
          </a:p>
          <a:p>
            <a:pPr lvl="1"/>
            <a:r>
              <a:rPr lang="en-US" altLang="en-US" sz="1600"/>
              <a:t>Sometimes the only scheduler in a system</a:t>
            </a:r>
          </a:p>
          <a:p>
            <a:pPr lvl="1"/>
            <a:r>
              <a:rPr lang="en-US" altLang="en-US" sz="1600"/>
              <a:t>Short-term scheduler is invoked frequently (milliseconds) </a:t>
            </a:r>
            <a:r>
              <a:rPr lang="en-US" altLang="en-US" sz="1600">
                <a:sym typeface="Symbol" pitchFamily="18" charset="2"/>
              </a:rPr>
              <a:t> (must be fast)</a:t>
            </a:r>
            <a:endParaRPr lang="en-US" altLang="en-US" sz="800">
              <a:sym typeface="Symbol" pitchFamily="18" charset="2"/>
            </a:endParaRPr>
          </a:p>
          <a:p>
            <a:r>
              <a:rPr lang="en-US" altLang="en-US" sz="1600" b="1">
                <a:solidFill>
                  <a:srgbClr val="3366FF"/>
                </a:solidFill>
              </a:rPr>
              <a:t>Long-term scheduler  </a:t>
            </a:r>
            <a:r>
              <a:rPr lang="en-US" altLang="en-US" sz="1600"/>
              <a:t>(or </a:t>
            </a:r>
            <a:r>
              <a:rPr lang="en-US" altLang="en-US" sz="1600" b="1">
                <a:solidFill>
                  <a:srgbClr val="3366FF"/>
                </a:solidFill>
              </a:rPr>
              <a:t>job scheduler</a:t>
            </a:r>
            <a:r>
              <a:rPr lang="en-US" altLang="en-US" sz="1600"/>
              <a:t>) – selects which processes should be brought into the ready queue</a:t>
            </a:r>
          </a:p>
          <a:p>
            <a:pPr lvl="1"/>
            <a:r>
              <a:rPr lang="en-US" altLang="en-US" sz="1600">
                <a:sym typeface="Symbol" pitchFamily="18" charset="2"/>
              </a:rPr>
              <a:t>Long-term scheduler is invoked  infrequently (seconds, minutes)  (may be slow)</a:t>
            </a:r>
            <a:endParaRPr lang="en-US" altLang="en-US" sz="800">
              <a:sym typeface="Symbol" pitchFamily="18" charset="2"/>
            </a:endParaRPr>
          </a:p>
          <a:p>
            <a:pPr lvl="1"/>
            <a:r>
              <a:rPr lang="en-US" altLang="en-US" sz="1600">
                <a:sym typeface="Symbol" pitchFamily="18" charset="2"/>
              </a:rPr>
              <a:t>The long-term scheduler controls the </a:t>
            </a:r>
            <a:r>
              <a:rPr lang="en-US" altLang="en-US" sz="1600" b="1">
                <a:solidFill>
                  <a:srgbClr val="3366FF"/>
                </a:solidFill>
                <a:sym typeface="Symbol" pitchFamily="18" charset="2"/>
              </a:rPr>
              <a:t>degree of multiprogramming</a:t>
            </a:r>
            <a:endParaRPr lang="en-US" altLang="en-US" sz="800" i="1">
              <a:sym typeface="Symbol" pitchFamily="18" charset="2"/>
            </a:endParaRPr>
          </a:p>
          <a:p>
            <a:r>
              <a:rPr lang="en-US" altLang="en-US" sz="1600">
                <a:sym typeface="Symbol" pitchFamily="18" charset="2"/>
              </a:rPr>
              <a:t>Processes can be described as either:</a:t>
            </a:r>
          </a:p>
          <a:p>
            <a:pPr lvl="1"/>
            <a:r>
              <a:rPr lang="en-US" altLang="en-US" sz="1600" b="1">
                <a:solidFill>
                  <a:srgbClr val="3366FF"/>
                </a:solidFill>
                <a:sym typeface="Symbol" pitchFamily="18" charset="2"/>
              </a:rPr>
              <a:t>I/O-bound process</a:t>
            </a:r>
            <a:r>
              <a:rPr lang="en-US" altLang="en-US" sz="1600">
                <a:solidFill>
                  <a:srgbClr val="000000"/>
                </a:solidFill>
                <a:sym typeface="Symbol" pitchFamily="18" charset="2"/>
              </a:rPr>
              <a:t> </a:t>
            </a:r>
            <a:r>
              <a:rPr lang="en-US" altLang="en-US" sz="1600">
                <a:sym typeface="Symbol" pitchFamily="18" charset="2"/>
              </a:rPr>
              <a:t>– spends more time doing I/O than computations, many short CPU bursts</a:t>
            </a:r>
          </a:p>
          <a:p>
            <a:pPr lvl="1"/>
            <a:r>
              <a:rPr lang="en-US" altLang="en-US" sz="1600" b="1">
                <a:solidFill>
                  <a:srgbClr val="3366FF"/>
                </a:solidFill>
                <a:sym typeface="Symbol" pitchFamily="18" charset="2"/>
              </a:rPr>
              <a:t>CPU-bound process </a:t>
            </a:r>
            <a:r>
              <a:rPr lang="en-US" altLang="en-US" sz="1600">
                <a:sym typeface="Symbol" pitchFamily="18" charset="2"/>
              </a:rPr>
              <a:t>– spends more time doing computations; few very long CPU bursts</a:t>
            </a:r>
          </a:p>
          <a:p>
            <a:r>
              <a:rPr lang="en-US" altLang="en-US" sz="1600">
                <a:sym typeface="Symbol" pitchFamily="18" charset="2"/>
              </a:rPr>
              <a:t>Long-term scheduler strives for good </a:t>
            </a:r>
            <a:r>
              <a:rPr lang="en-US" altLang="en-US" sz="1600" b="1" i="1">
                <a:sym typeface="Symbol" pitchFamily="18" charset="2"/>
              </a:rPr>
              <a:t>process mix</a:t>
            </a:r>
            <a:endParaRPr lang="en-US" altLang="en-US" sz="1600">
              <a:sym typeface="Symbol" pitchFamily="18" charset="2"/>
            </a:endParaRPr>
          </a:p>
          <a:p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1085850" y="18256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Addition of Medium Term Scheduling</a:t>
            </a:r>
          </a:p>
        </p:txBody>
      </p:sp>
      <p:pic>
        <p:nvPicPr>
          <p:cNvPr id="19459" name="Picture 1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875" y="2827338"/>
            <a:ext cx="7327900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0" name="Rectangle 3"/>
          <p:cNvSpPr txBox="1">
            <a:spLocks noChangeArrowheads="1"/>
          </p:cNvSpPr>
          <p:nvPr/>
        </p:nvSpPr>
        <p:spPr bwMode="auto">
          <a:xfrm>
            <a:off x="806450" y="1160463"/>
            <a:ext cx="7200900" cy="144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4008" tIns="32004" rIns="64008" bIns="32004"/>
          <a:lstStyle>
            <a:lvl1pPr marL="488950" indent="-4889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1060450" indent="-407988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r>
              <a:rPr kumimoji="1" lang="en-US" altLang="en-US" b="1">
                <a:solidFill>
                  <a:srgbClr val="3366FF"/>
                </a:solidFill>
                <a:latin typeface="Helvetica" pitchFamily="-84" charset="0"/>
              </a:rPr>
              <a:t>Medium-term scheduler  </a:t>
            </a:r>
            <a:r>
              <a:rPr kumimoji="1" lang="en-US" altLang="en-US">
                <a:latin typeface="Helvetica" pitchFamily="-84" charset="0"/>
              </a:rPr>
              <a:t>can be added if degree of multiple programming needs to decrease</a:t>
            </a:r>
          </a:p>
          <a:p>
            <a:pPr lvl="1">
              <a:spcBef>
                <a:spcPct val="35000"/>
              </a:spcBef>
              <a:buClr>
                <a:srgbClr val="CC6600"/>
              </a:buClr>
              <a:buSzPct val="80000"/>
              <a:buFont typeface="Monotype Sorts" pitchFamily="-84" charset="2"/>
              <a:buChar char="l"/>
            </a:pPr>
            <a:r>
              <a:rPr kumimoji="1" lang="en-US" altLang="en-US">
                <a:latin typeface="Helvetica" pitchFamily="-84" charset="0"/>
              </a:rPr>
              <a:t>Remove process from memory, store on disk, bring back in from disk to continue execution: </a:t>
            </a:r>
            <a:r>
              <a:rPr kumimoji="1" lang="en-US" altLang="en-US" b="1">
                <a:solidFill>
                  <a:srgbClr val="3366FF"/>
                </a:solidFill>
                <a:latin typeface="Helvetica" pitchFamily="-84" charset="0"/>
              </a:rPr>
              <a:t>swapping</a:t>
            </a:r>
          </a:p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endParaRPr kumimoji="1" lang="en-US" altLang="en-US">
              <a:latin typeface="Helvetica" pitchFamily="-84" charset="0"/>
            </a:endParaRPr>
          </a:p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endParaRPr kumimoji="1" lang="en-US" altLang="en-US">
              <a:latin typeface="Helvetica" pitchFamily="-8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F14D-C9A5-CAFC-DE91-678B257A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686800" cy="576262"/>
          </a:xfrm>
        </p:spPr>
        <p:txBody>
          <a:bodyPr/>
          <a:lstStyle/>
          <a:p>
            <a:r>
              <a:rPr lang="en-US" dirty="0"/>
              <a:t>Short, Medium, Long Term Schedulers</a:t>
            </a:r>
          </a:p>
        </p:txBody>
      </p:sp>
      <p:pic>
        <p:nvPicPr>
          <p:cNvPr id="2050" name="Picture 2" descr="Shedulers-Function">
            <a:extLst>
              <a:ext uri="{FF2B5EF4-FFF2-40B4-BE49-F238E27FC236}">
                <a16:creationId xmlns:a16="http://schemas.microsoft.com/office/drawing/2014/main" id="{80FE5678-F1CB-70B9-58D8-507AEB9B3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5224" y="1452978"/>
            <a:ext cx="5055743" cy="2900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8D22E8-6EE4-3482-8A9A-6DC2EFDDF53C}"/>
              </a:ext>
            </a:extLst>
          </p:cNvPr>
          <p:cNvSpPr txBox="1"/>
          <p:nvPr/>
        </p:nvSpPr>
        <p:spPr>
          <a:xfrm>
            <a:off x="626993" y="5190430"/>
            <a:ext cx="79960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Reference: https://www.geeksforgeeks.org/difference-between-short-term-medium-term-and-long-term-scheduler/</a:t>
            </a:r>
          </a:p>
        </p:txBody>
      </p:sp>
    </p:spTree>
    <p:extLst>
      <p:ext uri="{BB962C8B-B14F-4D97-AF65-F5344CB8AC3E}">
        <p14:creationId xmlns:p14="http://schemas.microsoft.com/office/powerpoint/2010/main" val="1306631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66688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Context Switch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54075" y="1108075"/>
            <a:ext cx="6997700" cy="4448175"/>
          </a:xfrm>
        </p:spPr>
        <p:txBody>
          <a:bodyPr/>
          <a:lstStyle/>
          <a:p>
            <a:r>
              <a:rPr lang="en-US" altLang="en-US"/>
              <a:t>When CPU switches to another process, the system must </a:t>
            </a:r>
            <a:r>
              <a:rPr lang="en-US" altLang="en-US" b="1">
                <a:solidFill>
                  <a:srgbClr val="3366FF"/>
                </a:solidFill>
              </a:rPr>
              <a:t>save the state </a:t>
            </a:r>
            <a:r>
              <a:rPr lang="en-US" altLang="en-US"/>
              <a:t>of the old process and load the </a:t>
            </a:r>
            <a:r>
              <a:rPr lang="en-US" altLang="en-US" b="1">
                <a:solidFill>
                  <a:srgbClr val="3366FF"/>
                </a:solidFill>
              </a:rPr>
              <a:t>saved state </a:t>
            </a:r>
            <a:r>
              <a:rPr lang="en-US" altLang="en-US"/>
              <a:t>for the new process via a </a:t>
            </a:r>
            <a:r>
              <a:rPr lang="en-US" altLang="en-US" b="1">
                <a:solidFill>
                  <a:srgbClr val="3366FF"/>
                </a:solidFill>
              </a:rPr>
              <a:t>context switch</a:t>
            </a:r>
            <a:endParaRPr lang="en-US" altLang="en-US"/>
          </a:p>
          <a:p>
            <a:r>
              <a:rPr lang="en-US" altLang="en-US" b="1">
                <a:solidFill>
                  <a:srgbClr val="3366FF"/>
                </a:solidFill>
              </a:rPr>
              <a:t>Context </a:t>
            </a:r>
            <a:r>
              <a:rPr lang="en-US" altLang="en-US"/>
              <a:t>of a process represented in the PCB</a:t>
            </a:r>
          </a:p>
          <a:p>
            <a:r>
              <a:rPr lang="en-US" altLang="en-US"/>
              <a:t>Context-switch time is overhead; the system does no useful work while switching</a:t>
            </a:r>
          </a:p>
          <a:p>
            <a:pPr lvl="1"/>
            <a:r>
              <a:rPr lang="en-US" altLang="en-US"/>
              <a:t>The more complex the OS and the PCB </a:t>
            </a:r>
            <a:r>
              <a:rPr lang="en-US" altLang="en-US">
                <a:sym typeface="Wingdings" pitchFamily="2" charset="2"/>
              </a:rPr>
              <a:t> the </a:t>
            </a:r>
            <a:r>
              <a:rPr lang="en-US" altLang="en-US"/>
              <a:t>longer the context switch</a:t>
            </a:r>
          </a:p>
          <a:p>
            <a:r>
              <a:rPr lang="en-US" altLang="en-US"/>
              <a:t>Time dependent on hardware support</a:t>
            </a:r>
          </a:p>
          <a:p>
            <a:pPr lvl="1"/>
            <a:r>
              <a:rPr lang="en-US" altLang="en-US"/>
              <a:t>Some hardware provides multiple sets of registers per CPU </a:t>
            </a:r>
            <a:r>
              <a:rPr lang="en-US" altLang="en-US">
                <a:sym typeface="Wingdings" pitchFamily="2" charset="2"/>
              </a:rPr>
              <a:t></a:t>
            </a:r>
            <a:r>
              <a:rPr lang="en-US" altLang="en-US"/>
              <a:t> multiple contexts loaded at once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98438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Operations on Processes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06450" y="1233488"/>
            <a:ext cx="7480300" cy="4448175"/>
          </a:xfrm>
        </p:spPr>
        <p:txBody>
          <a:bodyPr/>
          <a:lstStyle/>
          <a:p>
            <a:r>
              <a:rPr lang="en-US" altLang="en-US"/>
              <a:t>System must provide mechanisms for:</a:t>
            </a:r>
          </a:p>
          <a:p>
            <a:pPr lvl="1"/>
            <a:r>
              <a:rPr lang="en-US" altLang="en-US"/>
              <a:t> process creation,</a:t>
            </a:r>
          </a:p>
          <a:p>
            <a:pPr lvl="1"/>
            <a:r>
              <a:rPr lang="en-US" altLang="en-US"/>
              <a:t> process termination, </a:t>
            </a:r>
          </a:p>
          <a:p>
            <a:pPr lvl="1"/>
            <a:r>
              <a:rPr lang="en-US" altLang="en-US"/>
              <a:t> and so on as detailed next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98438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Process Creation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54075" y="1169988"/>
            <a:ext cx="6918325" cy="5076825"/>
          </a:xfrm>
        </p:spPr>
        <p:txBody>
          <a:bodyPr/>
          <a:lstStyle/>
          <a:p>
            <a:r>
              <a:rPr lang="en-US" altLang="en-US" b="1">
                <a:solidFill>
                  <a:srgbClr val="3366FF"/>
                </a:solidFill>
              </a:rPr>
              <a:t>Parent</a:t>
            </a:r>
            <a:r>
              <a:rPr lang="en-US" altLang="en-US" b="1"/>
              <a:t> </a:t>
            </a:r>
            <a:r>
              <a:rPr lang="en-US" altLang="en-US"/>
              <a:t>process create </a:t>
            </a:r>
            <a:r>
              <a:rPr lang="en-US" altLang="en-US" b="1">
                <a:solidFill>
                  <a:srgbClr val="3366FF"/>
                </a:solidFill>
              </a:rPr>
              <a:t>children</a:t>
            </a:r>
            <a:r>
              <a:rPr lang="en-US" altLang="en-US" b="1"/>
              <a:t> </a:t>
            </a:r>
            <a:r>
              <a:rPr lang="en-US" altLang="en-US"/>
              <a:t>processes, which, in turn create other processes, forming a </a:t>
            </a:r>
            <a:r>
              <a:rPr lang="en-US" altLang="en-US" b="1">
                <a:solidFill>
                  <a:srgbClr val="3366FF"/>
                </a:solidFill>
              </a:rPr>
              <a:t>tree</a:t>
            </a:r>
            <a:r>
              <a:rPr lang="en-US" altLang="en-US"/>
              <a:t> of processes</a:t>
            </a:r>
            <a:endParaRPr lang="en-US" altLang="en-US" sz="800"/>
          </a:p>
          <a:p>
            <a:r>
              <a:rPr lang="en-US" altLang="en-US"/>
              <a:t>Generally, process identified and managed via a</a:t>
            </a:r>
            <a:r>
              <a:rPr lang="en-US" altLang="en-US" b="1"/>
              <a:t> </a:t>
            </a:r>
            <a:r>
              <a:rPr lang="en-US" altLang="en-US" b="1">
                <a:solidFill>
                  <a:srgbClr val="3366FF"/>
                </a:solidFill>
              </a:rPr>
              <a:t>process identifier </a:t>
            </a:r>
            <a:r>
              <a:rPr lang="en-US" altLang="en-US"/>
              <a:t>(</a:t>
            </a:r>
            <a:r>
              <a:rPr lang="en-US" altLang="en-US" b="1">
                <a:solidFill>
                  <a:srgbClr val="3366FF"/>
                </a:solidFill>
              </a:rPr>
              <a:t>pid</a:t>
            </a:r>
            <a:r>
              <a:rPr lang="en-US" altLang="en-US"/>
              <a:t>)</a:t>
            </a:r>
            <a:endParaRPr lang="en-US" altLang="en-US" sz="800"/>
          </a:p>
          <a:p>
            <a:r>
              <a:rPr lang="en-US" altLang="en-US"/>
              <a:t>Resource sharing options</a:t>
            </a:r>
          </a:p>
          <a:p>
            <a:pPr lvl="1"/>
            <a:r>
              <a:rPr lang="en-US" altLang="en-US"/>
              <a:t>Parent and children share all resources</a:t>
            </a:r>
          </a:p>
          <a:p>
            <a:pPr lvl="1"/>
            <a:r>
              <a:rPr lang="en-US" altLang="en-US"/>
              <a:t>Children share subset of parent</a:t>
            </a:r>
            <a:r>
              <a:rPr lang="ja-JP" altLang="en-US"/>
              <a:t>’</a:t>
            </a:r>
            <a:r>
              <a:rPr lang="en-US" altLang="ja-JP"/>
              <a:t>s resources</a:t>
            </a:r>
          </a:p>
          <a:p>
            <a:pPr lvl="1"/>
            <a:r>
              <a:rPr lang="en-US" altLang="en-US"/>
              <a:t>Parent and child share no resources</a:t>
            </a:r>
            <a:endParaRPr lang="en-US" altLang="en-US" sz="800"/>
          </a:p>
          <a:p>
            <a:r>
              <a:rPr lang="en-US" altLang="en-US"/>
              <a:t>Execution options</a:t>
            </a:r>
          </a:p>
          <a:p>
            <a:pPr lvl="1"/>
            <a:r>
              <a:rPr lang="en-US" altLang="en-US"/>
              <a:t>Parent and children execute concurrently</a:t>
            </a:r>
          </a:p>
          <a:p>
            <a:pPr lvl="1"/>
            <a:r>
              <a:rPr lang="en-US" altLang="en-US"/>
              <a:t>Parent waits until children terminate</a:t>
            </a:r>
          </a:p>
          <a:p>
            <a:pPr>
              <a:buFont typeface="Monotype Sorts" pitchFamily="-84" charset="2"/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1042988" y="2778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A Tree of Processes in Linux</a:t>
            </a:r>
          </a:p>
        </p:txBody>
      </p:sp>
      <p:pic>
        <p:nvPicPr>
          <p:cNvPr id="24579" name="Picture 1" descr="3_08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2688" y="1352550"/>
            <a:ext cx="7061200" cy="3741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069975" y="152400"/>
            <a:ext cx="7616825" cy="576263"/>
          </a:xfrm>
        </p:spPr>
        <p:txBody>
          <a:bodyPr/>
          <a:lstStyle/>
          <a:p>
            <a:pPr eaLnBrk="1" hangingPunct="1"/>
            <a:r>
              <a:rPr lang="en-US" altLang="en-US"/>
              <a:t>Process Creation (Cont.)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69950" y="1060450"/>
            <a:ext cx="7154863" cy="4530725"/>
          </a:xfrm>
        </p:spPr>
        <p:txBody>
          <a:bodyPr/>
          <a:lstStyle/>
          <a:p>
            <a:r>
              <a:rPr lang="en-US" altLang="en-US"/>
              <a:t>Address space</a:t>
            </a:r>
          </a:p>
          <a:p>
            <a:pPr lvl="1"/>
            <a:r>
              <a:rPr lang="en-US" altLang="en-US"/>
              <a:t>Child duplicate of parent</a:t>
            </a:r>
          </a:p>
          <a:p>
            <a:pPr lvl="1"/>
            <a:r>
              <a:rPr lang="en-US" altLang="en-US"/>
              <a:t>Child has a program loaded into it</a:t>
            </a:r>
          </a:p>
          <a:p>
            <a:r>
              <a:rPr lang="en-US" altLang="en-US"/>
              <a:t>UNIX examples</a:t>
            </a:r>
          </a:p>
          <a:p>
            <a:pPr lvl="1"/>
            <a:r>
              <a:rPr lang="en-US" alt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fork()</a:t>
            </a:r>
            <a:r>
              <a:rPr lang="en-US" altLang="en-US">
                <a:solidFill>
                  <a:srgbClr val="000000"/>
                </a:solidFill>
              </a:rPr>
              <a:t> </a:t>
            </a:r>
            <a:r>
              <a:rPr lang="en-US" altLang="en-US"/>
              <a:t>system call creates new process</a:t>
            </a:r>
          </a:p>
          <a:p>
            <a:pPr lvl="1"/>
            <a:r>
              <a:rPr lang="en-US" alt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exec()</a:t>
            </a:r>
            <a:r>
              <a:rPr lang="en-US" altLang="en-US"/>
              <a:t> system call used after a </a:t>
            </a:r>
            <a:r>
              <a:rPr lang="en-US" alt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fork()</a:t>
            </a:r>
            <a:r>
              <a:rPr lang="en-US" altLang="en-US"/>
              <a:t> to replace the process</a:t>
            </a:r>
            <a:r>
              <a:rPr lang="ja-JP" altLang="en-US"/>
              <a:t>’</a:t>
            </a:r>
            <a:r>
              <a:rPr lang="en-US" altLang="ja-JP"/>
              <a:t> memory space with a new program</a:t>
            </a:r>
            <a:endParaRPr lang="en-US" altLang="en-US"/>
          </a:p>
        </p:txBody>
      </p:sp>
      <p:pic>
        <p:nvPicPr>
          <p:cNvPr id="25604" name="Picture 4" descr="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7013" y="3798888"/>
            <a:ext cx="6419850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996950" y="161925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C Program Forking Separate Process</a:t>
            </a:r>
          </a:p>
        </p:txBody>
      </p:sp>
      <p:pic>
        <p:nvPicPr>
          <p:cNvPr id="26627" name="Picture 5" descr="Screen Shot 2012-12-04 at 11.21.10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5138" y="969963"/>
            <a:ext cx="6038850" cy="560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98438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Process Termination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06450" y="1233488"/>
            <a:ext cx="7170738" cy="4530725"/>
          </a:xfrm>
        </p:spPr>
        <p:txBody>
          <a:bodyPr/>
          <a:lstStyle/>
          <a:p>
            <a:r>
              <a:rPr lang="en-US" altLang="en-US" dirty="0"/>
              <a:t>Process executes last statement and then asks the OS to delete it using the 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exit()</a:t>
            </a:r>
            <a:r>
              <a:rPr lang="en-US" altLang="en-US" dirty="0">
                <a:cs typeface="Courier New" pitchFamily="49" charset="0"/>
              </a:rPr>
              <a:t> system call.</a:t>
            </a:r>
            <a:endParaRPr lang="en-US" altLang="en-US" dirty="0"/>
          </a:p>
          <a:p>
            <a:pPr lvl="1"/>
            <a:r>
              <a:rPr lang="en-US" altLang="en-US" dirty="0"/>
              <a:t>Returns  status data from child to parent (via 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wait()</a:t>
            </a:r>
            <a:r>
              <a:rPr lang="en-US" altLang="en-US" dirty="0"/>
              <a:t>)</a:t>
            </a:r>
          </a:p>
          <a:p>
            <a:pPr lvl="1"/>
            <a:r>
              <a:rPr lang="en-US" altLang="en-US" dirty="0"/>
              <a:t>Process</a:t>
            </a:r>
            <a:r>
              <a:rPr lang="ja-JP" altLang="en-US" dirty="0"/>
              <a:t>’</a:t>
            </a:r>
            <a:r>
              <a:rPr lang="en-US" altLang="ja-JP" dirty="0"/>
              <a:t> resources are deallocated by OS</a:t>
            </a:r>
            <a:endParaRPr lang="en-US" altLang="en-US" dirty="0"/>
          </a:p>
          <a:p>
            <a:r>
              <a:rPr lang="en-US" altLang="en-US" dirty="0"/>
              <a:t>Parent may terminate the execution of children processes  using the 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abort()</a:t>
            </a:r>
            <a:r>
              <a:rPr lang="en-US" altLang="en-US" dirty="0">
                <a:cs typeface="Courier New" pitchFamily="49" charset="0"/>
              </a:rPr>
              <a:t> system call.  Some reasons for doing so:</a:t>
            </a:r>
            <a:endParaRPr lang="en-US" altLang="en-US" dirty="0"/>
          </a:p>
          <a:p>
            <a:pPr lvl="1"/>
            <a:r>
              <a:rPr lang="en-US" altLang="en-US" dirty="0"/>
              <a:t>Child has exceeded allocated resources</a:t>
            </a:r>
          </a:p>
          <a:p>
            <a:pPr lvl="1"/>
            <a:r>
              <a:rPr lang="en-US" altLang="en-US" dirty="0"/>
              <a:t>Task assigned to child is no longer required</a:t>
            </a:r>
          </a:p>
          <a:p>
            <a:pPr lvl="1"/>
            <a:r>
              <a:rPr lang="en-US" altLang="en-US" dirty="0"/>
              <a:t>The parent is exiting and the operating systems does not allow  a child to continue if its parent terminates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8256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Process Termination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57263" y="1042988"/>
            <a:ext cx="7369175" cy="4530725"/>
          </a:xfrm>
        </p:spPr>
        <p:txBody>
          <a:bodyPr/>
          <a:lstStyle/>
          <a:p>
            <a:pPr lvl="1"/>
            <a:endParaRPr lang="en-US" altLang="en-US" sz="800" dirty="0"/>
          </a:p>
          <a:p>
            <a:r>
              <a:rPr lang="en-US" altLang="en-US" dirty="0"/>
              <a:t>Some operating systems do not allow child to exist if its parent has terminated.  If a process terminates, then all its children must also be terminated.</a:t>
            </a:r>
          </a:p>
          <a:p>
            <a:pPr lvl="1"/>
            <a:r>
              <a:rPr lang="en-US" altLang="en-US" b="1" dirty="0"/>
              <a:t>cascading termination.  </a:t>
            </a:r>
            <a:r>
              <a:rPr lang="en-US" altLang="en-US" dirty="0"/>
              <a:t>All children, grandchildren, etc.  are  terminated.</a:t>
            </a:r>
            <a:endParaRPr lang="en-US" altLang="en-US" b="1" dirty="0"/>
          </a:p>
          <a:p>
            <a:pPr lvl="1"/>
            <a:r>
              <a:rPr lang="en-US" altLang="en-US" dirty="0"/>
              <a:t>The termination is initiated by the operating system.</a:t>
            </a:r>
            <a:endParaRPr lang="en-US" altLang="en-US" b="1" dirty="0"/>
          </a:p>
          <a:p>
            <a:r>
              <a:rPr lang="en-US" altLang="en-US" dirty="0"/>
              <a:t>The parent process may wait for termination of a child process by using the 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wait()</a:t>
            </a:r>
            <a:r>
              <a:rPr lang="en-US" altLang="en-US" dirty="0"/>
              <a:t>system call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. </a:t>
            </a:r>
            <a:r>
              <a:rPr lang="en-US" altLang="en-US" dirty="0"/>
              <a:t>The call returns status information and the </a:t>
            </a:r>
            <a:r>
              <a:rPr lang="en-US" altLang="en-US" dirty="0" err="1"/>
              <a:t>pid</a:t>
            </a:r>
            <a:r>
              <a:rPr lang="en-US" altLang="en-US" dirty="0"/>
              <a:t> of the terminated process</a:t>
            </a:r>
            <a:endParaRPr lang="en-US" altLang="en-US" b="1" dirty="0">
              <a:solidFill>
                <a:srgbClr val="000000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buFont typeface="Monotype Sorts" pitchFamily="-84" charset="2"/>
              <a:buNone/>
            </a:pP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en-US" b="1" dirty="0" err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pid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= wait(&amp;status); </a:t>
            </a:r>
          </a:p>
          <a:p>
            <a:r>
              <a:rPr lang="en-US" altLang="en-US" dirty="0"/>
              <a:t>If no parent waiting (did not invoke 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wait()</a:t>
            </a:r>
            <a:r>
              <a:rPr lang="en-US" altLang="en-US" dirty="0">
                <a:cs typeface="Courier New" pitchFamily="49" charset="0"/>
              </a:rPr>
              <a:t>) </a:t>
            </a:r>
            <a:r>
              <a:rPr lang="en-US" altLang="en-US" dirty="0"/>
              <a:t>process is a </a:t>
            </a:r>
            <a:r>
              <a:rPr lang="en-US" altLang="en-US" b="1" dirty="0">
                <a:solidFill>
                  <a:srgbClr val="3366FF"/>
                </a:solidFill>
              </a:rPr>
              <a:t>zombie</a:t>
            </a:r>
          </a:p>
          <a:p>
            <a:r>
              <a:rPr lang="en-US" altLang="en-US" dirty="0"/>
              <a:t>If parent terminated without invoking</a:t>
            </a:r>
            <a:r>
              <a:rPr lang="en-US" altLang="en-US" b="1" dirty="0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 wait</a:t>
            </a:r>
            <a:r>
              <a:rPr lang="en-US" altLang="en-US" dirty="0"/>
              <a:t> , process is an </a:t>
            </a:r>
            <a:r>
              <a:rPr lang="en-US" altLang="en-US" b="1" dirty="0">
                <a:solidFill>
                  <a:srgbClr val="3366FF"/>
                </a:solidFill>
              </a:rPr>
              <a:t>orphan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1225550" y="150813"/>
            <a:ext cx="7997825" cy="576262"/>
          </a:xfrm>
        </p:spPr>
        <p:txBody>
          <a:bodyPr/>
          <a:lstStyle/>
          <a:p>
            <a:r>
              <a:rPr lang="en-US" altLang="en-US" sz="2800"/>
              <a:t>Multiprocess Architecture – Chrome Browser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>
          <a:xfrm>
            <a:off x="806450" y="1233488"/>
            <a:ext cx="7512050" cy="4530725"/>
          </a:xfrm>
        </p:spPr>
        <p:txBody>
          <a:bodyPr/>
          <a:lstStyle/>
          <a:p>
            <a:r>
              <a:rPr lang="en-US" altLang="en-US"/>
              <a:t>Many web browsers ran as single process (some still do)</a:t>
            </a:r>
          </a:p>
          <a:p>
            <a:pPr lvl="1"/>
            <a:r>
              <a:rPr lang="en-US" altLang="en-US"/>
              <a:t>If one web site causes trouble, entire browser can hang or crash</a:t>
            </a:r>
          </a:p>
          <a:p>
            <a:r>
              <a:rPr lang="en-US" altLang="en-US"/>
              <a:t>Google Chrome Browser is multiprocess with 3 different types of processes: 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Browser</a:t>
            </a:r>
            <a:r>
              <a:rPr lang="en-US" altLang="en-US"/>
              <a:t> process manages user interface, disk and network I/O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Renderer</a:t>
            </a:r>
            <a:r>
              <a:rPr lang="en-US" altLang="en-US"/>
              <a:t> process renders web pages, deals with HTML, Javascript. A new renderer created for each website opened</a:t>
            </a:r>
          </a:p>
          <a:p>
            <a:pPr lvl="2"/>
            <a:r>
              <a:rPr lang="en-US" altLang="en-US"/>
              <a:t>Runs in </a:t>
            </a:r>
            <a:r>
              <a:rPr lang="en-US" altLang="en-US" b="1">
                <a:solidFill>
                  <a:srgbClr val="3366FF"/>
                </a:solidFill>
              </a:rPr>
              <a:t>sandbox</a:t>
            </a:r>
            <a:r>
              <a:rPr lang="en-US" altLang="en-US"/>
              <a:t> restricting disk and network I/O, minimizing effect of security exploits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Plug-in </a:t>
            </a:r>
            <a:r>
              <a:rPr lang="en-US" altLang="en-US"/>
              <a:t>process for each type of plug-in</a:t>
            </a:r>
          </a:p>
          <a:p>
            <a:pPr lvl="1"/>
            <a:endParaRPr lang="en-US" altLang="en-US"/>
          </a:p>
          <a:p>
            <a:pPr lvl="1"/>
            <a:endParaRPr lang="en-US" altLang="en-US"/>
          </a:p>
          <a:p>
            <a:pPr lvl="1"/>
            <a:endParaRPr lang="en-US" altLang="en-US"/>
          </a:p>
        </p:txBody>
      </p:sp>
      <p:pic>
        <p:nvPicPr>
          <p:cNvPr id="30724" name="Picture 1" descr="in-3_2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3200" y="4926013"/>
            <a:ext cx="6292850" cy="1141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/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/>
          <a:lstStyle/>
          <a:p>
            <a:r>
              <a:rPr lang="en-US" altLang="en-US"/>
              <a:t>Processes within a system may be </a:t>
            </a:r>
            <a:r>
              <a:rPr lang="en-US" altLang="en-US" b="1" i="1"/>
              <a:t>independent</a:t>
            </a:r>
            <a:r>
              <a:rPr lang="en-US" altLang="en-US" b="1"/>
              <a:t> </a:t>
            </a:r>
            <a:r>
              <a:rPr lang="en-US" altLang="en-US"/>
              <a:t>or </a:t>
            </a:r>
            <a:r>
              <a:rPr lang="en-US" altLang="en-US" b="1" i="1"/>
              <a:t>cooperating</a:t>
            </a:r>
          </a:p>
          <a:p>
            <a:r>
              <a:rPr lang="en-US" altLang="en-US"/>
              <a:t>Cooperating process can affect or be affected by other processes, including sharing data</a:t>
            </a:r>
          </a:p>
          <a:p>
            <a:r>
              <a:rPr lang="en-US" altLang="en-US"/>
              <a:t>Reasons for cooperating processes:</a:t>
            </a:r>
          </a:p>
          <a:p>
            <a:pPr lvl="1"/>
            <a:r>
              <a:rPr lang="en-US" altLang="en-US"/>
              <a:t>Information sharing</a:t>
            </a:r>
          </a:p>
          <a:p>
            <a:pPr lvl="1"/>
            <a:r>
              <a:rPr lang="en-US" altLang="en-US"/>
              <a:t>Computation speedup</a:t>
            </a:r>
          </a:p>
          <a:p>
            <a:pPr lvl="1"/>
            <a:r>
              <a:rPr lang="en-US" altLang="en-US"/>
              <a:t>Modularity</a:t>
            </a:r>
          </a:p>
          <a:p>
            <a:pPr lvl="1"/>
            <a:r>
              <a:rPr lang="en-US" altLang="en-US"/>
              <a:t>Convenience	</a:t>
            </a:r>
          </a:p>
          <a:p>
            <a:r>
              <a:rPr lang="en-US" altLang="en-US"/>
              <a:t>Cooperating processes need </a:t>
            </a:r>
            <a:r>
              <a:rPr lang="en-US" altLang="en-US" b="1">
                <a:solidFill>
                  <a:srgbClr val="3366FF"/>
                </a:solidFill>
              </a:rPr>
              <a:t>interprocess communication </a:t>
            </a:r>
            <a:r>
              <a:rPr lang="en-US" altLang="en-US"/>
              <a:t>(</a:t>
            </a:r>
            <a:r>
              <a:rPr lang="en-US" altLang="en-US" b="1">
                <a:solidFill>
                  <a:srgbClr val="3366FF"/>
                </a:solidFill>
              </a:rPr>
              <a:t>IPC</a:t>
            </a:r>
            <a:r>
              <a:rPr lang="en-US" altLang="en-US"/>
              <a:t>)</a:t>
            </a:r>
          </a:p>
          <a:p>
            <a:r>
              <a:rPr lang="en-US" altLang="en-US"/>
              <a:t>Two models of IPC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Shared memory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Message passing</a:t>
            </a:r>
          </a:p>
          <a:p>
            <a:pPr lvl="1"/>
            <a:endParaRPr lang="en-US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8256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Communications Models </a:t>
            </a:r>
          </a:p>
        </p:txBody>
      </p:sp>
      <p:pic>
        <p:nvPicPr>
          <p:cNvPr id="32771" name="Picture 1" descr="3_12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013" y="1725613"/>
            <a:ext cx="6100762" cy="4324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2" name="Rectangle 3"/>
          <p:cNvSpPr>
            <a:spLocks noChangeArrowheads="1"/>
          </p:cNvSpPr>
          <p:nvPr/>
        </p:nvSpPr>
        <p:spPr bwMode="auto">
          <a:xfrm>
            <a:off x="969963" y="1143000"/>
            <a:ext cx="63722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r>
              <a:rPr lang="en-US" alt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en-US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a) Message passing.  (b) shared memory. </a:t>
            </a:r>
            <a:r>
              <a:rPr lang="en-US" altLang="en-US">
                <a:cs typeface="Courier New" pitchFamily="49" charset="0"/>
              </a:rPr>
              <a:t>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1060450" y="277813"/>
            <a:ext cx="7626350" cy="576262"/>
          </a:xfrm>
        </p:spPr>
        <p:txBody>
          <a:bodyPr/>
          <a:lstStyle/>
          <a:p>
            <a:pPr eaLnBrk="1" hangingPunct="1"/>
            <a:r>
              <a:rPr lang="en-US" altLang="en-US"/>
              <a:t>Cooperating Processes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06450" y="1233488"/>
            <a:ext cx="7529513" cy="4530725"/>
          </a:xfrm>
        </p:spPr>
        <p:txBody>
          <a:bodyPr/>
          <a:lstStyle/>
          <a:p>
            <a:r>
              <a:rPr lang="en-US" altLang="en-US" b="1" i="1"/>
              <a:t>Independent</a:t>
            </a:r>
            <a:r>
              <a:rPr lang="en-US" altLang="en-US"/>
              <a:t> process cannot affect or be affected by the execution of another process</a:t>
            </a:r>
          </a:p>
          <a:p>
            <a:r>
              <a:rPr lang="en-US" altLang="en-US" b="1" i="1">
                <a:solidFill>
                  <a:srgbClr val="000000"/>
                </a:solidFill>
              </a:rPr>
              <a:t>Cooperating</a:t>
            </a:r>
            <a:r>
              <a:rPr lang="en-US" altLang="en-US"/>
              <a:t> process can affect or be affected by the execution of another process</a:t>
            </a:r>
          </a:p>
          <a:p>
            <a:r>
              <a:rPr lang="en-US" altLang="en-US"/>
              <a:t>Advantages of process cooperation</a:t>
            </a:r>
          </a:p>
          <a:p>
            <a:pPr lvl="1"/>
            <a:r>
              <a:rPr lang="en-US" altLang="en-US"/>
              <a:t>Information sharing </a:t>
            </a:r>
          </a:p>
          <a:p>
            <a:pPr lvl="1"/>
            <a:r>
              <a:rPr lang="en-US" altLang="en-US"/>
              <a:t>Computation speed-up</a:t>
            </a:r>
          </a:p>
          <a:p>
            <a:pPr lvl="1"/>
            <a:r>
              <a:rPr lang="en-US" altLang="en-US"/>
              <a:t>Modularity</a:t>
            </a:r>
          </a:p>
          <a:p>
            <a:pPr lvl="1"/>
            <a:r>
              <a:rPr lang="en-US" altLang="en-US"/>
              <a:t>Convenience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/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3" y="1185863"/>
            <a:ext cx="6667500" cy="4498975"/>
          </a:xfrm>
        </p:spPr>
        <p:txBody>
          <a:bodyPr/>
          <a:lstStyle/>
          <a:p>
            <a:r>
              <a:rPr lang="en-US" altLang="en-US"/>
              <a:t>Paradigm for cooperating processes, </a:t>
            </a:r>
            <a:r>
              <a:rPr lang="en-US" altLang="en-US" i="1"/>
              <a:t>producer</a:t>
            </a:r>
            <a:r>
              <a:rPr lang="en-US" altLang="en-US"/>
              <a:t> process produces information that is consumed by a </a:t>
            </a:r>
            <a:r>
              <a:rPr lang="en-US" altLang="en-US" i="1"/>
              <a:t>consumer</a:t>
            </a:r>
            <a:r>
              <a:rPr lang="en-US" altLang="en-US"/>
              <a:t> process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unbounded-buffer </a:t>
            </a:r>
            <a:r>
              <a:rPr lang="en-US" altLang="en-US"/>
              <a:t>places no practical limit on the size of the buffer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bounded-buffer </a:t>
            </a:r>
            <a:r>
              <a:rPr lang="en-US" altLang="en-US"/>
              <a:t>assumes that there is a fixed buffer size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046163" y="300038"/>
            <a:ext cx="8074025" cy="457200"/>
          </a:xfrm>
        </p:spPr>
        <p:txBody>
          <a:bodyPr/>
          <a:lstStyle/>
          <a:p>
            <a:pPr eaLnBrk="1" hangingPunct="1"/>
            <a:r>
              <a:rPr lang="en-US" altLang="en-US" sz="2800"/>
              <a:t>Bounded-Buffer – Shared-Memory Solution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95388" y="1203325"/>
            <a:ext cx="7131050" cy="4700588"/>
          </a:xfrm>
        </p:spPr>
        <p:txBody>
          <a:bodyPr/>
          <a:lstStyle/>
          <a:p>
            <a:r>
              <a:rPr lang="en-US" altLang="en-US" sz="1600"/>
              <a:t>Shared data</a:t>
            </a:r>
          </a:p>
          <a:p>
            <a:pPr marL="1598613" lvl="3">
              <a:buFontTx/>
              <a:buNone/>
            </a:pPr>
            <a:r>
              <a:rPr lang="en-US" altLang="en-US" sz="1600">
                <a:latin typeface="Courier New" pitchFamily="49" charset="0"/>
                <a:cs typeface="Courier New" pitchFamily="49" charset="0"/>
              </a:rPr>
              <a:t>#define BUFFER_SIZE 10</a:t>
            </a:r>
          </a:p>
          <a:p>
            <a:pPr marL="1598613" lvl="3">
              <a:buFontTx/>
              <a:buNone/>
            </a:pPr>
            <a:r>
              <a:rPr lang="en-US" altLang="en-US" sz="1600">
                <a:latin typeface="Courier New" pitchFamily="49" charset="0"/>
                <a:cs typeface="Courier New" pitchFamily="49" charset="0"/>
              </a:rPr>
              <a:t>typedef struct {</a:t>
            </a:r>
          </a:p>
          <a:p>
            <a:pPr marL="1598613" lvl="3">
              <a:buFontTx/>
              <a:buNone/>
            </a:pPr>
            <a:r>
              <a:rPr lang="en-US" altLang="en-US" sz="1600">
                <a:latin typeface="Courier New" pitchFamily="49" charset="0"/>
                <a:cs typeface="Courier New" pitchFamily="49" charset="0"/>
              </a:rPr>
              <a:t>	. . .</a:t>
            </a:r>
          </a:p>
          <a:p>
            <a:pPr marL="1598613" lvl="3">
              <a:buFontTx/>
              <a:buNone/>
            </a:pPr>
            <a:r>
              <a:rPr lang="en-US" altLang="en-US" sz="1600">
                <a:latin typeface="Courier New" pitchFamily="49" charset="0"/>
                <a:cs typeface="Courier New" pitchFamily="49" charset="0"/>
              </a:rPr>
              <a:t>} item;</a:t>
            </a:r>
          </a:p>
          <a:p>
            <a:pPr marL="1598613" lvl="3">
              <a:buFontTx/>
              <a:buNone/>
            </a:pPr>
            <a:endParaRPr lang="en-US" altLang="en-US" sz="1600">
              <a:latin typeface="Courier New" pitchFamily="49" charset="0"/>
              <a:cs typeface="Courier New" pitchFamily="49" charset="0"/>
            </a:endParaRPr>
          </a:p>
          <a:p>
            <a:pPr marL="1598613" lvl="3">
              <a:buFontTx/>
              <a:buNone/>
            </a:pPr>
            <a:r>
              <a:rPr lang="en-US" altLang="en-US" sz="1600">
                <a:latin typeface="Courier New" pitchFamily="49" charset="0"/>
                <a:cs typeface="Courier New" pitchFamily="49" charset="0"/>
              </a:rPr>
              <a:t>item buffer[BUFFER_SIZE];</a:t>
            </a:r>
          </a:p>
          <a:p>
            <a:pPr marL="1598613" lvl="3">
              <a:buFontTx/>
              <a:buNone/>
            </a:pPr>
            <a:r>
              <a:rPr lang="en-US" altLang="en-US" sz="1600">
                <a:latin typeface="Courier New" pitchFamily="49" charset="0"/>
                <a:cs typeface="Courier New" pitchFamily="49" charset="0"/>
              </a:rPr>
              <a:t>int in = 0;</a:t>
            </a:r>
          </a:p>
          <a:p>
            <a:pPr marL="1598613" lvl="3">
              <a:buFontTx/>
              <a:buNone/>
            </a:pPr>
            <a:r>
              <a:rPr lang="en-US" altLang="en-US" sz="1600">
                <a:latin typeface="Courier New" pitchFamily="49" charset="0"/>
                <a:cs typeface="Courier New" pitchFamily="49" charset="0"/>
              </a:rPr>
              <a:t>int out = 0;</a:t>
            </a:r>
          </a:p>
          <a:p>
            <a:pPr marL="1598613" lvl="3">
              <a:buFontTx/>
              <a:buNone/>
            </a:pPr>
            <a:endParaRPr lang="en-US" altLang="en-US" sz="1600"/>
          </a:p>
          <a:p>
            <a:r>
              <a:rPr lang="en-US" altLang="en-US" sz="1600"/>
              <a:t>Solution is correct, but can only use BUFFER_SIZE-1 elements</a:t>
            </a:r>
          </a:p>
          <a:p>
            <a:pPr marL="1598613" lvl="3">
              <a:buFontTx/>
              <a:buNone/>
            </a:pPr>
            <a:endParaRPr lang="en-US" altLang="en-US" sz="2000" b="1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1117600" y="203200"/>
            <a:ext cx="7569200" cy="576263"/>
          </a:xfrm>
        </p:spPr>
        <p:txBody>
          <a:bodyPr/>
          <a:lstStyle/>
          <a:p>
            <a:pPr eaLnBrk="1" hangingPunct="1"/>
            <a:r>
              <a:rPr lang="en-US" altLang="en-US"/>
              <a:t>Bounded-Buffer – Producer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3375" y="1014413"/>
            <a:ext cx="6940550" cy="4483100"/>
          </a:xfrm>
        </p:spPr>
        <p:txBody>
          <a:bodyPr/>
          <a:lstStyle/>
          <a:p>
            <a:pPr>
              <a:buFont typeface="Monotype Sorts" charset="0"/>
              <a:buNone/>
              <a:defRPr/>
            </a:pPr>
            <a:endParaRPr lang="en-US" sz="1600" dirty="0">
              <a:latin typeface="Monaco" charset="0"/>
              <a:ea typeface="ＭＳ Ｐゴシック" charset="0"/>
              <a:cs typeface="ＭＳ Ｐゴシック" charset="0"/>
            </a:endParaRP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item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next_produced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while (true) {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	/* produce an item in next produced */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	while (((in + 1) % BUFFER_SIZE) == out)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		; /* do nothing */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	buffer[in]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next_produced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	in = (in + 1) % BUFFER_SIZE;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</a:p>
          <a:p>
            <a:pPr>
              <a:buFont typeface="Monotype Sorts" charset="0"/>
              <a:buNone/>
              <a:defRPr/>
            </a:pPr>
            <a:endParaRPr lang="en-US" sz="2000" dirty="0">
              <a:latin typeface="Monaco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  <a:defRPr/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  <a:defRPr/>
            </a:pPr>
            <a:r>
              <a:rPr lang="en-US" sz="1400" dirty="0">
                <a:ea typeface="ＭＳ Ｐゴシック" charset="0"/>
                <a:cs typeface="ＭＳ Ｐゴシック" charset="0"/>
              </a:rPr>
              <a:t>	</a:t>
            </a:r>
          </a:p>
          <a:p>
            <a:pPr marL="7168674" lvl="4">
              <a:buFontTx/>
              <a:buNone/>
              <a:defRPr/>
            </a:pPr>
            <a:endParaRPr lang="en-US" sz="1100" dirty="0"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032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Bounded Buffer – Consumer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49413" y="1219200"/>
            <a:ext cx="6894512" cy="4411663"/>
          </a:xfrm>
        </p:spPr>
        <p:txBody>
          <a:bodyPr/>
          <a:lstStyle/>
          <a:p>
            <a:pPr marL="0" indent="0">
              <a:buFont typeface="Monotype Sorts" pitchFamily="-84" charset="2"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item </a:t>
            </a: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next_consumed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pPr marL="0" indent="0">
              <a:buFont typeface="Monotype Sorts" pitchFamily="-84" charset="2"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while (true) {</a:t>
            </a:r>
            <a:br>
              <a:rPr lang="en-US" alt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while (in == out) </a:t>
            </a:r>
          </a:p>
          <a:p>
            <a:pPr marL="0" indent="0">
              <a:buFont typeface="Monotype Sorts" pitchFamily="-84" charset="2"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	; /* do nothing */</a:t>
            </a:r>
            <a:br>
              <a:rPr lang="en-US" alt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next_consumed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= buffer[out]; </a:t>
            </a:r>
          </a:p>
          <a:p>
            <a:pPr marL="0" indent="0">
              <a:buFont typeface="Monotype Sorts" pitchFamily="-84" charset="2"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out = (out + 1) % BUFFER_SIZE;</a:t>
            </a:r>
            <a:br>
              <a:rPr lang="en-US" altLang="en-US" sz="1600" dirty="0">
                <a:latin typeface="Courier New" pitchFamily="49" charset="0"/>
                <a:cs typeface="Courier New" pitchFamily="49" charset="0"/>
              </a:rPr>
            </a:b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Monotype Sorts" pitchFamily="-84" charset="2"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/* consume the item in next consumed */ </a:t>
            </a:r>
          </a:p>
          <a:p>
            <a:pPr marL="0" indent="0">
              <a:buFont typeface="Monotype Sorts" pitchFamily="-84" charset="2"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} 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952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 Shared Memory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98525" y="1233488"/>
            <a:ext cx="6621463" cy="4530725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/>
              <a:t>An area of memory shared among the processes that wish to communicate</a:t>
            </a:r>
          </a:p>
          <a:p>
            <a:pPr>
              <a:lnSpc>
                <a:spcPct val="90000"/>
              </a:lnSpc>
            </a:pPr>
            <a:r>
              <a:rPr lang="en-US" altLang="en-US"/>
              <a:t>The communication is under the control of the users processes not the operating system.</a:t>
            </a:r>
          </a:p>
          <a:p>
            <a:pPr>
              <a:lnSpc>
                <a:spcPct val="90000"/>
              </a:lnSpc>
            </a:pPr>
            <a:r>
              <a:rPr lang="en-US" altLang="en-US"/>
              <a:t>Major issues is to provide mechanism that will allow the user processes to synchronize their actions when they access shared memory. </a:t>
            </a:r>
          </a:p>
          <a:p>
            <a:pPr>
              <a:lnSpc>
                <a:spcPct val="90000"/>
              </a:lnSpc>
            </a:pPr>
            <a:r>
              <a:rPr lang="en-US" altLang="en-US"/>
              <a:t>Synchronization is discussed in great details in Chapter 5.</a:t>
            </a:r>
          </a:p>
          <a:p>
            <a:pPr>
              <a:lnSpc>
                <a:spcPct val="90000"/>
              </a:lnSpc>
            </a:pPr>
            <a:endParaRPr lang="en-US" altLang="en-US"/>
          </a:p>
          <a:p>
            <a:pPr>
              <a:lnSpc>
                <a:spcPct val="90000"/>
              </a:lnSpc>
            </a:pPr>
            <a:endParaRPr lang="en-US" altLang="en-US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1270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Message Passing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201738"/>
            <a:ext cx="6934200" cy="4530725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/>
              <a:t>Mechanism for processes to communicate and to synchronize their actions</a:t>
            </a:r>
          </a:p>
          <a:p>
            <a:pPr>
              <a:lnSpc>
                <a:spcPct val="90000"/>
              </a:lnSpc>
            </a:pPr>
            <a:endParaRPr lang="en-US" altLang="en-US" sz="800"/>
          </a:p>
          <a:p>
            <a:pPr>
              <a:lnSpc>
                <a:spcPct val="90000"/>
              </a:lnSpc>
            </a:pPr>
            <a:r>
              <a:rPr lang="en-US" altLang="en-US"/>
              <a:t>Message system – processes communicate with each other without resorting to shared variables</a:t>
            </a:r>
          </a:p>
          <a:p>
            <a:pPr>
              <a:lnSpc>
                <a:spcPct val="90000"/>
              </a:lnSpc>
            </a:pPr>
            <a:endParaRPr lang="en-US" altLang="en-US" sz="800"/>
          </a:p>
          <a:p>
            <a:pPr>
              <a:lnSpc>
                <a:spcPct val="90000"/>
              </a:lnSpc>
            </a:pPr>
            <a:r>
              <a:rPr lang="en-US" altLang="en-US"/>
              <a:t>IPC facility provides two operations:</a:t>
            </a:r>
          </a:p>
          <a:p>
            <a:pPr lvl="1">
              <a:lnSpc>
                <a:spcPct val="90000"/>
              </a:lnSpc>
            </a:pPr>
            <a:r>
              <a:rPr lang="en-US" altLang="en-US" b="1">
                <a:latin typeface="Courier New" pitchFamily="49" charset="0"/>
                <a:cs typeface="Courier New" pitchFamily="49" charset="0"/>
              </a:rPr>
              <a:t>send</a:t>
            </a:r>
            <a:r>
              <a:rPr lang="en-US" altLang="en-US"/>
              <a:t>(</a:t>
            </a:r>
            <a:r>
              <a:rPr lang="en-US" altLang="en-US" i="1"/>
              <a:t>message</a:t>
            </a:r>
            <a:r>
              <a:rPr lang="en-US" altLang="en-US"/>
              <a:t>)</a:t>
            </a:r>
          </a:p>
          <a:p>
            <a:pPr lvl="1">
              <a:lnSpc>
                <a:spcPct val="90000"/>
              </a:lnSpc>
            </a:pPr>
            <a:r>
              <a:rPr lang="en-US" altLang="en-US" b="1">
                <a:latin typeface="Courier New" pitchFamily="49" charset="0"/>
                <a:cs typeface="Courier New" pitchFamily="49" charset="0"/>
              </a:rPr>
              <a:t>receive</a:t>
            </a:r>
            <a:r>
              <a:rPr lang="en-US" altLang="en-US"/>
              <a:t>(</a:t>
            </a:r>
            <a:r>
              <a:rPr lang="en-US" altLang="en-US" i="1"/>
              <a:t>message</a:t>
            </a:r>
            <a:r>
              <a:rPr lang="en-US" altLang="en-US"/>
              <a:t>)</a:t>
            </a:r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800"/>
          </a:p>
          <a:p>
            <a:pPr>
              <a:lnSpc>
                <a:spcPct val="90000"/>
              </a:lnSpc>
            </a:pPr>
            <a:r>
              <a:rPr lang="en-US" altLang="en-US"/>
              <a:t>The</a:t>
            </a:r>
            <a:r>
              <a:rPr lang="en-US" altLang="en-US" i="1"/>
              <a:t> message</a:t>
            </a:r>
            <a:r>
              <a:rPr lang="en-US" altLang="en-US"/>
              <a:t> size is either fixed or variable</a:t>
            </a:r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996950" y="1079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Message Passing (Cont.)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1700" y="1016000"/>
            <a:ext cx="7694613" cy="4530725"/>
          </a:xfrm>
        </p:spPr>
        <p:txBody>
          <a:bodyPr/>
          <a:lstStyle/>
          <a:p>
            <a:pPr lvl="1">
              <a:lnSpc>
                <a:spcPct val="90000"/>
              </a:lnSpc>
            </a:pPr>
            <a:endParaRPr lang="en-US" altLang="en-US" sz="800"/>
          </a:p>
          <a:p>
            <a:pPr>
              <a:lnSpc>
                <a:spcPct val="90000"/>
              </a:lnSpc>
            </a:pPr>
            <a:r>
              <a:rPr lang="en-US" altLang="en-US"/>
              <a:t>If processes </a:t>
            </a:r>
            <a:r>
              <a:rPr lang="en-US" altLang="en-US" i="1"/>
              <a:t>P</a:t>
            </a:r>
            <a:r>
              <a:rPr lang="en-US" altLang="en-US"/>
              <a:t> and </a:t>
            </a:r>
            <a:r>
              <a:rPr lang="en-US" altLang="en-US" i="1"/>
              <a:t>Q</a:t>
            </a:r>
            <a:r>
              <a:rPr lang="en-US" altLang="en-US"/>
              <a:t> wish to communicate, they need to:</a:t>
            </a:r>
          </a:p>
          <a:p>
            <a:pPr lvl="1">
              <a:lnSpc>
                <a:spcPct val="90000"/>
              </a:lnSpc>
            </a:pPr>
            <a:r>
              <a:rPr lang="en-US" altLang="en-US"/>
              <a:t>Establish a </a:t>
            </a:r>
            <a:r>
              <a:rPr lang="en-US" altLang="en-US" b="1" i="1"/>
              <a:t>communication</a:t>
            </a:r>
            <a:r>
              <a:rPr lang="en-US" altLang="en-US" b="1"/>
              <a:t> </a:t>
            </a:r>
            <a:r>
              <a:rPr lang="en-US" altLang="en-US" b="1" i="1"/>
              <a:t>link</a:t>
            </a:r>
            <a:r>
              <a:rPr lang="en-US" altLang="en-US" b="1"/>
              <a:t> </a:t>
            </a:r>
            <a:r>
              <a:rPr lang="en-US" altLang="en-US"/>
              <a:t>between them</a:t>
            </a:r>
          </a:p>
          <a:p>
            <a:pPr lvl="1">
              <a:lnSpc>
                <a:spcPct val="90000"/>
              </a:lnSpc>
            </a:pPr>
            <a:r>
              <a:rPr lang="en-US" altLang="en-US"/>
              <a:t>Exchange messages via send/receive</a:t>
            </a:r>
          </a:p>
          <a:p>
            <a:pPr>
              <a:lnSpc>
                <a:spcPct val="90000"/>
              </a:lnSpc>
            </a:pPr>
            <a:r>
              <a:rPr lang="en-US" altLang="en-US"/>
              <a:t>Implementation issues:</a:t>
            </a:r>
          </a:p>
          <a:p>
            <a:pPr lvl="1"/>
            <a:r>
              <a:rPr lang="en-US" altLang="en-US"/>
              <a:t>How are links established?</a:t>
            </a:r>
          </a:p>
          <a:p>
            <a:pPr lvl="1"/>
            <a:r>
              <a:rPr lang="en-US" altLang="en-US"/>
              <a:t>Can a link be associated with more than two processes?</a:t>
            </a:r>
          </a:p>
          <a:p>
            <a:pPr lvl="1"/>
            <a:r>
              <a:rPr lang="en-US" altLang="en-US"/>
              <a:t>How many links can there be between every pair of communicating processes?</a:t>
            </a:r>
          </a:p>
          <a:p>
            <a:pPr lvl="1"/>
            <a:r>
              <a:rPr lang="en-US" altLang="en-US"/>
              <a:t>What is the capacity of a link?</a:t>
            </a:r>
          </a:p>
          <a:p>
            <a:pPr lvl="1"/>
            <a:r>
              <a:rPr lang="en-US" altLang="en-US"/>
              <a:t>Is the size of a message that the link can accommodate fixed or variable?</a:t>
            </a:r>
          </a:p>
          <a:p>
            <a:pPr lvl="1"/>
            <a:r>
              <a:rPr lang="en-US" altLang="en-US"/>
              <a:t>Is a link unidirectional or bi-directional?</a:t>
            </a:r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778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Direct Communication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138238"/>
            <a:ext cx="7635875" cy="4530725"/>
          </a:xfrm>
        </p:spPr>
        <p:txBody>
          <a:bodyPr/>
          <a:lstStyle/>
          <a:p>
            <a:r>
              <a:rPr lang="en-US" altLang="en-US"/>
              <a:t>Processes must name each other explicitly:</a:t>
            </a:r>
          </a:p>
          <a:p>
            <a:pPr lvl="1"/>
            <a:r>
              <a:rPr lang="en-US" altLang="en-US" b="1">
                <a:latin typeface="Courier New" pitchFamily="49" charset="0"/>
                <a:cs typeface="Courier New" pitchFamily="49" charset="0"/>
              </a:rPr>
              <a:t>send</a:t>
            </a:r>
            <a:r>
              <a:rPr lang="en-US" altLang="en-US"/>
              <a:t> (</a:t>
            </a:r>
            <a:r>
              <a:rPr lang="en-US" altLang="en-US" i="1"/>
              <a:t>P, message</a:t>
            </a:r>
            <a:r>
              <a:rPr lang="en-US" altLang="en-US"/>
              <a:t>) – send a message to process P</a:t>
            </a:r>
          </a:p>
          <a:p>
            <a:pPr lvl="1"/>
            <a:r>
              <a:rPr lang="en-US" altLang="en-US" b="1">
                <a:latin typeface="Courier New" pitchFamily="49" charset="0"/>
                <a:cs typeface="Courier New" pitchFamily="49" charset="0"/>
              </a:rPr>
              <a:t>receive</a:t>
            </a:r>
            <a:r>
              <a:rPr lang="en-US" altLang="en-US"/>
              <a:t>(</a:t>
            </a:r>
            <a:r>
              <a:rPr lang="en-US" altLang="en-US" i="1"/>
              <a:t>Q, message</a:t>
            </a:r>
            <a:r>
              <a:rPr lang="en-US" altLang="en-US"/>
              <a:t>) – receive a message from process Q</a:t>
            </a:r>
          </a:p>
          <a:p>
            <a:r>
              <a:rPr lang="en-US" altLang="en-US"/>
              <a:t>Properties of communication link</a:t>
            </a:r>
          </a:p>
          <a:p>
            <a:pPr lvl="1"/>
            <a:r>
              <a:rPr lang="en-US" altLang="en-US"/>
              <a:t>Links are established automatically</a:t>
            </a:r>
          </a:p>
          <a:p>
            <a:pPr lvl="1"/>
            <a:r>
              <a:rPr lang="en-US" altLang="en-US"/>
              <a:t>A link is associated with exactly one pair of communicating processes</a:t>
            </a:r>
          </a:p>
          <a:p>
            <a:pPr lvl="1"/>
            <a:r>
              <a:rPr lang="en-US" altLang="en-US"/>
              <a:t>Between each pair there exists exactly one link</a:t>
            </a:r>
          </a:p>
          <a:p>
            <a:pPr lvl="1"/>
            <a:r>
              <a:rPr lang="en-US" altLang="en-US"/>
              <a:t>The link may be unidirectional, but is usually bi-directional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68275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Synchronization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863" y="1050925"/>
            <a:ext cx="7267575" cy="4984750"/>
          </a:xfrm>
        </p:spPr>
        <p:txBody>
          <a:bodyPr/>
          <a:lstStyle/>
          <a:p>
            <a:pPr marL="379413" indent="-379413">
              <a:defRPr/>
            </a:pPr>
            <a:r>
              <a:rPr lang="en-US" dirty="0"/>
              <a:t>Message passing may be either blocking or non-blocking</a:t>
            </a:r>
          </a:p>
          <a:p>
            <a:pPr marL="379413" indent="-379413">
              <a:defRPr/>
            </a:pPr>
            <a:r>
              <a:rPr lang="en-US" b="1" dirty="0">
                <a:solidFill>
                  <a:srgbClr val="3366FF"/>
                </a:solidFill>
              </a:rPr>
              <a:t>Blocking</a:t>
            </a:r>
            <a:r>
              <a:rPr lang="en-US" dirty="0"/>
              <a:t> is considered </a:t>
            </a:r>
            <a:r>
              <a:rPr lang="en-US" b="1" dirty="0">
                <a:solidFill>
                  <a:srgbClr val="3366FF"/>
                </a:solidFill>
              </a:rPr>
              <a:t>synchronous</a:t>
            </a:r>
          </a:p>
          <a:p>
            <a:pPr marL="798513" lvl="1" indent="-341313">
              <a:defRPr/>
            </a:pPr>
            <a:r>
              <a:rPr lang="en-US" b="1" dirty="0"/>
              <a:t>Blocking send </a:t>
            </a:r>
            <a:r>
              <a:rPr lang="en-US" dirty="0"/>
              <a:t>--</a:t>
            </a:r>
            <a:r>
              <a:rPr lang="en-US" b="1" dirty="0"/>
              <a:t> </a:t>
            </a:r>
            <a:r>
              <a:rPr lang="en-US" dirty="0"/>
              <a:t>the sender is blocked until the message is received</a:t>
            </a:r>
          </a:p>
          <a:p>
            <a:pPr marL="798513" lvl="1" indent="-341313">
              <a:defRPr/>
            </a:pPr>
            <a:r>
              <a:rPr lang="en-US" b="1" dirty="0"/>
              <a:t>Blocking receive </a:t>
            </a:r>
            <a:r>
              <a:rPr lang="en-US" dirty="0"/>
              <a:t>--</a:t>
            </a:r>
            <a:r>
              <a:rPr lang="en-US" b="1" dirty="0"/>
              <a:t> </a:t>
            </a:r>
            <a:r>
              <a:rPr lang="en-US" dirty="0"/>
              <a:t>the receiver is  blocked until a message is available</a:t>
            </a:r>
          </a:p>
          <a:p>
            <a:pPr marL="379413" indent="-379413">
              <a:defRPr/>
            </a:pPr>
            <a:r>
              <a:rPr lang="en-US" b="1" dirty="0">
                <a:solidFill>
                  <a:srgbClr val="3366FF"/>
                </a:solidFill>
              </a:rPr>
              <a:t>Non-blocking</a:t>
            </a:r>
            <a:r>
              <a:rPr lang="en-US" dirty="0"/>
              <a:t> is considered </a:t>
            </a:r>
            <a:r>
              <a:rPr lang="en-US" b="1" dirty="0">
                <a:solidFill>
                  <a:srgbClr val="3366FF"/>
                </a:solidFill>
              </a:rPr>
              <a:t>asynchronous</a:t>
            </a:r>
          </a:p>
          <a:p>
            <a:pPr marL="798513" lvl="1" indent="-341313">
              <a:defRPr/>
            </a:pPr>
            <a:r>
              <a:rPr lang="en-US" b="1" dirty="0"/>
              <a:t>Non-blocking send</a:t>
            </a:r>
            <a:r>
              <a:rPr lang="en-US" dirty="0"/>
              <a:t> -- the sender sends the message and continue</a:t>
            </a:r>
          </a:p>
          <a:p>
            <a:pPr marL="798513" lvl="1" indent="-341313">
              <a:defRPr/>
            </a:pPr>
            <a:r>
              <a:rPr lang="en-US" b="1" dirty="0"/>
              <a:t>Non-blocking receive</a:t>
            </a:r>
            <a:r>
              <a:rPr lang="en-US" dirty="0"/>
              <a:t> -- the receiver receives:</a:t>
            </a:r>
          </a:p>
          <a:p>
            <a:pPr marL="1141413" lvl="2" indent="-341313">
              <a:buFont typeface="Monotype Sorts" pitchFamily="-84" charset="2"/>
              <a:buChar char="l"/>
              <a:defRPr/>
            </a:pPr>
            <a:r>
              <a:rPr lang="en-US" dirty="0"/>
              <a:t> A valid message,  or </a:t>
            </a:r>
          </a:p>
          <a:p>
            <a:pPr marL="1141413" lvl="2" indent="-341313">
              <a:buFont typeface="Monotype Sorts" pitchFamily="-84" charset="2"/>
              <a:buChar char="l"/>
              <a:defRPr/>
            </a:pPr>
            <a:r>
              <a:rPr lang="en-US" dirty="0"/>
              <a:t> Null message</a:t>
            </a:r>
          </a:p>
          <a:p>
            <a:pPr marL="398939"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Different combinations possible</a:t>
            </a:r>
          </a:p>
          <a:p>
            <a:pPr marL="798989"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If both send and receive are blocking, we have a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  <a:cs typeface="ＭＳ Ｐゴシック" charset="0"/>
              </a:rPr>
              <a:t>rendezvous</a:t>
            </a:r>
          </a:p>
          <a:p>
            <a:pPr marL="398463" indent="-341313">
              <a:defRPr/>
            </a:pPr>
            <a:endParaRPr lang="en-US" dirty="0"/>
          </a:p>
          <a:p>
            <a:pPr marL="1141413" lvl="2" indent="-341313">
              <a:buFont typeface="Monotype Sorts" pitchFamily="-84" charset="2"/>
              <a:buChar char="l"/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032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Synchronization (Cont.)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1063" y="1203325"/>
            <a:ext cx="6599237" cy="534988"/>
          </a:xfrm>
        </p:spPr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Producer-consumer becomes trivial</a:t>
            </a:r>
            <a:br>
              <a:rPr lang="en-US" dirty="0">
                <a:ea typeface="ＭＳ Ｐゴシック" charset="0"/>
              </a:rPr>
            </a:br>
            <a:endParaRPr lang="en-US" dirty="0">
              <a:ea typeface="ＭＳ Ｐゴシック" charset="0"/>
            </a:endParaRP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/>
                <a:ea typeface="ＭＳ Ｐゴシック" charset="-128"/>
                <a:cs typeface="Courier New"/>
              </a:rPr>
              <a:t>     message </a:t>
            </a:r>
            <a:r>
              <a:rPr lang="en-US" sz="1600" dirty="0" err="1">
                <a:latin typeface="Courier New"/>
                <a:ea typeface="ＭＳ Ｐゴシック" charset="-128"/>
                <a:cs typeface="Courier New"/>
              </a:rPr>
              <a:t>next_produced</a:t>
            </a:r>
            <a:r>
              <a:rPr lang="en-US" sz="1600" dirty="0">
                <a:latin typeface="Courier New"/>
                <a:ea typeface="ＭＳ Ｐゴシック" charset="-128"/>
                <a:cs typeface="Courier New"/>
              </a:rPr>
              <a:t>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/>
                <a:ea typeface="ＭＳ Ｐゴシック" charset="-128"/>
                <a:cs typeface="Courier New"/>
              </a:rPr>
              <a:t>     while (true) {</a:t>
            </a:r>
            <a:br>
              <a:rPr lang="en-US" sz="1600" dirty="0">
                <a:latin typeface="Courier New"/>
                <a:ea typeface="ＭＳ Ｐゴシック" charset="-128"/>
                <a:cs typeface="Courier New"/>
              </a:rPr>
            </a:br>
            <a:r>
              <a:rPr lang="en-US" sz="1600" dirty="0">
                <a:latin typeface="Courier New"/>
                <a:ea typeface="ＭＳ Ｐゴシック" charset="-128"/>
                <a:cs typeface="Courier New"/>
              </a:rPr>
              <a:t>        /* produce an item in next produced */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/>
                <a:ea typeface="ＭＳ Ｐゴシック" charset="-128"/>
                <a:cs typeface="Courier New"/>
              </a:rPr>
              <a:t>        send(</a:t>
            </a:r>
            <a:r>
              <a:rPr lang="en-US" sz="1600" dirty="0" err="1">
                <a:latin typeface="Courier New"/>
                <a:ea typeface="ＭＳ Ｐゴシック" charset="-128"/>
                <a:cs typeface="Courier New"/>
              </a:rPr>
              <a:t>next_produced</a:t>
            </a:r>
            <a:r>
              <a:rPr lang="en-US" sz="1600" dirty="0">
                <a:latin typeface="Courier New"/>
                <a:ea typeface="ＭＳ Ｐゴシック" charset="-128"/>
                <a:cs typeface="Courier New"/>
              </a:rPr>
              <a:t>);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1600" dirty="0">
                <a:latin typeface="Courier New"/>
                <a:ea typeface="ＭＳ Ｐゴシック" charset="-128"/>
                <a:cs typeface="Courier New"/>
              </a:rPr>
              <a:t>     } </a:t>
            </a:r>
          </a:p>
        </p:txBody>
      </p:sp>
      <p:sp>
        <p:nvSpPr>
          <p:cNvPr id="48132" name="TextBox 1"/>
          <p:cNvSpPr txBox="1">
            <a:spLocks noChangeArrowheads="1"/>
          </p:cNvSpPr>
          <p:nvPr/>
        </p:nvSpPr>
        <p:spPr bwMode="auto">
          <a:xfrm>
            <a:off x="1558925" y="3598863"/>
            <a:ext cx="6370638" cy="13265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4008" tIns="32004" rIns="64008" bIns="32004"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r>
              <a:rPr kumimoji="1" lang="en-US" altLang="en-US" sz="1700" dirty="0">
                <a:latin typeface="Courier New" pitchFamily="49" charset="0"/>
                <a:cs typeface="Courier New" pitchFamily="49" charset="0"/>
              </a:rPr>
              <a:t>m</a:t>
            </a:r>
            <a:r>
              <a:rPr kumimoji="1" lang="en-US" altLang="en-US" sz="1600" dirty="0">
                <a:latin typeface="Courier New" pitchFamily="49" charset="0"/>
                <a:cs typeface="Courier New" pitchFamily="49" charset="0"/>
              </a:rPr>
              <a:t>essage </a:t>
            </a:r>
            <a:r>
              <a:rPr kumimoji="1" lang="en-US" altLang="en-US" sz="1600" dirty="0" err="1">
                <a:latin typeface="Courier New" pitchFamily="49" charset="0"/>
                <a:cs typeface="Courier New" pitchFamily="49" charset="0"/>
              </a:rPr>
              <a:t>next_consumed</a:t>
            </a:r>
            <a:r>
              <a:rPr kumimoji="1" lang="en-US" alt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kumimoji="1" lang="en-US" altLang="en-US" sz="1600" dirty="0">
                <a:latin typeface="Courier New" pitchFamily="49" charset="0"/>
                <a:cs typeface="Courier New" pitchFamily="49" charset="0"/>
              </a:rPr>
              <a:t>while (true) {</a:t>
            </a:r>
          </a:p>
          <a:p>
            <a:r>
              <a:rPr kumimoji="1" lang="en-US" altLang="en-US" sz="1600" dirty="0">
                <a:latin typeface="Courier New" pitchFamily="49" charset="0"/>
                <a:cs typeface="Courier New" pitchFamily="49" charset="0"/>
              </a:rPr>
              <a:t>   receive(</a:t>
            </a:r>
            <a:r>
              <a:rPr kumimoji="1" lang="en-US" altLang="en-US" sz="1600" dirty="0" err="1">
                <a:latin typeface="Courier New" pitchFamily="49" charset="0"/>
                <a:cs typeface="Courier New" pitchFamily="49" charset="0"/>
              </a:rPr>
              <a:t>next_consumed</a:t>
            </a:r>
            <a:r>
              <a:rPr kumimoji="1" lang="en-US" alt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kumimoji="1" lang="en-US" altLang="en-US" sz="1600" dirty="0">
                <a:latin typeface="Courier New" pitchFamily="49" charset="0"/>
                <a:cs typeface="Courier New" pitchFamily="49" charset="0"/>
              </a:rPr>
              <a:t>   /* consume the item in next consumed */</a:t>
            </a:r>
          </a:p>
          <a:p>
            <a:r>
              <a:rPr kumimoji="1" lang="en-US" altLang="en-US" sz="17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28700" y="123825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800"/>
              <a:t>Communications in Client-Server Systems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9000" y="1233488"/>
            <a:ext cx="6794500" cy="4530725"/>
          </a:xfrm>
        </p:spPr>
        <p:txBody>
          <a:bodyPr/>
          <a:lstStyle/>
          <a:p>
            <a:r>
              <a:rPr lang="en-US" altLang="en-US"/>
              <a:t>Sockets</a:t>
            </a:r>
          </a:p>
          <a:p>
            <a:r>
              <a:rPr lang="en-US" altLang="en-US"/>
              <a:t>Remote Procedure Calls</a:t>
            </a:r>
          </a:p>
          <a:p>
            <a:r>
              <a:rPr lang="en-US" altLang="en-US"/>
              <a:t>Pipes</a:t>
            </a:r>
          </a:p>
          <a:p>
            <a:r>
              <a:rPr lang="en-US" altLang="en-US"/>
              <a:t>Remote Method Invocation (Java)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Sockets</a:t>
            </a:r>
          </a:p>
        </p:txBody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2325" y="1154113"/>
            <a:ext cx="6977063" cy="4530725"/>
          </a:xfrm>
        </p:spPr>
        <p:txBody>
          <a:bodyPr/>
          <a:lstStyle/>
          <a:p>
            <a:r>
              <a:rPr lang="en-US" altLang="en-US"/>
              <a:t>A </a:t>
            </a:r>
            <a:r>
              <a:rPr lang="en-US" altLang="en-US" b="1">
                <a:solidFill>
                  <a:srgbClr val="0000FF"/>
                </a:solidFill>
              </a:rPr>
              <a:t>socket </a:t>
            </a:r>
            <a:r>
              <a:rPr lang="en-US" altLang="en-US"/>
              <a:t>is defined as an endpoint for communication</a:t>
            </a:r>
          </a:p>
          <a:p>
            <a:endParaRPr lang="en-US" altLang="en-US" sz="800"/>
          </a:p>
          <a:p>
            <a:r>
              <a:rPr lang="en-US" altLang="en-US"/>
              <a:t>Concatenation of IP address and </a:t>
            </a:r>
            <a:r>
              <a:rPr lang="en-US" altLang="en-US" b="1">
                <a:solidFill>
                  <a:srgbClr val="0000FF"/>
                </a:solidFill>
              </a:rPr>
              <a:t>port</a:t>
            </a:r>
            <a:r>
              <a:rPr lang="en-US" altLang="en-US"/>
              <a:t> – a number included at start of message packet to differentiate network services on a host</a:t>
            </a:r>
          </a:p>
          <a:p>
            <a:endParaRPr lang="en-US" altLang="en-US" sz="800"/>
          </a:p>
          <a:p>
            <a:r>
              <a:rPr lang="en-US" altLang="en-US"/>
              <a:t>The socket </a:t>
            </a:r>
            <a:r>
              <a:rPr lang="en-US" altLang="en-US" b="1"/>
              <a:t>161.25.19.8:1625</a:t>
            </a:r>
            <a:r>
              <a:rPr lang="en-US" altLang="en-US"/>
              <a:t> refers to port </a:t>
            </a:r>
            <a:r>
              <a:rPr lang="en-US" altLang="en-US" b="1"/>
              <a:t>1625</a:t>
            </a:r>
            <a:r>
              <a:rPr lang="en-US" altLang="en-US"/>
              <a:t> on host </a:t>
            </a:r>
            <a:r>
              <a:rPr lang="en-US" altLang="en-US" b="1"/>
              <a:t>161.25.19.8</a:t>
            </a:r>
          </a:p>
          <a:p>
            <a:endParaRPr lang="en-US" altLang="en-US" sz="800" b="1"/>
          </a:p>
          <a:p>
            <a:r>
              <a:rPr lang="en-US" altLang="en-US"/>
              <a:t>Communication consists between a pair of sockets</a:t>
            </a:r>
          </a:p>
          <a:p>
            <a:endParaRPr lang="en-US" altLang="en-US" sz="800"/>
          </a:p>
          <a:p>
            <a:r>
              <a:rPr lang="en-US" altLang="en-US"/>
              <a:t>All ports below 1024 are </a:t>
            </a:r>
            <a:r>
              <a:rPr lang="en-US" altLang="en-US" b="1" i="1"/>
              <a:t>well known</a:t>
            </a:r>
            <a:r>
              <a:rPr lang="en-US" altLang="en-US"/>
              <a:t>, used for standard services</a:t>
            </a:r>
          </a:p>
          <a:p>
            <a:endParaRPr lang="en-US" altLang="en-US" sz="800"/>
          </a:p>
          <a:p>
            <a:r>
              <a:rPr lang="en-US" altLang="en-US"/>
              <a:t>Special IP address 127.0.0.1 (</a:t>
            </a:r>
            <a:r>
              <a:rPr lang="en-US" altLang="en-US" b="1">
                <a:solidFill>
                  <a:srgbClr val="0000FF"/>
                </a:solidFill>
              </a:rPr>
              <a:t>loopback</a:t>
            </a:r>
            <a:r>
              <a:rPr lang="en-US" altLang="en-US"/>
              <a:t>) to refer to system on which process is running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757238" y="1524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Socket Communication</a:t>
            </a:r>
          </a:p>
        </p:txBody>
      </p:sp>
      <p:pic>
        <p:nvPicPr>
          <p:cNvPr id="5837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2763" y="1166813"/>
            <a:ext cx="5794375" cy="39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/>
              <a:t>Sockets in Java</a:t>
            </a:r>
          </a:p>
        </p:txBody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06450" y="1233488"/>
            <a:ext cx="3419475" cy="4530725"/>
          </a:xfrm>
        </p:spPr>
        <p:txBody>
          <a:bodyPr/>
          <a:lstStyle/>
          <a:p>
            <a:r>
              <a:rPr lang="en-US" altLang="en-US"/>
              <a:t>Three types of sockets</a:t>
            </a:r>
          </a:p>
          <a:p>
            <a:pPr lvl="1"/>
            <a:r>
              <a:rPr lang="en-US" altLang="en-US" b="1">
                <a:solidFill>
                  <a:srgbClr val="0000FF"/>
                </a:solidFill>
              </a:rPr>
              <a:t>Connection-oriented </a:t>
            </a:r>
            <a:r>
              <a:rPr lang="en-US" altLang="en-US"/>
              <a:t>(</a:t>
            </a:r>
            <a:r>
              <a:rPr lang="en-US" altLang="en-US" b="1">
                <a:solidFill>
                  <a:srgbClr val="0000FF"/>
                </a:solidFill>
              </a:rPr>
              <a:t>TCP</a:t>
            </a:r>
            <a:r>
              <a:rPr lang="en-US" altLang="en-US"/>
              <a:t>)</a:t>
            </a:r>
          </a:p>
          <a:p>
            <a:pPr lvl="1"/>
            <a:r>
              <a:rPr lang="en-US" altLang="en-US" b="1">
                <a:solidFill>
                  <a:srgbClr val="0000FF"/>
                </a:solidFill>
              </a:rPr>
              <a:t>Connectionless</a:t>
            </a:r>
            <a:r>
              <a:rPr lang="en-US" altLang="en-US"/>
              <a:t> (</a:t>
            </a:r>
            <a:r>
              <a:rPr lang="en-US" altLang="en-US" b="1">
                <a:solidFill>
                  <a:srgbClr val="0000FF"/>
                </a:solidFill>
              </a:rPr>
              <a:t>UDP</a:t>
            </a:r>
            <a:r>
              <a:rPr lang="en-US" altLang="en-US"/>
              <a:t>)</a:t>
            </a:r>
          </a:p>
          <a:p>
            <a:pPr lvl="1"/>
            <a:r>
              <a:rPr lang="en-US" altLang="en-US" b="1">
                <a:latin typeface="Courier New" pitchFamily="49" charset="0"/>
                <a:cs typeface="Courier New" pitchFamily="49" charset="0"/>
              </a:rPr>
              <a:t>MulticastSocket</a:t>
            </a:r>
            <a:r>
              <a:rPr lang="en-US" altLang="en-US"/>
              <a:t> class– data can be sent to multiple recipients</a:t>
            </a:r>
          </a:p>
          <a:p>
            <a:pPr>
              <a:buFont typeface="Monotype Sorts" pitchFamily="-84" charset="2"/>
              <a:buNone/>
            </a:pPr>
            <a:endParaRPr lang="en-US" altLang="en-US"/>
          </a:p>
          <a:p>
            <a:r>
              <a:rPr lang="en-US" altLang="en-US"/>
              <a:t>Consider this “Date” server:</a:t>
            </a:r>
          </a:p>
          <a:p>
            <a:pPr lvl="1"/>
            <a:endParaRPr lang="en-US" altLang="en-US"/>
          </a:p>
          <a:p>
            <a:endParaRPr lang="en-US" altLang="en-US"/>
          </a:p>
        </p:txBody>
      </p:sp>
      <p:pic>
        <p:nvPicPr>
          <p:cNvPr id="59396" name="Picture 1" descr="Screen Shot 2012-12-04 at 1.11.28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7813" y="1125538"/>
            <a:ext cx="4967287" cy="5097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End of Chapter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s-8">
  <a:themeElements>
    <a:clrScheme name="os-8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os-8">
      <a:majorFont>
        <a:latin typeface="Arial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Verdana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Verdana" charset="0"/>
          </a:defRPr>
        </a:defPPr>
      </a:lstStyle>
    </a:lnDef>
  </a:objectDefaults>
  <a:extraClrSchemeLst>
    <a:extraClrScheme>
      <a:clrScheme name="os-8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s-8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s-8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OS8</Template>
  <TotalTime>17507</TotalTime>
  <Words>2266</Words>
  <Application>Microsoft Office PowerPoint</Application>
  <PresentationFormat>On-screen Show (4:3)</PresentationFormat>
  <Paragraphs>335</Paragraphs>
  <Slides>45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8" baseType="lpstr">
      <vt:lpstr>MS PGothic</vt:lpstr>
      <vt:lpstr>Arial</vt:lpstr>
      <vt:lpstr>Arial Narrow</vt:lpstr>
      <vt:lpstr>Courier New</vt:lpstr>
      <vt:lpstr>Helvetica</vt:lpstr>
      <vt:lpstr>Monaco</vt:lpstr>
      <vt:lpstr>Monotype Sorts</vt:lpstr>
      <vt:lpstr>Symbol</vt:lpstr>
      <vt:lpstr>Times New Roman</vt:lpstr>
      <vt:lpstr>Verdana</vt:lpstr>
      <vt:lpstr>Webdings</vt:lpstr>
      <vt:lpstr>Wingdings</vt:lpstr>
      <vt:lpstr>os-8</vt:lpstr>
      <vt:lpstr>Chapter 3:  Processes</vt:lpstr>
      <vt:lpstr>Chapter 3:  Processes</vt:lpstr>
      <vt:lpstr>Process Concept</vt:lpstr>
      <vt:lpstr>Process Concept (Cont.)</vt:lpstr>
      <vt:lpstr>Process in Memory</vt:lpstr>
      <vt:lpstr>Process State</vt:lpstr>
      <vt:lpstr>Diagram of Process State</vt:lpstr>
      <vt:lpstr> Seven State System - Stallings</vt:lpstr>
      <vt:lpstr>Process Control Block (PCB)</vt:lpstr>
      <vt:lpstr>CPU Switch From Process to Process</vt:lpstr>
      <vt:lpstr>Threads</vt:lpstr>
      <vt:lpstr>Process Representation in Linux</vt:lpstr>
      <vt:lpstr>Process Scheduling</vt:lpstr>
      <vt:lpstr>Ready Queue And Various I/O Device Queues</vt:lpstr>
      <vt:lpstr>Representation of Process Scheduling</vt:lpstr>
      <vt:lpstr>Schedulers</vt:lpstr>
      <vt:lpstr>Addition of Medium Term Scheduling</vt:lpstr>
      <vt:lpstr>Short, Medium, Long Term Schedulers</vt:lpstr>
      <vt:lpstr>Context Switch</vt:lpstr>
      <vt:lpstr>Operations on Processes</vt:lpstr>
      <vt:lpstr>Process Creation</vt:lpstr>
      <vt:lpstr>A Tree of Processes in Linux</vt:lpstr>
      <vt:lpstr>Process Creation (Cont.)</vt:lpstr>
      <vt:lpstr>C Program Forking Separate Process</vt:lpstr>
      <vt:lpstr>Process Termination</vt:lpstr>
      <vt:lpstr>Process Termination</vt:lpstr>
      <vt:lpstr>Multiprocess Architecture – Chrome Browser</vt:lpstr>
      <vt:lpstr>Interprocess Communication</vt:lpstr>
      <vt:lpstr>Communications Models </vt:lpstr>
      <vt:lpstr>Cooperating Processes</vt:lpstr>
      <vt:lpstr>Producer-Consumer Problem</vt:lpstr>
      <vt:lpstr>Bounded-Buffer – Shared-Memory Solution</vt:lpstr>
      <vt:lpstr>Bounded-Buffer – Producer</vt:lpstr>
      <vt:lpstr>Bounded Buffer – Consumer</vt:lpstr>
      <vt:lpstr>Interprocess Communication –  Shared Memory</vt:lpstr>
      <vt:lpstr>Interprocess Communication – Message Passing</vt:lpstr>
      <vt:lpstr>Message Passing (Cont.)</vt:lpstr>
      <vt:lpstr>Direct Communication</vt:lpstr>
      <vt:lpstr>Synchronization</vt:lpstr>
      <vt:lpstr>Synchronization (Cont.)</vt:lpstr>
      <vt:lpstr>Communications in Client-Server Systems</vt:lpstr>
      <vt:lpstr>Sockets</vt:lpstr>
      <vt:lpstr>Socket Communication</vt:lpstr>
      <vt:lpstr>Sockets in Java</vt:lpstr>
      <vt:lpstr>End of Chapter 3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2.01</dc:title>
  <dc:creator>Lucent End User</dc:creator>
  <cp:lastModifiedBy>Liu, Siming</cp:lastModifiedBy>
  <cp:revision>319</cp:revision>
  <cp:lastPrinted>2013-10-02T18:16:40Z</cp:lastPrinted>
  <dcterms:created xsi:type="dcterms:W3CDTF">2011-01-13T23:43:38Z</dcterms:created>
  <dcterms:modified xsi:type="dcterms:W3CDTF">2024-08-27T13:49:21Z</dcterms:modified>
</cp:coreProperties>
</file>