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306" r:id="rId2"/>
    <p:sldId id="271" r:id="rId3"/>
    <p:sldId id="307" r:id="rId4"/>
    <p:sldId id="274" r:id="rId5"/>
    <p:sldId id="305" r:id="rId6"/>
    <p:sldId id="297" r:id="rId7"/>
    <p:sldId id="292" r:id="rId8"/>
    <p:sldId id="293" r:id="rId9"/>
    <p:sldId id="294" r:id="rId10"/>
    <p:sldId id="295" r:id="rId11"/>
    <p:sldId id="308" r:id="rId12"/>
    <p:sldId id="304" r:id="rId13"/>
    <p:sldId id="290" r:id="rId14"/>
    <p:sldId id="309" r:id="rId15"/>
  </p:sldIdLst>
  <p:sldSz cx="12192000" cy="6858000"/>
  <p:notesSz cx="6858000" cy="9144000"/>
  <p:custDataLst>
    <p:tags r:id="rId1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218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B914DD-F667-41C0-97FB-899BFC875B4D}" type="datetimeFigureOut">
              <a:rPr lang="en-US" smtClean="0"/>
              <a:t>8/22/2024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147D66-1F52-481A-857D-557587C70B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9436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7D65425D-257A-4BF4-A92D-083DB3419FE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48A0AC94-03B2-45A3-81E0-5A03338426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i="1"/>
              <a:t>Running a business without a plan is like going into the forest, shooting off your rifle and hoping that dinner runs into the bullet</a:t>
            </a:r>
            <a:r>
              <a:rPr lang="en-US" altLang="en-US"/>
              <a:t>. –Herman Cain, Former Chairman and CEO, Godfather’s Pizza</a:t>
            </a:r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04E304DE-4C1D-4F7A-8D0B-40E20EC7328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1772087-E947-4C08-A23A-039E73B1C8E9}" type="slidenum">
              <a:rPr lang="en-US" altLang="en-US">
                <a:latin typeface="Calibri" panose="020F0502020204030204" pitchFamily="34" charset="0"/>
              </a:rPr>
              <a:pPr/>
              <a:t>1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Image Placeholder 1">
            <a:extLst>
              <a:ext uri="{FF2B5EF4-FFF2-40B4-BE49-F238E27FC236}">
                <a16:creationId xmlns:a16="http://schemas.microsoft.com/office/drawing/2014/main" id="{307442DE-6B16-442C-AF4B-AD107CB6A3B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3" name="Notes Placeholder 2">
            <a:extLst>
              <a:ext uri="{FF2B5EF4-FFF2-40B4-BE49-F238E27FC236}">
                <a16:creationId xmlns:a16="http://schemas.microsoft.com/office/drawing/2014/main" id="{E4AFC601-F56A-4F77-840F-5F4FD0AAE71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en-US"/>
              <a:t>“Of course he is a crank, but we must please him. It is our business to please cranks. Anyone can please a gentleman.” –Fred Harvey</a:t>
            </a:r>
          </a:p>
        </p:txBody>
      </p:sp>
      <p:sp>
        <p:nvSpPr>
          <p:cNvPr id="10244" name="Slide Number Placeholder 3">
            <a:extLst>
              <a:ext uri="{FF2B5EF4-FFF2-40B4-BE49-F238E27FC236}">
                <a16:creationId xmlns:a16="http://schemas.microsoft.com/office/drawing/2014/main" id="{9054347A-F9EA-49F5-A7F3-9CF129031C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29F822A-DA0F-420E-99CD-3253F8EBA6F5}" type="slidenum">
              <a:rPr lang="en-US" altLang="en-US">
                <a:ea typeface="MS PGothic" panose="020B0600070205080204" pitchFamily="34" charset="-128"/>
              </a:rPr>
              <a:pPr>
                <a:spcBef>
                  <a:spcPct val="0"/>
                </a:spcBef>
              </a:pPr>
              <a:t>2</a:t>
            </a:fld>
            <a:endParaRPr lang="en-US" altLang="en-US"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>
            <a:extLst>
              <a:ext uri="{FF2B5EF4-FFF2-40B4-BE49-F238E27FC236}">
                <a16:creationId xmlns:a16="http://schemas.microsoft.com/office/drawing/2014/main" id="{A0356572-82FC-460B-8883-6342CFEE3BE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Notes Placeholder 2">
            <a:extLst>
              <a:ext uri="{FF2B5EF4-FFF2-40B4-BE49-F238E27FC236}">
                <a16:creationId xmlns:a16="http://schemas.microsoft.com/office/drawing/2014/main" id="{72F21BF6-02BA-42DC-800D-80243058B9A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en-US"/>
              <a:t>1.1 Describe the key differences between making products and creating experiences for guests.</a:t>
            </a:r>
          </a:p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4340" name="Slide Number Placeholder 3">
            <a:extLst>
              <a:ext uri="{FF2B5EF4-FFF2-40B4-BE49-F238E27FC236}">
                <a16:creationId xmlns:a16="http://schemas.microsoft.com/office/drawing/2014/main" id="{1F6BA676-37D8-4225-860B-8825A9A78A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B924EA7-3675-4951-AA61-ADA06DCD733D}" type="slidenum">
              <a:rPr lang="en-US" altLang="en-US">
                <a:ea typeface="MS PGothic" panose="020B0600070205080204" pitchFamily="34" charset="-128"/>
              </a:rPr>
              <a:pPr>
                <a:spcBef>
                  <a:spcPct val="0"/>
                </a:spcBef>
              </a:pPr>
              <a:t>4</a:t>
            </a:fld>
            <a:endParaRPr lang="en-US" altLang="en-US"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>
            <a:extLst>
              <a:ext uri="{FF2B5EF4-FFF2-40B4-BE49-F238E27FC236}">
                <a16:creationId xmlns:a16="http://schemas.microsoft.com/office/drawing/2014/main" id="{056D924C-489D-46C0-99DF-8338018112E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Notes Placeholder 2">
            <a:extLst>
              <a:ext uri="{FF2B5EF4-FFF2-40B4-BE49-F238E27FC236}">
                <a16:creationId xmlns:a16="http://schemas.microsoft.com/office/drawing/2014/main" id="{85987E8B-6435-4C61-848C-2D072166511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en-US"/>
              <a:t>1.1 Describe the key differences between making products and creating experiences for guests.</a:t>
            </a:r>
          </a:p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6388" name="Slide Number Placeholder 3">
            <a:extLst>
              <a:ext uri="{FF2B5EF4-FFF2-40B4-BE49-F238E27FC236}">
                <a16:creationId xmlns:a16="http://schemas.microsoft.com/office/drawing/2014/main" id="{6A09B79A-1991-4A6D-BACB-6E0FD391BB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71B4147-60D4-4C93-B612-04B7DB808E09}" type="slidenum">
              <a:rPr lang="en-US" altLang="en-US">
                <a:ea typeface="MS PGothic" panose="020B0600070205080204" pitchFamily="34" charset="-128"/>
              </a:rPr>
              <a:pPr>
                <a:spcBef>
                  <a:spcPct val="0"/>
                </a:spcBef>
              </a:pPr>
              <a:t>5</a:t>
            </a:fld>
            <a:endParaRPr lang="en-US" altLang="en-US"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>
            <a:extLst>
              <a:ext uri="{FF2B5EF4-FFF2-40B4-BE49-F238E27FC236}">
                <a16:creationId xmlns:a16="http://schemas.microsoft.com/office/drawing/2014/main" id="{F4714537-42BA-4F8B-A38F-0A404B3364D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Notes Placeholder 2">
            <a:extLst>
              <a:ext uri="{FF2B5EF4-FFF2-40B4-BE49-F238E27FC236}">
                <a16:creationId xmlns:a16="http://schemas.microsoft.com/office/drawing/2014/main" id="{482046D0-1304-4E64-8FD3-53F383F9B4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/>
              <a:t>1.4 State the importance of meeting the hospitality guest’s expectations</a:t>
            </a:r>
          </a:p>
        </p:txBody>
      </p:sp>
      <p:sp>
        <p:nvSpPr>
          <p:cNvPr id="38916" name="Slide Number Placeholder 3">
            <a:extLst>
              <a:ext uri="{FF2B5EF4-FFF2-40B4-BE49-F238E27FC236}">
                <a16:creationId xmlns:a16="http://schemas.microsoft.com/office/drawing/2014/main" id="{2AB260C0-721E-47AC-9E7F-C1F72037242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B91281F-9D23-4E9E-8C9B-933B065BD84E}" type="slidenum">
              <a:rPr lang="en-US" altLang="en-US">
                <a:latin typeface="Calibri" panose="020F0502020204030204" pitchFamily="34" charset="0"/>
              </a:rPr>
              <a:pPr/>
              <a:t>6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>
            <a:extLst>
              <a:ext uri="{FF2B5EF4-FFF2-40B4-BE49-F238E27FC236}">
                <a16:creationId xmlns:a16="http://schemas.microsoft.com/office/drawing/2014/main" id="{1E35E7EB-3F88-47E6-BC74-0654B2F7E64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Notes Placeholder 2">
            <a:extLst>
              <a:ext uri="{FF2B5EF4-FFF2-40B4-BE49-F238E27FC236}">
                <a16:creationId xmlns:a16="http://schemas.microsoft.com/office/drawing/2014/main" id="{29E73C2D-A2DE-4A8D-9978-B4B007F5C2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en-US"/>
              <a:t>1.2 State the importance of the guest experience.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/>
              <a:t>1.3 Identify the components of the guest experience.</a:t>
            </a:r>
          </a:p>
          <a:p>
            <a:endParaRPr lang="en-US" altLang="en-US"/>
          </a:p>
        </p:txBody>
      </p:sp>
      <p:sp>
        <p:nvSpPr>
          <p:cNvPr id="28676" name="Slide Number Placeholder 3">
            <a:extLst>
              <a:ext uri="{FF2B5EF4-FFF2-40B4-BE49-F238E27FC236}">
                <a16:creationId xmlns:a16="http://schemas.microsoft.com/office/drawing/2014/main" id="{53B03AA6-8D20-46C1-9024-CFDB48983B3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69865FE-89FC-4C0C-BA4F-65667DFC773B}" type="slidenum">
              <a:rPr lang="en-US" altLang="en-US">
                <a:latin typeface="Calibri" panose="020F0502020204030204" pitchFamily="34" charset="0"/>
              </a:rPr>
              <a:pPr/>
              <a:t>7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>
            <a:extLst>
              <a:ext uri="{FF2B5EF4-FFF2-40B4-BE49-F238E27FC236}">
                <a16:creationId xmlns:a16="http://schemas.microsoft.com/office/drawing/2014/main" id="{936BD169-EA89-45CD-A2E3-4DCCC496175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Notes Placeholder 2">
            <a:extLst>
              <a:ext uri="{FF2B5EF4-FFF2-40B4-BE49-F238E27FC236}">
                <a16:creationId xmlns:a16="http://schemas.microsoft.com/office/drawing/2014/main" id="{C37480DD-6D9A-4991-B580-39CDA55252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en-US"/>
              <a:t>1.2 State the importance of the guest experience.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/>
              <a:t>1.3 Identify the components of the guest experience.</a:t>
            </a:r>
          </a:p>
          <a:p>
            <a:endParaRPr lang="en-US" altLang="en-US"/>
          </a:p>
        </p:txBody>
      </p:sp>
      <p:sp>
        <p:nvSpPr>
          <p:cNvPr id="30724" name="Slide Number Placeholder 3">
            <a:extLst>
              <a:ext uri="{FF2B5EF4-FFF2-40B4-BE49-F238E27FC236}">
                <a16:creationId xmlns:a16="http://schemas.microsoft.com/office/drawing/2014/main" id="{34710D1B-6A8E-4485-A5B9-86B3C3319EF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F17B6D0-5C6B-4388-8CE1-B119B40D252E}" type="slidenum">
              <a:rPr lang="en-US" altLang="en-US">
                <a:latin typeface="Calibri" panose="020F0502020204030204" pitchFamily="34" charset="0"/>
              </a:rPr>
              <a:pPr/>
              <a:t>8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>
            <a:extLst>
              <a:ext uri="{FF2B5EF4-FFF2-40B4-BE49-F238E27FC236}">
                <a16:creationId xmlns:a16="http://schemas.microsoft.com/office/drawing/2014/main" id="{10220E7D-A856-49D8-928B-DC58DE8C5D1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1" name="Notes Placeholder 2">
            <a:extLst>
              <a:ext uri="{FF2B5EF4-FFF2-40B4-BE49-F238E27FC236}">
                <a16:creationId xmlns:a16="http://schemas.microsoft.com/office/drawing/2014/main" id="{509E537A-F2D3-4363-824C-534796417A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en-US"/>
              <a:t>1.2 State the importance of the guest experience.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/>
              <a:t>1.3 Identify the components of the guest experience.</a:t>
            </a:r>
          </a:p>
          <a:p>
            <a:endParaRPr lang="en-US" altLang="en-US"/>
          </a:p>
        </p:txBody>
      </p:sp>
      <p:sp>
        <p:nvSpPr>
          <p:cNvPr id="32772" name="Slide Number Placeholder 3">
            <a:extLst>
              <a:ext uri="{FF2B5EF4-FFF2-40B4-BE49-F238E27FC236}">
                <a16:creationId xmlns:a16="http://schemas.microsoft.com/office/drawing/2014/main" id="{177D6CEF-E409-4E1E-9AC1-80373D0976F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6C36F5C-25D8-4DDE-8342-053D4D02FCD0}" type="slidenum">
              <a:rPr lang="en-US" altLang="en-US">
                <a:latin typeface="Calibri" panose="020F0502020204030204" pitchFamily="34" charset="0"/>
              </a:rPr>
              <a:pPr/>
              <a:t>9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>
            <a:extLst>
              <a:ext uri="{FF2B5EF4-FFF2-40B4-BE49-F238E27FC236}">
                <a16:creationId xmlns:a16="http://schemas.microsoft.com/office/drawing/2014/main" id="{702D1130-8A6B-4F07-89F0-43CB2185DC9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Notes Placeholder 2">
            <a:extLst>
              <a:ext uri="{FF2B5EF4-FFF2-40B4-BE49-F238E27FC236}">
                <a16:creationId xmlns:a16="http://schemas.microsoft.com/office/drawing/2014/main" id="{887EFC1E-24F6-4905-A29F-235F7AEFA6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en-US"/>
              <a:t>1.2 State the importance of the guest experience.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/>
              <a:t>1.3 Identify the components of the guest experience.</a:t>
            </a:r>
          </a:p>
          <a:p>
            <a:endParaRPr lang="en-US" altLang="en-US"/>
          </a:p>
        </p:txBody>
      </p:sp>
      <p:sp>
        <p:nvSpPr>
          <p:cNvPr id="34820" name="Slide Number Placeholder 3">
            <a:extLst>
              <a:ext uri="{FF2B5EF4-FFF2-40B4-BE49-F238E27FC236}">
                <a16:creationId xmlns:a16="http://schemas.microsoft.com/office/drawing/2014/main" id="{387717C8-1A77-4421-ADF3-E0D899A8733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C24D672-ACF5-429C-B832-987F0EB0C565}" type="slidenum">
              <a:rPr lang="en-US" altLang="en-US">
                <a:latin typeface="Calibri" panose="020F0502020204030204" pitchFamily="34" charset="0"/>
              </a:rPr>
              <a:pPr/>
              <a:t>10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>
            <a:extLst>
              <a:ext uri="{FF2B5EF4-FFF2-40B4-BE49-F238E27FC236}">
                <a16:creationId xmlns:a16="http://schemas.microsoft.com/office/drawing/2014/main" id="{28209F16-78CE-450A-ABA0-5BE9F003F54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1" name="Notes Placeholder 2">
            <a:extLst>
              <a:ext uri="{FF2B5EF4-FFF2-40B4-BE49-F238E27FC236}">
                <a16:creationId xmlns:a16="http://schemas.microsoft.com/office/drawing/2014/main" id="{F42A82AE-D06A-4E7B-8E8C-D8DAB14255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/>
              <a:t>1.6 Explain the reasons why “it all starts with the guest.”</a:t>
            </a:r>
          </a:p>
        </p:txBody>
      </p:sp>
      <p:sp>
        <p:nvSpPr>
          <p:cNvPr id="53252" name="Slide Number Placeholder 3">
            <a:extLst>
              <a:ext uri="{FF2B5EF4-FFF2-40B4-BE49-F238E27FC236}">
                <a16:creationId xmlns:a16="http://schemas.microsoft.com/office/drawing/2014/main" id="{DF9AF72A-0579-4AFB-84C7-19C8BC3AF94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F2B12DD-5EB7-479A-BD8F-77680DF998E3}" type="slidenum">
              <a:rPr lang="en-US" altLang="en-US">
                <a:latin typeface="Calibri" panose="020F0502020204030204" pitchFamily="34" charset="0"/>
              </a:rPr>
              <a:pPr/>
              <a:t>12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>
            <a:extLst>
              <a:ext uri="{FF2B5EF4-FFF2-40B4-BE49-F238E27FC236}">
                <a16:creationId xmlns:a16="http://schemas.microsoft.com/office/drawing/2014/main" id="{74423D26-0A93-4C11-80D9-DCD5E276EE4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Notes Placeholder 2">
            <a:extLst>
              <a:ext uri="{FF2B5EF4-FFF2-40B4-BE49-F238E27FC236}">
                <a16:creationId xmlns:a16="http://schemas.microsoft.com/office/drawing/2014/main" id="{39D3F65B-E39B-405D-9CFC-97DC8FF4A7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/>
              <a:t>1.1 Describe the key differences between making products and creating experiences for guests.</a:t>
            </a:r>
          </a:p>
          <a:p>
            <a:endParaRPr lang="en-US" altLang="en-US"/>
          </a:p>
        </p:txBody>
      </p:sp>
      <p:sp>
        <p:nvSpPr>
          <p:cNvPr id="24580" name="Slide Number Placeholder 3">
            <a:extLst>
              <a:ext uri="{FF2B5EF4-FFF2-40B4-BE49-F238E27FC236}">
                <a16:creationId xmlns:a16="http://schemas.microsoft.com/office/drawing/2014/main" id="{6F0CF173-2D74-4227-A956-B59F2A026E8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8FE8135-0EC3-49C7-A472-0B91D8386AF5}" type="slidenum">
              <a:rPr lang="en-US" altLang="en-US">
                <a:latin typeface="Calibri" panose="020F0502020204030204" pitchFamily="34" charset="0"/>
              </a:rPr>
              <a:pPr/>
              <a:t>13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524000" y="2312125"/>
            <a:ext cx="9144000" cy="119783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Hospitality Marketing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 dirty="0"/>
          </a:p>
          <a:p>
            <a:r>
              <a:rPr lang="en-US" dirty="0"/>
              <a:t>Chapter 1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Dr. Kageyama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Hospitality Marketing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46675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83C0A35-68EB-4761-A22B-7BED37CBF2F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246FF0C-0285-46E6-BA4B-91A789F5151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957BC9A-C72E-47D5-819F-CF7C71A399C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792530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76994" y="365125"/>
            <a:ext cx="9276805" cy="12811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B82F43-13CD-4C7F-969C-046186516412}" type="datetimeFigureOut">
              <a:rPr lang="en-US" smtClean="0"/>
              <a:t>8/22/2024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1D1093-FF72-4371-9B0A-AE35046D378A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C:\Users\xxx1\Desktop\MSU image.jpg"/>
          <p:cNvPicPr/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841863" cy="169068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39331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u="none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u="none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3">
            <a:extLst>
              <a:ext uri="{FF2B5EF4-FFF2-40B4-BE49-F238E27FC236}">
                <a16:creationId xmlns:a16="http://schemas.microsoft.com/office/drawing/2014/main" id="{35011D64-75ED-49D2-9586-DDB1DF474B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09800" y="1198564"/>
            <a:ext cx="7772400" cy="1849437"/>
          </a:xfrm>
        </p:spPr>
        <p:txBody>
          <a:bodyPr/>
          <a:lstStyle/>
          <a:p>
            <a:pPr eaLnBrk="1" hangingPunct="1"/>
            <a:r>
              <a:rPr lang="en-US" altLang="en-US" sz="3600" b="1" dirty="0"/>
              <a:t>Section 1</a:t>
            </a:r>
          </a:p>
        </p:txBody>
      </p:sp>
      <p:sp>
        <p:nvSpPr>
          <p:cNvPr id="7171" name="Subtitle 4">
            <a:extLst>
              <a:ext uri="{FF2B5EF4-FFF2-40B4-BE49-F238E27FC236}">
                <a16:creationId xmlns:a16="http://schemas.microsoft.com/office/drawing/2014/main" id="{6CB46A71-DD30-4925-B038-E45BAC8948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67000" y="3297238"/>
            <a:ext cx="6858000" cy="1655762"/>
          </a:xfrm>
        </p:spPr>
        <p:txBody>
          <a:bodyPr/>
          <a:lstStyle/>
          <a:p>
            <a:pPr eaLnBrk="1" hangingPunct="1"/>
            <a:r>
              <a:rPr lang="en-US" altLang="en-US" sz="3600" b="1" dirty="0"/>
              <a:t>The Hospitality Service Strategy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3">
            <a:extLst>
              <a:ext uri="{FF2B5EF4-FFF2-40B4-BE49-F238E27FC236}">
                <a16:creationId xmlns:a16="http://schemas.microsoft.com/office/drawing/2014/main" id="{00B8A772-6331-4F2D-A4F2-22EB8E6353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09800" y="1122364"/>
            <a:ext cx="7772400" cy="1925637"/>
          </a:xfrm>
        </p:spPr>
        <p:txBody>
          <a:bodyPr/>
          <a:lstStyle/>
          <a:p>
            <a:pPr eaLnBrk="1" hangingPunct="1"/>
            <a:r>
              <a:rPr lang="en-US" altLang="en-US" sz="3600" b="1" dirty="0"/>
              <a:t>Chapter 1</a:t>
            </a:r>
          </a:p>
        </p:txBody>
      </p:sp>
      <p:sp>
        <p:nvSpPr>
          <p:cNvPr id="9219" name="Text Placeholder 4">
            <a:extLst>
              <a:ext uri="{FF2B5EF4-FFF2-40B4-BE49-F238E27FC236}">
                <a16:creationId xmlns:a16="http://schemas.microsoft.com/office/drawing/2014/main" id="{2FEF9939-DBFA-45EA-981A-84DEA503ED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67000" y="3276600"/>
            <a:ext cx="6858000" cy="18288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3600" b="1" dirty="0"/>
              <a:t>The Basics of Wow!</a:t>
            </a:r>
            <a:br>
              <a:rPr lang="en-US" altLang="en-US" sz="3600" b="1" dirty="0"/>
            </a:br>
            <a:r>
              <a:rPr lang="en-US" altLang="en-US" sz="3600" b="1" dirty="0"/>
              <a:t>The Guest Knows Best</a:t>
            </a:r>
          </a:p>
          <a:p>
            <a:pPr eaLnBrk="1" hangingPunct="1"/>
            <a:r>
              <a:rPr lang="en-US" altLang="en-US" sz="1200" b="1" dirty="0"/>
              <a:t>The importance of Guest Experiences  </a:t>
            </a:r>
          </a:p>
          <a:p>
            <a:pPr eaLnBrk="1" hangingPunct="1"/>
            <a:endParaRPr lang="en-US" altLang="en-US" sz="12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6FD70-607F-4C90-8658-3273528C8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Objectives: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D03ECB-462C-4F2A-B5E7-EECCCA5268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Gain an understanding of the </a:t>
            </a:r>
            <a:r>
              <a:rPr lang="en-US" b="1" dirty="0"/>
              <a:t>differences</a:t>
            </a:r>
            <a:r>
              <a:rPr lang="en-US" dirty="0"/>
              <a:t> between making products and creating experiences for guests.  </a:t>
            </a:r>
          </a:p>
          <a:p>
            <a:r>
              <a:rPr lang="en-US" dirty="0"/>
              <a:t>Recognize the importance of guest experience and meeting guests’ expectations. </a:t>
            </a:r>
          </a:p>
          <a:p>
            <a:r>
              <a:rPr lang="en-US" dirty="0"/>
              <a:t>Identify the </a:t>
            </a:r>
            <a:r>
              <a:rPr lang="en-US" b="1" dirty="0"/>
              <a:t>components </a:t>
            </a:r>
            <a:r>
              <a:rPr lang="en-US" dirty="0"/>
              <a:t>of guest experiences. 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05571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541894F7-A030-4470-AC03-12710C024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err="1"/>
              <a:t>Guestology</a:t>
            </a:r>
            <a:r>
              <a:rPr lang="en-US" altLang="en-US" dirty="0"/>
              <a:t>: What Is It?</a:t>
            </a:r>
          </a:p>
        </p:txBody>
      </p:sp>
      <p:sp>
        <p:nvSpPr>
          <p:cNvPr id="13315" name="Content Placeholder 2">
            <a:extLst>
              <a:ext uri="{FF2B5EF4-FFF2-40B4-BE49-F238E27FC236}">
                <a16:creationId xmlns:a16="http://schemas.microsoft.com/office/drawing/2014/main" id="{2D01595B-AE97-4A81-9495-E9AA99525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The study of </a:t>
            </a:r>
            <a:r>
              <a:rPr lang="en-US" altLang="en-US" b="1" dirty="0"/>
              <a:t>guests</a:t>
            </a:r>
            <a:r>
              <a:rPr lang="en-US" altLang="en-US" dirty="0"/>
              <a:t>—their </a:t>
            </a:r>
            <a:r>
              <a:rPr lang="en-US" altLang="en-US" b="1" dirty="0"/>
              <a:t>wants, needs, expectations</a:t>
            </a:r>
            <a:r>
              <a:rPr lang="en-US" altLang="en-US" dirty="0"/>
              <a:t>, and </a:t>
            </a:r>
            <a:r>
              <a:rPr lang="en-US" altLang="en-US" b="1" dirty="0"/>
              <a:t>behaviors</a:t>
            </a:r>
            <a:r>
              <a:rPr lang="en-US" altLang="en-US" dirty="0"/>
              <a:t>—with the aim of aligning the organization’s </a:t>
            </a:r>
            <a:r>
              <a:rPr lang="en-US" altLang="en-US" b="1" dirty="0"/>
              <a:t>strategy, staff</a:t>
            </a:r>
            <a:r>
              <a:rPr lang="en-US" altLang="en-US" dirty="0"/>
              <a:t>, and </a:t>
            </a:r>
            <a:r>
              <a:rPr lang="en-US" altLang="en-US" b="1" dirty="0"/>
              <a:t>systems</a:t>
            </a:r>
            <a:r>
              <a:rPr lang="en-US" altLang="en-US" dirty="0"/>
              <a:t> so as to provide outstanding service to guests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D30A2B-5F7C-4797-A140-50D77A3FC51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35958FC-62B7-4067-A1A6-08767564C586}" type="slidenum">
              <a:rPr lang="en-US" altLang="en-US">
                <a:solidFill>
                  <a:srgbClr val="898989"/>
                </a:solidFill>
              </a:rPr>
              <a:pPr/>
              <a:t>4</a:t>
            </a:fld>
            <a:endParaRPr lang="en-US" altLang="en-US">
              <a:solidFill>
                <a:srgbClr val="898989"/>
              </a:solidFill>
            </a:endParaRPr>
          </a:p>
        </p:txBody>
      </p:sp>
      <p:pic>
        <p:nvPicPr>
          <p:cNvPr id="3" name="Picture 2" descr="A picture containing outdoor, boat, water, large&#10;&#10;Description automatically generated">
            <a:extLst>
              <a:ext uri="{FF2B5EF4-FFF2-40B4-BE49-F238E27FC236}">
                <a16:creationId xmlns:a16="http://schemas.microsoft.com/office/drawing/2014/main" id="{40A911AC-C786-4686-ACF2-E8EF0DB61C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200" y="361315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EAD41948-7B46-4CE0-BE4E-43F067CFA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Meeting Customer Expectations</a:t>
            </a:r>
          </a:p>
        </p:txBody>
      </p:sp>
      <p:sp>
        <p:nvSpPr>
          <p:cNvPr id="15363" name="Content Placeholder 2">
            <a:extLst>
              <a:ext uri="{FF2B5EF4-FFF2-40B4-BE49-F238E27FC236}">
                <a16:creationId xmlns:a16="http://schemas.microsoft.com/office/drawing/2014/main" id="{D97EB3BF-942D-41FC-8055-54BEA69B43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Understanding the guest</a:t>
            </a:r>
          </a:p>
          <a:p>
            <a:pPr lvl="1" eaLnBrk="1" hangingPunct="1"/>
            <a:r>
              <a:rPr lang="en-US" altLang="en-US" dirty="0"/>
              <a:t>Treat customers like </a:t>
            </a:r>
            <a:r>
              <a:rPr lang="en-US" altLang="en-US" b="1" dirty="0"/>
              <a:t>guests</a:t>
            </a:r>
          </a:p>
          <a:p>
            <a:pPr lvl="1" eaLnBrk="1" hangingPunct="1"/>
            <a:r>
              <a:rPr lang="en-US" altLang="en-US" dirty="0"/>
              <a:t>Guests are studied</a:t>
            </a:r>
          </a:p>
          <a:p>
            <a:pPr lvl="2" eaLnBrk="1" hangingPunct="1"/>
            <a:r>
              <a:rPr lang="en-US" altLang="en-US" dirty="0"/>
              <a:t>Demographics</a:t>
            </a:r>
          </a:p>
          <a:p>
            <a:pPr lvl="2" eaLnBrk="1" hangingPunct="1"/>
            <a:r>
              <a:rPr lang="en-US" altLang="en-US" dirty="0"/>
              <a:t>Wants, needs, and expectations discovered</a:t>
            </a:r>
          </a:p>
          <a:p>
            <a:pPr lvl="2" eaLnBrk="1" hangingPunct="1"/>
            <a:r>
              <a:rPr lang="en-US" altLang="en-US" dirty="0"/>
              <a:t>KSA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307386-2F26-4186-843F-D160A11861B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0DE2499-F403-4C96-AECD-F036B9A8AD0A}" type="slidenum">
              <a:rPr lang="en-US" altLang="en-US">
                <a:solidFill>
                  <a:srgbClr val="898989"/>
                </a:solidFill>
              </a:rPr>
              <a:pPr/>
              <a:t>5</a:t>
            </a:fld>
            <a:endParaRPr lang="en-US" altLang="en-US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>
            <a:extLst>
              <a:ext uri="{FF2B5EF4-FFF2-40B4-BE49-F238E27FC236}">
                <a16:creationId xmlns:a16="http://schemas.microsoft.com/office/drawing/2014/main" id="{0ED9E2B5-3409-44AC-9205-3AE0CAB9F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Guest Expectations</a:t>
            </a:r>
          </a:p>
        </p:txBody>
      </p:sp>
      <p:sp>
        <p:nvSpPr>
          <p:cNvPr id="37891" name="Content Placeholder 2">
            <a:extLst>
              <a:ext uri="{FF2B5EF4-FFF2-40B4-BE49-F238E27FC236}">
                <a16:creationId xmlns:a16="http://schemas.microsoft.com/office/drawing/2014/main" id="{518848F9-44CF-46DE-8EB5-D7ADDE38CB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500"/>
              </a:spcBef>
            </a:pPr>
            <a:r>
              <a:rPr lang="en-US" altLang="en-US" dirty="0"/>
              <a:t>Meeting </a:t>
            </a:r>
            <a:r>
              <a:rPr lang="en-US" altLang="en-US" b="1" dirty="0"/>
              <a:t>expectations</a:t>
            </a:r>
          </a:p>
          <a:p>
            <a:pPr lvl="1" eaLnBrk="1" hangingPunct="1"/>
            <a:r>
              <a:rPr lang="en-US" altLang="en-US" dirty="0"/>
              <a:t>Reputation</a:t>
            </a:r>
          </a:p>
          <a:p>
            <a:pPr lvl="1" eaLnBrk="1" hangingPunct="1"/>
            <a:r>
              <a:rPr lang="en-US" altLang="en-US" dirty="0"/>
              <a:t>Social media reviews</a:t>
            </a:r>
          </a:p>
          <a:p>
            <a:pPr lvl="1" eaLnBrk="1" hangingPunct="1"/>
            <a:r>
              <a:rPr lang="en-US" altLang="en-US" dirty="0"/>
              <a:t>Anticipate expectations</a:t>
            </a:r>
          </a:p>
          <a:p>
            <a:pPr lvl="1" eaLnBrk="1" hangingPunct="1"/>
            <a:r>
              <a:rPr lang="en-US" altLang="en-US" dirty="0"/>
              <a:t>Do not promise more than is possible to deliver</a:t>
            </a:r>
          </a:p>
          <a:p>
            <a:r>
              <a:rPr lang="en-US" altLang="en-US" dirty="0"/>
              <a:t>Serving </a:t>
            </a:r>
            <a:r>
              <a:rPr lang="en-US" altLang="en-US" b="1" dirty="0"/>
              <a:t>internal </a:t>
            </a:r>
            <a:r>
              <a:rPr lang="en-US" altLang="en-US" dirty="0"/>
              <a:t>customers</a:t>
            </a:r>
          </a:p>
          <a:p>
            <a:pPr lvl="1"/>
            <a:r>
              <a:rPr lang="en-US" altLang="en-US" dirty="0"/>
              <a:t>Internal customers v. external customers</a:t>
            </a:r>
          </a:p>
          <a:p>
            <a:pPr lvl="1"/>
            <a:r>
              <a:rPr lang="en-US" altLang="en-US" dirty="0"/>
              <a:t>Treat </a:t>
            </a:r>
            <a:r>
              <a:rPr lang="en-US" altLang="en-US" b="1" dirty="0"/>
              <a:t>employees </a:t>
            </a:r>
            <a:r>
              <a:rPr lang="en-US" altLang="en-US" dirty="0"/>
              <a:t>as well as guests</a:t>
            </a:r>
          </a:p>
          <a:p>
            <a:pPr lvl="1" eaLnBrk="1" hangingPunct="1"/>
            <a:endParaRPr lang="en-US" alt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8E0155-EF69-4606-BAF7-F338082DB91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2536289-79E9-4236-A306-78A1D3961705}" type="slidenum">
              <a:rPr lang="en-US" altLang="en-US">
                <a:solidFill>
                  <a:srgbClr val="898989"/>
                </a:solidFill>
              </a:rPr>
              <a:pPr/>
              <a:t>6</a:t>
            </a:fld>
            <a:endParaRPr lang="en-US" altLang="en-US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>
            <a:extLst>
              <a:ext uri="{FF2B5EF4-FFF2-40B4-BE49-F238E27FC236}">
                <a16:creationId xmlns:a16="http://schemas.microsoft.com/office/drawing/2014/main" id="{02733BB9-8BA7-4A56-BA0E-662DFDDAF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Components of the Guest Experience</a:t>
            </a:r>
          </a:p>
        </p:txBody>
      </p:sp>
      <p:sp>
        <p:nvSpPr>
          <p:cNvPr id="27651" name="Content Placeholder 2">
            <a:extLst>
              <a:ext uri="{FF2B5EF4-FFF2-40B4-BE49-F238E27FC236}">
                <a16:creationId xmlns:a16="http://schemas.microsoft.com/office/drawing/2014/main" id="{2DB49518-698C-45AB-9703-C3DA180F2D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2575" indent="-282575">
              <a:spcBef>
                <a:spcPts val="500"/>
              </a:spcBef>
            </a:pPr>
            <a:r>
              <a:rPr lang="en-US" altLang="en-US" dirty="0"/>
              <a:t>The service </a:t>
            </a:r>
            <a:r>
              <a:rPr lang="en-US" altLang="en-US" b="1" dirty="0"/>
              <a:t>product</a:t>
            </a:r>
          </a:p>
          <a:p>
            <a:pPr marL="282575" indent="-282575">
              <a:spcBef>
                <a:spcPts val="500"/>
              </a:spcBef>
            </a:pPr>
            <a:r>
              <a:rPr lang="en-US" altLang="en-US" dirty="0"/>
              <a:t>The service </a:t>
            </a:r>
            <a:r>
              <a:rPr lang="en-US" altLang="en-US" b="1" dirty="0"/>
              <a:t>setting</a:t>
            </a:r>
          </a:p>
          <a:p>
            <a:pPr lvl="1" eaLnBrk="1" hangingPunct="1"/>
            <a:r>
              <a:rPr lang="en-US" altLang="en-US" dirty="0"/>
              <a:t>Service environment</a:t>
            </a:r>
          </a:p>
          <a:p>
            <a:pPr lvl="1" eaLnBrk="1" hangingPunct="1"/>
            <a:r>
              <a:rPr lang="en-US" altLang="en-US" dirty="0"/>
              <a:t>Servicescape</a:t>
            </a:r>
          </a:p>
          <a:p>
            <a:pPr marL="282575" indent="-282575">
              <a:spcBef>
                <a:spcPts val="500"/>
              </a:spcBef>
            </a:pPr>
            <a:r>
              <a:rPr lang="en-US" altLang="en-US" dirty="0"/>
              <a:t>The service </a:t>
            </a:r>
            <a:r>
              <a:rPr lang="en-US" altLang="en-US" b="1" dirty="0"/>
              <a:t>delivery system </a:t>
            </a:r>
          </a:p>
          <a:p>
            <a:pPr lvl="1" eaLnBrk="1" hangingPunct="1"/>
            <a:r>
              <a:rPr lang="en-US" altLang="en-US" dirty="0"/>
              <a:t>Human components</a:t>
            </a:r>
          </a:p>
          <a:p>
            <a:pPr lvl="1" eaLnBrk="1" hangingPunct="1"/>
            <a:r>
              <a:rPr lang="en-US" altLang="en-US" dirty="0"/>
              <a:t>Physical production process</a:t>
            </a:r>
          </a:p>
          <a:p>
            <a:pPr marL="0" indent="0">
              <a:spcBef>
                <a:spcPts val="500"/>
              </a:spcBef>
              <a:buNone/>
            </a:pPr>
            <a:endParaRPr lang="en-US" altLang="en-US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8B1532-9E17-46CC-A393-74E325D68FF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5749C3D-0FBC-4D4C-9DA5-BC80F18A7AF9}" type="slidenum">
              <a:rPr lang="en-US" altLang="en-US">
                <a:solidFill>
                  <a:srgbClr val="898989"/>
                </a:solidFill>
              </a:rPr>
              <a:pPr/>
              <a:t>7</a:t>
            </a:fld>
            <a:endParaRPr lang="en-US" altLang="en-US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>
            <a:extLst>
              <a:ext uri="{FF2B5EF4-FFF2-40B4-BE49-F238E27FC236}">
                <a16:creationId xmlns:a16="http://schemas.microsoft.com/office/drawing/2014/main" id="{19E19D0D-396F-4ED1-8D9D-9772002AA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2650" y="960438"/>
            <a:ext cx="7886700" cy="1325562"/>
          </a:xfrm>
        </p:spPr>
        <p:txBody>
          <a:bodyPr/>
          <a:lstStyle/>
          <a:p>
            <a:pPr eaLnBrk="1" hangingPunct="1"/>
            <a:r>
              <a:rPr lang="en-US" altLang="en-US"/>
              <a:t>Service Encounters and Moments of Truth</a:t>
            </a:r>
          </a:p>
        </p:txBody>
      </p:sp>
      <p:sp>
        <p:nvSpPr>
          <p:cNvPr id="29699" name="Content Placeholder 2">
            <a:extLst>
              <a:ext uri="{FF2B5EF4-FFF2-40B4-BE49-F238E27FC236}">
                <a16:creationId xmlns:a16="http://schemas.microsoft.com/office/drawing/2014/main" id="{66FB1E3E-0275-45DE-AF17-ABEB2301A8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910" y="2396332"/>
            <a:ext cx="10515600" cy="4351338"/>
          </a:xfrm>
        </p:spPr>
        <p:txBody>
          <a:bodyPr/>
          <a:lstStyle/>
          <a:p>
            <a:pPr marL="282575" indent="-342900">
              <a:spcBef>
                <a:spcPts val="500"/>
              </a:spcBef>
            </a:pPr>
            <a:r>
              <a:rPr lang="en-US" altLang="en-US" dirty="0"/>
              <a:t>Service encounter</a:t>
            </a:r>
          </a:p>
          <a:p>
            <a:pPr lvl="1" eaLnBrk="1" hangingPunct="1"/>
            <a:r>
              <a:rPr lang="en-US" altLang="en-US" dirty="0"/>
              <a:t>The heart of service</a:t>
            </a:r>
          </a:p>
          <a:p>
            <a:pPr marL="282575" indent="-342900">
              <a:spcBef>
                <a:spcPts val="500"/>
              </a:spcBef>
            </a:pPr>
            <a:r>
              <a:rPr lang="en-US" altLang="en-US" dirty="0"/>
              <a:t>Critical incident</a:t>
            </a:r>
          </a:p>
          <a:p>
            <a:pPr marL="282575" indent="-342900">
              <a:spcBef>
                <a:spcPts val="500"/>
              </a:spcBef>
            </a:pPr>
            <a:r>
              <a:rPr lang="en-US" altLang="en-US" dirty="0"/>
              <a:t>Moment of truth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338235-DE9A-4402-AB83-7C85E7E59B4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777CD38-590A-44AB-9D10-EF8681419561}" type="slidenum">
              <a:rPr lang="en-US" altLang="en-US">
                <a:solidFill>
                  <a:srgbClr val="898989"/>
                </a:solidFill>
              </a:rPr>
              <a:pPr/>
              <a:t>8</a:t>
            </a:fld>
            <a:endParaRPr lang="en-US" altLang="en-US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>
            <a:extLst>
              <a:ext uri="{FF2B5EF4-FFF2-40B4-BE49-F238E27FC236}">
                <a16:creationId xmlns:a16="http://schemas.microsoft.com/office/drawing/2014/main" id="{E8A59F4D-E940-40C7-A700-340079210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The Nature of Services</a:t>
            </a:r>
          </a:p>
        </p:txBody>
      </p:sp>
      <p:sp>
        <p:nvSpPr>
          <p:cNvPr id="31747" name="Content Placeholder 2">
            <a:extLst>
              <a:ext uri="{FF2B5EF4-FFF2-40B4-BE49-F238E27FC236}">
                <a16:creationId xmlns:a16="http://schemas.microsoft.com/office/drawing/2014/main" id="{85881DBB-D5C0-434D-8779-4E10D3CAEC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500"/>
              </a:spcBef>
            </a:pPr>
            <a:r>
              <a:rPr lang="en-US" altLang="en-US" b="1" dirty="0"/>
              <a:t>Intangibility</a:t>
            </a:r>
            <a:endParaRPr lang="en-US" altLang="en-US" dirty="0"/>
          </a:p>
          <a:p>
            <a:pPr marL="0" indent="0">
              <a:spcBef>
                <a:spcPts val="500"/>
              </a:spcBef>
              <a:buNone/>
            </a:pPr>
            <a:r>
              <a:rPr lang="en-US" altLang="en-US" dirty="0"/>
              <a:t>Services are partly or wholly </a:t>
            </a:r>
            <a:r>
              <a:rPr lang="en-US" altLang="en-US" b="1" dirty="0"/>
              <a:t>intangible.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altLang="en-US" dirty="0"/>
              <a:t>Cannot be grasped by one of the five senses.</a:t>
            </a:r>
          </a:p>
          <a:p>
            <a:pPr marL="0" indent="0">
              <a:spcBef>
                <a:spcPts val="500"/>
              </a:spcBef>
              <a:buNone/>
            </a:pPr>
            <a:endParaRPr lang="en-US" altLang="en-US" dirty="0"/>
          </a:p>
          <a:p>
            <a:pPr marL="0" indent="0">
              <a:spcBef>
                <a:spcPts val="500"/>
              </a:spcBef>
              <a:buNone/>
            </a:pPr>
            <a:endParaRPr lang="en-US" altLang="en-US" dirty="0"/>
          </a:p>
          <a:p>
            <a:pPr>
              <a:spcBef>
                <a:spcPts val="500"/>
              </a:spcBef>
            </a:pPr>
            <a:r>
              <a:rPr lang="en-US" altLang="en-US" b="1" dirty="0"/>
              <a:t>Perishability 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altLang="en-US" dirty="0"/>
              <a:t>If not sold by a particular time, the opportunity to sell it again is gone forever.</a:t>
            </a:r>
          </a:p>
          <a:p>
            <a:pPr>
              <a:spcBef>
                <a:spcPts val="500"/>
              </a:spcBef>
            </a:pPr>
            <a:endParaRPr lang="en-US" alt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DB1C63-DC64-4E0F-860F-9279BB791B3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7000768-A09E-4FB3-9BBC-3D5D3A2BCA37}" type="slidenum">
              <a:rPr lang="en-US" altLang="en-US">
                <a:solidFill>
                  <a:srgbClr val="898989"/>
                </a:solidFill>
              </a:rPr>
              <a:pPr/>
              <a:t>9</a:t>
            </a:fld>
            <a:endParaRPr lang="en-US" altLang="en-US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>
            <a:extLst>
              <a:ext uri="{FF2B5EF4-FFF2-40B4-BE49-F238E27FC236}">
                <a16:creationId xmlns:a16="http://schemas.microsoft.com/office/drawing/2014/main" id="{B5ABC8FE-2659-4A7A-B56C-B01334F2C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The Nature of Services</a:t>
            </a:r>
          </a:p>
        </p:txBody>
      </p:sp>
      <p:sp>
        <p:nvSpPr>
          <p:cNvPr id="33795" name="Content Placeholder 2">
            <a:extLst>
              <a:ext uri="{FF2B5EF4-FFF2-40B4-BE49-F238E27FC236}">
                <a16:creationId xmlns:a16="http://schemas.microsoft.com/office/drawing/2014/main" id="{D47664BC-EA3C-4123-9BE9-C8266AC4A6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500"/>
              </a:spcBef>
            </a:pPr>
            <a:r>
              <a:rPr lang="en-US" altLang="en-US" b="1" dirty="0"/>
              <a:t>Inseparability</a:t>
            </a:r>
            <a:endParaRPr lang="en-US" altLang="en-US" dirty="0"/>
          </a:p>
          <a:p>
            <a:pPr marL="0" indent="0">
              <a:spcBef>
                <a:spcPts val="500"/>
              </a:spcBef>
              <a:buNone/>
            </a:pPr>
            <a:r>
              <a:rPr lang="en-US" altLang="en-US" dirty="0"/>
              <a:t>Services are consumed at the moment or during the period of production or delivery (</a:t>
            </a:r>
            <a:r>
              <a:rPr lang="en-US" altLang="en-US" b="1" dirty="0"/>
              <a:t>Simultaneous production and consumption)</a:t>
            </a:r>
            <a:endParaRPr lang="en-US" altLang="en-US" dirty="0"/>
          </a:p>
          <a:p>
            <a:pPr marL="0" indent="0">
              <a:spcBef>
                <a:spcPts val="500"/>
              </a:spcBef>
              <a:buNone/>
            </a:pPr>
            <a:endParaRPr lang="en-US" altLang="en-US" dirty="0"/>
          </a:p>
          <a:p>
            <a:pPr marL="0" indent="0">
              <a:spcBef>
                <a:spcPts val="500"/>
              </a:spcBef>
              <a:buNone/>
            </a:pPr>
            <a:r>
              <a:rPr lang="en-US" altLang="en-US" dirty="0"/>
              <a:t>Services require interaction between the service provider and the customer, client, or guest </a:t>
            </a:r>
          </a:p>
          <a:p>
            <a:pPr marL="457200" lvl="1" indent="0">
              <a:buNone/>
            </a:pPr>
            <a:endParaRPr lang="en-US" altLang="en-US" dirty="0"/>
          </a:p>
          <a:p>
            <a:pPr lvl="1" eaLnBrk="1" hangingPunct="1"/>
            <a:endParaRPr lang="en-US" alt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B0E38E-DD5D-46B8-BDBE-3DCAFA4BBA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4EC3860-C028-45ED-B16E-C80A0EC0BEC3}" type="slidenum">
              <a:rPr lang="en-US" altLang="en-US">
                <a:solidFill>
                  <a:srgbClr val="898989"/>
                </a:solidFill>
              </a:rPr>
              <a:pPr/>
              <a:t>10</a:t>
            </a:fld>
            <a:endParaRPr lang="en-US" altLang="en-US">
              <a:solidFill>
                <a:srgbClr val="898989"/>
              </a:solidFill>
            </a:endParaRPr>
          </a:p>
        </p:txBody>
      </p:sp>
      <p:pic>
        <p:nvPicPr>
          <p:cNvPr id="6" name="Picture 1">
            <a:extLst>
              <a:ext uri="{FF2B5EF4-FFF2-40B4-BE49-F238E27FC236}">
                <a16:creationId xmlns:a16="http://schemas.microsoft.com/office/drawing/2014/main" id="{E5F67788-CFF4-4517-B066-E332078300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7780" y="4114964"/>
            <a:ext cx="5430416" cy="26065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158E2-6F41-480C-BE4D-68400F434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The Nature of Services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755B47-E434-4186-B2A8-64AFBEFA17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altLang="en-US" b="1" dirty="0"/>
              <a:t>Heterogeneity</a:t>
            </a:r>
          </a:p>
          <a:p>
            <a:pPr marL="457200" lvl="1" indent="0">
              <a:buNone/>
              <a:defRPr/>
            </a:pPr>
            <a:r>
              <a:rPr lang="en-US" altLang="en-US" sz="2600" dirty="0"/>
              <a:t>Delivery of services is inconsistent. </a:t>
            </a:r>
          </a:p>
          <a:p>
            <a:pPr marL="457200" lvl="1" indent="0">
              <a:buNone/>
              <a:defRPr/>
            </a:pPr>
            <a:r>
              <a:rPr lang="en-US" altLang="en-US" sz="2600" b="1" dirty="0"/>
              <a:t>“Moment of truth” </a:t>
            </a:r>
            <a:r>
              <a:rPr lang="en-US" altLang="en-US" sz="2600" dirty="0"/>
              <a:t>when the service product meets service delivery and consistency is key.</a:t>
            </a:r>
          </a:p>
          <a:p>
            <a:pPr marL="457200" lvl="1" indent="0">
              <a:buNone/>
              <a:defRPr/>
            </a:pPr>
            <a:r>
              <a:rPr lang="en-US" altLang="en-US" sz="2600" dirty="0"/>
              <a:t>Customers are varied and have different wants and needs.</a:t>
            </a:r>
          </a:p>
          <a:p>
            <a:pPr marL="1168400" lvl="1" indent="-711200">
              <a:defRPr/>
            </a:pPr>
            <a:endParaRPr lang="en-US" alt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12327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>
            <a:extLst>
              <a:ext uri="{FF2B5EF4-FFF2-40B4-BE49-F238E27FC236}">
                <a16:creationId xmlns:a16="http://schemas.microsoft.com/office/drawing/2014/main" id="{466D56BE-3357-4BBF-8225-091FF7008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The Importance of Guestology</a:t>
            </a:r>
          </a:p>
        </p:txBody>
      </p:sp>
      <p:sp>
        <p:nvSpPr>
          <p:cNvPr id="52227" name="Content Placeholder 2">
            <a:extLst>
              <a:ext uri="{FF2B5EF4-FFF2-40B4-BE49-F238E27FC236}">
                <a16:creationId xmlns:a16="http://schemas.microsoft.com/office/drawing/2014/main" id="{08834390-A17C-4C18-923E-1EFE585803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500"/>
              </a:spcBef>
            </a:pPr>
            <a:r>
              <a:rPr lang="en-US" altLang="en-US"/>
              <a:t>The traditional management model is insufficient</a:t>
            </a:r>
          </a:p>
          <a:p>
            <a:pPr>
              <a:spcBef>
                <a:spcPts val="500"/>
              </a:spcBef>
            </a:pPr>
            <a:r>
              <a:rPr lang="en-US" altLang="en-US"/>
              <a:t>The hospitality industry needs guestology</a:t>
            </a:r>
          </a:p>
          <a:p>
            <a:pPr>
              <a:spcBef>
                <a:spcPts val="500"/>
              </a:spcBef>
            </a:pPr>
            <a:r>
              <a:rPr lang="en-US" altLang="en-US"/>
              <a:t>All customers are guests</a:t>
            </a:r>
          </a:p>
          <a:p>
            <a:pPr>
              <a:spcBef>
                <a:spcPts val="500"/>
              </a:spcBef>
            </a:pPr>
            <a:r>
              <a:rPr lang="en-US" altLang="en-US"/>
              <a:t>Employees are guests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636741-0918-40EA-BA7B-10CAF43B711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0CDDDEE-248D-405C-84F9-032D363F55FC}" type="slidenum">
              <a:rPr lang="en-US" altLang="en-US">
                <a:solidFill>
                  <a:srgbClr val="898989"/>
                </a:solidFill>
              </a:rPr>
              <a:pPr/>
              <a:t>12</a:t>
            </a:fld>
            <a:endParaRPr lang="en-US" altLang="en-US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>
            <a:extLst>
              <a:ext uri="{FF2B5EF4-FFF2-40B4-BE49-F238E27FC236}">
                <a16:creationId xmlns:a16="http://schemas.microsoft.com/office/drawing/2014/main" id="{833BEBB9-810C-44E0-B0A0-6361E646C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Service</a:t>
            </a:r>
          </a:p>
        </p:txBody>
      </p:sp>
      <p:sp>
        <p:nvSpPr>
          <p:cNvPr id="23555" name="Content Placeholder 2">
            <a:extLst>
              <a:ext uri="{FF2B5EF4-FFF2-40B4-BE49-F238E27FC236}">
                <a16:creationId xmlns:a16="http://schemas.microsoft.com/office/drawing/2014/main" id="{0AA411A5-9557-4F36-96BF-F1BF966DCC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500"/>
              </a:spcBef>
            </a:pPr>
            <a:r>
              <a:rPr lang="en-US" altLang="en-US"/>
              <a:t>Service industries</a:t>
            </a:r>
          </a:p>
          <a:p>
            <a:pPr>
              <a:spcBef>
                <a:spcPts val="500"/>
              </a:spcBef>
            </a:pPr>
            <a:r>
              <a:rPr lang="en-US" altLang="en-US"/>
              <a:t>Goods to services to experiences</a:t>
            </a:r>
          </a:p>
          <a:p>
            <a:pPr lvl="1" eaLnBrk="1" hangingPunct="1"/>
            <a:r>
              <a:rPr lang="en-US" altLang="en-US"/>
              <a:t>All industries involve service</a:t>
            </a:r>
          </a:p>
          <a:p>
            <a:pPr lvl="1" eaLnBrk="1" hangingPunct="1"/>
            <a:r>
              <a:rPr lang="en-US" altLang="en-US"/>
              <a:t>Competitive advantage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7FFB13-2813-431A-9892-3094785559E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E36D211-52E1-4701-8C6A-4ECF5FC66497}" type="slidenum">
              <a:rPr lang="en-US" altLang="en-US">
                <a:solidFill>
                  <a:srgbClr val="898989"/>
                </a:solidFill>
              </a:rPr>
              <a:pPr/>
              <a:t>13</a:t>
            </a:fld>
            <a:endParaRPr lang="en-US" altLang="en-US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FB537-90C8-5158-A684-25E598035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6DAE49-373F-5377-CA72-A14CE029B3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l">
              <a:buNone/>
            </a:pPr>
            <a:r>
              <a:rPr lang="en-US" sz="2600" b="0" i="0" dirty="0">
                <a:solidFill>
                  <a:srgbClr val="000000"/>
                </a:solidFill>
                <a:effectLst/>
              </a:rPr>
              <a:t>Reflect on a recent, </a:t>
            </a:r>
            <a:r>
              <a:rPr lang="en-US" sz="2600" b="1" i="0" dirty="0">
                <a:solidFill>
                  <a:srgbClr val="000000"/>
                </a:solidFill>
                <a:effectLst/>
              </a:rPr>
              <a:t>enjoyable</a:t>
            </a:r>
            <a:r>
              <a:rPr lang="en-US" sz="2600" b="0" i="0" dirty="0">
                <a:solidFill>
                  <a:srgbClr val="000000"/>
                </a:solidFill>
                <a:effectLst/>
              </a:rPr>
              <a:t> guest experience and on a </a:t>
            </a:r>
            <a:r>
              <a:rPr lang="en-US" sz="2600" b="1" i="0" dirty="0">
                <a:solidFill>
                  <a:srgbClr val="000000"/>
                </a:solidFill>
                <a:effectLst/>
              </a:rPr>
              <a:t>disappointing</a:t>
            </a:r>
            <a:r>
              <a:rPr lang="en-US" sz="2600" b="0" i="0" dirty="0">
                <a:solidFill>
                  <a:srgbClr val="000000"/>
                </a:solidFill>
                <a:effectLst/>
              </a:rPr>
              <a:t> guest experience.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600" b="0" i="0" dirty="0">
                <a:solidFill>
                  <a:srgbClr val="000000"/>
                </a:solidFill>
                <a:effectLst/>
              </a:rPr>
              <a:t>What were the significant events, the moments of truth, during each experience? Summarize those key moments for one positive and one negative service encounters.</a:t>
            </a:r>
            <a:br>
              <a:rPr lang="en-US" sz="2600" b="0" i="0" dirty="0">
                <a:solidFill>
                  <a:srgbClr val="000000"/>
                </a:solidFill>
                <a:effectLst/>
              </a:rPr>
            </a:br>
            <a:endParaRPr lang="en-US" sz="2600" b="0" i="0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600" b="0" i="0" dirty="0">
                <a:solidFill>
                  <a:srgbClr val="000000"/>
                </a:solidFill>
                <a:effectLst/>
              </a:rPr>
              <a:t>How did they contribute to your enjoyment or disappointment?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sz="2600" b="0" i="0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600" b="0" i="0" dirty="0">
                <a:solidFill>
                  <a:srgbClr val="000000"/>
                </a:solidFill>
                <a:effectLst/>
              </a:rPr>
              <a:t>How do they relate to managing the guest experience in hospitality organizations? </a:t>
            </a:r>
            <a:r>
              <a:rPr lang="en-US" sz="2600" b="1" i="0" dirty="0">
                <a:solidFill>
                  <a:srgbClr val="000000"/>
                </a:solidFill>
                <a:effectLst/>
              </a:rPr>
              <a:t>Are those key moments related to service product, service setting , or service delivery system?</a:t>
            </a:r>
            <a:endParaRPr lang="en-US" sz="2600" b="0" i="0" dirty="0">
              <a:solidFill>
                <a:srgbClr val="000000"/>
              </a:solidFill>
              <a:effectLst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96050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11.0&quot;&gt;&lt;object type=&quot;1&quot; unique_id=&quot;10001&quot;&gt;&lt;object type=&quot;2&quot; unique_id=&quot;10002&quot;&gt;&lt;object type=&quot;3&quot; unique_id=&quot;10130&quot;&gt;&lt;property id=&quot;20148&quot; value=&quot;5&quot;/&gt;&lt;property id=&quot;20300&quot; value=&quot;Slide 1 - &amp;quot;Section 1&amp;quot;&quot;/&gt;&lt;property id=&quot;20307&quot; value=&quot;306&quot;/&gt;&lt;/object&gt;&lt;object type=&quot;3&quot; unique_id=&quot;10131&quot;&gt;&lt;property id=&quot;20148&quot; value=&quot;5&quot;/&gt;&lt;property id=&quot;20300&quot; value=&quot;Slide 2 - &amp;quot;Chapter 1&amp;quot;&quot;/&gt;&lt;property id=&quot;20307&quot; value=&quot;271&quot;/&gt;&lt;/object&gt;&lt;object type=&quot;3&quot; unique_id=&quot;10132&quot;&gt;&lt;property id=&quot;20148&quot; value=&quot;5&quot;/&gt;&lt;property id=&quot;20300&quot; value=&quot;Slide 4 - &amp;quot;Guestology: What Is It?&amp;quot;&quot;/&gt;&lt;property id=&quot;20307&quot; value=&quot;274&quot;/&gt;&lt;/object&gt;&lt;object type=&quot;3&quot; unique_id=&quot;10133&quot;&gt;&lt;property id=&quot;20148&quot; value=&quot;5&quot;/&gt;&lt;property id=&quot;20300&quot; value=&quot;Slide 5 - &amp;quot;Meeting Customer Expectations&amp;quot;&quot;/&gt;&lt;property id=&quot;20307&quot; value=&quot;305&quot;/&gt;&lt;/object&gt;&lt;object type=&quot;3&quot; unique_id=&quot;10137&quot;&gt;&lt;property id=&quot;20148&quot; value=&quot;5&quot;/&gt;&lt;property id=&quot;20300&quot; value=&quot;Slide 13 - &amp;quot;Service&amp;quot;&quot;/&gt;&lt;property id=&quot;20307&quot; value=&quot;290&quot;/&gt;&lt;/object&gt;&lt;object type=&quot;3&quot; unique_id=&quot;10139&quot;&gt;&lt;property id=&quot;20148&quot; value=&quot;5&quot;/&gt;&lt;property id=&quot;20300&quot; value=&quot;Slide 7 - &amp;quot;Components of the Guest Experience&amp;quot;&quot;/&gt;&lt;property id=&quot;20307&quot; value=&quot;292&quot;/&gt;&lt;/object&gt;&lt;object type=&quot;3&quot; unique_id=&quot;10140&quot;&gt;&lt;property id=&quot;20148&quot; value=&quot;5&quot;/&gt;&lt;property id=&quot;20300&quot; value=&quot;Slide 8 - &amp;quot;Service Encounters and Moments of Truth&amp;quot;&quot;/&gt;&lt;property id=&quot;20307&quot; value=&quot;293&quot;/&gt;&lt;/object&gt;&lt;object type=&quot;3&quot; unique_id=&quot;10141&quot;&gt;&lt;property id=&quot;20148&quot; value=&quot;5&quot;/&gt;&lt;property id=&quot;20300&quot; value=&quot;Slide 9 - &amp;quot;The Nature of Services&amp;quot;&quot;/&gt;&lt;property id=&quot;20307&quot; value=&quot;294&quot;/&gt;&lt;/object&gt;&lt;object type=&quot;3&quot; unique_id=&quot;10142&quot;&gt;&lt;property id=&quot;20148&quot; value=&quot;5&quot;/&gt;&lt;property id=&quot;20300&quot; value=&quot;Slide 10 - &amp;quot;The Nature of Services&amp;quot;&quot;/&gt;&lt;property id=&quot;20307&quot; value=&quot;295&quot;/&gt;&lt;/object&gt;&lt;object type=&quot;3&quot; unique_id=&quot;10144&quot;&gt;&lt;property id=&quot;20148&quot; value=&quot;5&quot;/&gt;&lt;property id=&quot;20300&quot; value=&quot;Slide 6 - &amp;quot;Guest Expectations&amp;quot;&quot;/&gt;&lt;property id=&quot;20307&quot; value=&quot;297&quot;/&gt;&lt;/object&gt;&lt;object type=&quot;3&quot; unique_id=&quot;10147&quot;&gt;&lt;property id=&quot;20148&quot; value=&quot;5&quot;/&gt;&lt;property id=&quot;20300&quot; value=&quot;Slide 12 - &amp;quot;The Importance of Guestology&amp;quot;&quot;/&gt;&lt;property id=&quot;20307&quot; value=&quot;304&quot;/&gt;&lt;/object&gt;&lt;object type=&quot;3&quot; unique_id=&quot;10295&quot;&gt;&lt;property id=&quot;20148&quot; value=&quot;5&quot;/&gt;&lt;property id=&quot;20300&quot; value=&quot;Slide 3 - &amp;quot;Objectives:&amp;quot;&quot;/&gt;&lt;property id=&quot;20307&quot; value=&quot;307&quot;/&gt;&lt;/object&gt;&lt;object type=&quot;3&quot; unique_id=&quot;10709&quot;&gt;&lt;property id=&quot;20148&quot; value=&quot;5&quot;/&gt;&lt;property id=&quot;20300&quot; value=&quot;Slide 11 - &amp;quot;The Nature of Services&amp;quot;&quot;/&gt;&lt;property id=&quot;20307&quot; value=&quot;308&quot;/&gt;&lt;/object&gt;&lt;/object&gt;&lt;object type=&quot;8&quot; unique_id=&quot;10006&quot;&gt;&lt;/object&gt;&lt;/object&gt;&lt;/database&gt;"/>
  <p:tag name="SECTOMILLISECCONVERTED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3754</TotalTime>
  <Words>663</Words>
  <Application>Microsoft Office PowerPoint</Application>
  <PresentationFormat>Widescreen</PresentationFormat>
  <Paragraphs>110</Paragraphs>
  <Slides>14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MS PGothic</vt:lpstr>
      <vt:lpstr>Arial</vt:lpstr>
      <vt:lpstr>Calibri</vt:lpstr>
      <vt:lpstr>Calibri Light</vt:lpstr>
      <vt:lpstr>Office Theme</vt:lpstr>
      <vt:lpstr>Section 1</vt:lpstr>
      <vt:lpstr>Chapter 1</vt:lpstr>
      <vt:lpstr>Objectives:</vt:lpstr>
      <vt:lpstr>Guestology: What Is It?</vt:lpstr>
      <vt:lpstr>Meeting Customer Expectations</vt:lpstr>
      <vt:lpstr>Guest Expectations</vt:lpstr>
      <vt:lpstr>Components of the Guest Experience</vt:lpstr>
      <vt:lpstr>Service Encounters and Moments of Truth</vt:lpstr>
      <vt:lpstr>The Nature of Services</vt:lpstr>
      <vt:lpstr>The Nature of Services</vt:lpstr>
      <vt:lpstr>The Nature of Services</vt:lpstr>
      <vt:lpstr>The Importance of Guestology</vt:lpstr>
      <vt:lpstr>Service</vt:lpstr>
      <vt:lpstr>Discussion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Nancy Kageyama</dc:creator>
  <cp:lastModifiedBy>Kageyama, Yoshimasa (Nancy)</cp:lastModifiedBy>
  <cp:revision>23</cp:revision>
  <dcterms:created xsi:type="dcterms:W3CDTF">2016-08-29T16:55:28Z</dcterms:created>
  <dcterms:modified xsi:type="dcterms:W3CDTF">2024-08-22T14:56:28Z</dcterms:modified>
</cp:coreProperties>
</file>