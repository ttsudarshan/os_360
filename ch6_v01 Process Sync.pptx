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45"/>
  </p:notesMasterIdLst>
  <p:handoutMasterIdLst>
    <p:handoutMasterId r:id="rId46"/>
  </p:handoutMasterIdLst>
  <p:sldIdLst>
    <p:sldId id="331" r:id="rId2"/>
    <p:sldId id="332" r:id="rId3"/>
    <p:sldId id="420" r:id="rId4"/>
    <p:sldId id="421" r:id="rId5"/>
    <p:sldId id="422" r:id="rId6"/>
    <p:sldId id="337" r:id="rId7"/>
    <p:sldId id="338" r:id="rId8"/>
    <p:sldId id="339" r:id="rId9"/>
    <p:sldId id="431" r:id="rId10"/>
    <p:sldId id="340" r:id="rId11"/>
    <p:sldId id="409" r:id="rId12"/>
    <p:sldId id="430" r:id="rId13"/>
    <p:sldId id="341" r:id="rId14"/>
    <p:sldId id="342" r:id="rId15"/>
    <p:sldId id="407" r:id="rId16"/>
    <p:sldId id="405" r:id="rId17"/>
    <p:sldId id="343" r:id="rId18"/>
    <p:sldId id="344" r:id="rId19"/>
    <p:sldId id="345" r:id="rId20"/>
    <p:sldId id="346" r:id="rId21"/>
    <p:sldId id="417" r:id="rId22"/>
    <p:sldId id="348" r:id="rId23"/>
    <p:sldId id="349" r:id="rId24"/>
    <p:sldId id="350" r:id="rId25"/>
    <p:sldId id="351" r:id="rId26"/>
    <p:sldId id="352" r:id="rId27"/>
    <p:sldId id="353" r:id="rId28"/>
    <p:sldId id="354" r:id="rId29"/>
    <p:sldId id="355" r:id="rId30"/>
    <p:sldId id="356" r:id="rId31"/>
    <p:sldId id="357" r:id="rId32"/>
    <p:sldId id="358" r:id="rId33"/>
    <p:sldId id="359" r:id="rId34"/>
    <p:sldId id="360" r:id="rId35"/>
    <p:sldId id="361" r:id="rId36"/>
    <p:sldId id="362" r:id="rId37"/>
    <p:sldId id="363" r:id="rId38"/>
    <p:sldId id="364" r:id="rId39"/>
    <p:sldId id="365" r:id="rId40"/>
    <p:sldId id="366" r:id="rId41"/>
    <p:sldId id="367" r:id="rId42"/>
    <p:sldId id="368" r:id="rId43"/>
    <p:sldId id="404" r:id="rId44"/>
  </p:sldIdLst>
  <p:sldSz cx="9144000" cy="6858000" type="screen4x3"/>
  <p:notesSz cx="7010400" cy="9296400"/>
  <p:defaultTextStyle>
    <a:defPPr>
      <a:defRPr lang="en-US"/>
    </a:defPPr>
    <a:lvl1pPr algn="l" rtl="0" eaLnBrk="0" fontAlgn="base" hangingPunct="0">
      <a:spcBef>
        <a:spcPct val="0"/>
      </a:spcBef>
      <a:spcAft>
        <a:spcPct val="0"/>
      </a:spcAft>
      <a:defRPr kern="1200">
        <a:solidFill>
          <a:schemeClr val="tx1"/>
        </a:solidFill>
        <a:latin typeface="Verdana" pitchFamily="34" charset="0"/>
        <a:ea typeface="MS PGothic" pitchFamily="34" charset="-128"/>
        <a:cs typeface="+mn-cs"/>
      </a:defRPr>
    </a:lvl1pPr>
    <a:lvl2pPr marL="455613" indent="1588" algn="l" rtl="0" eaLnBrk="0" fontAlgn="base" hangingPunct="0">
      <a:spcBef>
        <a:spcPct val="0"/>
      </a:spcBef>
      <a:spcAft>
        <a:spcPct val="0"/>
      </a:spcAft>
      <a:defRPr kern="1200">
        <a:solidFill>
          <a:schemeClr val="tx1"/>
        </a:solidFill>
        <a:latin typeface="Verdana" pitchFamily="34" charset="0"/>
        <a:ea typeface="MS PGothic" pitchFamily="34" charset="-128"/>
        <a:cs typeface="+mn-cs"/>
      </a:defRPr>
    </a:lvl2pPr>
    <a:lvl3pPr marL="912813" indent="1588" algn="l" rtl="0" eaLnBrk="0" fontAlgn="base" hangingPunct="0">
      <a:spcBef>
        <a:spcPct val="0"/>
      </a:spcBef>
      <a:spcAft>
        <a:spcPct val="0"/>
      </a:spcAft>
      <a:defRPr kern="1200">
        <a:solidFill>
          <a:schemeClr val="tx1"/>
        </a:solidFill>
        <a:latin typeface="Verdana" pitchFamily="34" charset="0"/>
        <a:ea typeface="MS PGothic" pitchFamily="34" charset="-128"/>
        <a:cs typeface="+mn-cs"/>
      </a:defRPr>
    </a:lvl3pPr>
    <a:lvl4pPr marL="1370013" indent="1588" algn="l" rtl="0" eaLnBrk="0" fontAlgn="base" hangingPunct="0">
      <a:spcBef>
        <a:spcPct val="0"/>
      </a:spcBef>
      <a:spcAft>
        <a:spcPct val="0"/>
      </a:spcAft>
      <a:defRPr kern="1200">
        <a:solidFill>
          <a:schemeClr val="tx1"/>
        </a:solidFill>
        <a:latin typeface="Verdana" pitchFamily="34" charset="0"/>
        <a:ea typeface="MS PGothic" pitchFamily="34" charset="-128"/>
        <a:cs typeface="+mn-cs"/>
      </a:defRPr>
    </a:lvl4pPr>
    <a:lvl5pPr marL="1827213" indent="1588" algn="l" rtl="0" eaLnBrk="0" fontAlgn="base" hangingPunct="0">
      <a:spcBef>
        <a:spcPct val="0"/>
      </a:spcBef>
      <a:spcAft>
        <a:spcPct val="0"/>
      </a:spcAft>
      <a:defRPr kern="1200">
        <a:solidFill>
          <a:schemeClr val="tx1"/>
        </a:solidFill>
        <a:latin typeface="Verdana" pitchFamily="34" charset="0"/>
        <a:ea typeface="MS PGothic" pitchFamily="34" charset="-128"/>
        <a:cs typeface="+mn-cs"/>
      </a:defRPr>
    </a:lvl5pPr>
    <a:lvl6pPr marL="2286000" algn="l" defTabSz="914400" rtl="0" eaLnBrk="1" latinLnBrk="0" hangingPunct="1">
      <a:defRPr kern="1200">
        <a:solidFill>
          <a:schemeClr val="tx1"/>
        </a:solidFill>
        <a:latin typeface="Verdana" pitchFamily="34" charset="0"/>
        <a:ea typeface="MS PGothic" pitchFamily="34" charset="-128"/>
        <a:cs typeface="+mn-cs"/>
      </a:defRPr>
    </a:lvl6pPr>
    <a:lvl7pPr marL="2743200" algn="l" defTabSz="914400" rtl="0" eaLnBrk="1" latinLnBrk="0" hangingPunct="1">
      <a:defRPr kern="1200">
        <a:solidFill>
          <a:schemeClr val="tx1"/>
        </a:solidFill>
        <a:latin typeface="Verdana" pitchFamily="34" charset="0"/>
        <a:ea typeface="MS PGothic" pitchFamily="34" charset="-128"/>
        <a:cs typeface="+mn-cs"/>
      </a:defRPr>
    </a:lvl7pPr>
    <a:lvl8pPr marL="3200400" algn="l" defTabSz="914400" rtl="0" eaLnBrk="1" latinLnBrk="0" hangingPunct="1">
      <a:defRPr kern="1200">
        <a:solidFill>
          <a:schemeClr val="tx1"/>
        </a:solidFill>
        <a:latin typeface="Verdana" pitchFamily="34" charset="0"/>
        <a:ea typeface="MS PGothic" pitchFamily="34" charset="-128"/>
        <a:cs typeface="+mn-cs"/>
      </a:defRPr>
    </a:lvl8pPr>
    <a:lvl9pPr marL="3657600" algn="l" defTabSz="914400" rtl="0" eaLnBrk="1" latinLnBrk="0" hangingPunct="1">
      <a:defRPr kern="1200">
        <a:solidFill>
          <a:schemeClr val="tx1"/>
        </a:solidFill>
        <a:latin typeface="Verdana" pitchFamily="34" charset="0"/>
        <a:ea typeface="MS PGothic"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CCECFF"/>
    <a:srgbClr val="66CCFF"/>
    <a:srgbClr val="CCFFFF"/>
    <a:srgbClr val="F8F8F8"/>
    <a:srgbClr val="EAEAE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34" autoAdjust="0"/>
    <p:restoredTop sz="94660"/>
  </p:normalViewPr>
  <p:slideViewPr>
    <p:cSldViewPr snapToGrid="0">
      <p:cViewPr varScale="1">
        <p:scale>
          <a:sx n="128" d="100"/>
          <a:sy n="128" d="100"/>
        </p:scale>
        <p:origin x="1181" y="72"/>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208"/>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u, Siming" userId="1e4b75e0-8938-470c-9583-bf4243e4c4f1" providerId="ADAL" clId="{5599D7A9-2C9F-49AA-9FE5-F34922CDD922}"/>
    <pc:docChg chg="modSld">
      <pc:chgData name="Liu, Siming" userId="1e4b75e0-8938-470c-9583-bf4243e4c4f1" providerId="ADAL" clId="{5599D7A9-2C9F-49AA-9FE5-F34922CDD922}" dt="2024-09-05T13:34:17.566" v="1" actId="20577"/>
      <pc:docMkLst>
        <pc:docMk/>
      </pc:docMkLst>
      <pc:sldChg chg="modSp mod">
        <pc:chgData name="Liu, Siming" userId="1e4b75e0-8938-470c-9583-bf4243e4c4f1" providerId="ADAL" clId="{5599D7A9-2C9F-49AA-9FE5-F34922CDD922}" dt="2024-09-05T13:34:12.778" v="0" actId="20577"/>
        <pc:sldMkLst>
          <pc:docMk/>
          <pc:sldMk cId="0" sldId="331"/>
        </pc:sldMkLst>
        <pc:spChg chg="mod">
          <ac:chgData name="Liu, Siming" userId="1e4b75e0-8938-470c-9583-bf4243e4c4f1" providerId="ADAL" clId="{5599D7A9-2C9F-49AA-9FE5-F34922CDD922}" dt="2024-09-05T13:34:12.778" v="0" actId="20577"/>
          <ac:spMkLst>
            <pc:docMk/>
            <pc:sldMk cId="0" sldId="331"/>
            <ac:spMk id="3074" creationId="{00000000-0000-0000-0000-000000000000}"/>
          </ac:spMkLst>
        </pc:spChg>
      </pc:sldChg>
      <pc:sldChg chg="modSp mod">
        <pc:chgData name="Liu, Siming" userId="1e4b75e0-8938-470c-9583-bf4243e4c4f1" providerId="ADAL" clId="{5599D7A9-2C9F-49AA-9FE5-F34922CDD922}" dt="2024-09-05T13:34:17.566" v="1" actId="20577"/>
        <pc:sldMkLst>
          <pc:docMk/>
          <pc:sldMk cId="0" sldId="332"/>
        </pc:sldMkLst>
        <pc:spChg chg="mod">
          <ac:chgData name="Liu, Siming" userId="1e4b75e0-8938-470c-9583-bf4243e4c4f1" providerId="ADAL" clId="{5599D7A9-2C9F-49AA-9FE5-F34922CDD922}" dt="2024-09-05T13:34:17.566" v="1" actId="20577"/>
          <ac:spMkLst>
            <pc:docMk/>
            <pc:sldMk cId="0" sldId="332"/>
            <ac:spMk id="4098" creationId="{00000000-0000-0000-0000-000000000000}"/>
          </ac:spMkLst>
        </pc:spChg>
      </pc:sldChg>
    </pc:docChg>
  </pc:docChgLst>
  <pc:docChgLst>
    <pc:chgData name="Liu, Siming" userId="1e4b75e0-8938-470c-9583-bf4243e4c4f1" providerId="ADAL" clId="{9AD367CB-22D5-49E4-A42E-56412B2B8D5E}"/>
    <pc:docChg chg="delSld modSld">
      <pc:chgData name="Liu, Siming" userId="1e4b75e0-8938-470c-9583-bf4243e4c4f1" providerId="ADAL" clId="{9AD367CB-22D5-49E4-A42E-56412B2B8D5E}" dt="2020-09-09T22:05:53.187" v="10" actId="20577"/>
      <pc:docMkLst>
        <pc:docMk/>
      </pc:docMkLst>
      <pc:sldChg chg="modSp mod">
        <pc:chgData name="Liu, Siming" userId="1e4b75e0-8938-470c-9583-bf4243e4c4f1" providerId="ADAL" clId="{9AD367CB-22D5-49E4-A42E-56412B2B8D5E}" dt="2020-09-09T22:05:38.220" v="4" actId="20577"/>
        <pc:sldMkLst>
          <pc:docMk/>
          <pc:sldMk cId="0" sldId="345"/>
        </pc:sldMkLst>
        <pc:spChg chg="mod">
          <ac:chgData name="Liu, Siming" userId="1e4b75e0-8938-470c-9583-bf4243e4c4f1" providerId="ADAL" clId="{9AD367CB-22D5-49E4-A42E-56412B2B8D5E}" dt="2020-09-09T22:05:38.220" v="4" actId="20577"/>
          <ac:spMkLst>
            <pc:docMk/>
            <pc:sldMk cId="0" sldId="345"/>
            <ac:spMk id="20483" creationId="{00000000-0000-0000-0000-000000000000}"/>
          </ac:spMkLst>
        </pc:spChg>
      </pc:sldChg>
      <pc:sldChg chg="del">
        <pc:chgData name="Liu, Siming" userId="1e4b75e0-8938-470c-9583-bf4243e4c4f1" providerId="ADAL" clId="{9AD367CB-22D5-49E4-A42E-56412B2B8D5E}" dt="2020-09-07T21:59:59.193" v="0" actId="47"/>
        <pc:sldMkLst>
          <pc:docMk/>
          <pc:sldMk cId="0" sldId="369"/>
        </pc:sldMkLst>
      </pc:sldChg>
      <pc:sldChg chg="del">
        <pc:chgData name="Liu, Siming" userId="1e4b75e0-8938-470c-9583-bf4243e4c4f1" providerId="ADAL" clId="{9AD367CB-22D5-49E4-A42E-56412B2B8D5E}" dt="2020-09-07T21:59:59.193" v="0" actId="47"/>
        <pc:sldMkLst>
          <pc:docMk/>
          <pc:sldMk cId="0" sldId="370"/>
        </pc:sldMkLst>
      </pc:sldChg>
      <pc:sldChg chg="del">
        <pc:chgData name="Liu, Siming" userId="1e4b75e0-8938-470c-9583-bf4243e4c4f1" providerId="ADAL" clId="{9AD367CB-22D5-49E4-A42E-56412B2B8D5E}" dt="2020-09-07T21:59:59.193" v="0" actId="47"/>
        <pc:sldMkLst>
          <pc:docMk/>
          <pc:sldMk cId="0" sldId="371"/>
        </pc:sldMkLst>
      </pc:sldChg>
      <pc:sldChg chg="del">
        <pc:chgData name="Liu, Siming" userId="1e4b75e0-8938-470c-9583-bf4243e4c4f1" providerId="ADAL" clId="{9AD367CB-22D5-49E4-A42E-56412B2B8D5E}" dt="2020-09-07T21:59:59.193" v="0" actId="47"/>
        <pc:sldMkLst>
          <pc:docMk/>
          <pc:sldMk cId="0" sldId="372"/>
        </pc:sldMkLst>
      </pc:sldChg>
      <pc:sldChg chg="del">
        <pc:chgData name="Liu, Siming" userId="1e4b75e0-8938-470c-9583-bf4243e4c4f1" providerId="ADAL" clId="{9AD367CB-22D5-49E4-A42E-56412B2B8D5E}" dt="2020-09-07T21:59:59.193" v="0" actId="47"/>
        <pc:sldMkLst>
          <pc:docMk/>
          <pc:sldMk cId="0" sldId="373"/>
        </pc:sldMkLst>
      </pc:sldChg>
      <pc:sldChg chg="del">
        <pc:chgData name="Liu, Siming" userId="1e4b75e0-8938-470c-9583-bf4243e4c4f1" providerId="ADAL" clId="{9AD367CB-22D5-49E4-A42E-56412B2B8D5E}" dt="2020-09-07T21:59:59.193" v="0" actId="47"/>
        <pc:sldMkLst>
          <pc:docMk/>
          <pc:sldMk cId="0" sldId="374"/>
        </pc:sldMkLst>
      </pc:sldChg>
      <pc:sldChg chg="modSp mod">
        <pc:chgData name="Liu, Siming" userId="1e4b75e0-8938-470c-9583-bf4243e4c4f1" providerId="ADAL" clId="{9AD367CB-22D5-49E4-A42E-56412B2B8D5E}" dt="2020-09-09T22:05:53.187" v="10" actId="20577"/>
        <pc:sldMkLst>
          <pc:docMk/>
          <pc:sldMk cId="0" sldId="417"/>
        </pc:sldMkLst>
        <pc:spChg chg="mod">
          <ac:chgData name="Liu, Siming" userId="1e4b75e0-8938-470c-9583-bf4243e4c4f1" providerId="ADAL" clId="{9AD367CB-22D5-49E4-A42E-56412B2B8D5E}" dt="2020-09-09T22:05:53.187" v="10" actId="20577"/>
          <ac:spMkLst>
            <pc:docMk/>
            <pc:sldMk cId="0" sldId="417"/>
            <ac:spMk id="22531" creationId="{00000000-0000-0000-0000-000000000000}"/>
          </ac:spMkLst>
        </pc:spChg>
      </pc:sldChg>
      <pc:sldChg chg="del">
        <pc:chgData name="Liu, Siming" userId="1e4b75e0-8938-470c-9583-bf4243e4c4f1" providerId="ADAL" clId="{9AD367CB-22D5-49E4-A42E-56412B2B8D5E}" dt="2020-09-07T21:59:59.193" v="0" actId="47"/>
        <pc:sldMkLst>
          <pc:docMk/>
          <pc:sldMk cId="727907242" sldId="432"/>
        </pc:sldMkLst>
      </pc:sldChg>
    </pc:docChg>
  </pc:docChgLst>
  <pc:docChgLst>
    <pc:chgData name="Siming Liu" userId="1e4b75e0-8938-470c-9583-bf4243e4c4f1" providerId="ADAL" clId="{3976BC21-FFBD-40EB-A769-0214B662FBBF}"/>
    <pc:docChg chg="custSel modSld">
      <pc:chgData name="Siming Liu" userId="1e4b75e0-8938-470c-9583-bf4243e4c4f1" providerId="ADAL" clId="{3976BC21-FFBD-40EB-A769-0214B662FBBF}" dt="2020-09-15T19:22:52.683" v="17" actId="20577"/>
      <pc:docMkLst>
        <pc:docMk/>
      </pc:docMkLst>
      <pc:sldChg chg="modSp mod">
        <pc:chgData name="Siming Liu" userId="1e4b75e0-8938-470c-9583-bf4243e4c4f1" providerId="ADAL" clId="{3976BC21-FFBD-40EB-A769-0214B662FBBF}" dt="2020-09-15T19:22:52.683" v="17" actId="20577"/>
        <pc:sldMkLst>
          <pc:docMk/>
          <pc:sldMk cId="0" sldId="359"/>
        </pc:sldMkLst>
        <pc:spChg chg="mod">
          <ac:chgData name="Siming Liu" userId="1e4b75e0-8938-470c-9583-bf4243e4c4f1" providerId="ADAL" clId="{3976BC21-FFBD-40EB-A769-0214B662FBBF}" dt="2020-09-15T19:22:52.683" v="17" actId="20577"/>
          <ac:spMkLst>
            <pc:docMk/>
            <pc:sldMk cId="0" sldId="359"/>
            <ac:spMk id="34819" creationId="{00000000-0000-0000-0000-000000000000}"/>
          </ac:spMkLst>
        </pc:spChg>
      </pc:sldChg>
    </pc:docChg>
  </pc:docChgLst>
  <pc:docChgLst>
    <pc:chgData name="Liu, Siming" userId="1e4b75e0-8938-470c-9583-bf4243e4c4f1" providerId="ADAL" clId="{B2F38597-1377-4E19-93A3-1B419AC37152}"/>
    <pc:docChg chg="undo custSel modSld">
      <pc:chgData name="Liu, Siming" userId="1e4b75e0-8938-470c-9583-bf4243e4c4f1" providerId="ADAL" clId="{B2F38597-1377-4E19-93A3-1B419AC37152}" dt="2024-02-08T15:21:12.491" v="24" actId="20577"/>
      <pc:docMkLst>
        <pc:docMk/>
      </pc:docMkLst>
      <pc:sldChg chg="modSp mod">
        <pc:chgData name="Liu, Siming" userId="1e4b75e0-8938-470c-9583-bf4243e4c4f1" providerId="ADAL" clId="{B2F38597-1377-4E19-93A3-1B419AC37152}" dt="2024-02-08T14:59:00.750" v="22" actId="207"/>
        <pc:sldMkLst>
          <pc:docMk/>
          <pc:sldMk cId="0" sldId="341"/>
        </pc:sldMkLst>
        <pc:spChg chg="mod">
          <ac:chgData name="Liu, Siming" userId="1e4b75e0-8938-470c-9583-bf4243e4c4f1" providerId="ADAL" clId="{B2F38597-1377-4E19-93A3-1B419AC37152}" dt="2024-02-08T14:59:00.750" v="22" actId="207"/>
          <ac:spMkLst>
            <pc:docMk/>
            <pc:sldMk cId="0" sldId="341"/>
            <ac:spMk id="15363" creationId="{00000000-0000-0000-0000-000000000000}"/>
          </ac:spMkLst>
        </pc:spChg>
      </pc:sldChg>
      <pc:sldChg chg="modSp mod">
        <pc:chgData name="Liu, Siming" userId="1e4b75e0-8938-470c-9583-bf4243e4c4f1" providerId="ADAL" clId="{B2F38597-1377-4E19-93A3-1B419AC37152}" dt="2024-02-08T15:21:12.491" v="24" actId="20577"/>
        <pc:sldMkLst>
          <pc:docMk/>
          <pc:sldMk cId="0" sldId="364"/>
        </pc:sldMkLst>
        <pc:spChg chg="mod">
          <ac:chgData name="Liu, Siming" userId="1e4b75e0-8938-470c-9583-bf4243e4c4f1" providerId="ADAL" clId="{B2F38597-1377-4E19-93A3-1B419AC37152}" dt="2024-02-08T15:21:12.491" v="24" actId="20577"/>
          <ac:spMkLst>
            <pc:docMk/>
            <pc:sldMk cId="0" sldId="364"/>
            <ac:spMk id="39939"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3073400" cy="442913"/>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defTabSz="883169">
              <a:defRPr sz="1100">
                <a:latin typeface="Helvetica" charset="0"/>
                <a:ea typeface="ＭＳ Ｐゴシック" charset="-128"/>
                <a:cs typeface="ＭＳ Ｐゴシック" charset="-128"/>
              </a:defRPr>
            </a:lvl1pPr>
          </a:lstStyle>
          <a:p>
            <a:pPr>
              <a:defRPr/>
            </a:pPr>
            <a:endParaRPr lang="en-US"/>
          </a:p>
        </p:txBody>
      </p:sp>
      <p:sp>
        <p:nvSpPr>
          <p:cNvPr id="46083" name="Rectangle 3"/>
          <p:cNvSpPr>
            <a:spLocks noGrp="1" noChangeArrowheads="1"/>
          </p:cNvSpPr>
          <p:nvPr>
            <p:ph type="dt" sz="quarter" idx="1"/>
          </p:nvPr>
        </p:nvSpPr>
        <p:spPr bwMode="auto">
          <a:xfrm>
            <a:off x="3951288" y="0"/>
            <a:ext cx="3071812" cy="442913"/>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algn="r" defTabSz="883169">
              <a:defRPr sz="1100">
                <a:latin typeface="Helvetica" charset="0"/>
                <a:ea typeface="ＭＳ Ｐゴシック" charset="-128"/>
                <a:cs typeface="ＭＳ Ｐゴシック" charset="-128"/>
              </a:defRPr>
            </a:lvl1pPr>
          </a:lstStyle>
          <a:p>
            <a:pPr>
              <a:defRPr/>
            </a:pPr>
            <a:endParaRPr lang="en-US"/>
          </a:p>
        </p:txBody>
      </p:sp>
      <p:sp>
        <p:nvSpPr>
          <p:cNvPr id="46084" name="Rectangle 4"/>
          <p:cNvSpPr>
            <a:spLocks noGrp="1" noChangeArrowheads="1"/>
          </p:cNvSpPr>
          <p:nvPr>
            <p:ph type="ftr" sz="quarter" idx="2"/>
          </p:nvPr>
        </p:nvSpPr>
        <p:spPr bwMode="auto">
          <a:xfrm>
            <a:off x="0" y="8866188"/>
            <a:ext cx="3073400" cy="442912"/>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defTabSz="883169">
              <a:defRPr sz="1100">
                <a:latin typeface="Helvetica" charset="0"/>
                <a:ea typeface="ＭＳ Ｐゴシック" charset="-128"/>
                <a:cs typeface="ＭＳ Ｐゴシック" charset="-128"/>
              </a:defRPr>
            </a:lvl1pPr>
          </a:lstStyle>
          <a:p>
            <a:pPr>
              <a:defRPr/>
            </a:pPr>
            <a:endParaRPr lang="en-US"/>
          </a:p>
        </p:txBody>
      </p:sp>
      <p:sp>
        <p:nvSpPr>
          <p:cNvPr id="46085" name="Rectangle 5"/>
          <p:cNvSpPr>
            <a:spLocks noGrp="1" noChangeArrowheads="1"/>
          </p:cNvSpPr>
          <p:nvPr>
            <p:ph type="sldNum" sz="quarter" idx="3"/>
          </p:nvPr>
        </p:nvSpPr>
        <p:spPr bwMode="auto">
          <a:xfrm>
            <a:off x="3951288" y="8866188"/>
            <a:ext cx="3071812" cy="442912"/>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algn="r" defTabSz="882650">
              <a:defRPr sz="1100">
                <a:latin typeface="Helvetica" pitchFamily="-84" charset="0"/>
              </a:defRPr>
            </a:lvl1pPr>
          </a:lstStyle>
          <a:p>
            <a:pPr>
              <a:defRPr/>
            </a:pPr>
            <a:fld id="{03509B8C-18A0-405D-94D2-EB0A0293C1CB}" type="slidenum">
              <a:rPr lang="en-US"/>
              <a:pPr>
                <a:defRPr/>
              </a:pPr>
              <a:t>‹#›</a:t>
            </a:fld>
            <a:endParaRPr lang="en-US"/>
          </a:p>
        </p:txBody>
      </p:sp>
    </p:spTree>
    <p:extLst>
      <p:ext uri="{BB962C8B-B14F-4D97-AF65-F5344CB8AC3E}">
        <p14:creationId xmlns:p14="http://schemas.microsoft.com/office/powerpoint/2010/main" val="39111216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6888" cy="463550"/>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defTabSz="931168">
              <a:defRPr sz="1200">
                <a:latin typeface="Times New Roman" charset="0"/>
                <a:ea typeface="ＭＳ Ｐゴシック" charset="-128"/>
                <a:cs typeface="ＭＳ Ｐゴシック" charset="-128"/>
              </a:defRPr>
            </a:lvl1pPr>
          </a:lstStyle>
          <a:p>
            <a:pPr>
              <a:defRPr/>
            </a:pPr>
            <a:endParaRPr lang="en-US"/>
          </a:p>
        </p:txBody>
      </p:sp>
      <p:sp>
        <p:nvSpPr>
          <p:cNvPr id="6147" name="Rectangle 3"/>
          <p:cNvSpPr>
            <a:spLocks noGrp="1" noChangeArrowheads="1"/>
          </p:cNvSpPr>
          <p:nvPr>
            <p:ph type="dt" idx="1"/>
          </p:nvPr>
        </p:nvSpPr>
        <p:spPr bwMode="auto">
          <a:xfrm>
            <a:off x="3973513" y="0"/>
            <a:ext cx="3036887" cy="463550"/>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algn="r" defTabSz="931168">
              <a:defRPr sz="1200">
                <a:latin typeface="Times New Roman" charset="0"/>
                <a:ea typeface="ＭＳ Ｐゴシック" charset="-128"/>
                <a:cs typeface="ＭＳ Ｐゴシック" charset="-128"/>
              </a:defRPr>
            </a:lvl1pPr>
          </a:lstStyle>
          <a:p>
            <a:pPr>
              <a:defRPr/>
            </a:pPr>
            <a:endParaRPr lang="en-US"/>
          </a:p>
        </p:txBody>
      </p:sp>
      <p:sp>
        <p:nvSpPr>
          <p:cNvPr id="70660" name="Rectangle 4"/>
          <p:cNvSpPr>
            <a:spLocks noGrp="1" noRot="1" noChangeAspect="1" noChangeArrowheads="1" noTextEdit="1"/>
          </p:cNvSpPr>
          <p:nvPr>
            <p:ph type="sldImg" idx="2"/>
          </p:nvPr>
        </p:nvSpPr>
        <p:spPr bwMode="auto">
          <a:xfrm>
            <a:off x="1181100" y="698500"/>
            <a:ext cx="4649788"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35038" y="4416425"/>
            <a:ext cx="5140325" cy="4181475"/>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832850"/>
            <a:ext cx="3036888" cy="463550"/>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defTabSz="931168">
              <a:defRPr sz="1200">
                <a:latin typeface="Times New Roman" charset="0"/>
                <a:ea typeface="ＭＳ Ｐゴシック" charset="-128"/>
                <a:cs typeface="ＭＳ Ｐゴシック" charset="-128"/>
              </a:defRPr>
            </a:lvl1pPr>
          </a:lstStyle>
          <a:p>
            <a:pPr>
              <a:defRPr/>
            </a:pPr>
            <a:endParaRPr lang="en-US"/>
          </a:p>
        </p:txBody>
      </p:sp>
      <p:sp>
        <p:nvSpPr>
          <p:cNvPr id="6151" name="Rectangle 7"/>
          <p:cNvSpPr>
            <a:spLocks noGrp="1" noChangeArrowheads="1"/>
          </p:cNvSpPr>
          <p:nvPr>
            <p:ph type="sldNum" sz="quarter" idx="5"/>
          </p:nvPr>
        </p:nvSpPr>
        <p:spPr bwMode="auto">
          <a:xfrm>
            <a:off x="3973513" y="8832850"/>
            <a:ext cx="3036887" cy="463550"/>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algn="r" defTabSz="930275">
              <a:defRPr sz="1200">
                <a:latin typeface="Times New Roman" pitchFamily="18" charset="0"/>
              </a:defRPr>
            </a:lvl1pPr>
          </a:lstStyle>
          <a:p>
            <a:pPr>
              <a:defRPr/>
            </a:pPr>
            <a:fld id="{C1160658-D7D0-42C6-A533-D6DC7AAF83DE}" type="slidenum">
              <a:rPr lang="en-US"/>
              <a:pPr>
                <a:defRPr/>
              </a:pPr>
              <a:t>‹#›</a:t>
            </a:fld>
            <a:endParaRPr lang="en-US"/>
          </a:p>
        </p:txBody>
      </p:sp>
    </p:spTree>
    <p:extLst>
      <p:ext uri="{BB962C8B-B14F-4D97-AF65-F5344CB8AC3E}">
        <p14:creationId xmlns:p14="http://schemas.microsoft.com/office/powerpoint/2010/main" val="111972326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1pPr>
    <a:lvl2pPr marL="4556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2pPr>
    <a:lvl3pPr marL="9128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3pPr>
    <a:lvl4pPr marL="13700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4pPr>
    <a:lvl5pPr marL="18272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5pPr>
    <a:lvl6pPr marL="2285886" algn="l" defTabSz="457177" rtl="0" eaLnBrk="1" latinLnBrk="0" hangingPunct="1">
      <a:defRPr sz="1200" kern="1200">
        <a:solidFill>
          <a:schemeClr val="tx1"/>
        </a:solidFill>
        <a:latin typeface="+mn-lt"/>
        <a:ea typeface="+mn-ea"/>
        <a:cs typeface="+mn-cs"/>
      </a:defRPr>
    </a:lvl6pPr>
    <a:lvl7pPr marL="2743063" algn="l" defTabSz="457177" rtl="0" eaLnBrk="1" latinLnBrk="0" hangingPunct="1">
      <a:defRPr sz="1200" kern="1200">
        <a:solidFill>
          <a:schemeClr val="tx1"/>
        </a:solidFill>
        <a:latin typeface="+mn-lt"/>
        <a:ea typeface="+mn-ea"/>
        <a:cs typeface="+mn-cs"/>
      </a:defRPr>
    </a:lvl7pPr>
    <a:lvl8pPr marL="3200240" algn="l" defTabSz="457177" rtl="0" eaLnBrk="1" latinLnBrk="0" hangingPunct="1">
      <a:defRPr sz="1200" kern="1200">
        <a:solidFill>
          <a:schemeClr val="tx1"/>
        </a:solidFill>
        <a:latin typeface="+mn-lt"/>
        <a:ea typeface="+mn-ea"/>
        <a:cs typeface="+mn-cs"/>
      </a:defRPr>
    </a:lvl8pPr>
    <a:lvl9pPr marL="3657417" algn="l" defTabSz="4571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4D21E16D-2E9E-4448-A9D0-13772B5F7353}" type="slidenum">
              <a:rPr lang="en-US" altLang="en-US" smtClean="0">
                <a:latin typeface="Times New Roman" pitchFamily="18" charset="0"/>
              </a:rPr>
              <a:pPr/>
              <a:t>1</a:t>
            </a:fld>
            <a:endParaRPr lang="en-US" altLang="en-US">
              <a:latin typeface="Times New Roman" pitchFamily="18"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037AC04A-EAD9-42D1-865D-343EDF08A68C}" type="slidenum">
              <a:rPr lang="en-US" altLang="en-US" smtClean="0">
                <a:latin typeface="Times New Roman" pitchFamily="18" charset="0"/>
              </a:rPr>
              <a:pPr/>
              <a:t>2</a:t>
            </a:fld>
            <a:endParaRPr lang="en-US" altLang="en-US">
              <a:latin typeface="Times New Roman"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984BA01D-F773-44EF-BED8-5897FDD7FB55}" type="slidenum">
              <a:rPr lang="en-US" altLang="en-US" smtClean="0">
                <a:latin typeface="Times New Roman" pitchFamily="18" charset="0"/>
              </a:rPr>
              <a:pPr/>
              <a:t>3</a:t>
            </a:fld>
            <a:endParaRPr lang="en-US" altLang="en-US">
              <a:latin typeface="Times New Roman" pitchFamily="18"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C512FA3A-372D-4B61-93AF-E90908A18CDE}" type="slidenum">
              <a:rPr lang="en-US" altLang="en-US" smtClean="0">
                <a:latin typeface="Times New Roman" pitchFamily="18" charset="0"/>
              </a:rPr>
              <a:pPr/>
              <a:t>4</a:t>
            </a:fld>
            <a:endParaRPr lang="en-US" altLang="en-US">
              <a:latin typeface="Times New Roman" pitchFamily="18" charset="0"/>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3D2FAF8F-3F85-4D5E-B2C6-0170036BD554}" type="slidenum">
              <a:rPr lang="en-US" altLang="en-US" smtClean="0">
                <a:latin typeface="Times New Roman" pitchFamily="18" charset="0"/>
              </a:rPr>
              <a:pPr/>
              <a:t>5</a:t>
            </a:fld>
            <a:endParaRPr lang="en-US" altLang="en-US">
              <a:latin typeface="Times New Roman" pitchFamily="18"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D2398991-9EA9-4FD8-8ABD-9D5EEB21E039}" type="slidenum">
              <a:rPr lang="en-US" altLang="en-US" smtClean="0">
                <a:latin typeface="Times New Roman" pitchFamily="18" charset="0"/>
              </a:rPr>
              <a:pPr/>
              <a:t>6</a:t>
            </a:fld>
            <a:endParaRPr lang="en-US" altLang="en-US">
              <a:latin typeface="Times New Roman" pitchFamily="18"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86B252CF-8409-4975-974F-F7A8EC246E0D}" type="slidenum">
              <a:rPr lang="en-US" altLang="en-US" smtClean="0">
                <a:latin typeface="Times New Roman" pitchFamily="18" charset="0"/>
              </a:rPr>
              <a:pPr/>
              <a:t>10</a:t>
            </a:fld>
            <a:endParaRPr lang="en-US" altLang="en-US">
              <a:latin typeface="Times New Roman" pitchFamily="18"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87449DF5-078B-4A97-BDFD-4C2D60BE3227}" type="slidenum">
              <a:rPr lang="en-US" altLang="en-US" smtClean="0">
                <a:latin typeface="Times New Roman" pitchFamily="18" charset="0"/>
              </a:rPr>
              <a:pPr/>
              <a:t>11</a:t>
            </a:fld>
            <a:endParaRPr lang="en-US" altLang="en-US">
              <a:latin typeface="Times New Roman" pitchFamily="18"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87449DF5-078B-4A97-BDFD-4C2D60BE3227}" type="slidenum">
              <a:rPr lang="en-US" altLang="en-US" smtClean="0">
                <a:latin typeface="Times New Roman" pitchFamily="18" charset="0"/>
              </a:rPr>
              <a:pPr/>
              <a:t>12</a:t>
            </a:fld>
            <a:endParaRPr lang="en-US" altLang="en-US">
              <a:latin typeface="Times New Roman" pitchFamily="18"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35861125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6293B9FA-0EE6-4FA8-9F08-FD8372B6FBAF}" type="slidenum">
              <a:rPr lang="en-US" altLang="en-US" smtClean="0">
                <a:latin typeface="Times New Roman" pitchFamily="18" charset="0"/>
              </a:rPr>
              <a:pPr/>
              <a:t>13</a:t>
            </a:fld>
            <a:endParaRPr lang="en-US" altLang="en-US">
              <a:latin typeface="Times New Roman" pitchFamily="18" charset="0"/>
            </a:endParaRP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3913D784-8B16-45CF-B37F-429C511C0AEB}" type="slidenum">
              <a:rPr lang="en-US" altLang="en-US" smtClean="0">
                <a:latin typeface="Times New Roman" pitchFamily="18" charset="0"/>
              </a:rPr>
              <a:pPr/>
              <a:t>14</a:t>
            </a:fld>
            <a:endParaRPr lang="en-US" altLang="en-US">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CC702209-7AF4-4DFC-9256-FAECF436BABE}" type="slidenum">
              <a:rPr lang="en-US" altLang="en-US" smtClean="0">
                <a:latin typeface="Times New Roman" pitchFamily="18" charset="0"/>
              </a:rPr>
              <a:pPr/>
              <a:t>15</a:t>
            </a:fld>
            <a:endParaRPr lang="en-US" altLang="en-US">
              <a:latin typeface="Times New Roman" pitchFamily="18"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A89A42FB-4652-49D5-B4B4-8DD8F39AD759}" type="slidenum">
              <a:rPr lang="en-US" altLang="en-US" smtClean="0">
                <a:latin typeface="Times New Roman" pitchFamily="18" charset="0"/>
              </a:rPr>
              <a:pPr/>
              <a:t>16</a:t>
            </a:fld>
            <a:endParaRPr lang="en-US" altLang="en-US">
              <a:latin typeface="Times New Roman" pitchFamily="18"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7FEDC3E8-6309-47C1-85A1-0A1FE41C98CD}" type="slidenum">
              <a:rPr lang="en-US" altLang="en-US" smtClean="0">
                <a:latin typeface="Times New Roman" pitchFamily="18" charset="0"/>
              </a:rPr>
              <a:pPr/>
              <a:t>17</a:t>
            </a:fld>
            <a:endParaRPr lang="en-US" altLang="en-US">
              <a:latin typeface="Times New Roman" pitchFamily="18" charset="0"/>
            </a:endParaRP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ln/>
        </p:spPr>
      </p:sp>
      <p:sp>
        <p:nvSpPr>
          <p:cNvPr id="860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BDC2F941-5BB3-465D-BBFE-DFA8FE4B4C0E}" type="slidenum">
              <a:rPr lang="en-US" altLang="en-US" smtClean="0">
                <a:latin typeface="Times New Roman" pitchFamily="18" charset="0"/>
              </a:rPr>
              <a:pPr/>
              <a:t>19</a:t>
            </a:fld>
            <a:endParaRPr lang="en-US" altLang="en-US">
              <a:latin typeface="Times New Roman" pitchFamily="18" charset="0"/>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B0E90AD6-12EC-4D18-A41E-7E6631A2B2F2}" type="slidenum">
              <a:rPr lang="en-US" altLang="en-US" smtClean="0">
                <a:latin typeface="Times New Roman" pitchFamily="18" charset="0"/>
              </a:rPr>
              <a:pPr/>
              <a:t>20</a:t>
            </a:fld>
            <a:endParaRPr lang="en-US" altLang="en-US">
              <a:latin typeface="Times New Roman" pitchFamily="18" charset="0"/>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0C1FC9A9-F47D-423B-8396-25E115BE0173}" type="slidenum">
              <a:rPr lang="en-US" altLang="en-US" smtClean="0">
                <a:latin typeface="Times New Roman" pitchFamily="18" charset="0"/>
              </a:rPr>
              <a:pPr/>
              <a:t>21</a:t>
            </a:fld>
            <a:endParaRPr lang="en-US" altLang="en-US">
              <a:latin typeface="Times New Roman" pitchFamily="18"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693D2464-E325-4937-9916-AAA2D28E746B}" type="slidenum">
              <a:rPr lang="en-US" altLang="en-US" smtClean="0">
                <a:latin typeface="Times New Roman" pitchFamily="18" charset="0"/>
              </a:rPr>
              <a:pPr/>
              <a:t>22</a:t>
            </a:fld>
            <a:endParaRPr lang="en-US" altLang="en-US">
              <a:latin typeface="Times New Roman" pitchFamily="18" charset="0"/>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ln/>
        </p:spPr>
      </p:sp>
      <p:sp>
        <p:nvSpPr>
          <p:cNvPr id="911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4BCD96BF-46DA-4925-AE16-30DB73D653E7}" type="slidenum">
              <a:rPr lang="en-US" altLang="en-US" smtClean="0">
                <a:latin typeface="Times New Roman" pitchFamily="18" charset="0"/>
              </a:rPr>
              <a:pPr/>
              <a:t>24</a:t>
            </a:fld>
            <a:endParaRPr lang="en-US" altLang="en-US">
              <a:latin typeface="Times New Roman" pitchFamily="18" charset="0"/>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32C79D29-4BF7-4DF7-B1F1-0E6325BEB518}" type="slidenum">
              <a:rPr lang="en-US" altLang="en-US" smtClean="0">
                <a:latin typeface="Times New Roman" pitchFamily="18" charset="0"/>
              </a:rPr>
              <a:pPr/>
              <a:t>26</a:t>
            </a:fld>
            <a:endParaRPr lang="en-US" altLang="en-US">
              <a:latin typeface="Times New Roman" pitchFamily="18" charset="0"/>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49855C7B-0EDA-439F-923E-4F672CEDC414}" type="slidenum">
              <a:rPr lang="en-US" altLang="en-US" smtClean="0">
                <a:latin typeface="Times New Roman" pitchFamily="18" charset="0"/>
              </a:rPr>
              <a:pPr/>
              <a:t>27</a:t>
            </a:fld>
            <a:endParaRPr lang="en-US" altLang="en-US">
              <a:latin typeface="Times New Roman" pitchFamily="18" charset="0"/>
            </a:endParaRP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0AC22D37-09E2-41E1-BB29-D2E2A3BD120C}" type="slidenum">
              <a:rPr lang="en-US" altLang="en-US" smtClean="0">
                <a:latin typeface="Times New Roman" pitchFamily="18" charset="0"/>
              </a:rPr>
              <a:pPr/>
              <a:t>28</a:t>
            </a:fld>
            <a:endParaRPr lang="en-US" altLang="en-US">
              <a:latin typeface="Times New Roman" pitchFamily="18" charset="0"/>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003ECD8E-46CF-496C-A979-B30C006E1883}" type="slidenum">
              <a:rPr lang="en-US" altLang="en-US" smtClean="0">
                <a:latin typeface="Times New Roman" pitchFamily="18" charset="0"/>
              </a:rPr>
              <a:pPr/>
              <a:t>29</a:t>
            </a:fld>
            <a:endParaRPr lang="en-US" altLang="en-US">
              <a:latin typeface="Times New Roman" pitchFamily="18"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EB87647E-DB50-4BBF-BC7B-724C6A959CA5}" type="slidenum">
              <a:rPr lang="en-US" altLang="en-US" smtClean="0">
                <a:latin typeface="Times New Roman" pitchFamily="18" charset="0"/>
              </a:rPr>
              <a:pPr/>
              <a:t>30</a:t>
            </a:fld>
            <a:endParaRPr lang="en-US" altLang="en-US">
              <a:latin typeface="Times New Roman" pitchFamily="18" charset="0"/>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B067FF15-7621-48FF-96A4-BF7966969EDD}" type="slidenum">
              <a:rPr lang="en-US" altLang="en-US" smtClean="0">
                <a:latin typeface="Times New Roman" pitchFamily="18" charset="0"/>
              </a:rPr>
              <a:pPr/>
              <a:t>31</a:t>
            </a:fld>
            <a:endParaRPr lang="en-US" altLang="en-US">
              <a:latin typeface="Times New Roman" pitchFamily="18"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559659D3-1361-4F14-A01F-4B04F9778FBD}" type="slidenum">
              <a:rPr lang="en-US" altLang="en-US" smtClean="0">
                <a:latin typeface="Times New Roman" pitchFamily="18" charset="0"/>
              </a:rPr>
              <a:pPr/>
              <a:t>32</a:t>
            </a:fld>
            <a:endParaRPr lang="en-US" altLang="en-US">
              <a:latin typeface="Times New Roman" pitchFamily="18" charset="0"/>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5B3F4F08-2BA3-4D3C-A26C-17A6290DA6BF}" type="slidenum">
              <a:rPr lang="en-US" altLang="en-US" smtClean="0">
                <a:latin typeface="Times New Roman" pitchFamily="18" charset="0"/>
              </a:rPr>
              <a:pPr/>
              <a:t>33</a:t>
            </a:fld>
            <a:endParaRPr lang="en-US" altLang="en-US">
              <a:latin typeface="Times New Roman" pitchFamily="18" charset="0"/>
            </a:endParaRPr>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3E4ADDF1-3C9B-46EC-8F80-210E8439A182}" type="slidenum">
              <a:rPr lang="en-US" altLang="en-US" smtClean="0">
                <a:latin typeface="Times New Roman" pitchFamily="18" charset="0"/>
              </a:rPr>
              <a:pPr/>
              <a:t>34</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C6FDD454-26B5-458F-842B-87D5BCBB83DD}" type="slidenum">
              <a:rPr lang="en-US" altLang="en-US" smtClean="0">
                <a:latin typeface="Times New Roman" pitchFamily="18" charset="0"/>
              </a:rPr>
              <a:pPr/>
              <a:t>35</a:t>
            </a:fld>
            <a:endParaRPr lang="en-US" altLang="en-US">
              <a:latin typeface="Times New Roman" pitchFamily="18" charset="0"/>
            </a:endParaRPr>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1F8022C6-C0E7-4E47-8427-6BC83C06EDAB}" type="slidenum">
              <a:rPr lang="en-US" altLang="en-US" smtClean="0">
                <a:latin typeface="Times New Roman" pitchFamily="18" charset="0"/>
              </a:rPr>
              <a:pPr/>
              <a:t>36</a:t>
            </a:fld>
            <a:endParaRPr lang="en-US" altLang="en-US">
              <a:latin typeface="Times New Roman" pitchFamily="18" charset="0"/>
            </a:endParaRP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941EC69F-D1FD-442C-B1F6-916AD34E7747}" type="slidenum">
              <a:rPr lang="en-US" altLang="en-US" smtClean="0">
                <a:latin typeface="Times New Roman" pitchFamily="18" charset="0"/>
              </a:rPr>
              <a:pPr/>
              <a:t>37</a:t>
            </a:fld>
            <a:endParaRPr lang="en-US" altLang="en-US">
              <a:latin typeface="Times New Roman" pitchFamily="18" charset="0"/>
            </a:endParaRPr>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FC58747D-0B54-46E0-87A1-428681BFB647}" type="slidenum">
              <a:rPr lang="en-US" altLang="en-US" smtClean="0">
                <a:latin typeface="Times New Roman" pitchFamily="18" charset="0"/>
              </a:rPr>
              <a:pPr/>
              <a:t>38</a:t>
            </a:fld>
            <a:endParaRPr lang="en-US" altLang="en-US">
              <a:latin typeface="Times New Roman" pitchFamily="18" charset="0"/>
            </a:endParaRPr>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7FEC6180-2AD2-4E0E-8836-C8BFD21625CE}" type="slidenum">
              <a:rPr lang="en-US" altLang="en-US" smtClean="0">
                <a:latin typeface="Times New Roman" pitchFamily="18" charset="0"/>
              </a:rPr>
              <a:pPr/>
              <a:t>40</a:t>
            </a:fld>
            <a:endParaRPr lang="en-US" altLang="en-US">
              <a:latin typeface="Times New Roman" pitchFamily="18" charset="0"/>
            </a:endParaRPr>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0544F177-52B4-499D-BD10-322C7DE9179A}" type="slidenum">
              <a:rPr lang="en-US" altLang="en-US" smtClean="0">
                <a:latin typeface="Times New Roman" pitchFamily="18" charset="0"/>
              </a:rPr>
              <a:pPr/>
              <a:t>41</a:t>
            </a:fld>
            <a:endParaRPr lang="en-US" altLang="en-US">
              <a:latin typeface="Times New Roman" pitchFamily="18" charset="0"/>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6926B387-0014-42B1-A5A9-E720AB1B10F3}" type="slidenum">
              <a:rPr lang="en-US" altLang="en-US" smtClean="0">
                <a:latin typeface="Times New Roman" pitchFamily="18" charset="0"/>
              </a:rPr>
              <a:pPr/>
              <a:t>42</a:t>
            </a:fld>
            <a:endParaRPr lang="en-US" altLang="en-US">
              <a:latin typeface="Times New Roman" pitchFamily="18" charset="0"/>
            </a:endParaRPr>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52D9DE2B-CA99-4042-9377-608A5873A002}" type="slidenum">
              <a:rPr lang="en-US" altLang="en-US" smtClean="0">
                <a:latin typeface="Times New Roman" pitchFamily="18" charset="0"/>
              </a:rPr>
              <a:pPr/>
              <a:t>43</a:t>
            </a:fld>
            <a:endParaRPr lang="en-US" altLang="en-US">
              <a:latin typeface="Times New Roman" pitchFamily="18" charset="0"/>
            </a:endParaRPr>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p:cNvGrpSpPr>
            <a:grpSpLocks/>
          </p:cNvGrpSpPr>
          <p:nvPr/>
        </p:nvGrpSpPr>
        <p:grpSpPr bwMode="auto">
          <a:xfrm>
            <a:off x="198438" y="2960688"/>
            <a:ext cx="8610600" cy="201612"/>
            <a:chOff x="125" y="1865"/>
            <a:chExt cx="5424" cy="127"/>
          </a:xfrm>
        </p:grpSpPr>
        <p:sp>
          <p:nvSpPr>
            <p:cNvPr id="4" name="Rectangle 4"/>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5" name="Rectangle 5"/>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6" name="Rectangle 6"/>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7" name="Text Box 7"/>
          <p:cNvSpPr txBox="1">
            <a:spLocks noChangeArrowheads="1"/>
          </p:cNvSpPr>
          <p:nvPr/>
        </p:nvSpPr>
        <p:spPr bwMode="auto">
          <a:xfrm>
            <a:off x="6489700" y="6588125"/>
            <a:ext cx="27130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p>
            <a:pPr algn="ctr">
              <a:spcBef>
                <a:spcPct val="50000"/>
              </a:spcBef>
            </a:pPr>
            <a:r>
              <a:rPr lang="en-US" altLang="en-US" sz="1000" b="1">
                <a:solidFill>
                  <a:srgbClr val="336699"/>
                </a:solidFill>
                <a:latin typeface="Helvetica" pitchFamily="-84" charset="0"/>
              </a:rPr>
              <a:t>Silberschatz, Galvin and Gagne ©2013</a:t>
            </a:r>
          </a:p>
        </p:txBody>
      </p:sp>
      <p:sp>
        <p:nvSpPr>
          <p:cNvPr id="8" name="Text Box 8"/>
          <p:cNvSpPr txBox="1">
            <a:spLocks noChangeArrowheads="1"/>
          </p:cNvSpPr>
          <p:nvPr/>
        </p:nvSpPr>
        <p:spPr bwMode="auto">
          <a:xfrm>
            <a:off x="26988" y="6613525"/>
            <a:ext cx="2659062"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spAutoFit/>
          </a:bodyPr>
          <a:lstStyle/>
          <a:p>
            <a:pPr>
              <a:spcBef>
                <a:spcPct val="50000"/>
              </a:spcBef>
            </a:pPr>
            <a:r>
              <a:rPr lang="en-US" altLang="en-US" sz="1000" b="1">
                <a:solidFill>
                  <a:srgbClr val="336699"/>
                </a:solidFill>
                <a:latin typeface="Helvetica" pitchFamily="-84" charset="0"/>
              </a:rPr>
              <a:t>Operating System Concepts – 9</a:t>
            </a:r>
            <a:r>
              <a:rPr lang="en-US" altLang="en-US" sz="1000" b="1" baseline="30000">
                <a:solidFill>
                  <a:srgbClr val="336699"/>
                </a:solidFill>
                <a:latin typeface="Helvetica" pitchFamily="-84" charset="0"/>
              </a:rPr>
              <a:t>th</a:t>
            </a:r>
            <a:r>
              <a:rPr lang="en-US" altLang="en-US" sz="1000" b="1">
                <a:solidFill>
                  <a:srgbClr val="336699"/>
                </a:solidFill>
                <a:latin typeface="Helvetica" pitchFamily="-84" charset="0"/>
              </a:rPr>
              <a:t> Edition</a:t>
            </a:r>
          </a:p>
        </p:txBody>
      </p:sp>
      <p:pic>
        <p:nvPicPr>
          <p:cNvPr id="9" name="Picture 9" descr="dino_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12184577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43292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lvl1pPr>
            <a:lvl2pPr marL="457177" indent="0">
              <a:buNone/>
              <a:defRPr sz="1800"/>
            </a:lvl2pPr>
            <a:lvl3pPr marL="914354" indent="0">
              <a:buNone/>
              <a:defRPr sz="1600"/>
            </a:lvl3pPr>
            <a:lvl4pPr marL="1371532" indent="0">
              <a:buNone/>
              <a:defRPr sz="1400"/>
            </a:lvl4pPr>
            <a:lvl5pPr marL="1828709" indent="0">
              <a:buNone/>
              <a:defRPr sz="1400"/>
            </a:lvl5pPr>
            <a:lvl6pPr marL="2285886" indent="0">
              <a:buNone/>
              <a:defRPr sz="1400"/>
            </a:lvl6pPr>
            <a:lvl7pPr marL="2743063" indent="0">
              <a:buNone/>
              <a:defRPr sz="1400"/>
            </a:lvl7pPr>
            <a:lvl8pPr marL="3200240" indent="0">
              <a:buNone/>
              <a:defRPr sz="1400"/>
            </a:lvl8pPr>
            <a:lvl9pPr marL="3657417" indent="0">
              <a:buNone/>
              <a:defRPr sz="1400"/>
            </a:lvl9pPr>
          </a:lstStyle>
          <a:p>
            <a:pPr lvl="0"/>
            <a:r>
              <a:rPr lang="en-US"/>
              <a:t>Click to edit Master text styles</a:t>
            </a:r>
          </a:p>
        </p:txBody>
      </p:sp>
    </p:spTree>
    <p:extLst>
      <p:ext uri="{BB962C8B-B14F-4D97-AF65-F5344CB8AC3E}">
        <p14:creationId xmlns:p14="http://schemas.microsoft.com/office/powerpoint/2010/main" val="1697694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9"/>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9"/>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002454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197574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766504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0221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16846657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177"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26565385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24119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447727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lang="en-US" dirty="0"/>
          </a:p>
        </p:txBody>
      </p:sp>
      <p:sp>
        <p:nvSpPr>
          <p:cNvPr id="7" name="Text Placeholder 6"/>
          <p:cNvSpPr>
            <a:spLocks noGrp="1"/>
          </p:cNvSpPr>
          <p:nvPr>
            <p:ph type="body" sz="quarter" idx="12"/>
          </p:nvPr>
        </p:nvSpPr>
        <p:spPr>
          <a:xfrm>
            <a:off x="886759" y="5513948"/>
            <a:ext cx="7759700" cy="833437"/>
          </a:xfrm>
        </p:spPr>
        <p:txBody>
          <a:bodyPr>
            <a:noAutofit/>
          </a:bodyPr>
          <a:lstStyle>
            <a:lvl1pPr marL="0" indent="0" algn="ctr">
              <a:buNone/>
              <a:defRPr sz="2400"/>
            </a:lvl1pPr>
          </a:lstStyle>
          <a:p>
            <a:pPr lvl="0"/>
            <a:r>
              <a:rPr lang="en-US" dirty="0"/>
              <a:t>Click to edit Master text styles</a:t>
            </a:r>
          </a:p>
        </p:txBody>
      </p:sp>
      <p:sp>
        <p:nvSpPr>
          <p:cNvPr id="4" name="Footer Placeholder 3"/>
          <p:cNvSpPr>
            <a:spLocks noGrp="1"/>
          </p:cNvSpPr>
          <p:nvPr>
            <p:ph type="ftr" sz="quarter" idx="13"/>
          </p:nvPr>
        </p:nvSpPr>
        <p:spPr>
          <a:xfrm>
            <a:off x="215900" y="6492875"/>
            <a:ext cx="8672513" cy="365125"/>
          </a:xfrm>
        </p:spPr>
        <p:txBody>
          <a:bodyPr/>
          <a:lstStyle>
            <a:lvl1pPr>
              <a:defRPr/>
            </a:lvl1pPr>
          </a:lstStyle>
          <a:p>
            <a:pPr>
              <a:defRPr/>
            </a:pPr>
            <a:r>
              <a:rPr lang="en-US"/>
              <a:t>Tanenbaum &amp; Bo,Modern  Operating Systems:4th ed., (c) 2013 Prentice-Hall, Inc. All rights reserved. </a:t>
            </a:r>
          </a:p>
        </p:txBody>
      </p:sp>
    </p:spTree>
    <p:extLst>
      <p:ext uri="{BB962C8B-B14F-4D97-AF65-F5344CB8AC3E}">
        <p14:creationId xmlns:p14="http://schemas.microsoft.com/office/powerpoint/2010/main" val="810403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p:cNvSpPr>
            <a:spLocks noGrp="1" noChangeArrowheads="1"/>
          </p:cNvSpPr>
          <p:nvPr>
            <p:ph type="title"/>
          </p:nvPr>
        </p:nvSpPr>
        <p:spPr bwMode="auto">
          <a:xfrm>
            <a:off x="457200" y="27781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b" anchorCtr="0" compatLnSpc="1">
            <a:prstTxWarp prst="textNoShape">
              <a:avLst/>
            </a:prstTxWarp>
          </a:bodyPr>
          <a:lstStyle/>
          <a:p>
            <a:pPr lvl="0"/>
            <a:r>
              <a:rPr lang="en-US" altLang="en-US"/>
              <a:t>Click to edit Master title style</a:t>
            </a:r>
          </a:p>
        </p:txBody>
      </p:sp>
      <p:sp>
        <p:nvSpPr>
          <p:cNvPr id="1028" name="Rectangle 4"/>
          <p:cNvSpPr>
            <a:spLocks noGrp="1" noChangeArrowheads="1"/>
          </p:cNvSpPr>
          <p:nvPr>
            <p:ph type="body" idx="1"/>
          </p:nvPr>
        </p:nvSpPr>
        <p:spPr bwMode="auto">
          <a:xfrm>
            <a:off x="806450" y="1233488"/>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5"/>
          <p:cNvSpPr>
            <a:spLocks noChangeArrowheads="1"/>
          </p:cNvSpPr>
          <p:nvPr/>
        </p:nvSpPr>
        <p:spPr bwMode="auto">
          <a:xfrm>
            <a:off x="0" y="0"/>
            <a:ext cx="2286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0" name="Line 6"/>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lIns="91435" tIns="45718" rIns="91435" bIns="45718"/>
          <a:lstStyle/>
          <a:p>
            <a:endParaRPr lang="en-US"/>
          </a:p>
        </p:txBody>
      </p:sp>
      <p:sp>
        <p:nvSpPr>
          <p:cNvPr id="1031" name="Rectangle 7"/>
          <p:cNvSpPr>
            <a:spLocks noChangeArrowheads="1"/>
          </p:cNvSpPr>
          <p:nvPr/>
        </p:nvSpPr>
        <p:spPr bwMode="auto">
          <a:xfrm>
            <a:off x="0" y="2286000"/>
            <a:ext cx="228600" cy="2286000"/>
          </a:xfrm>
          <a:prstGeom prst="rect">
            <a:avLst/>
          </a:prstGeom>
          <a:solidFill>
            <a:srgbClr val="99CCFF"/>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2" name="Rectangle 8"/>
          <p:cNvSpPr>
            <a:spLocks noChangeArrowheads="1"/>
          </p:cNvSpPr>
          <p:nvPr/>
        </p:nvSpPr>
        <p:spPr bwMode="auto">
          <a:xfrm>
            <a:off x="0" y="4572000"/>
            <a:ext cx="2286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3" name="Text Box 9"/>
          <p:cNvSpPr txBox="1">
            <a:spLocks noChangeArrowheads="1"/>
          </p:cNvSpPr>
          <p:nvPr/>
        </p:nvSpPr>
        <p:spPr bwMode="auto">
          <a:xfrm>
            <a:off x="4256088" y="6613525"/>
            <a:ext cx="44767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spAutoFit/>
          </a:bodyPr>
          <a:lstStyle/>
          <a:p>
            <a:pPr algn="ctr">
              <a:spcBef>
                <a:spcPct val="50000"/>
              </a:spcBef>
            </a:pPr>
            <a:r>
              <a:rPr lang="en-US" altLang="en-US" sz="1000" b="1">
                <a:solidFill>
                  <a:srgbClr val="006699"/>
                </a:solidFill>
                <a:latin typeface="Helvetica" pitchFamily="-84" charset="0"/>
              </a:rPr>
              <a:t>5.</a:t>
            </a:r>
            <a:fld id="{40F84484-8284-4FDB-BEB5-607517606566}" type="slidenum">
              <a:rPr lang="en-US" altLang="en-US" sz="1000" b="1">
                <a:solidFill>
                  <a:srgbClr val="006699"/>
                </a:solidFill>
                <a:latin typeface="Helvetica" pitchFamily="-84" charset="0"/>
              </a:rPr>
              <a:pPr algn="ctr">
                <a:spcBef>
                  <a:spcPct val="50000"/>
                </a:spcBef>
              </a:pPr>
              <a:t>‹#›</a:t>
            </a:fld>
            <a:endParaRPr lang="en-US" altLang="en-US" sz="1000" b="1">
              <a:solidFill>
                <a:srgbClr val="006699"/>
              </a:solidFill>
              <a:latin typeface="Helvetica" pitchFamily="-84" charset="0"/>
            </a:endParaRPr>
          </a:p>
        </p:txBody>
      </p:sp>
      <p:sp>
        <p:nvSpPr>
          <p:cNvPr id="1034" name="Text Box 10"/>
          <p:cNvSpPr txBox="1">
            <a:spLocks noChangeArrowheads="1"/>
          </p:cNvSpPr>
          <p:nvPr/>
        </p:nvSpPr>
        <p:spPr bwMode="auto">
          <a:xfrm>
            <a:off x="6489700" y="6588125"/>
            <a:ext cx="27130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p>
            <a:pPr algn="ctr">
              <a:spcBef>
                <a:spcPct val="50000"/>
              </a:spcBef>
            </a:pPr>
            <a:r>
              <a:rPr lang="en-US" altLang="en-US" sz="1000" b="1">
                <a:solidFill>
                  <a:srgbClr val="006699"/>
                </a:solidFill>
                <a:latin typeface="Helvetica" pitchFamily="-84" charset="0"/>
              </a:rPr>
              <a:t>Silberschatz, Galvin and Gagne ©2013</a:t>
            </a:r>
          </a:p>
        </p:txBody>
      </p:sp>
      <p:sp>
        <p:nvSpPr>
          <p:cNvPr id="1035" name="Text Box 11"/>
          <p:cNvSpPr txBox="1">
            <a:spLocks noChangeArrowheads="1"/>
          </p:cNvSpPr>
          <p:nvPr/>
        </p:nvSpPr>
        <p:spPr bwMode="auto">
          <a:xfrm>
            <a:off x="185738" y="6621463"/>
            <a:ext cx="2659062"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spAutoFit/>
          </a:bodyPr>
          <a:lstStyle/>
          <a:p>
            <a:pPr>
              <a:spcBef>
                <a:spcPct val="50000"/>
              </a:spcBef>
            </a:pPr>
            <a:r>
              <a:rPr lang="en-US" altLang="en-US" sz="1000" b="1">
                <a:solidFill>
                  <a:srgbClr val="006699"/>
                </a:solidFill>
                <a:latin typeface="Helvetica" pitchFamily="-84" charset="0"/>
              </a:rPr>
              <a:t>Operating System Concepts – 9</a:t>
            </a:r>
            <a:r>
              <a:rPr lang="en-US" altLang="en-US" sz="1000" b="1" baseline="30000">
                <a:solidFill>
                  <a:srgbClr val="006699"/>
                </a:solidFill>
                <a:latin typeface="Helvetica" pitchFamily="-84" charset="0"/>
              </a:rPr>
              <a:t>th</a:t>
            </a:r>
            <a:r>
              <a:rPr lang="en-US" altLang="en-US" sz="1000" b="1">
                <a:solidFill>
                  <a:srgbClr val="006699"/>
                </a:solidFill>
                <a:latin typeface="Helvetica" pitchFamily="-84" charset="0"/>
              </a:rPr>
              <a:t> Edition</a:t>
            </a:r>
          </a:p>
        </p:txBody>
      </p:sp>
      <p:pic>
        <p:nvPicPr>
          <p:cNvPr id="1036" name="Picture 12" descr="dino_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301" r:id="rId1"/>
    <p:sldLayoutId id="2147484290" r:id="rId2"/>
    <p:sldLayoutId id="2147484291" r:id="rId3"/>
    <p:sldLayoutId id="2147484292" r:id="rId4"/>
    <p:sldLayoutId id="2147484293" r:id="rId5"/>
    <p:sldLayoutId id="2147484294" r:id="rId6"/>
    <p:sldLayoutId id="2147484295" r:id="rId7"/>
    <p:sldLayoutId id="2147484296" r:id="rId8"/>
    <p:sldLayoutId id="2147484297" r:id="rId9"/>
    <p:sldLayoutId id="2147484298" r:id="rId10"/>
    <p:sldLayoutId id="2147484299" r:id="rId11"/>
    <p:sldLayoutId id="2147484302" r:id="rId12"/>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MS PGothic" charset="0"/>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5pPr>
      <a:lvl6pPr marL="457177" algn="ctr" rtl="0" fontAlgn="base">
        <a:spcBef>
          <a:spcPct val="0"/>
        </a:spcBef>
        <a:spcAft>
          <a:spcPct val="0"/>
        </a:spcAft>
        <a:defRPr sz="3200" b="1">
          <a:solidFill>
            <a:srgbClr val="006699"/>
          </a:solidFill>
          <a:latin typeface="Arial" charset="0"/>
        </a:defRPr>
      </a:lvl6pPr>
      <a:lvl7pPr marL="914354" algn="ctr" rtl="0" fontAlgn="base">
        <a:spcBef>
          <a:spcPct val="0"/>
        </a:spcBef>
        <a:spcAft>
          <a:spcPct val="0"/>
        </a:spcAft>
        <a:defRPr sz="3200" b="1">
          <a:solidFill>
            <a:srgbClr val="006699"/>
          </a:solidFill>
          <a:latin typeface="Arial" charset="0"/>
        </a:defRPr>
      </a:lvl7pPr>
      <a:lvl8pPr marL="1371532" algn="ctr" rtl="0" fontAlgn="base">
        <a:spcBef>
          <a:spcPct val="0"/>
        </a:spcBef>
        <a:spcAft>
          <a:spcPct val="0"/>
        </a:spcAft>
        <a:defRPr sz="3200" b="1">
          <a:solidFill>
            <a:srgbClr val="006699"/>
          </a:solidFill>
          <a:latin typeface="Arial" charset="0"/>
        </a:defRPr>
      </a:lvl8pPr>
      <a:lvl9pPr marL="1828709" algn="ctr" rtl="0" fontAlgn="base">
        <a:spcBef>
          <a:spcPct val="0"/>
        </a:spcBef>
        <a:spcAft>
          <a:spcPct val="0"/>
        </a:spcAft>
        <a:defRPr sz="3200" b="1">
          <a:solidFill>
            <a:srgbClr val="006699"/>
          </a:solidFill>
          <a:latin typeface="Arial" charset="0"/>
        </a:defRPr>
      </a:lvl9pPr>
    </p:titleStyle>
    <p:bodyStyle>
      <a:lvl1pPr marL="341313" indent="-341313"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MS PGothic" charset="0"/>
        </a:defRPr>
      </a:lvl1pPr>
      <a:lvl2pPr marL="741363" indent="-284163"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cs typeface="MS PGothic" charset="0"/>
        </a:defRPr>
      </a:lvl2pPr>
      <a:lvl3pPr marL="1084263" indent="-227013" algn="l" rtl="0" eaLnBrk="0" fontAlgn="base" hangingPunct="0">
        <a:spcBef>
          <a:spcPct val="35000"/>
        </a:spcBef>
        <a:spcAft>
          <a:spcPct val="0"/>
        </a:spcAft>
        <a:buClr>
          <a:srgbClr val="009900"/>
        </a:buClr>
        <a:buSzPct val="75000"/>
        <a:buFont typeface="Webdings" pitchFamily="18" charset="2"/>
        <a:buChar char="4"/>
        <a:defRPr kumimoji="1">
          <a:solidFill>
            <a:schemeClr val="tx1"/>
          </a:solidFill>
          <a:latin typeface="+mn-lt"/>
          <a:ea typeface="MS PGothic" pitchFamily="34" charset="-128"/>
          <a:cs typeface="MS PGothic" charset="0"/>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cs typeface="MS PGothic" charset="0"/>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cs typeface="MS PGothic" charset="0"/>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177" rtl="0" eaLnBrk="1" latinLnBrk="0" hangingPunct="1">
        <a:defRPr sz="1800" kern="1200">
          <a:solidFill>
            <a:schemeClr val="tx1"/>
          </a:solidFill>
          <a:latin typeface="+mn-lt"/>
          <a:ea typeface="+mn-ea"/>
          <a:cs typeface="+mn-cs"/>
        </a:defRPr>
      </a:lvl1pPr>
      <a:lvl2pPr marL="457177" algn="l" defTabSz="457177" rtl="0" eaLnBrk="1" latinLnBrk="0" hangingPunct="1">
        <a:defRPr sz="1800" kern="1200">
          <a:solidFill>
            <a:schemeClr val="tx1"/>
          </a:solidFill>
          <a:latin typeface="+mn-lt"/>
          <a:ea typeface="+mn-ea"/>
          <a:cs typeface="+mn-cs"/>
        </a:defRPr>
      </a:lvl2pPr>
      <a:lvl3pPr marL="914354" algn="l" defTabSz="457177" rtl="0" eaLnBrk="1" latinLnBrk="0" hangingPunct="1">
        <a:defRPr sz="1800" kern="1200">
          <a:solidFill>
            <a:schemeClr val="tx1"/>
          </a:solidFill>
          <a:latin typeface="+mn-lt"/>
          <a:ea typeface="+mn-ea"/>
          <a:cs typeface="+mn-cs"/>
        </a:defRPr>
      </a:lvl3pPr>
      <a:lvl4pPr marL="1371532" algn="l" defTabSz="457177" rtl="0" eaLnBrk="1" latinLnBrk="0" hangingPunct="1">
        <a:defRPr sz="1800" kern="1200">
          <a:solidFill>
            <a:schemeClr val="tx1"/>
          </a:solidFill>
          <a:latin typeface="+mn-lt"/>
          <a:ea typeface="+mn-ea"/>
          <a:cs typeface="+mn-cs"/>
        </a:defRPr>
      </a:lvl4pPr>
      <a:lvl5pPr marL="1828709" algn="l" defTabSz="457177" rtl="0" eaLnBrk="1" latinLnBrk="0" hangingPunct="1">
        <a:defRPr sz="1800" kern="1200">
          <a:solidFill>
            <a:schemeClr val="tx1"/>
          </a:solidFill>
          <a:latin typeface="+mn-lt"/>
          <a:ea typeface="+mn-ea"/>
          <a:cs typeface="+mn-cs"/>
        </a:defRPr>
      </a:lvl5pPr>
      <a:lvl6pPr marL="2285886" algn="l" defTabSz="457177" rtl="0" eaLnBrk="1" latinLnBrk="0" hangingPunct="1">
        <a:defRPr sz="1800" kern="1200">
          <a:solidFill>
            <a:schemeClr val="tx1"/>
          </a:solidFill>
          <a:latin typeface="+mn-lt"/>
          <a:ea typeface="+mn-ea"/>
          <a:cs typeface="+mn-cs"/>
        </a:defRPr>
      </a:lvl6pPr>
      <a:lvl7pPr marL="2743063" algn="l" defTabSz="457177" rtl="0" eaLnBrk="1" latinLnBrk="0" hangingPunct="1">
        <a:defRPr sz="1800" kern="1200">
          <a:solidFill>
            <a:schemeClr val="tx1"/>
          </a:solidFill>
          <a:latin typeface="+mn-lt"/>
          <a:ea typeface="+mn-ea"/>
          <a:cs typeface="+mn-cs"/>
        </a:defRPr>
      </a:lvl7pPr>
      <a:lvl8pPr marL="3200240" algn="l" defTabSz="457177" rtl="0" eaLnBrk="1" latinLnBrk="0" hangingPunct="1">
        <a:defRPr sz="1800" kern="1200">
          <a:solidFill>
            <a:schemeClr val="tx1"/>
          </a:solidFill>
          <a:latin typeface="+mn-lt"/>
          <a:ea typeface="+mn-ea"/>
          <a:cs typeface="+mn-cs"/>
        </a:defRPr>
      </a:lvl8pPr>
      <a:lvl9pPr marL="3657417" algn="l" defTabSz="4571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stackoverflow.com/questions/15675676/will-petersons-solution-work-correctly-on-modern-cpu-architectures#:~:text=On%20a%20system%20with%20one,be%20perceived%20differently%20on%20another"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685800" y="808038"/>
            <a:ext cx="7772400" cy="2128837"/>
          </a:xfrm>
        </p:spPr>
        <p:txBody>
          <a:bodyPr/>
          <a:lstStyle/>
          <a:p>
            <a:pPr eaLnBrk="1" hangingPunct="1"/>
            <a:r>
              <a:rPr lang="en-US" altLang="en-US" dirty="0"/>
              <a:t>Chapter 6:  Process Synchronization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1271588" y="201613"/>
            <a:ext cx="7707312" cy="576262"/>
          </a:xfrm>
        </p:spPr>
        <p:txBody>
          <a:bodyPr/>
          <a:lstStyle/>
          <a:p>
            <a:pPr eaLnBrk="1" hangingPunct="1"/>
            <a:r>
              <a:rPr lang="en-US" altLang="en-US"/>
              <a:t>Chapter 6: </a:t>
            </a:r>
            <a:r>
              <a:rPr lang="en-US" altLang="en-US" dirty="0"/>
              <a:t>Process Synchronization</a:t>
            </a:r>
          </a:p>
        </p:txBody>
      </p:sp>
      <p:sp>
        <p:nvSpPr>
          <p:cNvPr id="4099" name="Rectangle 3"/>
          <p:cNvSpPr>
            <a:spLocks noGrp="1" noChangeArrowheads="1"/>
          </p:cNvSpPr>
          <p:nvPr>
            <p:ph idx="1"/>
          </p:nvPr>
        </p:nvSpPr>
        <p:spPr>
          <a:xfrm>
            <a:off x="847725" y="1165225"/>
            <a:ext cx="6040438" cy="3270250"/>
          </a:xfrm>
        </p:spPr>
        <p:txBody>
          <a:bodyPr/>
          <a:lstStyle/>
          <a:p>
            <a:pPr>
              <a:lnSpc>
                <a:spcPct val="80000"/>
              </a:lnSpc>
            </a:pPr>
            <a:r>
              <a:rPr lang="en-US" altLang="en-US" sz="2400" dirty="0"/>
              <a:t>The Critical-Section Problem</a:t>
            </a:r>
          </a:p>
          <a:p>
            <a:pPr>
              <a:lnSpc>
                <a:spcPct val="80000"/>
              </a:lnSpc>
            </a:pPr>
            <a:r>
              <a:rPr lang="en-US" altLang="en-US" sz="2400" dirty="0"/>
              <a:t>Peterson</a:t>
            </a:r>
            <a:r>
              <a:rPr lang="ja-JP" altLang="en-US" sz="2400" dirty="0"/>
              <a:t>’</a:t>
            </a:r>
            <a:r>
              <a:rPr lang="en-US" altLang="ja-JP" sz="2400" dirty="0"/>
              <a:t>s Solution</a:t>
            </a:r>
          </a:p>
          <a:p>
            <a:pPr>
              <a:lnSpc>
                <a:spcPct val="80000"/>
              </a:lnSpc>
            </a:pPr>
            <a:r>
              <a:rPr lang="en-US" altLang="en-US" sz="2400" dirty="0"/>
              <a:t>Synchronization Hardware</a:t>
            </a:r>
          </a:p>
          <a:p>
            <a:pPr>
              <a:lnSpc>
                <a:spcPct val="80000"/>
              </a:lnSpc>
            </a:pPr>
            <a:r>
              <a:rPr lang="en-US" altLang="en-US" sz="2400" b="1" dirty="0" err="1"/>
              <a:t>Mutex</a:t>
            </a:r>
            <a:r>
              <a:rPr lang="en-US" altLang="en-US" sz="2400" dirty="0"/>
              <a:t> Locks</a:t>
            </a:r>
          </a:p>
          <a:p>
            <a:pPr>
              <a:lnSpc>
                <a:spcPct val="80000"/>
              </a:lnSpc>
            </a:pPr>
            <a:r>
              <a:rPr lang="en-US" altLang="en-US" sz="2400" b="1" dirty="0"/>
              <a:t>Semaphores</a:t>
            </a:r>
          </a:p>
          <a:p>
            <a:pPr>
              <a:lnSpc>
                <a:spcPct val="80000"/>
              </a:lnSpc>
            </a:pPr>
            <a:r>
              <a:rPr lang="en-US" altLang="en-US" sz="2400" dirty="0"/>
              <a:t>Classic Problems of Synchronization</a:t>
            </a:r>
          </a:p>
          <a:p>
            <a:pPr>
              <a:lnSpc>
                <a:spcPct val="80000"/>
              </a:lnSpc>
            </a:pPr>
            <a:r>
              <a:rPr lang="en-US" altLang="en-US" sz="2400" b="1" dirty="0"/>
              <a:t>Monitors</a:t>
            </a:r>
          </a:p>
          <a:p>
            <a:pPr>
              <a:lnSpc>
                <a:spcPct val="80000"/>
              </a:lnSpc>
            </a:pPr>
            <a:endParaRPr lang="en-US" altLang="en-US" sz="2400" dirty="0"/>
          </a:p>
        </p:txBody>
      </p:sp>
      <p:sp>
        <p:nvSpPr>
          <p:cNvPr id="4100" name="Rectangle 5"/>
          <p:cNvSpPr>
            <a:spLocks noChangeArrowheads="1"/>
          </p:cNvSpPr>
          <p:nvPr/>
        </p:nvSpPr>
        <p:spPr bwMode="auto">
          <a:xfrm>
            <a:off x="2286000" y="5116513"/>
            <a:ext cx="407828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endParaRPr kumimoji="1" lang="en-US" altLang="en-US">
              <a:latin typeface="Helvetica" pitchFamily="-84" charset="0"/>
            </a:endParaRPr>
          </a:p>
          <a:p>
            <a:endParaRPr kumimoji="1" lang="en-US" altLang="en-US">
              <a:latin typeface="Helvetica" pitchFamily="-84" charset="0"/>
            </a:endParaRPr>
          </a:p>
          <a:p>
            <a:endParaRPr kumimoji="1" lang="en-US" altLang="en-US">
              <a:latin typeface="Helvetica" pitchFamily="-8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Grp="1" noChangeArrowheads="1"/>
          </p:cNvSpPr>
          <p:nvPr>
            <p:ph type="title"/>
          </p:nvPr>
        </p:nvSpPr>
        <p:spPr>
          <a:xfrm>
            <a:off x="784225" y="187325"/>
            <a:ext cx="7902575" cy="576263"/>
          </a:xfrm>
        </p:spPr>
        <p:txBody>
          <a:bodyPr/>
          <a:lstStyle/>
          <a:p>
            <a:pPr eaLnBrk="1" hangingPunct="1"/>
            <a:r>
              <a:rPr lang="en-US" altLang="en-US"/>
              <a:t>Background</a:t>
            </a:r>
          </a:p>
        </p:txBody>
      </p:sp>
      <p:sp>
        <p:nvSpPr>
          <p:cNvPr id="6147" name="Rectangle 5"/>
          <p:cNvSpPr>
            <a:spLocks noGrp="1" noChangeArrowheads="1"/>
          </p:cNvSpPr>
          <p:nvPr>
            <p:ph type="body" idx="1"/>
          </p:nvPr>
        </p:nvSpPr>
        <p:spPr>
          <a:xfrm>
            <a:off x="857250" y="1125538"/>
            <a:ext cx="7294656" cy="4860925"/>
          </a:xfrm>
        </p:spPr>
        <p:txBody>
          <a:bodyPr/>
          <a:lstStyle/>
          <a:p>
            <a:r>
              <a:rPr lang="en-US" altLang="en-US" dirty="0"/>
              <a:t>Processes can execute concurrently</a:t>
            </a:r>
          </a:p>
          <a:p>
            <a:pPr lvl="1"/>
            <a:r>
              <a:rPr lang="en-US" altLang="en-US" dirty="0"/>
              <a:t>May be </a:t>
            </a:r>
            <a:r>
              <a:rPr lang="en-US" altLang="en-US" dirty="0">
                <a:solidFill>
                  <a:srgbClr val="0070C0"/>
                </a:solidFill>
              </a:rPr>
              <a:t>interrupted</a:t>
            </a:r>
            <a:r>
              <a:rPr lang="en-US" altLang="en-US" dirty="0"/>
              <a:t> at any time</a:t>
            </a:r>
          </a:p>
          <a:p>
            <a:r>
              <a:rPr lang="en-US" altLang="en-US" dirty="0"/>
              <a:t>Concurrent access to </a:t>
            </a:r>
            <a:r>
              <a:rPr lang="en-US" altLang="en-US" dirty="0">
                <a:solidFill>
                  <a:srgbClr val="0070C0"/>
                </a:solidFill>
              </a:rPr>
              <a:t>shared data </a:t>
            </a:r>
            <a:r>
              <a:rPr lang="en-US" altLang="en-US" dirty="0"/>
              <a:t>may result in </a:t>
            </a:r>
            <a:r>
              <a:rPr lang="en-US" altLang="en-US" dirty="0">
                <a:solidFill>
                  <a:srgbClr val="0070C0"/>
                </a:solidFill>
              </a:rPr>
              <a:t>data inconsistency</a:t>
            </a:r>
          </a:p>
          <a:p>
            <a:r>
              <a:rPr lang="en-US" altLang="en-US" dirty="0"/>
              <a:t>Maintaining data consistency requires mechanisms to ensure the orderly execution of cooperating processes</a:t>
            </a:r>
          </a:p>
          <a:p>
            <a:r>
              <a:rPr lang="en-US" altLang="en-US" dirty="0"/>
              <a:t>A solution to the producer-consumer problem:</a:t>
            </a:r>
          </a:p>
          <a:p>
            <a:pPr lvl="1"/>
            <a:r>
              <a:rPr lang="en-US" altLang="en-US" dirty="0"/>
              <a:t>Having an integer </a:t>
            </a:r>
            <a:r>
              <a:rPr lang="en-US" altLang="en-US" b="1" dirty="0">
                <a:latin typeface="Courier" pitchFamily="-84" charset="0"/>
              </a:rPr>
              <a:t>counter</a:t>
            </a:r>
            <a:r>
              <a:rPr lang="en-US" altLang="en-US" b="1" dirty="0">
                <a:solidFill>
                  <a:srgbClr val="0000FF"/>
                </a:solidFill>
              </a:rPr>
              <a:t> </a:t>
            </a:r>
            <a:r>
              <a:rPr lang="en-US" altLang="en-US" dirty="0"/>
              <a:t>that keeps track of the number of full buffers.  </a:t>
            </a:r>
          </a:p>
          <a:p>
            <a:pPr lvl="1"/>
            <a:r>
              <a:rPr lang="en-US" altLang="en-US" dirty="0"/>
              <a:t>Initially, </a:t>
            </a:r>
            <a:r>
              <a:rPr lang="en-US" altLang="en-US" b="1" dirty="0">
                <a:latin typeface="Courier" pitchFamily="-84" charset="0"/>
              </a:rPr>
              <a:t>counter</a:t>
            </a:r>
            <a:r>
              <a:rPr lang="en-US" altLang="en-US" dirty="0">
                <a:latin typeface="Courier" pitchFamily="-84" charset="0"/>
              </a:rPr>
              <a:t> </a:t>
            </a:r>
            <a:r>
              <a:rPr lang="en-US" altLang="en-US" dirty="0"/>
              <a:t>is set to 0. </a:t>
            </a:r>
          </a:p>
          <a:p>
            <a:pPr lvl="1"/>
            <a:r>
              <a:rPr lang="en-US" altLang="en-US" dirty="0"/>
              <a:t>Incremented by the producer.</a:t>
            </a:r>
          </a:p>
          <a:p>
            <a:pPr lvl="1"/>
            <a:r>
              <a:rPr lang="en-US" altLang="en-US" dirty="0"/>
              <a:t>Decremented by the consumer.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57200" y="187325"/>
            <a:ext cx="8229600" cy="576263"/>
          </a:xfrm>
        </p:spPr>
        <p:txBody>
          <a:bodyPr/>
          <a:lstStyle/>
          <a:p>
            <a:pPr eaLnBrk="1" hangingPunct="1"/>
            <a:r>
              <a:rPr lang="en-US" altLang="en-US"/>
              <a:t>Producer </a:t>
            </a:r>
          </a:p>
        </p:txBody>
      </p:sp>
      <p:sp>
        <p:nvSpPr>
          <p:cNvPr id="7171" name="Rectangle 3"/>
          <p:cNvSpPr>
            <a:spLocks noGrp="1" noChangeArrowheads="1"/>
          </p:cNvSpPr>
          <p:nvPr>
            <p:ph type="body" idx="1"/>
          </p:nvPr>
        </p:nvSpPr>
        <p:spPr>
          <a:xfrm>
            <a:off x="1181100" y="1258888"/>
            <a:ext cx="6732588" cy="4557712"/>
          </a:xfrm>
        </p:spPr>
        <p:txBody>
          <a:bodyPr/>
          <a:lstStyle/>
          <a:p>
            <a:pPr marL="0" indent="0">
              <a:buFont typeface="Monotype Sorts" pitchFamily="-84" charset="2"/>
              <a:buNone/>
            </a:pPr>
            <a:r>
              <a:rPr lang="en-US" altLang="en-US" sz="1700" dirty="0">
                <a:latin typeface="Courier New" pitchFamily="49" charset="0"/>
                <a:cs typeface="Courier New" pitchFamily="49" charset="0"/>
              </a:rPr>
              <a:t>while (true) </a:t>
            </a:r>
          </a:p>
          <a:p>
            <a:pPr marL="0" indent="0">
              <a:buFont typeface="Monotype Sorts" pitchFamily="-84" charset="2"/>
              <a:buNone/>
            </a:pPr>
            <a:r>
              <a:rPr lang="en-US" altLang="en-US" sz="1700" dirty="0">
                <a:latin typeface="Courier New" pitchFamily="49" charset="0"/>
                <a:cs typeface="Courier New" pitchFamily="49" charset="0"/>
              </a:rPr>
              <a:t>   {</a:t>
            </a:r>
            <a:br>
              <a:rPr lang="en-US" altLang="en-US" sz="1700" dirty="0">
                <a:latin typeface="Courier New" pitchFamily="49" charset="0"/>
                <a:cs typeface="Courier New" pitchFamily="49" charset="0"/>
              </a:rPr>
            </a:br>
            <a:r>
              <a:rPr lang="en-US" altLang="en-US" sz="1700" dirty="0">
                <a:latin typeface="Courier New" pitchFamily="49" charset="0"/>
                <a:cs typeface="Courier New" pitchFamily="49" charset="0"/>
              </a:rPr>
              <a:t>	/* produce an item in next produced */ </a:t>
            </a:r>
          </a:p>
          <a:p>
            <a:pPr marL="0" indent="0">
              <a:buFont typeface="Monotype Sorts" pitchFamily="-84" charset="2"/>
              <a:buNone/>
            </a:pPr>
            <a:r>
              <a:rPr lang="en-US" altLang="en-US" sz="1700" dirty="0">
                <a:latin typeface="Courier New" pitchFamily="49" charset="0"/>
                <a:cs typeface="Courier New" pitchFamily="49" charset="0"/>
              </a:rPr>
              <a:t>	</a:t>
            </a:r>
          </a:p>
          <a:p>
            <a:pPr marL="0" indent="0">
              <a:buFont typeface="Monotype Sorts" pitchFamily="-84" charset="2"/>
              <a:buNone/>
            </a:pPr>
            <a:r>
              <a:rPr lang="en-US" altLang="en-US" sz="1700" dirty="0">
                <a:latin typeface="Courier New" pitchFamily="49" charset="0"/>
                <a:cs typeface="Courier New" pitchFamily="49" charset="0"/>
              </a:rPr>
              <a:t>	while (</a:t>
            </a:r>
            <a:r>
              <a:rPr lang="en-US" altLang="en-US" sz="1700" dirty="0">
                <a:solidFill>
                  <a:srgbClr val="FF0000"/>
                </a:solidFill>
                <a:latin typeface="Courier New" pitchFamily="49" charset="0"/>
                <a:cs typeface="Courier New" pitchFamily="49" charset="0"/>
              </a:rPr>
              <a:t>counter</a:t>
            </a:r>
            <a:r>
              <a:rPr lang="en-US" altLang="en-US" sz="1700" dirty="0">
                <a:latin typeface="Courier New" pitchFamily="49" charset="0"/>
                <a:cs typeface="Courier New" pitchFamily="49" charset="0"/>
              </a:rPr>
              <a:t> == BUFFER_SIZE) ; </a:t>
            </a:r>
          </a:p>
          <a:p>
            <a:pPr marL="0" indent="0">
              <a:buFont typeface="Monotype Sorts" pitchFamily="-84" charset="2"/>
              <a:buNone/>
            </a:pPr>
            <a:r>
              <a:rPr lang="en-US" altLang="en-US" sz="1700" dirty="0">
                <a:latin typeface="Courier New" pitchFamily="49" charset="0"/>
                <a:cs typeface="Courier New" pitchFamily="49" charset="0"/>
              </a:rPr>
              <a:t>		/* do nothing */ </a:t>
            </a:r>
          </a:p>
          <a:p>
            <a:pPr marL="0" indent="0">
              <a:buFont typeface="Monotype Sorts" pitchFamily="-84" charset="2"/>
              <a:buNone/>
            </a:pPr>
            <a:r>
              <a:rPr lang="en-US" altLang="en-US" sz="1700" dirty="0">
                <a:latin typeface="Courier New" pitchFamily="49" charset="0"/>
                <a:cs typeface="Courier New" pitchFamily="49" charset="0"/>
              </a:rPr>
              <a:t>	</a:t>
            </a:r>
            <a:r>
              <a:rPr lang="en-US" altLang="en-US" sz="1700" dirty="0">
                <a:solidFill>
                  <a:srgbClr val="FF0000"/>
                </a:solidFill>
                <a:latin typeface="Courier New" pitchFamily="49" charset="0"/>
                <a:cs typeface="Courier New" pitchFamily="49" charset="0"/>
              </a:rPr>
              <a:t>buffer</a:t>
            </a:r>
            <a:r>
              <a:rPr lang="en-US" altLang="en-US" sz="1700" dirty="0">
                <a:latin typeface="Courier New" pitchFamily="49" charset="0"/>
                <a:cs typeface="Courier New" pitchFamily="49" charset="0"/>
              </a:rPr>
              <a:t>[</a:t>
            </a:r>
            <a:r>
              <a:rPr lang="en-US" altLang="en-US" sz="1700" dirty="0">
                <a:solidFill>
                  <a:srgbClr val="FF0000"/>
                </a:solidFill>
                <a:latin typeface="Courier New" pitchFamily="49" charset="0"/>
                <a:cs typeface="Courier New" pitchFamily="49" charset="0"/>
              </a:rPr>
              <a:t>in</a:t>
            </a:r>
            <a:r>
              <a:rPr lang="en-US" altLang="en-US" sz="1700" dirty="0">
                <a:latin typeface="Courier New" pitchFamily="49" charset="0"/>
                <a:cs typeface="Courier New" pitchFamily="49" charset="0"/>
              </a:rPr>
              <a:t>] = </a:t>
            </a:r>
            <a:r>
              <a:rPr lang="en-US" altLang="en-US" sz="1700" dirty="0" err="1">
                <a:latin typeface="Courier New" pitchFamily="49" charset="0"/>
                <a:cs typeface="Courier New" pitchFamily="49" charset="0"/>
              </a:rPr>
              <a:t>next_produced</a:t>
            </a:r>
            <a:r>
              <a:rPr lang="en-US" altLang="en-US" sz="1700" dirty="0">
                <a:latin typeface="Courier New" pitchFamily="49" charset="0"/>
                <a:cs typeface="Courier New" pitchFamily="49" charset="0"/>
              </a:rPr>
              <a:t>; </a:t>
            </a:r>
          </a:p>
          <a:p>
            <a:pPr marL="0" indent="0">
              <a:buFont typeface="Monotype Sorts" pitchFamily="-84" charset="2"/>
              <a:buNone/>
            </a:pPr>
            <a:r>
              <a:rPr lang="en-US" altLang="en-US" sz="1700" dirty="0">
                <a:latin typeface="Courier New" pitchFamily="49" charset="0"/>
                <a:cs typeface="Courier New" pitchFamily="49" charset="0"/>
              </a:rPr>
              <a:t>	</a:t>
            </a:r>
            <a:r>
              <a:rPr lang="en-US" altLang="en-US" sz="1700" dirty="0">
                <a:solidFill>
                  <a:srgbClr val="FF0000"/>
                </a:solidFill>
                <a:latin typeface="Courier New" pitchFamily="49" charset="0"/>
                <a:cs typeface="Courier New" pitchFamily="49" charset="0"/>
              </a:rPr>
              <a:t>in</a:t>
            </a:r>
            <a:r>
              <a:rPr lang="en-US" altLang="en-US" sz="1700" dirty="0">
                <a:latin typeface="Courier New" pitchFamily="49" charset="0"/>
                <a:cs typeface="Courier New" pitchFamily="49" charset="0"/>
              </a:rPr>
              <a:t> = (</a:t>
            </a:r>
            <a:r>
              <a:rPr lang="en-US" altLang="en-US" sz="1700" dirty="0">
                <a:solidFill>
                  <a:srgbClr val="FF0000"/>
                </a:solidFill>
                <a:latin typeface="Courier New" pitchFamily="49" charset="0"/>
                <a:cs typeface="Courier New" pitchFamily="49" charset="0"/>
              </a:rPr>
              <a:t>in</a:t>
            </a:r>
            <a:r>
              <a:rPr lang="en-US" altLang="en-US" sz="1700" dirty="0">
                <a:latin typeface="Courier New" pitchFamily="49" charset="0"/>
                <a:cs typeface="Courier New" pitchFamily="49" charset="0"/>
              </a:rPr>
              <a:t> + 1) % BUFFER_SIZE; </a:t>
            </a:r>
          </a:p>
          <a:p>
            <a:pPr marL="0" indent="0">
              <a:buFont typeface="Monotype Sorts" pitchFamily="-84" charset="2"/>
              <a:buNone/>
            </a:pPr>
            <a:r>
              <a:rPr lang="en-US" altLang="en-US" sz="1700" dirty="0">
                <a:latin typeface="Courier New" pitchFamily="49" charset="0"/>
                <a:cs typeface="Courier New" pitchFamily="49" charset="0"/>
              </a:rPr>
              <a:t>	</a:t>
            </a:r>
            <a:r>
              <a:rPr lang="en-US" altLang="en-US" sz="1700" dirty="0">
                <a:solidFill>
                  <a:srgbClr val="FF0000"/>
                </a:solidFill>
                <a:latin typeface="Courier New" pitchFamily="49" charset="0"/>
                <a:cs typeface="Courier New" pitchFamily="49" charset="0"/>
              </a:rPr>
              <a:t>counter</a:t>
            </a:r>
            <a:r>
              <a:rPr lang="en-US" altLang="en-US" sz="1700" dirty="0">
                <a:latin typeface="Courier New" pitchFamily="49" charset="0"/>
                <a:cs typeface="Courier New" pitchFamily="49" charset="0"/>
              </a:rPr>
              <a:t>++; </a:t>
            </a:r>
          </a:p>
          <a:p>
            <a:pPr marL="0" indent="0">
              <a:buFont typeface="Monotype Sorts" pitchFamily="-84" charset="2"/>
              <a:buNone/>
            </a:pPr>
            <a:r>
              <a:rPr lang="en-US" altLang="en-US" sz="1700" dirty="0">
                <a:latin typeface="Courier New" pitchFamily="49" charset="0"/>
                <a:cs typeface="Courier New" pitchFamily="49" charset="0"/>
              </a:rPr>
              <a:t>   }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87363" y="142875"/>
            <a:ext cx="8229600" cy="576263"/>
          </a:xfrm>
        </p:spPr>
        <p:txBody>
          <a:bodyPr/>
          <a:lstStyle/>
          <a:p>
            <a:pPr eaLnBrk="1" hangingPunct="1"/>
            <a:r>
              <a:rPr lang="en-US" altLang="en-US"/>
              <a:t>Consumer</a:t>
            </a:r>
          </a:p>
        </p:txBody>
      </p:sp>
      <p:sp>
        <p:nvSpPr>
          <p:cNvPr id="8195" name="Rectangle 3"/>
          <p:cNvSpPr>
            <a:spLocks noGrp="1" noChangeArrowheads="1"/>
          </p:cNvSpPr>
          <p:nvPr>
            <p:ph type="body" idx="1"/>
          </p:nvPr>
        </p:nvSpPr>
        <p:spPr>
          <a:xfrm>
            <a:off x="977900" y="1262063"/>
            <a:ext cx="6877050" cy="4860925"/>
          </a:xfrm>
        </p:spPr>
        <p:txBody>
          <a:bodyPr/>
          <a:lstStyle/>
          <a:p>
            <a:pPr marL="0" indent="0">
              <a:buFont typeface="Monotype Sorts" pitchFamily="-84" charset="2"/>
              <a:buNone/>
            </a:pPr>
            <a:r>
              <a:rPr lang="en-US" altLang="en-US" sz="1600" dirty="0">
                <a:latin typeface="Courier New" pitchFamily="49" charset="0"/>
                <a:cs typeface="Courier New" pitchFamily="49" charset="0"/>
              </a:rPr>
              <a:t>while (true) </a:t>
            </a:r>
          </a:p>
          <a:p>
            <a:pPr marL="0" indent="0">
              <a:buFont typeface="Monotype Sorts" pitchFamily="-84" charset="2"/>
              <a:buNone/>
            </a:pPr>
            <a:r>
              <a:rPr lang="en-US" altLang="en-US" sz="1600" dirty="0">
                <a:latin typeface="Courier New" pitchFamily="49" charset="0"/>
                <a:cs typeface="Courier New" pitchFamily="49" charset="0"/>
              </a:rPr>
              <a:t>   {</a:t>
            </a:r>
          </a:p>
          <a:p>
            <a:pPr marL="0" indent="0">
              <a:buFont typeface="Monotype Sorts" pitchFamily="-84" charset="2"/>
              <a:buNone/>
            </a:pPr>
            <a:r>
              <a:rPr lang="en-US" altLang="en-US" sz="1600" dirty="0">
                <a:latin typeface="Courier New" pitchFamily="49" charset="0"/>
                <a:cs typeface="Courier New" pitchFamily="49" charset="0"/>
              </a:rPr>
              <a:t>	while (</a:t>
            </a:r>
            <a:r>
              <a:rPr lang="en-US" altLang="en-US" sz="1600" dirty="0">
                <a:solidFill>
                  <a:srgbClr val="FF0000"/>
                </a:solidFill>
                <a:latin typeface="Courier New" pitchFamily="49" charset="0"/>
                <a:cs typeface="Courier New" pitchFamily="49" charset="0"/>
              </a:rPr>
              <a:t>counter</a:t>
            </a:r>
            <a:r>
              <a:rPr lang="en-US" altLang="en-US" sz="1600" dirty="0">
                <a:latin typeface="Courier New" pitchFamily="49" charset="0"/>
                <a:cs typeface="Courier New" pitchFamily="49" charset="0"/>
              </a:rPr>
              <a:t> == 0) ;</a:t>
            </a:r>
          </a:p>
          <a:p>
            <a:pPr marL="0" indent="0">
              <a:buFont typeface="Monotype Sorts" pitchFamily="-84" charset="2"/>
              <a:buNone/>
            </a:pPr>
            <a:r>
              <a:rPr lang="en-US" altLang="en-US" sz="1600" dirty="0">
                <a:latin typeface="Courier New" pitchFamily="49" charset="0"/>
                <a:cs typeface="Courier New" pitchFamily="49" charset="0"/>
              </a:rPr>
              <a:t>		 /* do nothing */ </a:t>
            </a:r>
          </a:p>
          <a:p>
            <a:pPr marL="0" indent="0">
              <a:buFont typeface="Monotype Sorts" pitchFamily="-84" charset="2"/>
              <a:buNone/>
            </a:pPr>
            <a:r>
              <a:rPr lang="en-US" altLang="en-US" sz="1600" dirty="0">
                <a:latin typeface="Courier New" pitchFamily="49" charset="0"/>
                <a:cs typeface="Courier New" pitchFamily="49" charset="0"/>
              </a:rPr>
              <a:t>	</a:t>
            </a:r>
            <a:r>
              <a:rPr lang="en-US" altLang="en-US" sz="1600" dirty="0" err="1">
                <a:latin typeface="Courier New" pitchFamily="49" charset="0"/>
                <a:cs typeface="Courier New" pitchFamily="49" charset="0"/>
              </a:rPr>
              <a:t>next_consumed</a:t>
            </a:r>
            <a:r>
              <a:rPr lang="en-US" altLang="en-US" sz="1600" dirty="0">
                <a:latin typeface="Courier New" pitchFamily="49" charset="0"/>
                <a:cs typeface="Courier New" pitchFamily="49" charset="0"/>
              </a:rPr>
              <a:t> = </a:t>
            </a:r>
            <a:r>
              <a:rPr lang="en-US" altLang="en-US" sz="1600" dirty="0">
                <a:solidFill>
                  <a:srgbClr val="FF0000"/>
                </a:solidFill>
                <a:latin typeface="Courier New" pitchFamily="49" charset="0"/>
                <a:cs typeface="Courier New" pitchFamily="49" charset="0"/>
              </a:rPr>
              <a:t>buffer</a:t>
            </a:r>
            <a:r>
              <a:rPr lang="en-US" altLang="en-US" sz="1600" dirty="0">
                <a:latin typeface="Courier New" pitchFamily="49" charset="0"/>
                <a:cs typeface="Courier New" pitchFamily="49" charset="0"/>
              </a:rPr>
              <a:t>[</a:t>
            </a:r>
            <a:r>
              <a:rPr lang="en-US" altLang="en-US" sz="1600" dirty="0">
                <a:solidFill>
                  <a:srgbClr val="FF0000"/>
                </a:solidFill>
                <a:latin typeface="Courier New" pitchFamily="49" charset="0"/>
                <a:cs typeface="Courier New" pitchFamily="49" charset="0"/>
              </a:rPr>
              <a:t>out</a:t>
            </a:r>
            <a:r>
              <a:rPr lang="en-US" altLang="en-US" sz="1600" dirty="0">
                <a:latin typeface="Courier New" pitchFamily="49" charset="0"/>
                <a:cs typeface="Courier New" pitchFamily="49" charset="0"/>
              </a:rPr>
              <a:t>]; </a:t>
            </a:r>
          </a:p>
          <a:p>
            <a:pPr marL="0" indent="0">
              <a:buFont typeface="Monotype Sorts" pitchFamily="-84" charset="2"/>
              <a:buNone/>
            </a:pPr>
            <a:r>
              <a:rPr lang="en-US" altLang="en-US" sz="1600" dirty="0">
                <a:latin typeface="Courier New" pitchFamily="49" charset="0"/>
                <a:cs typeface="Courier New" pitchFamily="49" charset="0"/>
              </a:rPr>
              <a:t>	</a:t>
            </a:r>
            <a:r>
              <a:rPr lang="en-US" altLang="en-US" sz="1600" dirty="0">
                <a:solidFill>
                  <a:srgbClr val="FF0000"/>
                </a:solidFill>
                <a:latin typeface="Courier New" pitchFamily="49" charset="0"/>
                <a:cs typeface="Courier New" pitchFamily="49" charset="0"/>
              </a:rPr>
              <a:t>out</a:t>
            </a:r>
            <a:r>
              <a:rPr lang="en-US" altLang="en-US" sz="1600" dirty="0">
                <a:latin typeface="Courier New" pitchFamily="49" charset="0"/>
                <a:cs typeface="Courier New" pitchFamily="49" charset="0"/>
              </a:rPr>
              <a:t> = (</a:t>
            </a:r>
            <a:r>
              <a:rPr lang="en-US" altLang="en-US" sz="1600" dirty="0">
                <a:solidFill>
                  <a:srgbClr val="FF0000"/>
                </a:solidFill>
                <a:latin typeface="Courier New" pitchFamily="49" charset="0"/>
                <a:cs typeface="Courier New" pitchFamily="49" charset="0"/>
              </a:rPr>
              <a:t>out</a:t>
            </a:r>
            <a:r>
              <a:rPr lang="en-US" altLang="en-US" sz="1600" dirty="0">
                <a:latin typeface="Courier New" pitchFamily="49" charset="0"/>
                <a:cs typeface="Courier New" pitchFamily="49" charset="0"/>
              </a:rPr>
              <a:t> + 1) % BUFFER_SIZE; 	</a:t>
            </a:r>
          </a:p>
          <a:p>
            <a:pPr marL="0" indent="0">
              <a:buFont typeface="Monotype Sorts" pitchFamily="-84" charset="2"/>
              <a:buNone/>
            </a:pPr>
            <a:r>
              <a:rPr lang="en-US" altLang="en-US" sz="1600" dirty="0">
                <a:latin typeface="Courier New" pitchFamily="49" charset="0"/>
                <a:cs typeface="Courier New" pitchFamily="49" charset="0"/>
              </a:rPr>
              <a:t>        </a:t>
            </a:r>
            <a:r>
              <a:rPr lang="en-US" altLang="en-US" sz="1600" dirty="0">
                <a:solidFill>
                  <a:srgbClr val="FF0000"/>
                </a:solidFill>
                <a:latin typeface="Courier New" pitchFamily="49" charset="0"/>
                <a:cs typeface="Courier New" pitchFamily="49" charset="0"/>
              </a:rPr>
              <a:t>counter</a:t>
            </a:r>
            <a:r>
              <a:rPr lang="en-US" altLang="en-US" sz="1600" dirty="0">
                <a:latin typeface="Courier New" pitchFamily="49" charset="0"/>
                <a:cs typeface="Courier New" pitchFamily="49" charset="0"/>
              </a:rPr>
              <a:t>--; </a:t>
            </a:r>
          </a:p>
          <a:p>
            <a:pPr marL="0" indent="0">
              <a:buFont typeface="Monotype Sorts" pitchFamily="-84" charset="2"/>
              <a:buNone/>
            </a:pPr>
            <a:r>
              <a:rPr lang="en-US" altLang="en-US" sz="1600" dirty="0">
                <a:latin typeface="Courier New" pitchFamily="49" charset="0"/>
                <a:cs typeface="Courier New" pitchFamily="49" charset="0"/>
              </a:rPr>
              <a:t>	/* consume the item in next consumed */  </a:t>
            </a:r>
          </a:p>
          <a:p>
            <a:pPr marL="0" indent="0">
              <a:buFont typeface="Monotype Sorts" pitchFamily="-84" charset="2"/>
              <a:buNone/>
            </a:pPr>
            <a:r>
              <a:rPr lang="en-US" altLang="en-US" sz="1600" dirty="0">
                <a:latin typeface="Courier New" pitchFamily="49" charset="0"/>
                <a:cs typeface="Courier New" pitchFamily="49" charset="0"/>
              </a:rPr>
              <a:t>   }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026"/>
          <p:cNvSpPr>
            <a:spLocks noGrp="1" noChangeArrowheads="1"/>
          </p:cNvSpPr>
          <p:nvPr>
            <p:ph type="title"/>
          </p:nvPr>
        </p:nvSpPr>
        <p:spPr>
          <a:xfrm>
            <a:off x="457200" y="141288"/>
            <a:ext cx="8229600" cy="576262"/>
          </a:xfrm>
        </p:spPr>
        <p:txBody>
          <a:bodyPr/>
          <a:lstStyle/>
          <a:p>
            <a:pPr eaLnBrk="1" hangingPunct="1"/>
            <a:r>
              <a:rPr lang="en-US" altLang="en-US"/>
              <a:t>Race Condition</a:t>
            </a:r>
          </a:p>
        </p:txBody>
      </p:sp>
      <p:sp>
        <p:nvSpPr>
          <p:cNvPr id="9219" name="Rectangle 1027"/>
          <p:cNvSpPr>
            <a:spLocks noGrp="1" noChangeArrowheads="1"/>
          </p:cNvSpPr>
          <p:nvPr>
            <p:ph idx="1"/>
          </p:nvPr>
        </p:nvSpPr>
        <p:spPr>
          <a:xfrm>
            <a:off x="1004888" y="1177925"/>
            <a:ext cx="8067675" cy="5173663"/>
          </a:xfrm>
        </p:spPr>
        <p:txBody>
          <a:bodyPr/>
          <a:lstStyle/>
          <a:p>
            <a:pPr>
              <a:lnSpc>
                <a:spcPct val="90000"/>
              </a:lnSpc>
            </a:pPr>
            <a:r>
              <a:rPr lang="en-US" altLang="en-US" b="1">
                <a:solidFill>
                  <a:srgbClr val="000000"/>
                </a:solidFill>
                <a:latin typeface="Courier New" pitchFamily="49" charset="0"/>
                <a:cs typeface="Courier New" pitchFamily="49" charset="0"/>
              </a:rPr>
              <a:t>counter++ </a:t>
            </a:r>
            <a:r>
              <a:rPr lang="en-US" altLang="en-US" sz="1600"/>
              <a:t>could be implemented as</a:t>
            </a:r>
            <a:br>
              <a:rPr lang="en-US" altLang="en-US" sz="1600"/>
            </a:br>
            <a:br>
              <a:rPr lang="en-US" altLang="en-US" sz="1600"/>
            </a:br>
            <a:r>
              <a:rPr lang="en-US" altLang="en-US" sz="1600" b="1">
                <a:latin typeface="Courier New" pitchFamily="49" charset="0"/>
                <a:cs typeface="Courier New" pitchFamily="49" charset="0"/>
              </a:rPr>
              <a:t>     </a:t>
            </a:r>
            <a:r>
              <a:rPr lang="en-US" altLang="en-US" sz="1600" b="1">
                <a:solidFill>
                  <a:srgbClr val="0000FF"/>
                </a:solidFill>
                <a:latin typeface="Courier New" pitchFamily="49" charset="0"/>
                <a:cs typeface="Courier New" pitchFamily="49" charset="0"/>
              </a:rPr>
              <a:t>register1 = counter</a:t>
            </a:r>
            <a:br>
              <a:rPr lang="en-US" altLang="en-US" sz="1600" b="1">
                <a:solidFill>
                  <a:srgbClr val="0000FF"/>
                </a:solidFill>
                <a:latin typeface="Courier New" pitchFamily="49" charset="0"/>
                <a:cs typeface="Courier New" pitchFamily="49" charset="0"/>
              </a:rPr>
            </a:br>
            <a:r>
              <a:rPr lang="en-US" altLang="en-US" sz="1600" b="1">
                <a:solidFill>
                  <a:srgbClr val="0000FF"/>
                </a:solidFill>
                <a:latin typeface="Courier New" pitchFamily="49" charset="0"/>
                <a:cs typeface="Courier New" pitchFamily="49" charset="0"/>
              </a:rPr>
              <a:t>     register1 = register1 + 1</a:t>
            </a:r>
            <a:br>
              <a:rPr lang="en-US" altLang="en-US" sz="1600" b="1">
                <a:solidFill>
                  <a:srgbClr val="0000FF"/>
                </a:solidFill>
                <a:latin typeface="Courier New" pitchFamily="49" charset="0"/>
                <a:cs typeface="Courier New" pitchFamily="49" charset="0"/>
              </a:rPr>
            </a:br>
            <a:r>
              <a:rPr lang="en-US" altLang="en-US" sz="1600" b="1">
                <a:solidFill>
                  <a:srgbClr val="0000FF"/>
                </a:solidFill>
                <a:latin typeface="Courier New" pitchFamily="49" charset="0"/>
                <a:cs typeface="Courier New" pitchFamily="49" charset="0"/>
              </a:rPr>
              <a:t>     counter = register1</a:t>
            </a:r>
            <a:endParaRPr lang="en-US" altLang="en-US" sz="800">
              <a:solidFill>
                <a:srgbClr val="0000FF"/>
              </a:solidFill>
            </a:endParaRPr>
          </a:p>
          <a:p>
            <a:pPr>
              <a:lnSpc>
                <a:spcPct val="90000"/>
              </a:lnSpc>
            </a:pPr>
            <a:r>
              <a:rPr lang="en-US" altLang="en-US" b="1">
                <a:solidFill>
                  <a:srgbClr val="000000"/>
                </a:solidFill>
                <a:latin typeface="Courier New" pitchFamily="49" charset="0"/>
                <a:cs typeface="Courier New" pitchFamily="49" charset="0"/>
              </a:rPr>
              <a:t>counter--</a:t>
            </a:r>
            <a:r>
              <a:rPr lang="en-US" altLang="en-US" sz="1600" b="1">
                <a:solidFill>
                  <a:schemeClr val="tx2"/>
                </a:solidFill>
                <a:latin typeface="Courier New" pitchFamily="49" charset="0"/>
                <a:cs typeface="Courier New" pitchFamily="49" charset="0"/>
              </a:rPr>
              <a:t> </a:t>
            </a:r>
            <a:r>
              <a:rPr lang="en-US" altLang="en-US" sz="1600"/>
              <a:t>could be implemented as</a:t>
            </a:r>
            <a:br>
              <a:rPr lang="en-US" altLang="en-US" sz="1600"/>
            </a:br>
            <a:br>
              <a:rPr lang="en-US" altLang="en-US" sz="1600"/>
            </a:br>
            <a:r>
              <a:rPr lang="en-US" altLang="en-US" sz="1600" b="1">
                <a:latin typeface="Courier New" pitchFamily="49" charset="0"/>
                <a:cs typeface="Courier New" pitchFamily="49" charset="0"/>
              </a:rPr>
              <a:t>     </a:t>
            </a:r>
            <a:r>
              <a:rPr lang="en-US" altLang="en-US" sz="1600" b="1">
                <a:solidFill>
                  <a:schemeClr val="tx2"/>
                </a:solidFill>
                <a:latin typeface="Courier New" pitchFamily="49" charset="0"/>
                <a:cs typeface="Courier New" pitchFamily="49" charset="0"/>
              </a:rPr>
              <a:t>register2 = counter</a:t>
            </a:r>
            <a:br>
              <a:rPr lang="en-US" altLang="en-US" sz="1600" b="1">
                <a:solidFill>
                  <a:schemeClr val="tx2"/>
                </a:solidFill>
                <a:latin typeface="Courier New" pitchFamily="49" charset="0"/>
                <a:cs typeface="Courier New" pitchFamily="49" charset="0"/>
              </a:rPr>
            </a:br>
            <a:r>
              <a:rPr lang="en-US" altLang="en-US" sz="1600" b="1">
                <a:solidFill>
                  <a:schemeClr val="tx2"/>
                </a:solidFill>
                <a:latin typeface="Courier New" pitchFamily="49" charset="0"/>
                <a:cs typeface="Courier New" pitchFamily="49" charset="0"/>
              </a:rPr>
              <a:t>     register2 = register2 - 1</a:t>
            </a:r>
            <a:br>
              <a:rPr lang="en-US" altLang="en-US" sz="1600" b="1">
                <a:solidFill>
                  <a:schemeClr val="tx2"/>
                </a:solidFill>
                <a:latin typeface="Courier New" pitchFamily="49" charset="0"/>
                <a:cs typeface="Courier New" pitchFamily="49" charset="0"/>
              </a:rPr>
            </a:br>
            <a:r>
              <a:rPr lang="en-US" altLang="en-US" sz="1600" b="1">
                <a:solidFill>
                  <a:schemeClr val="tx2"/>
                </a:solidFill>
                <a:latin typeface="Courier New" pitchFamily="49" charset="0"/>
                <a:cs typeface="Courier New" pitchFamily="49" charset="0"/>
              </a:rPr>
              <a:t>     counter = register2</a:t>
            </a:r>
          </a:p>
          <a:p>
            <a:pPr>
              <a:lnSpc>
                <a:spcPct val="90000"/>
              </a:lnSpc>
              <a:buFont typeface="Monotype Sorts" pitchFamily="-84" charset="2"/>
              <a:buNone/>
            </a:pPr>
            <a:endParaRPr lang="en-US" altLang="en-US" sz="800">
              <a:solidFill>
                <a:schemeClr val="tx2"/>
              </a:solidFill>
            </a:endParaRPr>
          </a:p>
          <a:p>
            <a:pPr>
              <a:lnSpc>
                <a:spcPct val="90000"/>
              </a:lnSpc>
            </a:pPr>
            <a:r>
              <a:rPr lang="en-US" altLang="en-US" sz="1600"/>
              <a:t>Consider this execution interleaving with </a:t>
            </a:r>
            <a:r>
              <a:rPr lang="ja-JP" altLang="en-US" sz="1600"/>
              <a:t>“</a:t>
            </a:r>
            <a:r>
              <a:rPr lang="en-US" altLang="ja-JP" sz="1600"/>
              <a:t>count = 5</a:t>
            </a:r>
            <a:r>
              <a:rPr lang="ja-JP" altLang="en-US" sz="1600"/>
              <a:t>”</a:t>
            </a:r>
            <a:r>
              <a:rPr lang="en-US" altLang="ja-JP" sz="1600"/>
              <a:t> initially:</a:t>
            </a:r>
          </a:p>
          <a:p>
            <a:pPr lvl="1">
              <a:lnSpc>
                <a:spcPct val="90000"/>
              </a:lnSpc>
              <a:buFont typeface="Monotype Sorts" pitchFamily="-84" charset="2"/>
              <a:buNone/>
            </a:pPr>
            <a:r>
              <a:rPr lang="en-US" altLang="en-US" sz="1600"/>
              <a:t>	S0: producer execute </a:t>
            </a:r>
            <a:r>
              <a:rPr lang="en-US" altLang="en-US" sz="1600" b="1">
                <a:solidFill>
                  <a:srgbClr val="0000FF"/>
                </a:solidFill>
                <a:latin typeface="Courier New" pitchFamily="49" charset="0"/>
              </a:rPr>
              <a:t>register1 = counter</a:t>
            </a:r>
            <a:r>
              <a:rPr lang="en-US" altLang="en-US" sz="1600" b="1">
                <a:latin typeface="Courier New" pitchFamily="49" charset="0"/>
              </a:rPr>
              <a:t>         </a:t>
            </a:r>
            <a:r>
              <a:rPr lang="en-US" altLang="en-US" sz="1600"/>
              <a:t>{register1 = 5}</a:t>
            </a:r>
            <a:br>
              <a:rPr lang="en-US" altLang="en-US" sz="1600"/>
            </a:br>
            <a:r>
              <a:rPr lang="en-US" altLang="en-US" sz="1600"/>
              <a:t>S1: producer execute </a:t>
            </a:r>
            <a:r>
              <a:rPr lang="en-US" altLang="en-US" sz="1600" b="1">
                <a:solidFill>
                  <a:srgbClr val="0000FF"/>
                </a:solidFill>
                <a:latin typeface="Courier New" pitchFamily="49" charset="0"/>
              </a:rPr>
              <a:t>register1 = register1 + 1   </a:t>
            </a:r>
            <a:r>
              <a:rPr lang="en-US" altLang="en-US" sz="1600"/>
              <a:t>{register1 = 6} </a:t>
            </a:r>
            <a:br>
              <a:rPr lang="en-US" altLang="en-US" sz="1600"/>
            </a:br>
            <a:r>
              <a:rPr lang="en-US" altLang="en-US" sz="1600"/>
              <a:t>S2: consumer execute </a:t>
            </a:r>
            <a:r>
              <a:rPr lang="en-US" altLang="en-US" sz="1600" b="1">
                <a:solidFill>
                  <a:schemeClr val="tx2"/>
                </a:solidFill>
                <a:latin typeface="Courier New" pitchFamily="49" charset="0"/>
              </a:rPr>
              <a:t>register2 = counter</a:t>
            </a:r>
            <a:r>
              <a:rPr lang="en-US" altLang="en-US" sz="1600" b="1">
                <a:latin typeface="Courier New" pitchFamily="49" charset="0"/>
              </a:rPr>
              <a:t>        </a:t>
            </a:r>
            <a:r>
              <a:rPr lang="en-US" altLang="en-US" sz="1600"/>
              <a:t>{register2 = 5} </a:t>
            </a:r>
            <a:br>
              <a:rPr lang="en-US" altLang="en-US" sz="1600"/>
            </a:br>
            <a:r>
              <a:rPr lang="en-US" altLang="en-US" sz="1600"/>
              <a:t>S3: consumer execute </a:t>
            </a:r>
            <a:r>
              <a:rPr lang="en-US" altLang="en-US" sz="1600" b="1">
                <a:solidFill>
                  <a:schemeClr val="tx2"/>
                </a:solidFill>
                <a:latin typeface="Courier New" pitchFamily="49" charset="0"/>
              </a:rPr>
              <a:t>register2 = register2 – 1  </a:t>
            </a:r>
            <a:r>
              <a:rPr lang="en-US" altLang="en-US" sz="1600"/>
              <a:t>{register2 = 4} </a:t>
            </a:r>
            <a:br>
              <a:rPr lang="en-US" altLang="en-US" sz="1600"/>
            </a:br>
            <a:r>
              <a:rPr lang="en-US" altLang="en-US" sz="1600"/>
              <a:t>S4: producer execute </a:t>
            </a:r>
            <a:r>
              <a:rPr lang="en-US" altLang="en-US" sz="1600" b="1">
                <a:solidFill>
                  <a:srgbClr val="0000FF"/>
                </a:solidFill>
                <a:latin typeface="Courier New" pitchFamily="49" charset="0"/>
              </a:rPr>
              <a:t>counter = register1         </a:t>
            </a:r>
            <a:r>
              <a:rPr lang="en-US" altLang="en-US" sz="1600"/>
              <a:t>{counter = 6 } </a:t>
            </a:r>
            <a:br>
              <a:rPr lang="en-US" altLang="en-US" sz="1600"/>
            </a:br>
            <a:r>
              <a:rPr lang="en-US" altLang="en-US" sz="1600"/>
              <a:t>S5: consumer execute </a:t>
            </a:r>
            <a:r>
              <a:rPr lang="en-US" altLang="en-US" sz="1600" b="1">
                <a:solidFill>
                  <a:schemeClr val="tx2"/>
                </a:solidFill>
                <a:latin typeface="Courier New" pitchFamily="49" charset="0"/>
              </a:rPr>
              <a:t>counter = register2        </a:t>
            </a:r>
            <a:r>
              <a:rPr lang="en-US" altLang="en-US" sz="1600"/>
              <a:t>{counter = 4}</a:t>
            </a:r>
          </a:p>
          <a:p>
            <a:pPr lvl="1">
              <a:lnSpc>
                <a:spcPct val="90000"/>
              </a:lnSpc>
              <a:buFont typeface="Monotype Sorts" pitchFamily="-84" charset="2"/>
              <a:buNone/>
            </a:pP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457200" y="201613"/>
            <a:ext cx="8229600" cy="576262"/>
          </a:xfrm>
        </p:spPr>
        <p:txBody>
          <a:bodyPr/>
          <a:lstStyle/>
          <a:p>
            <a:r>
              <a:rPr lang="en-US" altLang="en-US"/>
              <a:t>Critical Section Problem</a:t>
            </a:r>
          </a:p>
        </p:txBody>
      </p:sp>
      <p:sp>
        <p:nvSpPr>
          <p:cNvPr id="10243" name="Content Placeholder 2"/>
          <p:cNvSpPr>
            <a:spLocks noGrp="1"/>
          </p:cNvSpPr>
          <p:nvPr>
            <p:ph idx="1"/>
          </p:nvPr>
        </p:nvSpPr>
        <p:spPr>
          <a:xfrm>
            <a:off x="908050" y="1131888"/>
            <a:ext cx="6940550" cy="4530725"/>
          </a:xfrm>
        </p:spPr>
        <p:txBody>
          <a:bodyPr/>
          <a:lstStyle/>
          <a:p>
            <a:r>
              <a:rPr lang="en-US" altLang="en-US"/>
              <a:t>Consider system of </a:t>
            </a:r>
            <a:r>
              <a:rPr lang="en-US" altLang="en-US" b="1" i="1"/>
              <a:t>n</a:t>
            </a:r>
            <a:r>
              <a:rPr lang="en-US" altLang="en-US" b="1"/>
              <a:t> </a:t>
            </a:r>
            <a:r>
              <a:rPr lang="en-US" altLang="en-US"/>
              <a:t>processes {</a:t>
            </a:r>
            <a:r>
              <a:rPr lang="en-US" altLang="en-US" b="1" i="1"/>
              <a:t>p</a:t>
            </a:r>
            <a:r>
              <a:rPr lang="en-US" altLang="en-US" b="1" i="1" baseline="-25000"/>
              <a:t>0</a:t>
            </a:r>
            <a:r>
              <a:rPr lang="en-US" altLang="en-US" b="1" i="1"/>
              <a:t>, p</a:t>
            </a:r>
            <a:r>
              <a:rPr lang="en-US" altLang="en-US" b="1" i="1" baseline="-25000"/>
              <a:t>1</a:t>
            </a:r>
            <a:r>
              <a:rPr lang="en-US" altLang="en-US" b="1" i="1"/>
              <a:t>, … p</a:t>
            </a:r>
            <a:r>
              <a:rPr lang="en-US" altLang="en-US" b="1" i="1" baseline="-25000"/>
              <a:t>n-1</a:t>
            </a:r>
            <a:r>
              <a:rPr lang="en-US" altLang="en-US"/>
              <a:t>}</a:t>
            </a:r>
          </a:p>
          <a:p>
            <a:r>
              <a:rPr lang="en-US" altLang="en-US"/>
              <a:t>Each process has </a:t>
            </a:r>
            <a:r>
              <a:rPr lang="en-US" altLang="en-US" b="1">
                <a:solidFill>
                  <a:srgbClr val="3366FF"/>
                </a:solidFill>
              </a:rPr>
              <a:t>critical section </a:t>
            </a:r>
            <a:r>
              <a:rPr lang="en-US" altLang="en-US"/>
              <a:t>segment of code</a:t>
            </a:r>
          </a:p>
          <a:p>
            <a:pPr lvl="1"/>
            <a:r>
              <a:rPr lang="en-US" altLang="en-US"/>
              <a:t>Process may be changing common variables, updating table, writing file, etc</a:t>
            </a:r>
          </a:p>
          <a:p>
            <a:pPr lvl="1"/>
            <a:r>
              <a:rPr lang="en-US" altLang="en-US"/>
              <a:t>When one process in critical section, no other may be in its critical section</a:t>
            </a:r>
          </a:p>
          <a:p>
            <a:r>
              <a:rPr lang="en-US" altLang="en-US" b="1" i="1"/>
              <a:t>Critical section problem </a:t>
            </a:r>
            <a:r>
              <a:rPr lang="en-US" altLang="en-US"/>
              <a:t>is to design protocol to solve this</a:t>
            </a:r>
          </a:p>
          <a:p>
            <a:r>
              <a:rPr lang="en-US" altLang="en-US"/>
              <a:t>Each process must ask permission to enter critical section in </a:t>
            </a:r>
            <a:r>
              <a:rPr lang="en-US" altLang="en-US" b="1">
                <a:solidFill>
                  <a:srgbClr val="3366FF"/>
                </a:solidFill>
              </a:rPr>
              <a:t>entry section</a:t>
            </a:r>
            <a:r>
              <a:rPr lang="en-US" altLang="en-US"/>
              <a:t>, may follow critical section with </a:t>
            </a:r>
            <a:r>
              <a:rPr lang="en-US" altLang="en-US" b="1">
                <a:solidFill>
                  <a:srgbClr val="3366FF"/>
                </a:solidFill>
              </a:rPr>
              <a:t>exit section</a:t>
            </a:r>
            <a:r>
              <a:rPr lang="en-US" altLang="en-US"/>
              <a:t>, then </a:t>
            </a:r>
            <a:r>
              <a:rPr lang="en-US" altLang="en-US" b="1">
                <a:solidFill>
                  <a:srgbClr val="3366FF"/>
                </a:solidFill>
              </a:rPr>
              <a:t>remainder section</a:t>
            </a:r>
          </a:p>
          <a:p>
            <a:endParaRPr lang="en-US" altLang="en-US" b="1">
              <a:solidFill>
                <a:srgbClr val="3366FF"/>
              </a:solidFill>
            </a:endParaRPr>
          </a:p>
          <a:p>
            <a:pPr>
              <a:buFont typeface="Monotype Sorts" pitchFamily="-84" charset="2"/>
              <a:buNone/>
            </a:pPr>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457200" y="188913"/>
            <a:ext cx="8229600" cy="576262"/>
          </a:xfrm>
        </p:spPr>
        <p:txBody>
          <a:bodyPr/>
          <a:lstStyle/>
          <a:p>
            <a:r>
              <a:rPr lang="en-US" altLang="en-US"/>
              <a:t>Critical Section</a:t>
            </a:r>
          </a:p>
        </p:txBody>
      </p:sp>
      <p:sp>
        <p:nvSpPr>
          <p:cNvPr id="11267" name="Content Placeholder 2"/>
          <p:cNvSpPr>
            <a:spLocks noGrp="1"/>
          </p:cNvSpPr>
          <p:nvPr>
            <p:ph idx="1"/>
          </p:nvPr>
        </p:nvSpPr>
        <p:spPr/>
        <p:txBody>
          <a:bodyPr/>
          <a:lstStyle/>
          <a:p>
            <a:r>
              <a:rPr lang="en-US" altLang="en-US"/>
              <a:t>General structure of process </a:t>
            </a:r>
            <a:r>
              <a:rPr lang="en-US" altLang="en-US" b="1" i="1"/>
              <a:t>P</a:t>
            </a:r>
            <a:r>
              <a:rPr lang="en-US" altLang="en-US" b="1" i="1" baseline="-25000"/>
              <a:t>i  </a:t>
            </a:r>
            <a:endParaRPr lang="en-US" altLang="en-US"/>
          </a:p>
          <a:p>
            <a:endParaRPr lang="en-US" altLang="en-US" b="1">
              <a:solidFill>
                <a:srgbClr val="0000FF"/>
              </a:solidFill>
            </a:endParaRPr>
          </a:p>
        </p:txBody>
      </p:sp>
      <p:pic>
        <p:nvPicPr>
          <p:cNvPr id="11268"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74913" y="1751013"/>
            <a:ext cx="3894137" cy="269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pPr eaLnBrk="1" hangingPunct="1"/>
            <a:r>
              <a:rPr lang="en-US" altLang="en-US" dirty="0">
                <a:solidFill>
                  <a:srgbClr val="0070C0"/>
                </a:solidFill>
              </a:rPr>
              <a:t>Critical Section</a:t>
            </a:r>
          </a:p>
        </p:txBody>
      </p:sp>
      <p:sp>
        <p:nvSpPr>
          <p:cNvPr id="44035" name="Text Placeholder 2"/>
          <p:cNvSpPr>
            <a:spLocks noGrp="1"/>
          </p:cNvSpPr>
          <p:nvPr>
            <p:ph type="body" sz="quarter" idx="12"/>
          </p:nvPr>
        </p:nvSpPr>
        <p:spPr>
          <a:xfrm>
            <a:off x="887413" y="5513388"/>
            <a:ext cx="7759700" cy="833437"/>
          </a:xfrm>
        </p:spPr>
        <p:txBody>
          <a:bodyPr/>
          <a:lstStyle/>
          <a:p>
            <a:pPr eaLnBrk="1" hangingPunct="1"/>
            <a:r>
              <a:rPr lang="en-US" altLang="en-US" dirty="0"/>
              <a:t>Mutual exclusion using critical sections</a:t>
            </a:r>
          </a:p>
        </p:txBody>
      </p:sp>
      <p:pic>
        <p:nvPicPr>
          <p:cNvPr id="4403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0100" y="1600200"/>
            <a:ext cx="7543800" cy="3657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76221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177925" y="195263"/>
            <a:ext cx="7724775" cy="576262"/>
          </a:xfrm>
        </p:spPr>
        <p:txBody>
          <a:bodyPr/>
          <a:lstStyle/>
          <a:p>
            <a:pPr eaLnBrk="1" hangingPunct="1"/>
            <a:r>
              <a:rPr lang="en-US" altLang="en-US"/>
              <a:t>Solution to Critical-Section Problem</a:t>
            </a:r>
          </a:p>
        </p:txBody>
      </p:sp>
      <p:sp>
        <p:nvSpPr>
          <p:cNvPr id="13315" name="Rectangle 3"/>
          <p:cNvSpPr>
            <a:spLocks noGrp="1" noChangeArrowheads="1"/>
          </p:cNvSpPr>
          <p:nvPr>
            <p:ph idx="1"/>
          </p:nvPr>
        </p:nvSpPr>
        <p:spPr>
          <a:xfrm>
            <a:off x="1022350" y="1166813"/>
            <a:ext cx="6902450" cy="4530725"/>
          </a:xfrm>
        </p:spPr>
        <p:txBody>
          <a:bodyPr/>
          <a:lstStyle/>
          <a:p>
            <a:pPr>
              <a:buFont typeface="Monotype Sorts" pitchFamily="-84" charset="2"/>
              <a:buNone/>
            </a:pPr>
            <a:r>
              <a:rPr lang="en-US" altLang="en-US">
                <a:solidFill>
                  <a:srgbClr val="000000"/>
                </a:solidFill>
              </a:rPr>
              <a:t>1.   </a:t>
            </a:r>
            <a:r>
              <a:rPr lang="en-US" altLang="en-US" b="1">
                <a:solidFill>
                  <a:srgbClr val="3366FF"/>
                </a:solidFill>
              </a:rPr>
              <a:t>Mutual Exclusion </a:t>
            </a:r>
            <a:r>
              <a:rPr lang="en-US" altLang="en-US"/>
              <a:t>- If process </a:t>
            </a:r>
            <a:r>
              <a:rPr lang="en-US" altLang="en-US" b="1" i="1"/>
              <a:t>P</a:t>
            </a:r>
            <a:r>
              <a:rPr lang="en-US" altLang="en-US" b="1" i="1" baseline="-25000"/>
              <a:t>i</a:t>
            </a:r>
            <a:r>
              <a:rPr lang="en-US" altLang="en-US" b="1"/>
              <a:t> </a:t>
            </a:r>
            <a:r>
              <a:rPr lang="en-US" altLang="en-US"/>
              <a:t>is executing in its critical section, then no other processes can be executing in their critical sections</a:t>
            </a:r>
          </a:p>
          <a:p>
            <a:pPr>
              <a:buFont typeface="Monotype Sorts" pitchFamily="-84" charset="2"/>
              <a:buNone/>
            </a:pPr>
            <a:r>
              <a:rPr lang="en-US" altLang="en-US">
                <a:solidFill>
                  <a:srgbClr val="000000"/>
                </a:solidFill>
              </a:rPr>
              <a:t>2.   </a:t>
            </a:r>
            <a:r>
              <a:rPr lang="en-US" altLang="en-US" b="1">
                <a:solidFill>
                  <a:srgbClr val="3366FF"/>
                </a:solidFill>
              </a:rPr>
              <a:t>Progress</a:t>
            </a:r>
            <a:r>
              <a:rPr lang="en-US" altLang="en-US" b="1"/>
              <a:t> </a:t>
            </a:r>
            <a:r>
              <a:rPr lang="en-US" altLang="en-US"/>
              <a:t>- If no process is executing in its critical section and there exist some processes that wish to enter their critical section, then the selection of the processes that will enter the critical section next cannot be postponed indefinitely</a:t>
            </a:r>
          </a:p>
          <a:p>
            <a:pPr>
              <a:buFont typeface="Monotype Sorts" pitchFamily="-84" charset="2"/>
              <a:buNone/>
            </a:pPr>
            <a:r>
              <a:rPr lang="en-US" altLang="en-US"/>
              <a:t>3.  </a:t>
            </a:r>
            <a:r>
              <a:rPr lang="en-US" altLang="en-US" b="1">
                <a:solidFill>
                  <a:srgbClr val="3366FF"/>
                </a:solidFill>
              </a:rPr>
              <a:t>Bounded Waiting </a:t>
            </a:r>
            <a:r>
              <a:rPr lang="en-US" altLang="en-US"/>
              <a:t>-  A bound must exist on the number of times that other processes are allowed to enter their critical sections after a process has made a request to enter its critical section and before that request is granted</a:t>
            </a:r>
          </a:p>
          <a:p>
            <a:pPr marL="795338" lvl="1" indent="-338138">
              <a:buSzPct val="125000"/>
              <a:buFont typeface="Wingdings 2" pitchFamily="18" charset="2"/>
              <a:buChar char=""/>
            </a:pPr>
            <a:r>
              <a:rPr lang="en-US" altLang="en-US"/>
              <a:t>Assume that each process executes at a nonzero speed </a:t>
            </a:r>
          </a:p>
          <a:p>
            <a:pPr marL="795338" lvl="1" indent="-338138">
              <a:buSzPct val="125000"/>
              <a:buFont typeface="Wingdings 2" pitchFamily="18" charset="2"/>
              <a:buChar char=""/>
            </a:pPr>
            <a:r>
              <a:rPr lang="en-US" altLang="en-US"/>
              <a:t>No assumption concerning </a:t>
            </a:r>
            <a:r>
              <a:rPr lang="en-US" altLang="en-US" b="1">
                <a:solidFill>
                  <a:srgbClr val="3366FF"/>
                </a:solidFill>
              </a:rPr>
              <a:t>relative speed </a:t>
            </a:r>
            <a:r>
              <a:rPr lang="en-US" altLang="en-US"/>
              <a:t>of the</a:t>
            </a:r>
            <a:r>
              <a:rPr lang="en-US" altLang="en-US" b="1"/>
              <a:t> </a:t>
            </a:r>
            <a:r>
              <a:rPr lang="en-US" altLang="en-US" b="1" i="1">
                <a:solidFill>
                  <a:srgbClr val="000000"/>
                </a:solidFill>
              </a:rPr>
              <a:t>n</a:t>
            </a:r>
            <a:r>
              <a:rPr lang="en-US" altLang="en-US" b="1">
                <a:solidFill>
                  <a:srgbClr val="000000"/>
                </a:solidFill>
              </a:rPr>
              <a:t> </a:t>
            </a:r>
            <a:r>
              <a:rPr lang="en-US" altLang="en-US"/>
              <a:t>processes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bwMode="auto">
          <a:xfrm>
            <a:off x="1189038" y="2155825"/>
            <a:ext cx="2271712" cy="427038"/>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7" name="Rectangle 6"/>
          <p:cNvSpPr/>
          <p:nvPr/>
        </p:nvSpPr>
        <p:spPr bwMode="auto">
          <a:xfrm>
            <a:off x="1204913" y="3000375"/>
            <a:ext cx="1203325" cy="377825"/>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12292" name="Rectangle 2"/>
          <p:cNvSpPr>
            <a:spLocks noGrp="1" noChangeArrowheads="1"/>
          </p:cNvSpPr>
          <p:nvPr>
            <p:ph type="title"/>
          </p:nvPr>
        </p:nvSpPr>
        <p:spPr>
          <a:xfrm>
            <a:off x="457200" y="277813"/>
            <a:ext cx="8291513" cy="576262"/>
          </a:xfrm>
        </p:spPr>
        <p:txBody>
          <a:bodyPr/>
          <a:lstStyle/>
          <a:p>
            <a:pPr eaLnBrk="1" hangingPunct="1"/>
            <a:r>
              <a:rPr lang="en-US" altLang="en-US" dirty="0"/>
              <a:t>Algorithm 1 for Process P</a:t>
            </a:r>
            <a:r>
              <a:rPr lang="en-US" altLang="en-US" baseline="-25000" dirty="0">
                <a:solidFill>
                  <a:srgbClr val="0000FF"/>
                </a:solidFill>
              </a:rPr>
              <a:t>0  </a:t>
            </a:r>
            <a:r>
              <a:rPr lang="zh-CN" altLang="en-US" baseline="-25000" dirty="0">
                <a:solidFill>
                  <a:srgbClr val="0000FF"/>
                </a:solidFill>
              </a:rPr>
              <a:t> </a:t>
            </a:r>
            <a:r>
              <a:rPr lang="en-US" altLang="en-US" dirty="0"/>
              <a:t>P</a:t>
            </a:r>
            <a:r>
              <a:rPr lang="en-US" altLang="en-US" baseline="-25000" dirty="0">
                <a:solidFill>
                  <a:srgbClr val="0000FF"/>
                </a:solidFill>
              </a:rPr>
              <a:t>1</a:t>
            </a:r>
            <a:r>
              <a:rPr lang="zh-CN" altLang="en-US" baseline="-25000" dirty="0">
                <a:solidFill>
                  <a:srgbClr val="0000FF"/>
                </a:solidFill>
              </a:rPr>
              <a:t> </a:t>
            </a:r>
            <a:endParaRPr lang="en-US" altLang="en-US" baseline="-25000" dirty="0">
              <a:solidFill>
                <a:srgbClr val="0000FF"/>
              </a:solidFill>
            </a:endParaRPr>
          </a:p>
        </p:txBody>
      </p:sp>
      <p:sp>
        <p:nvSpPr>
          <p:cNvPr id="12293" name="Rectangle 3"/>
          <p:cNvSpPr>
            <a:spLocks noGrp="1" noChangeArrowheads="1"/>
          </p:cNvSpPr>
          <p:nvPr>
            <p:ph idx="1"/>
          </p:nvPr>
        </p:nvSpPr>
        <p:spPr>
          <a:xfrm>
            <a:off x="230189" y="1501775"/>
            <a:ext cx="4183062" cy="4770438"/>
          </a:xfrm>
        </p:spPr>
        <p:txBody>
          <a:bodyPr/>
          <a:lstStyle/>
          <a:p>
            <a:pPr>
              <a:buFont typeface="Monotype Sorts" pitchFamily="-84" charset="2"/>
              <a:buNone/>
            </a:pPr>
            <a:r>
              <a:rPr lang="en-US" altLang="en-US" b="1" dirty="0">
                <a:solidFill>
                  <a:srgbClr val="000000"/>
                </a:solidFill>
                <a:latin typeface="Courier New" pitchFamily="49" charset="0"/>
                <a:cs typeface="Courier New" pitchFamily="49" charset="0"/>
              </a:rPr>
              <a:t>	</a:t>
            </a:r>
            <a:r>
              <a:rPr lang="en-US" altLang="en-US" sz="1600" b="1" dirty="0">
                <a:solidFill>
                  <a:srgbClr val="000000"/>
                </a:solidFill>
                <a:latin typeface="Courier New" pitchFamily="49" charset="0"/>
                <a:cs typeface="Courier New" pitchFamily="49" charset="0"/>
              </a:rPr>
              <a:t>do { </a:t>
            </a:r>
          </a:p>
          <a:p>
            <a:pPr>
              <a:buFont typeface="Monotype Sorts" pitchFamily="-84" charset="2"/>
              <a:buNone/>
            </a:pPr>
            <a:r>
              <a:rPr lang="en-US" altLang="en-US" sz="1600" b="1" dirty="0">
                <a:solidFill>
                  <a:srgbClr val="000000"/>
                </a:solidFill>
                <a:latin typeface="Courier New" pitchFamily="49" charset="0"/>
                <a:cs typeface="Courier New" pitchFamily="49" charset="0"/>
              </a:rPr>
              <a:t>		</a:t>
            </a:r>
          </a:p>
          <a:p>
            <a:pPr>
              <a:buFont typeface="Monotype Sorts" pitchFamily="-84" charset="2"/>
              <a:buNone/>
            </a:pPr>
            <a:r>
              <a:rPr lang="en-US" altLang="en-US" sz="1600" b="1" dirty="0">
                <a:solidFill>
                  <a:srgbClr val="000000"/>
                </a:solidFill>
                <a:latin typeface="Courier New" pitchFamily="49" charset="0"/>
                <a:cs typeface="Courier New" pitchFamily="49" charset="0"/>
              </a:rPr>
              <a:t>		while (turn == 1); </a:t>
            </a:r>
          </a:p>
          <a:p>
            <a:pPr>
              <a:buFont typeface="Monotype Sorts" pitchFamily="-84" charset="2"/>
              <a:buNone/>
            </a:pPr>
            <a:endParaRPr lang="en-US" altLang="en-US" sz="400" b="1" dirty="0">
              <a:solidFill>
                <a:srgbClr val="000000"/>
              </a:solidFill>
              <a:latin typeface="Courier New" pitchFamily="49" charset="0"/>
              <a:cs typeface="Courier New" pitchFamily="49" charset="0"/>
            </a:endParaRPr>
          </a:p>
          <a:p>
            <a:pPr>
              <a:buFont typeface="Monotype Sorts" pitchFamily="-84" charset="2"/>
              <a:buNone/>
            </a:pPr>
            <a:r>
              <a:rPr lang="en-US" altLang="en-US" sz="1600" b="1" dirty="0">
                <a:solidFill>
                  <a:srgbClr val="000000"/>
                </a:solidFill>
                <a:latin typeface="Courier New" pitchFamily="49" charset="0"/>
                <a:cs typeface="Courier New" pitchFamily="49" charset="0"/>
              </a:rPr>
              <a:t>			critical section </a:t>
            </a:r>
          </a:p>
          <a:p>
            <a:pPr>
              <a:buFont typeface="Monotype Sorts" pitchFamily="-84" charset="2"/>
              <a:buNone/>
            </a:pPr>
            <a:r>
              <a:rPr lang="en-US" altLang="en-US" sz="1600" b="1" dirty="0">
                <a:solidFill>
                  <a:srgbClr val="000000"/>
                </a:solidFill>
                <a:latin typeface="Courier New" pitchFamily="49" charset="0"/>
                <a:cs typeface="Courier New" pitchFamily="49" charset="0"/>
              </a:rPr>
              <a:t>		turn = 1; </a:t>
            </a:r>
          </a:p>
          <a:p>
            <a:pPr>
              <a:buFont typeface="Monotype Sorts" pitchFamily="-84" charset="2"/>
              <a:buNone/>
            </a:pPr>
            <a:endParaRPr lang="en-US" altLang="en-US" sz="400" b="1" dirty="0">
              <a:solidFill>
                <a:srgbClr val="000000"/>
              </a:solidFill>
              <a:latin typeface="Courier New" pitchFamily="49" charset="0"/>
              <a:cs typeface="Courier New" pitchFamily="49" charset="0"/>
            </a:endParaRPr>
          </a:p>
          <a:p>
            <a:pPr>
              <a:buFont typeface="Monotype Sorts" pitchFamily="-84" charset="2"/>
              <a:buNone/>
            </a:pPr>
            <a:r>
              <a:rPr lang="en-US" altLang="en-US" sz="1600" b="1" dirty="0">
                <a:solidFill>
                  <a:srgbClr val="000000"/>
                </a:solidFill>
                <a:latin typeface="Courier New" pitchFamily="49" charset="0"/>
                <a:cs typeface="Courier New" pitchFamily="49" charset="0"/>
              </a:rPr>
              <a:t>			remainder section </a:t>
            </a:r>
          </a:p>
          <a:p>
            <a:pPr>
              <a:buFont typeface="Monotype Sorts" pitchFamily="-84" charset="2"/>
              <a:buNone/>
            </a:pPr>
            <a:r>
              <a:rPr lang="en-US" altLang="en-US" sz="1600" b="1" dirty="0">
                <a:solidFill>
                  <a:srgbClr val="000000"/>
                </a:solidFill>
                <a:latin typeface="Courier New" pitchFamily="49" charset="0"/>
                <a:cs typeface="Courier New" pitchFamily="49" charset="0"/>
              </a:rPr>
              <a:t>	 } while (true); </a:t>
            </a:r>
          </a:p>
          <a:p>
            <a:pPr>
              <a:buFont typeface="Monotype Sorts" pitchFamily="-84" charset="2"/>
              <a:buNone/>
            </a:pPr>
            <a:endParaRPr lang="en-US" altLang="en-US" sz="1600" dirty="0">
              <a:solidFill>
                <a:srgbClr val="0000FF"/>
              </a:solidFill>
            </a:endParaRPr>
          </a:p>
        </p:txBody>
      </p:sp>
      <p:sp>
        <p:nvSpPr>
          <p:cNvPr id="8" name="Rectangle 7"/>
          <p:cNvSpPr/>
          <p:nvPr/>
        </p:nvSpPr>
        <p:spPr bwMode="auto">
          <a:xfrm>
            <a:off x="5703888" y="2155825"/>
            <a:ext cx="2271712" cy="427038"/>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9" name="Rectangle 8"/>
          <p:cNvSpPr/>
          <p:nvPr/>
        </p:nvSpPr>
        <p:spPr bwMode="auto">
          <a:xfrm>
            <a:off x="5719763" y="3000375"/>
            <a:ext cx="1203325" cy="377825"/>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10" name="Rectangle 3"/>
          <p:cNvSpPr txBox="1">
            <a:spLocks noChangeArrowheads="1"/>
          </p:cNvSpPr>
          <p:nvPr/>
        </p:nvSpPr>
        <p:spPr bwMode="auto">
          <a:xfrm>
            <a:off x="4745039" y="1501775"/>
            <a:ext cx="4183062" cy="477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lvl1pPr marL="341313" indent="-341313"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MS PGothic" charset="0"/>
              </a:defRPr>
            </a:lvl1pPr>
            <a:lvl2pPr marL="741363" indent="-284163"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cs typeface="MS PGothic" charset="0"/>
              </a:defRPr>
            </a:lvl2pPr>
            <a:lvl3pPr marL="1084263" indent="-227013" algn="l" rtl="0" eaLnBrk="0" fontAlgn="base" hangingPunct="0">
              <a:spcBef>
                <a:spcPct val="35000"/>
              </a:spcBef>
              <a:spcAft>
                <a:spcPct val="0"/>
              </a:spcAft>
              <a:buClr>
                <a:srgbClr val="009900"/>
              </a:buClr>
              <a:buSzPct val="75000"/>
              <a:buFont typeface="Webdings" pitchFamily="18" charset="2"/>
              <a:buChar char="4"/>
              <a:defRPr kumimoji="1">
                <a:solidFill>
                  <a:schemeClr val="tx1"/>
                </a:solidFill>
                <a:latin typeface="+mn-lt"/>
                <a:ea typeface="MS PGothic" pitchFamily="34" charset="-128"/>
                <a:cs typeface="MS PGothic" charset="0"/>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cs typeface="MS PGothic" charset="0"/>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cs typeface="MS PGothic" charset="0"/>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buFont typeface="Monotype Sorts" pitchFamily="-84" charset="2"/>
              <a:buNone/>
            </a:pPr>
            <a:r>
              <a:rPr lang="en-US" altLang="en-US" b="1" kern="0" dirty="0">
                <a:solidFill>
                  <a:srgbClr val="000000"/>
                </a:solidFill>
                <a:latin typeface="Courier New" pitchFamily="49" charset="0"/>
                <a:cs typeface="Courier New" pitchFamily="49" charset="0"/>
              </a:rPr>
              <a:t>	</a:t>
            </a:r>
            <a:r>
              <a:rPr lang="en-US" altLang="en-US" sz="1600" b="1" kern="0" dirty="0">
                <a:solidFill>
                  <a:srgbClr val="000000"/>
                </a:solidFill>
                <a:latin typeface="Courier New" pitchFamily="49" charset="0"/>
                <a:cs typeface="Courier New" pitchFamily="49" charset="0"/>
              </a:rPr>
              <a:t>do { </a:t>
            </a:r>
          </a:p>
          <a:p>
            <a:pPr>
              <a:buFont typeface="Monotype Sorts" pitchFamily="-84" charset="2"/>
              <a:buNone/>
            </a:pPr>
            <a:r>
              <a:rPr lang="en-US" altLang="en-US" sz="1600" b="1" kern="0" dirty="0">
                <a:solidFill>
                  <a:srgbClr val="000000"/>
                </a:solidFill>
                <a:latin typeface="Courier New" pitchFamily="49" charset="0"/>
                <a:cs typeface="Courier New" pitchFamily="49" charset="0"/>
              </a:rPr>
              <a:t>		</a:t>
            </a:r>
          </a:p>
          <a:p>
            <a:pPr>
              <a:buFont typeface="Monotype Sorts" pitchFamily="-84" charset="2"/>
              <a:buNone/>
            </a:pPr>
            <a:r>
              <a:rPr lang="en-US" altLang="en-US" sz="1600" b="1" kern="0" dirty="0">
                <a:solidFill>
                  <a:srgbClr val="000000"/>
                </a:solidFill>
                <a:latin typeface="Courier New" pitchFamily="49" charset="0"/>
                <a:cs typeface="Courier New" pitchFamily="49" charset="0"/>
              </a:rPr>
              <a:t>		while (turn == 0); </a:t>
            </a:r>
          </a:p>
          <a:p>
            <a:pPr>
              <a:buFont typeface="Monotype Sorts" pitchFamily="-84" charset="2"/>
              <a:buNone/>
            </a:pPr>
            <a:endParaRPr lang="en-US" altLang="en-US" sz="400" b="1" kern="0" dirty="0">
              <a:solidFill>
                <a:srgbClr val="000000"/>
              </a:solidFill>
              <a:latin typeface="Courier New" pitchFamily="49" charset="0"/>
              <a:cs typeface="Courier New" pitchFamily="49" charset="0"/>
            </a:endParaRPr>
          </a:p>
          <a:p>
            <a:pPr>
              <a:buFont typeface="Monotype Sorts" pitchFamily="-84" charset="2"/>
              <a:buNone/>
            </a:pPr>
            <a:r>
              <a:rPr lang="en-US" altLang="en-US" sz="1600" b="1" kern="0" dirty="0">
                <a:solidFill>
                  <a:srgbClr val="000000"/>
                </a:solidFill>
                <a:latin typeface="Courier New" pitchFamily="49" charset="0"/>
                <a:cs typeface="Courier New" pitchFamily="49" charset="0"/>
              </a:rPr>
              <a:t>			critical section </a:t>
            </a:r>
          </a:p>
          <a:p>
            <a:pPr>
              <a:buFont typeface="Monotype Sorts" pitchFamily="-84" charset="2"/>
              <a:buNone/>
            </a:pPr>
            <a:r>
              <a:rPr lang="en-US" altLang="en-US" sz="1600" b="1" kern="0" dirty="0">
                <a:solidFill>
                  <a:srgbClr val="000000"/>
                </a:solidFill>
                <a:latin typeface="Courier New" pitchFamily="49" charset="0"/>
                <a:cs typeface="Courier New" pitchFamily="49" charset="0"/>
              </a:rPr>
              <a:t>		turn = 0; </a:t>
            </a:r>
          </a:p>
          <a:p>
            <a:pPr>
              <a:buFont typeface="Monotype Sorts" pitchFamily="-84" charset="2"/>
              <a:buNone/>
            </a:pPr>
            <a:endParaRPr lang="en-US" altLang="en-US" sz="400" b="1" kern="0" dirty="0">
              <a:solidFill>
                <a:srgbClr val="000000"/>
              </a:solidFill>
              <a:latin typeface="Courier New" pitchFamily="49" charset="0"/>
              <a:cs typeface="Courier New" pitchFamily="49" charset="0"/>
            </a:endParaRPr>
          </a:p>
          <a:p>
            <a:pPr>
              <a:buFont typeface="Monotype Sorts" pitchFamily="-84" charset="2"/>
              <a:buNone/>
            </a:pPr>
            <a:r>
              <a:rPr lang="en-US" altLang="en-US" sz="1600" b="1" kern="0" dirty="0">
                <a:solidFill>
                  <a:srgbClr val="000000"/>
                </a:solidFill>
                <a:latin typeface="Courier New" pitchFamily="49" charset="0"/>
                <a:cs typeface="Courier New" pitchFamily="49" charset="0"/>
              </a:rPr>
              <a:t>			remainder section </a:t>
            </a:r>
          </a:p>
          <a:p>
            <a:pPr>
              <a:buFont typeface="Monotype Sorts" pitchFamily="-84" charset="2"/>
              <a:buNone/>
            </a:pPr>
            <a:r>
              <a:rPr lang="en-US" altLang="en-US" sz="1600" b="1" kern="0" dirty="0">
                <a:solidFill>
                  <a:srgbClr val="000000"/>
                </a:solidFill>
                <a:latin typeface="Courier New" pitchFamily="49" charset="0"/>
                <a:cs typeface="Courier New" pitchFamily="49" charset="0"/>
              </a:rPr>
              <a:t>	 } while (true); </a:t>
            </a:r>
          </a:p>
          <a:p>
            <a:pPr>
              <a:buFont typeface="Monotype Sorts" pitchFamily="-84" charset="2"/>
              <a:buNone/>
            </a:pPr>
            <a:endParaRPr lang="en-US" altLang="en-US" sz="1600" kern="0" dirty="0">
              <a:solidFill>
                <a:srgbClr val="0000FF"/>
              </a:solidFill>
            </a:endParaRPr>
          </a:p>
        </p:txBody>
      </p:sp>
      <p:sp>
        <p:nvSpPr>
          <p:cNvPr id="13" name="Rectangle 3"/>
          <p:cNvSpPr txBox="1">
            <a:spLocks noChangeArrowheads="1"/>
          </p:cNvSpPr>
          <p:nvPr/>
        </p:nvSpPr>
        <p:spPr bwMode="auto">
          <a:xfrm>
            <a:off x="2152652" y="969168"/>
            <a:ext cx="2895600"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lvl1pPr marL="341313" indent="-341313"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MS PGothic" charset="0"/>
              </a:defRPr>
            </a:lvl1pPr>
            <a:lvl2pPr marL="741363" indent="-284163"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cs typeface="MS PGothic" charset="0"/>
              </a:defRPr>
            </a:lvl2pPr>
            <a:lvl3pPr marL="1084263" indent="-227013" algn="l" rtl="0" eaLnBrk="0" fontAlgn="base" hangingPunct="0">
              <a:spcBef>
                <a:spcPct val="35000"/>
              </a:spcBef>
              <a:spcAft>
                <a:spcPct val="0"/>
              </a:spcAft>
              <a:buClr>
                <a:srgbClr val="009900"/>
              </a:buClr>
              <a:buSzPct val="75000"/>
              <a:buFont typeface="Webdings" pitchFamily="18" charset="2"/>
              <a:buChar char="4"/>
              <a:defRPr kumimoji="1">
                <a:solidFill>
                  <a:schemeClr val="tx1"/>
                </a:solidFill>
                <a:latin typeface="+mn-lt"/>
                <a:ea typeface="MS PGothic" pitchFamily="34" charset="-128"/>
                <a:cs typeface="MS PGothic" charset="0"/>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cs typeface="MS PGothic" charset="0"/>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cs typeface="MS PGothic" charset="0"/>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buNone/>
            </a:pPr>
            <a:r>
              <a:rPr lang="en-US" altLang="en-US" dirty="0"/>
              <a:t>P</a:t>
            </a:r>
            <a:r>
              <a:rPr lang="en-US" altLang="en-US" baseline="-25000" dirty="0">
                <a:solidFill>
                  <a:srgbClr val="0000FF"/>
                </a:solidFill>
              </a:rPr>
              <a:t>0</a:t>
            </a:r>
            <a:endParaRPr lang="en-US" altLang="en-US" kern="0" baseline="-25000" dirty="0"/>
          </a:p>
        </p:txBody>
      </p:sp>
      <p:sp>
        <p:nvSpPr>
          <p:cNvPr id="14" name="Rectangle 3"/>
          <p:cNvSpPr txBox="1">
            <a:spLocks noChangeArrowheads="1"/>
          </p:cNvSpPr>
          <p:nvPr/>
        </p:nvSpPr>
        <p:spPr bwMode="auto">
          <a:xfrm>
            <a:off x="6364289" y="969168"/>
            <a:ext cx="2895600"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lvl1pPr marL="341313" indent="-341313"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MS PGothic" charset="0"/>
              </a:defRPr>
            </a:lvl1pPr>
            <a:lvl2pPr marL="741363" indent="-284163"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cs typeface="MS PGothic" charset="0"/>
              </a:defRPr>
            </a:lvl2pPr>
            <a:lvl3pPr marL="1084263" indent="-227013" algn="l" rtl="0" eaLnBrk="0" fontAlgn="base" hangingPunct="0">
              <a:spcBef>
                <a:spcPct val="35000"/>
              </a:spcBef>
              <a:spcAft>
                <a:spcPct val="0"/>
              </a:spcAft>
              <a:buClr>
                <a:srgbClr val="009900"/>
              </a:buClr>
              <a:buSzPct val="75000"/>
              <a:buFont typeface="Webdings" pitchFamily="18" charset="2"/>
              <a:buChar char="4"/>
              <a:defRPr kumimoji="1">
                <a:solidFill>
                  <a:schemeClr val="tx1"/>
                </a:solidFill>
                <a:latin typeface="+mn-lt"/>
                <a:ea typeface="MS PGothic" pitchFamily="34" charset="-128"/>
                <a:cs typeface="MS PGothic" charset="0"/>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cs typeface="MS PGothic" charset="0"/>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cs typeface="MS PGothic" charset="0"/>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buNone/>
            </a:pPr>
            <a:r>
              <a:rPr lang="en-US" altLang="en-US" dirty="0"/>
              <a:t>P</a:t>
            </a:r>
            <a:r>
              <a:rPr lang="en-US" altLang="en-US" baseline="-25000" dirty="0">
                <a:solidFill>
                  <a:srgbClr val="0000FF"/>
                </a:solidFill>
              </a:rPr>
              <a:t>1</a:t>
            </a:r>
            <a:endParaRPr lang="en-US" altLang="en-US" kern="0" baseline="-25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bwMode="auto">
          <a:xfrm>
            <a:off x="1189038" y="2155825"/>
            <a:ext cx="2271712" cy="427038"/>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7" name="Rectangle 6"/>
          <p:cNvSpPr/>
          <p:nvPr/>
        </p:nvSpPr>
        <p:spPr bwMode="auto">
          <a:xfrm>
            <a:off x="1204913" y="3000375"/>
            <a:ext cx="2052637" cy="377825"/>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12292" name="Rectangle 2"/>
          <p:cNvSpPr>
            <a:spLocks noGrp="1" noChangeArrowheads="1"/>
          </p:cNvSpPr>
          <p:nvPr>
            <p:ph type="title"/>
          </p:nvPr>
        </p:nvSpPr>
        <p:spPr>
          <a:xfrm>
            <a:off x="457200" y="277813"/>
            <a:ext cx="8291513" cy="576262"/>
          </a:xfrm>
        </p:spPr>
        <p:txBody>
          <a:bodyPr/>
          <a:lstStyle/>
          <a:p>
            <a:pPr eaLnBrk="1" hangingPunct="1"/>
            <a:r>
              <a:rPr lang="en-US" altLang="en-US" dirty="0"/>
              <a:t>Algorithm 2 for Process P</a:t>
            </a:r>
            <a:r>
              <a:rPr lang="en-US" altLang="en-US" baseline="-25000" dirty="0">
                <a:solidFill>
                  <a:srgbClr val="0000FF"/>
                </a:solidFill>
              </a:rPr>
              <a:t>0  </a:t>
            </a:r>
            <a:r>
              <a:rPr lang="zh-CN" altLang="en-US" baseline="-25000" dirty="0">
                <a:solidFill>
                  <a:srgbClr val="0000FF"/>
                </a:solidFill>
              </a:rPr>
              <a:t> </a:t>
            </a:r>
            <a:r>
              <a:rPr lang="en-US" altLang="en-US" dirty="0"/>
              <a:t>P</a:t>
            </a:r>
            <a:r>
              <a:rPr lang="en-US" altLang="en-US" baseline="-25000" dirty="0">
                <a:solidFill>
                  <a:srgbClr val="0000FF"/>
                </a:solidFill>
              </a:rPr>
              <a:t>1</a:t>
            </a:r>
            <a:r>
              <a:rPr lang="zh-CN" altLang="en-US" baseline="-25000" dirty="0">
                <a:solidFill>
                  <a:srgbClr val="0000FF"/>
                </a:solidFill>
              </a:rPr>
              <a:t> </a:t>
            </a:r>
            <a:endParaRPr lang="en-US" altLang="en-US" baseline="-25000" dirty="0">
              <a:solidFill>
                <a:srgbClr val="0000FF"/>
              </a:solidFill>
            </a:endParaRPr>
          </a:p>
        </p:txBody>
      </p:sp>
      <p:sp>
        <p:nvSpPr>
          <p:cNvPr id="8" name="Rectangle 7"/>
          <p:cNvSpPr/>
          <p:nvPr/>
        </p:nvSpPr>
        <p:spPr bwMode="auto">
          <a:xfrm>
            <a:off x="5703888" y="2155825"/>
            <a:ext cx="2271712" cy="427038"/>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9" name="Rectangle 8"/>
          <p:cNvSpPr/>
          <p:nvPr/>
        </p:nvSpPr>
        <p:spPr bwMode="auto">
          <a:xfrm>
            <a:off x="5719763" y="3000375"/>
            <a:ext cx="2166937" cy="377825"/>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11" name="Rectangle 3"/>
          <p:cNvSpPr txBox="1">
            <a:spLocks noChangeArrowheads="1"/>
          </p:cNvSpPr>
          <p:nvPr/>
        </p:nvSpPr>
        <p:spPr bwMode="auto">
          <a:xfrm>
            <a:off x="2152652" y="969168"/>
            <a:ext cx="2895600"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lvl1pPr marL="341313" indent="-341313"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MS PGothic" charset="0"/>
              </a:defRPr>
            </a:lvl1pPr>
            <a:lvl2pPr marL="741363" indent="-284163"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cs typeface="MS PGothic" charset="0"/>
              </a:defRPr>
            </a:lvl2pPr>
            <a:lvl3pPr marL="1084263" indent="-227013" algn="l" rtl="0" eaLnBrk="0" fontAlgn="base" hangingPunct="0">
              <a:spcBef>
                <a:spcPct val="35000"/>
              </a:spcBef>
              <a:spcAft>
                <a:spcPct val="0"/>
              </a:spcAft>
              <a:buClr>
                <a:srgbClr val="009900"/>
              </a:buClr>
              <a:buSzPct val="75000"/>
              <a:buFont typeface="Webdings" pitchFamily="18" charset="2"/>
              <a:buChar char="4"/>
              <a:defRPr kumimoji="1">
                <a:solidFill>
                  <a:schemeClr val="tx1"/>
                </a:solidFill>
                <a:latin typeface="+mn-lt"/>
                <a:ea typeface="MS PGothic" pitchFamily="34" charset="-128"/>
                <a:cs typeface="MS PGothic" charset="0"/>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cs typeface="MS PGothic" charset="0"/>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cs typeface="MS PGothic" charset="0"/>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buNone/>
            </a:pPr>
            <a:r>
              <a:rPr lang="en-US" altLang="en-US" dirty="0"/>
              <a:t>P</a:t>
            </a:r>
            <a:r>
              <a:rPr lang="en-US" altLang="en-US" baseline="-25000" dirty="0">
                <a:solidFill>
                  <a:srgbClr val="0000FF"/>
                </a:solidFill>
              </a:rPr>
              <a:t>0</a:t>
            </a:r>
            <a:endParaRPr lang="en-US" altLang="en-US" kern="0" baseline="-25000" dirty="0"/>
          </a:p>
        </p:txBody>
      </p:sp>
      <p:sp>
        <p:nvSpPr>
          <p:cNvPr id="12" name="Rectangle 3"/>
          <p:cNvSpPr txBox="1">
            <a:spLocks noChangeArrowheads="1"/>
          </p:cNvSpPr>
          <p:nvPr/>
        </p:nvSpPr>
        <p:spPr bwMode="auto">
          <a:xfrm>
            <a:off x="6364289" y="969168"/>
            <a:ext cx="2895600"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lvl1pPr marL="341313" indent="-341313"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MS PGothic" charset="0"/>
              </a:defRPr>
            </a:lvl1pPr>
            <a:lvl2pPr marL="741363" indent="-284163"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cs typeface="MS PGothic" charset="0"/>
              </a:defRPr>
            </a:lvl2pPr>
            <a:lvl3pPr marL="1084263" indent="-227013" algn="l" rtl="0" eaLnBrk="0" fontAlgn="base" hangingPunct="0">
              <a:spcBef>
                <a:spcPct val="35000"/>
              </a:spcBef>
              <a:spcAft>
                <a:spcPct val="0"/>
              </a:spcAft>
              <a:buClr>
                <a:srgbClr val="009900"/>
              </a:buClr>
              <a:buSzPct val="75000"/>
              <a:buFont typeface="Webdings" pitchFamily="18" charset="2"/>
              <a:buChar char="4"/>
              <a:defRPr kumimoji="1">
                <a:solidFill>
                  <a:schemeClr val="tx1"/>
                </a:solidFill>
                <a:latin typeface="+mn-lt"/>
                <a:ea typeface="MS PGothic" pitchFamily="34" charset="-128"/>
                <a:cs typeface="MS PGothic" charset="0"/>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cs typeface="MS PGothic" charset="0"/>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cs typeface="MS PGothic" charset="0"/>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buNone/>
            </a:pPr>
            <a:r>
              <a:rPr lang="en-US" altLang="en-US" dirty="0"/>
              <a:t>P</a:t>
            </a:r>
            <a:r>
              <a:rPr lang="en-US" altLang="en-US" baseline="-25000" dirty="0">
                <a:solidFill>
                  <a:srgbClr val="0000FF"/>
                </a:solidFill>
              </a:rPr>
              <a:t>1</a:t>
            </a:r>
            <a:endParaRPr lang="en-US" altLang="en-US" kern="0" baseline="-25000" dirty="0"/>
          </a:p>
        </p:txBody>
      </p:sp>
      <p:sp>
        <p:nvSpPr>
          <p:cNvPr id="10" name="Rectangle 3"/>
          <p:cNvSpPr txBox="1">
            <a:spLocks noChangeArrowheads="1"/>
          </p:cNvSpPr>
          <p:nvPr/>
        </p:nvSpPr>
        <p:spPr bwMode="auto">
          <a:xfrm>
            <a:off x="4745039" y="1501775"/>
            <a:ext cx="4183062" cy="477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lvl1pPr marL="341313" indent="-341313"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MS PGothic" charset="0"/>
              </a:defRPr>
            </a:lvl1pPr>
            <a:lvl2pPr marL="741363" indent="-284163"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cs typeface="MS PGothic" charset="0"/>
              </a:defRPr>
            </a:lvl2pPr>
            <a:lvl3pPr marL="1084263" indent="-227013" algn="l" rtl="0" eaLnBrk="0" fontAlgn="base" hangingPunct="0">
              <a:spcBef>
                <a:spcPct val="35000"/>
              </a:spcBef>
              <a:spcAft>
                <a:spcPct val="0"/>
              </a:spcAft>
              <a:buClr>
                <a:srgbClr val="009900"/>
              </a:buClr>
              <a:buSzPct val="75000"/>
              <a:buFont typeface="Webdings" pitchFamily="18" charset="2"/>
              <a:buChar char="4"/>
              <a:defRPr kumimoji="1">
                <a:solidFill>
                  <a:schemeClr val="tx1"/>
                </a:solidFill>
                <a:latin typeface="+mn-lt"/>
                <a:ea typeface="MS PGothic" pitchFamily="34" charset="-128"/>
                <a:cs typeface="MS PGothic" charset="0"/>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cs typeface="MS PGothic" charset="0"/>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cs typeface="MS PGothic" charset="0"/>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buFont typeface="Monotype Sorts" pitchFamily="-84" charset="2"/>
              <a:buNone/>
            </a:pPr>
            <a:r>
              <a:rPr lang="en-US" altLang="en-US" b="1" kern="0" dirty="0">
                <a:solidFill>
                  <a:srgbClr val="000000"/>
                </a:solidFill>
                <a:latin typeface="Courier New" pitchFamily="49" charset="0"/>
                <a:cs typeface="Courier New" pitchFamily="49" charset="0"/>
              </a:rPr>
              <a:t>	</a:t>
            </a:r>
            <a:r>
              <a:rPr lang="en-US" altLang="en-US" sz="1600" b="1" kern="0" dirty="0">
                <a:solidFill>
                  <a:srgbClr val="000000"/>
                </a:solidFill>
                <a:latin typeface="Courier New" pitchFamily="49" charset="0"/>
                <a:cs typeface="Courier New" pitchFamily="49" charset="0"/>
              </a:rPr>
              <a:t>do { </a:t>
            </a:r>
          </a:p>
          <a:p>
            <a:pPr>
              <a:buNone/>
            </a:pPr>
            <a:r>
              <a:rPr lang="en-US" altLang="en-US" sz="1600" b="1" kern="0" dirty="0">
                <a:solidFill>
                  <a:srgbClr val="000000"/>
                </a:solidFill>
                <a:latin typeface="Courier New" pitchFamily="49" charset="0"/>
                <a:cs typeface="Courier New" pitchFamily="49" charset="0"/>
              </a:rPr>
              <a:t>		</a:t>
            </a:r>
            <a:r>
              <a:rPr lang="en-US" altLang="en-US" sz="1600" b="1" dirty="0">
                <a:solidFill>
                  <a:srgbClr val="000000"/>
                </a:solidFill>
                <a:latin typeface="Courier New" pitchFamily="49" charset="0"/>
                <a:cs typeface="Courier New" pitchFamily="49" charset="0"/>
              </a:rPr>
              <a:t>flag[1] = true;</a:t>
            </a:r>
            <a:endParaRPr lang="en-US" altLang="en-US" sz="1600" b="1" kern="0" dirty="0">
              <a:solidFill>
                <a:srgbClr val="000000"/>
              </a:solidFill>
              <a:latin typeface="Courier New" pitchFamily="49" charset="0"/>
              <a:cs typeface="Courier New" pitchFamily="49" charset="0"/>
            </a:endParaRPr>
          </a:p>
          <a:p>
            <a:pPr>
              <a:buFont typeface="Monotype Sorts" pitchFamily="-84" charset="2"/>
              <a:buNone/>
            </a:pPr>
            <a:r>
              <a:rPr lang="en-US" altLang="en-US" sz="1600" b="1" kern="0" dirty="0">
                <a:solidFill>
                  <a:srgbClr val="000000"/>
                </a:solidFill>
                <a:latin typeface="Courier New" pitchFamily="49" charset="0"/>
                <a:cs typeface="Courier New" pitchFamily="49" charset="0"/>
              </a:rPr>
              <a:t>		while (flag[0]); </a:t>
            </a:r>
          </a:p>
          <a:p>
            <a:pPr>
              <a:buFont typeface="Monotype Sorts" pitchFamily="-84" charset="2"/>
              <a:buNone/>
            </a:pPr>
            <a:endParaRPr lang="en-US" altLang="en-US" sz="400" b="1" kern="0" dirty="0">
              <a:solidFill>
                <a:srgbClr val="000000"/>
              </a:solidFill>
              <a:latin typeface="Courier New" pitchFamily="49" charset="0"/>
              <a:cs typeface="Courier New" pitchFamily="49" charset="0"/>
            </a:endParaRPr>
          </a:p>
          <a:p>
            <a:pPr>
              <a:buFont typeface="Monotype Sorts" pitchFamily="-84" charset="2"/>
              <a:buNone/>
            </a:pPr>
            <a:r>
              <a:rPr lang="en-US" altLang="en-US" sz="1600" b="1" kern="0" dirty="0">
                <a:solidFill>
                  <a:srgbClr val="000000"/>
                </a:solidFill>
                <a:latin typeface="Courier New" pitchFamily="49" charset="0"/>
                <a:cs typeface="Courier New" pitchFamily="49" charset="0"/>
              </a:rPr>
              <a:t>			critical section </a:t>
            </a:r>
          </a:p>
          <a:p>
            <a:pPr>
              <a:buFont typeface="Monotype Sorts" pitchFamily="-84" charset="2"/>
              <a:buNone/>
            </a:pPr>
            <a:r>
              <a:rPr lang="en-US" altLang="en-US" sz="1600" b="1" kern="0" dirty="0">
                <a:solidFill>
                  <a:srgbClr val="000000"/>
                </a:solidFill>
                <a:latin typeface="Courier New" pitchFamily="49" charset="0"/>
                <a:cs typeface="Courier New" pitchFamily="49" charset="0"/>
              </a:rPr>
              <a:t>		flag[1] = false; </a:t>
            </a:r>
          </a:p>
          <a:p>
            <a:pPr>
              <a:buFont typeface="Monotype Sorts" pitchFamily="-84" charset="2"/>
              <a:buNone/>
            </a:pPr>
            <a:endParaRPr lang="en-US" altLang="en-US" sz="400" b="1" kern="0" dirty="0">
              <a:solidFill>
                <a:srgbClr val="000000"/>
              </a:solidFill>
              <a:latin typeface="Courier New" pitchFamily="49" charset="0"/>
              <a:cs typeface="Courier New" pitchFamily="49" charset="0"/>
            </a:endParaRPr>
          </a:p>
          <a:p>
            <a:pPr>
              <a:buFont typeface="Monotype Sorts" pitchFamily="-84" charset="2"/>
              <a:buNone/>
            </a:pPr>
            <a:r>
              <a:rPr lang="en-US" altLang="en-US" sz="1600" b="1" kern="0" dirty="0">
                <a:solidFill>
                  <a:srgbClr val="000000"/>
                </a:solidFill>
                <a:latin typeface="Courier New" pitchFamily="49" charset="0"/>
                <a:cs typeface="Courier New" pitchFamily="49" charset="0"/>
              </a:rPr>
              <a:t>			remainder section </a:t>
            </a:r>
          </a:p>
          <a:p>
            <a:pPr>
              <a:buFont typeface="Monotype Sorts" pitchFamily="-84" charset="2"/>
              <a:buNone/>
            </a:pPr>
            <a:r>
              <a:rPr lang="en-US" altLang="en-US" sz="1600" b="1" kern="0" dirty="0">
                <a:solidFill>
                  <a:srgbClr val="000000"/>
                </a:solidFill>
                <a:latin typeface="Courier New" pitchFamily="49" charset="0"/>
                <a:cs typeface="Courier New" pitchFamily="49" charset="0"/>
              </a:rPr>
              <a:t>	 } while (true); </a:t>
            </a:r>
          </a:p>
          <a:p>
            <a:pPr>
              <a:buFont typeface="Monotype Sorts" pitchFamily="-84" charset="2"/>
              <a:buNone/>
            </a:pPr>
            <a:endParaRPr lang="en-US" altLang="en-US" sz="1600" kern="0" dirty="0">
              <a:solidFill>
                <a:srgbClr val="0000FF"/>
              </a:solidFill>
            </a:endParaRPr>
          </a:p>
        </p:txBody>
      </p:sp>
      <p:sp>
        <p:nvSpPr>
          <p:cNvPr id="12293" name="Rectangle 3"/>
          <p:cNvSpPr>
            <a:spLocks noGrp="1" noChangeArrowheads="1"/>
          </p:cNvSpPr>
          <p:nvPr>
            <p:ph idx="1"/>
          </p:nvPr>
        </p:nvSpPr>
        <p:spPr>
          <a:xfrm>
            <a:off x="230189" y="1501775"/>
            <a:ext cx="4183062" cy="4770438"/>
          </a:xfrm>
        </p:spPr>
        <p:txBody>
          <a:bodyPr/>
          <a:lstStyle/>
          <a:p>
            <a:pPr>
              <a:buFont typeface="Monotype Sorts" pitchFamily="-84" charset="2"/>
              <a:buNone/>
            </a:pPr>
            <a:r>
              <a:rPr lang="en-US" altLang="en-US" b="1" dirty="0">
                <a:solidFill>
                  <a:srgbClr val="000000"/>
                </a:solidFill>
                <a:latin typeface="Courier New" pitchFamily="49" charset="0"/>
                <a:cs typeface="Courier New" pitchFamily="49" charset="0"/>
              </a:rPr>
              <a:t>	</a:t>
            </a:r>
            <a:r>
              <a:rPr lang="en-US" altLang="en-US" sz="1600" b="1" dirty="0">
                <a:solidFill>
                  <a:srgbClr val="000000"/>
                </a:solidFill>
                <a:latin typeface="Courier New" pitchFamily="49" charset="0"/>
                <a:cs typeface="Courier New" pitchFamily="49" charset="0"/>
              </a:rPr>
              <a:t>do { </a:t>
            </a:r>
          </a:p>
          <a:p>
            <a:pPr>
              <a:buNone/>
            </a:pPr>
            <a:r>
              <a:rPr lang="en-US" altLang="en-US" sz="1600" b="1" dirty="0">
                <a:solidFill>
                  <a:srgbClr val="000000"/>
                </a:solidFill>
                <a:latin typeface="Courier New" pitchFamily="49" charset="0"/>
                <a:cs typeface="Courier New" pitchFamily="49" charset="0"/>
              </a:rPr>
              <a:t>		flag[0] = true;</a:t>
            </a:r>
          </a:p>
          <a:p>
            <a:pPr>
              <a:buFont typeface="Monotype Sorts" pitchFamily="-84" charset="2"/>
              <a:buNone/>
            </a:pPr>
            <a:r>
              <a:rPr lang="en-US" altLang="en-US" sz="1600" b="1" dirty="0">
                <a:solidFill>
                  <a:srgbClr val="000000"/>
                </a:solidFill>
                <a:latin typeface="Courier New" pitchFamily="49" charset="0"/>
                <a:cs typeface="Courier New" pitchFamily="49" charset="0"/>
              </a:rPr>
              <a:t>		while (flag[1]); </a:t>
            </a:r>
          </a:p>
          <a:p>
            <a:pPr>
              <a:buFont typeface="Monotype Sorts" pitchFamily="-84" charset="2"/>
              <a:buNone/>
            </a:pPr>
            <a:endParaRPr lang="en-US" altLang="en-US" sz="400" b="1" dirty="0">
              <a:solidFill>
                <a:srgbClr val="000000"/>
              </a:solidFill>
              <a:latin typeface="Courier New" pitchFamily="49" charset="0"/>
              <a:cs typeface="Courier New" pitchFamily="49" charset="0"/>
            </a:endParaRPr>
          </a:p>
          <a:p>
            <a:pPr>
              <a:buFont typeface="Monotype Sorts" pitchFamily="-84" charset="2"/>
              <a:buNone/>
            </a:pPr>
            <a:r>
              <a:rPr lang="en-US" altLang="en-US" sz="1600" b="1" dirty="0">
                <a:solidFill>
                  <a:srgbClr val="000000"/>
                </a:solidFill>
                <a:latin typeface="Courier New" pitchFamily="49" charset="0"/>
                <a:cs typeface="Courier New" pitchFamily="49" charset="0"/>
              </a:rPr>
              <a:t>			critical section </a:t>
            </a:r>
          </a:p>
          <a:p>
            <a:pPr>
              <a:buFont typeface="Monotype Sorts" pitchFamily="-84" charset="2"/>
              <a:buNone/>
            </a:pPr>
            <a:r>
              <a:rPr lang="en-US" altLang="en-US" sz="1600" b="1" dirty="0">
                <a:solidFill>
                  <a:srgbClr val="000000"/>
                </a:solidFill>
                <a:latin typeface="Courier New" pitchFamily="49" charset="0"/>
                <a:cs typeface="Courier New" pitchFamily="49" charset="0"/>
              </a:rPr>
              <a:t>		flag[0] = false; </a:t>
            </a:r>
          </a:p>
          <a:p>
            <a:pPr>
              <a:buFont typeface="Monotype Sorts" pitchFamily="-84" charset="2"/>
              <a:buNone/>
            </a:pPr>
            <a:endParaRPr lang="en-US" altLang="en-US" sz="400" b="1" dirty="0">
              <a:solidFill>
                <a:srgbClr val="000000"/>
              </a:solidFill>
              <a:latin typeface="Courier New" pitchFamily="49" charset="0"/>
              <a:cs typeface="Courier New" pitchFamily="49" charset="0"/>
            </a:endParaRPr>
          </a:p>
          <a:p>
            <a:pPr>
              <a:buFont typeface="Monotype Sorts" pitchFamily="-84" charset="2"/>
              <a:buNone/>
            </a:pPr>
            <a:r>
              <a:rPr lang="en-US" altLang="en-US" sz="1600" b="1" dirty="0">
                <a:solidFill>
                  <a:srgbClr val="000000"/>
                </a:solidFill>
                <a:latin typeface="Courier New" pitchFamily="49" charset="0"/>
                <a:cs typeface="Courier New" pitchFamily="49" charset="0"/>
              </a:rPr>
              <a:t>			remainder section </a:t>
            </a:r>
          </a:p>
          <a:p>
            <a:pPr>
              <a:buFont typeface="Monotype Sorts" pitchFamily="-84" charset="2"/>
              <a:buNone/>
            </a:pPr>
            <a:r>
              <a:rPr lang="en-US" altLang="en-US" sz="1600" b="1" dirty="0">
                <a:solidFill>
                  <a:srgbClr val="000000"/>
                </a:solidFill>
                <a:latin typeface="Courier New" pitchFamily="49" charset="0"/>
                <a:cs typeface="Courier New" pitchFamily="49" charset="0"/>
              </a:rPr>
              <a:t>	 } while (true); </a:t>
            </a:r>
          </a:p>
          <a:p>
            <a:pPr>
              <a:buFont typeface="Monotype Sorts" pitchFamily="-84" charset="2"/>
              <a:buNone/>
            </a:pPr>
            <a:endParaRPr lang="en-US" altLang="en-US" sz="1600" dirty="0">
              <a:solidFill>
                <a:srgbClr val="0000FF"/>
              </a:solidFill>
            </a:endParaRPr>
          </a:p>
        </p:txBody>
      </p:sp>
    </p:spTree>
    <p:extLst>
      <p:ext uri="{BB962C8B-B14F-4D97-AF65-F5344CB8AC3E}">
        <p14:creationId xmlns:p14="http://schemas.microsoft.com/office/powerpoint/2010/main" val="9659543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998538" y="214313"/>
            <a:ext cx="7688262" cy="576262"/>
          </a:xfrm>
        </p:spPr>
        <p:txBody>
          <a:bodyPr/>
          <a:lstStyle/>
          <a:p>
            <a:pPr eaLnBrk="1" hangingPunct="1"/>
            <a:r>
              <a:rPr lang="en-US" altLang="en-US"/>
              <a:t>Peterson</a:t>
            </a:r>
            <a:r>
              <a:rPr lang="ja-JP" altLang="en-US"/>
              <a:t>’</a:t>
            </a:r>
            <a:r>
              <a:rPr lang="en-US" altLang="ja-JP"/>
              <a:t>s Solution</a:t>
            </a:r>
            <a:endParaRPr lang="en-US" altLang="en-US"/>
          </a:p>
        </p:txBody>
      </p:sp>
      <p:sp>
        <p:nvSpPr>
          <p:cNvPr id="15363" name="Rectangle 3"/>
          <p:cNvSpPr>
            <a:spLocks noGrp="1" noChangeArrowheads="1"/>
          </p:cNvSpPr>
          <p:nvPr>
            <p:ph idx="1"/>
          </p:nvPr>
        </p:nvSpPr>
        <p:spPr>
          <a:xfrm>
            <a:off x="946150" y="1182688"/>
            <a:ext cx="7118350" cy="4422775"/>
          </a:xfrm>
        </p:spPr>
        <p:txBody>
          <a:bodyPr/>
          <a:lstStyle/>
          <a:p>
            <a:pPr>
              <a:lnSpc>
                <a:spcPct val="90000"/>
              </a:lnSpc>
              <a:tabLst>
                <a:tab pos="739775" algn="l"/>
                <a:tab pos="1020763" algn="l"/>
                <a:tab pos="1257300" algn="l"/>
              </a:tabLst>
            </a:pPr>
            <a:r>
              <a:rPr lang="en-US" altLang="en-US" dirty="0"/>
              <a:t>Two process solution</a:t>
            </a:r>
            <a:endParaRPr lang="en-US" altLang="en-US" sz="800" dirty="0"/>
          </a:p>
          <a:p>
            <a:pPr>
              <a:lnSpc>
                <a:spcPct val="90000"/>
              </a:lnSpc>
              <a:tabLst>
                <a:tab pos="739775" algn="l"/>
                <a:tab pos="1020763" algn="l"/>
                <a:tab pos="1257300" algn="l"/>
              </a:tabLst>
            </a:pPr>
            <a:r>
              <a:rPr lang="en-US" altLang="en-US" dirty="0"/>
              <a:t>Assume that the </a:t>
            </a:r>
            <a:r>
              <a:rPr lang="en-US" altLang="en-US" sz="2000" b="1" dirty="0">
                <a:latin typeface="Courier New" pitchFamily="49" charset="0"/>
                <a:cs typeface="Courier New" pitchFamily="49" charset="0"/>
              </a:rPr>
              <a:t>load</a:t>
            </a:r>
            <a:r>
              <a:rPr lang="en-US" altLang="en-US" dirty="0">
                <a:latin typeface="Courier New" pitchFamily="49" charset="0"/>
                <a:cs typeface="Courier New" pitchFamily="49" charset="0"/>
              </a:rPr>
              <a:t> </a:t>
            </a:r>
            <a:r>
              <a:rPr lang="en-US" altLang="en-US" dirty="0"/>
              <a:t>and </a:t>
            </a:r>
            <a:r>
              <a:rPr lang="en-US" altLang="en-US" sz="2000" b="1" dirty="0">
                <a:latin typeface="Courier New" pitchFamily="49" charset="0"/>
                <a:cs typeface="Courier New" pitchFamily="49" charset="0"/>
              </a:rPr>
              <a:t>store</a:t>
            </a:r>
            <a:r>
              <a:rPr lang="en-US" altLang="en-US" dirty="0"/>
              <a:t> machine-language instructions are atomic; that is, cannot be interrupted</a:t>
            </a:r>
            <a:endParaRPr lang="en-US" altLang="en-US" sz="800" dirty="0"/>
          </a:p>
          <a:p>
            <a:pPr>
              <a:lnSpc>
                <a:spcPct val="90000"/>
              </a:lnSpc>
              <a:tabLst>
                <a:tab pos="739775" algn="l"/>
                <a:tab pos="1020763" algn="l"/>
                <a:tab pos="1257300" algn="l"/>
              </a:tabLst>
            </a:pPr>
            <a:r>
              <a:rPr lang="en-US" altLang="en-US" dirty="0">
                <a:solidFill>
                  <a:srgbClr val="000000"/>
                </a:solidFill>
              </a:rPr>
              <a:t>The two processes share two variables:</a:t>
            </a:r>
          </a:p>
          <a:p>
            <a:pPr lvl="1">
              <a:lnSpc>
                <a:spcPct val="90000"/>
              </a:lnSpc>
              <a:tabLst>
                <a:tab pos="739775" algn="l"/>
                <a:tab pos="1020763" algn="l"/>
                <a:tab pos="1257300" algn="l"/>
              </a:tabLst>
            </a:pPr>
            <a:r>
              <a:rPr lang="en-US" altLang="en-US" sz="1600" b="1" dirty="0" err="1">
                <a:latin typeface="Courier New" pitchFamily="49" charset="0"/>
              </a:rPr>
              <a:t>int</a:t>
            </a:r>
            <a:r>
              <a:rPr lang="en-US" altLang="en-US" sz="1600" b="1" dirty="0">
                <a:latin typeface="Courier New" pitchFamily="49" charset="0"/>
              </a:rPr>
              <a:t> turn; </a:t>
            </a:r>
          </a:p>
          <a:p>
            <a:pPr lvl="1">
              <a:lnSpc>
                <a:spcPct val="90000"/>
              </a:lnSpc>
              <a:tabLst>
                <a:tab pos="739775" algn="l"/>
                <a:tab pos="1020763" algn="l"/>
                <a:tab pos="1257300" algn="l"/>
              </a:tabLst>
            </a:pPr>
            <a:r>
              <a:rPr lang="en-US" altLang="en-US" sz="1600" b="1" dirty="0">
                <a:latin typeface="Courier New" pitchFamily="49" charset="0"/>
              </a:rPr>
              <a:t>Boolean flag[2]</a:t>
            </a:r>
          </a:p>
          <a:p>
            <a:pPr lvl="1">
              <a:lnSpc>
                <a:spcPct val="90000"/>
              </a:lnSpc>
              <a:tabLst>
                <a:tab pos="739775" algn="l"/>
                <a:tab pos="1020763" algn="l"/>
                <a:tab pos="1257300" algn="l"/>
              </a:tabLst>
            </a:pPr>
            <a:endParaRPr lang="en-US" altLang="en-US" sz="800" b="1" dirty="0">
              <a:solidFill>
                <a:srgbClr val="000000"/>
              </a:solidFill>
            </a:endParaRPr>
          </a:p>
          <a:p>
            <a:pPr>
              <a:lnSpc>
                <a:spcPct val="90000"/>
              </a:lnSpc>
              <a:tabLst>
                <a:tab pos="739775" algn="l"/>
                <a:tab pos="1020763" algn="l"/>
                <a:tab pos="1257300" algn="l"/>
              </a:tabLst>
            </a:pPr>
            <a:r>
              <a:rPr lang="en-US" altLang="en-US" dirty="0">
                <a:solidFill>
                  <a:srgbClr val="000000"/>
                </a:solidFill>
              </a:rPr>
              <a:t>The variable </a:t>
            </a:r>
            <a:r>
              <a:rPr lang="en-US" altLang="en-US" sz="1600" b="1" dirty="0">
                <a:latin typeface="Courier New" pitchFamily="49" charset="0"/>
                <a:cs typeface="Courier New" pitchFamily="49" charset="0"/>
              </a:rPr>
              <a:t>turn</a:t>
            </a:r>
            <a:r>
              <a:rPr lang="en-US" altLang="en-US" dirty="0">
                <a:solidFill>
                  <a:srgbClr val="000000"/>
                </a:solidFill>
              </a:rPr>
              <a:t> indicates whose turn it is to enter the critical section</a:t>
            </a:r>
            <a:endParaRPr lang="en-US" altLang="en-US" sz="800" dirty="0">
              <a:solidFill>
                <a:srgbClr val="000000"/>
              </a:solidFill>
            </a:endParaRPr>
          </a:p>
          <a:p>
            <a:pPr>
              <a:lnSpc>
                <a:spcPct val="90000"/>
              </a:lnSpc>
              <a:tabLst>
                <a:tab pos="739775" algn="l"/>
                <a:tab pos="1020763" algn="l"/>
                <a:tab pos="1257300" algn="l"/>
              </a:tabLst>
            </a:pPr>
            <a:r>
              <a:rPr lang="en-US" altLang="en-US" dirty="0">
                <a:solidFill>
                  <a:srgbClr val="000000"/>
                </a:solidFill>
              </a:rPr>
              <a:t>The </a:t>
            </a:r>
            <a:r>
              <a:rPr lang="en-US" altLang="en-US" sz="1600" b="1" dirty="0">
                <a:latin typeface="Courier New" pitchFamily="49" charset="0"/>
                <a:cs typeface="Courier New" pitchFamily="49" charset="0"/>
              </a:rPr>
              <a:t>flag</a:t>
            </a:r>
            <a:r>
              <a:rPr lang="en-US" altLang="en-US" b="1" dirty="0">
                <a:latin typeface="Courier New" pitchFamily="49" charset="0"/>
                <a:cs typeface="Courier New" pitchFamily="49" charset="0"/>
              </a:rPr>
              <a:t> </a:t>
            </a:r>
            <a:r>
              <a:rPr lang="en-US" altLang="en-US" dirty="0">
                <a:solidFill>
                  <a:srgbClr val="000000"/>
                </a:solidFill>
              </a:rPr>
              <a:t>array is used to indicate if a process is ready to enter the critical section. </a:t>
            </a:r>
            <a:r>
              <a:rPr lang="en-US" altLang="en-US" sz="1600" b="1" dirty="0">
                <a:latin typeface="Courier New" pitchFamily="49" charset="0"/>
                <a:cs typeface="Courier New" pitchFamily="49" charset="0"/>
              </a:rPr>
              <a:t>flag[i] = </a:t>
            </a:r>
            <a:r>
              <a:rPr lang="en-US" altLang="en-US" sz="1600" b="1" i="1" dirty="0">
                <a:latin typeface="Courier New" pitchFamily="49" charset="0"/>
                <a:cs typeface="Courier New" pitchFamily="49" charset="0"/>
              </a:rPr>
              <a:t>true</a:t>
            </a:r>
            <a:r>
              <a:rPr lang="en-US" altLang="en-US" sz="1600" dirty="0">
                <a:solidFill>
                  <a:srgbClr val="000000"/>
                </a:solidFill>
              </a:rPr>
              <a:t>  </a:t>
            </a:r>
            <a:r>
              <a:rPr lang="en-US" altLang="en-US" dirty="0">
                <a:solidFill>
                  <a:srgbClr val="000000"/>
                </a:solidFill>
              </a:rPr>
              <a:t>implies that process </a:t>
            </a:r>
            <a:r>
              <a:rPr lang="en-US" altLang="en-US" sz="2000" b="1" dirty="0">
                <a:solidFill>
                  <a:srgbClr val="000000"/>
                </a:solidFill>
                <a:latin typeface="Courier New" pitchFamily="49" charset="0"/>
                <a:cs typeface="Courier New" pitchFamily="49" charset="0"/>
              </a:rPr>
              <a:t>P</a:t>
            </a:r>
            <a:r>
              <a:rPr lang="en-US" altLang="en-US" sz="2000" b="1" baseline="-25000" dirty="0">
                <a:solidFill>
                  <a:srgbClr val="000000"/>
                </a:solidFill>
                <a:latin typeface="Courier New" pitchFamily="49" charset="0"/>
                <a:cs typeface="Courier New" pitchFamily="49" charset="0"/>
              </a:rPr>
              <a:t>i</a:t>
            </a:r>
            <a:r>
              <a:rPr lang="en-US" altLang="en-US" dirty="0">
                <a:solidFill>
                  <a:srgbClr val="000000"/>
                </a:solidFill>
              </a:rPr>
              <a:t> is ready!</a:t>
            </a:r>
          </a:p>
          <a:p>
            <a:pPr>
              <a:lnSpc>
                <a:spcPct val="90000"/>
              </a:lnSpc>
              <a:tabLst>
                <a:tab pos="739775" algn="l"/>
                <a:tab pos="1020763" algn="l"/>
                <a:tab pos="1257300" algn="l"/>
              </a:tabLst>
            </a:pPr>
            <a:endParaRPr lang="en-US" altLang="en-US" dirty="0">
              <a:solidFill>
                <a:srgbClr val="000000"/>
              </a:solidFill>
            </a:endParaRPr>
          </a:p>
          <a:p>
            <a:pPr>
              <a:lnSpc>
                <a:spcPct val="90000"/>
              </a:lnSpc>
              <a:tabLst>
                <a:tab pos="739775" algn="l"/>
                <a:tab pos="1020763" algn="l"/>
                <a:tab pos="1257300" algn="l"/>
              </a:tabLst>
            </a:pPr>
            <a:endParaRPr lang="en-US" altLang="en-US" dirty="0">
              <a:solidFill>
                <a:srgbClr val="000000"/>
              </a:solidFill>
            </a:endParaRPr>
          </a:p>
          <a:p>
            <a:pPr>
              <a:lnSpc>
                <a:spcPct val="90000"/>
              </a:lnSpc>
              <a:tabLst>
                <a:tab pos="739775" algn="l"/>
                <a:tab pos="1020763" algn="l"/>
                <a:tab pos="1257300" algn="l"/>
              </a:tabLst>
            </a:pPr>
            <a:endParaRPr lang="en-US" altLang="en-US" dirty="0">
              <a:solidFill>
                <a:srgbClr val="000000"/>
              </a:solidFill>
            </a:endParaRPr>
          </a:p>
          <a:p>
            <a:pPr>
              <a:lnSpc>
                <a:spcPct val="90000"/>
              </a:lnSpc>
              <a:tabLst>
                <a:tab pos="739775" algn="l"/>
                <a:tab pos="1020763" algn="l"/>
                <a:tab pos="1257300" algn="l"/>
              </a:tabLst>
            </a:pPr>
            <a:r>
              <a:rPr lang="en-US" altLang="en-US" sz="1200" dirty="0">
                <a:solidFill>
                  <a:srgbClr val="000000"/>
                </a:solidFill>
              </a:rPr>
              <a:t>Note: </a:t>
            </a:r>
            <a:r>
              <a:rPr lang="en-US" altLang="en-US" sz="1050" dirty="0">
                <a:solidFill>
                  <a:srgbClr val="0070C0"/>
                </a:solidFill>
                <a:hlinkClick r:id="rId3">
                  <a:extLst>
                    <a:ext uri="{A12FA001-AC4F-418D-AE19-62706E023703}">
                      <ahyp:hlinkClr xmlns:ahyp="http://schemas.microsoft.com/office/drawing/2018/hyperlinkcolor" val="tx"/>
                    </a:ext>
                  </a:extLst>
                </a:hlinkClick>
              </a:rPr>
              <a:t>https://stackoverflow.com/questions/15675676/will-petersons-solution-work-correctly-on-modern-cpu-architectures#:~:text=On%20a%20system%20with%20one,be%20perceived%20differently%20on%20another</a:t>
            </a:r>
            <a:r>
              <a:rPr lang="en-US" altLang="en-US" sz="1050" dirty="0">
                <a:solidFill>
                  <a:srgbClr val="000000"/>
                </a:solidFill>
              </a:rPr>
              <a:t>.</a:t>
            </a:r>
            <a:endParaRPr lang="en-US" altLang="en-US" dirty="0">
              <a:solidFill>
                <a:srgbClr val="000000"/>
              </a:solidFill>
            </a:endParaRPr>
          </a:p>
          <a:p>
            <a:pPr>
              <a:lnSpc>
                <a:spcPct val="90000"/>
              </a:lnSpc>
              <a:tabLst>
                <a:tab pos="739775" algn="l"/>
                <a:tab pos="1020763" algn="l"/>
                <a:tab pos="1257300" algn="l"/>
              </a:tabLst>
            </a:pPr>
            <a:endParaRPr lang="en-US" altLang="en-US" dirty="0">
              <a:solidFill>
                <a:srgbClr val="0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bwMode="auto">
          <a:xfrm>
            <a:off x="736600" y="1952625"/>
            <a:ext cx="3889375" cy="962025"/>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7" name="Rectangle 6"/>
          <p:cNvSpPr/>
          <p:nvPr/>
        </p:nvSpPr>
        <p:spPr bwMode="auto">
          <a:xfrm>
            <a:off x="754063" y="3216275"/>
            <a:ext cx="2162175" cy="387350"/>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16388" name="Rectangle 2"/>
          <p:cNvSpPr>
            <a:spLocks noGrp="1" noChangeArrowheads="1"/>
          </p:cNvSpPr>
          <p:nvPr>
            <p:ph type="title"/>
          </p:nvPr>
        </p:nvSpPr>
        <p:spPr>
          <a:xfrm>
            <a:off x="457200" y="277813"/>
            <a:ext cx="8291513" cy="576262"/>
          </a:xfrm>
        </p:spPr>
        <p:txBody>
          <a:bodyPr/>
          <a:lstStyle/>
          <a:p>
            <a:pPr eaLnBrk="1" hangingPunct="1"/>
            <a:r>
              <a:rPr lang="en-US" altLang="en-US" dirty="0"/>
              <a:t>Algorithm for Process </a:t>
            </a:r>
            <a:r>
              <a:rPr lang="en-US" altLang="en-US" dirty="0">
                <a:solidFill>
                  <a:srgbClr val="0000FF"/>
                </a:solidFill>
              </a:rPr>
              <a:t>P</a:t>
            </a:r>
            <a:r>
              <a:rPr lang="en-US" altLang="en-US" baseline="-25000" dirty="0">
                <a:solidFill>
                  <a:srgbClr val="0000FF"/>
                </a:solidFill>
              </a:rPr>
              <a:t>0</a:t>
            </a:r>
            <a:r>
              <a:rPr lang="en-US" altLang="en-US" dirty="0">
                <a:solidFill>
                  <a:srgbClr val="0000FF"/>
                </a:solidFill>
              </a:rPr>
              <a:t> P</a:t>
            </a:r>
            <a:r>
              <a:rPr lang="en-US" altLang="en-US" baseline="-25000" dirty="0">
                <a:solidFill>
                  <a:srgbClr val="0000FF"/>
                </a:solidFill>
              </a:rPr>
              <a:t>1</a:t>
            </a:r>
          </a:p>
        </p:txBody>
      </p:sp>
      <p:sp>
        <p:nvSpPr>
          <p:cNvPr id="16389" name="Rectangle 3"/>
          <p:cNvSpPr>
            <a:spLocks noGrp="1" noChangeArrowheads="1"/>
          </p:cNvSpPr>
          <p:nvPr>
            <p:ph idx="1"/>
          </p:nvPr>
        </p:nvSpPr>
        <p:spPr>
          <a:xfrm>
            <a:off x="-125411" y="1558925"/>
            <a:ext cx="4856162" cy="4770438"/>
          </a:xfrm>
        </p:spPr>
        <p:txBody>
          <a:bodyPr/>
          <a:lstStyle/>
          <a:p>
            <a:pPr>
              <a:buFont typeface="Monotype Sorts" pitchFamily="-84" charset="2"/>
              <a:buNone/>
            </a:pPr>
            <a:r>
              <a:rPr lang="en-US" altLang="en-US" b="1" dirty="0">
                <a:solidFill>
                  <a:srgbClr val="000000"/>
                </a:solidFill>
                <a:latin typeface="Courier New" pitchFamily="49" charset="0"/>
                <a:cs typeface="Courier New" pitchFamily="49" charset="0"/>
              </a:rPr>
              <a:t>	do </a:t>
            </a:r>
            <a:r>
              <a:rPr lang="en-US" altLang="en-US" sz="1600" b="1" dirty="0">
                <a:solidFill>
                  <a:srgbClr val="000000"/>
                </a:solidFill>
                <a:latin typeface="Courier New" pitchFamily="49" charset="0"/>
                <a:cs typeface="Courier New" pitchFamily="49" charset="0"/>
              </a:rPr>
              <a:t>{ </a:t>
            </a:r>
          </a:p>
          <a:p>
            <a:pPr>
              <a:buFont typeface="Monotype Sorts" pitchFamily="-84" charset="2"/>
              <a:buNone/>
            </a:pPr>
            <a:r>
              <a:rPr lang="en-US" altLang="en-US" sz="1600" b="1" dirty="0">
                <a:solidFill>
                  <a:srgbClr val="000000"/>
                </a:solidFill>
                <a:latin typeface="Courier New" pitchFamily="49" charset="0"/>
                <a:cs typeface="Courier New" pitchFamily="49" charset="0"/>
              </a:rPr>
              <a:t>		flag[0] = true; </a:t>
            </a:r>
          </a:p>
          <a:p>
            <a:pPr>
              <a:buFont typeface="Monotype Sorts" pitchFamily="-84" charset="2"/>
              <a:buNone/>
            </a:pPr>
            <a:r>
              <a:rPr lang="en-US" altLang="en-US" sz="1600" b="1" dirty="0">
                <a:solidFill>
                  <a:srgbClr val="000000"/>
                </a:solidFill>
                <a:latin typeface="Courier New" pitchFamily="49" charset="0"/>
                <a:cs typeface="Courier New" pitchFamily="49" charset="0"/>
              </a:rPr>
              <a:t>		turn = 1; </a:t>
            </a:r>
          </a:p>
          <a:p>
            <a:pPr>
              <a:buFont typeface="Monotype Sorts" pitchFamily="-84" charset="2"/>
              <a:buNone/>
            </a:pPr>
            <a:r>
              <a:rPr lang="en-US" altLang="en-US" sz="1600" b="1" dirty="0">
                <a:solidFill>
                  <a:srgbClr val="000000"/>
                </a:solidFill>
                <a:latin typeface="Courier New" pitchFamily="49" charset="0"/>
                <a:cs typeface="Courier New" pitchFamily="49" charset="0"/>
              </a:rPr>
              <a:t>		while (flag[1] &amp;&amp; turn = = 1); </a:t>
            </a:r>
          </a:p>
          <a:p>
            <a:pPr>
              <a:buFont typeface="Monotype Sorts" pitchFamily="-84" charset="2"/>
              <a:buNone/>
            </a:pPr>
            <a:r>
              <a:rPr lang="en-US" altLang="en-US" sz="1600" b="1" dirty="0">
                <a:solidFill>
                  <a:srgbClr val="000000"/>
                </a:solidFill>
                <a:latin typeface="Courier New" pitchFamily="49" charset="0"/>
                <a:cs typeface="Courier New" pitchFamily="49" charset="0"/>
              </a:rPr>
              <a:t>			critical section </a:t>
            </a:r>
          </a:p>
          <a:p>
            <a:pPr>
              <a:buFont typeface="Monotype Sorts" pitchFamily="-84" charset="2"/>
              <a:buNone/>
            </a:pPr>
            <a:r>
              <a:rPr lang="en-US" altLang="en-US" sz="1600" b="1" dirty="0">
                <a:solidFill>
                  <a:srgbClr val="000000"/>
                </a:solidFill>
                <a:latin typeface="Courier New" pitchFamily="49" charset="0"/>
                <a:cs typeface="Courier New" pitchFamily="49" charset="0"/>
              </a:rPr>
              <a:t>		flag[0] = false; </a:t>
            </a:r>
          </a:p>
          <a:p>
            <a:pPr>
              <a:buFont typeface="Monotype Sorts" pitchFamily="-84" charset="2"/>
              <a:buNone/>
            </a:pPr>
            <a:r>
              <a:rPr lang="en-US" altLang="en-US" sz="1600" b="1" dirty="0">
                <a:solidFill>
                  <a:srgbClr val="000000"/>
                </a:solidFill>
                <a:latin typeface="Courier New" pitchFamily="49" charset="0"/>
                <a:cs typeface="Courier New" pitchFamily="49" charset="0"/>
              </a:rPr>
              <a:t>			remainder section </a:t>
            </a:r>
          </a:p>
          <a:p>
            <a:pPr>
              <a:buFont typeface="Monotype Sorts" pitchFamily="-84" charset="2"/>
              <a:buNone/>
            </a:pPr>
            <a:r>
              <a:rPr lang="en-US" altLang="en-US" sz="1600" b="1" dirty="0">
                <a:solidFill>
                  <a:srgbClr val="000000"/>
                </a:solidFill>
                <a:latin typeface="Courier New" pitchFamily="49" charset="0"/>
                <a:cs typeface="Courier New" pitchFamily="49" charset="0"/>
              </a:rPr>
              <a:t>	 } while (true); </a:t>
            </a:r>
          </a:p>
          <a:p>
            <a:pPr>
              <a:buFont typeface="Monotype Sorts" pitchFamily="-84" charset="2"/>
              <a:buNone/>
            </a:pPr>
            <a:endParaRPr lang="en-US" altLang="en-US" sz="1600" dirty="0">
              <a:solidFill>
                <a:srgbClr val="0000FF"/>
              </a:solidFill>
            </a:endParaRPr>
          </a:p>
        </p:txBody>
      </p:sp>
      <p:sp>
        <p:nvSpPr>
          <p:cNvPr id="8" name="Rectangle 7"/>
          <p:cNvSpPr/>
          <p:nvPr/>
        </p:nvSpPr>
        <p:spPr bwMode="auto">
          <a:xfrm>
            <a:off x="5080000" y="1952625"/>
            <a:ext cx="3889375" cy="962025"/>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9" name="Rectangle 8"/>
          <p:cNvSpPr/>
          <p:nvPr/>
        </p:nvSpPr>
        <p:spPr bwMode="auto">
          <a:xfrm>
            <a:off x="5097463" y="3216275"/>
            <a:ext cx="2162175" cy="387350"/>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10" name="Rectangle 3"/>
          <p:cNvSpPr txBox="1">
            <a:spLocks noChangeArrowheads="1"/>
          </p:cNvSpPr>
          <p:nvPr/>
        </p:nvSpPr>
        <p:spPr bwMode="auto">
          <a:xfrm>
            <a:off x="4217989" y="1558925"/>
            <a:ext cx="4856162" cy="477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lvl1pPr marL="341313" indent="-341313"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MS PGothic" charset="0"/>
              </a:defRPr>
            </a:lvl1pPr>
            <a:lvl2pPr marL="741363" indent="-284163"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cs typeface="MS PGothic" charset="0"/>
              </a:defRPr>
            </a:lvl2pPr>
            <a:lvl3pPr marL="1084263" indent="-227013" algn="l" rtl="0" eaLnBrk="0" fontAlgn="base" hangingPunct="0">
              <a:spcBef>
                <a:spcPct val="35000"/>
              </a:spcBef>
              <a:spcAft>
                <a:spcPct val="0"/>
              </a:spcAft>
              <a:buClr>
                <a:srgbClr val="009900"/>
              </a:buClr>
              <a:buSzPct val="75000"/>
              <a:buFont typeface="Webdings" pitchFamily="18" charset="2"/>
              <a:buChar char="4"/>
              <a:defRPr kumimoji="1">
                <a:solidFill>
                  <a:schemeClr val="tx1"/>
                </a:solidFill>
                <a:latin typeface="+mn-lt"/>
                <a:ea typeface="MS PGothic" pitchFamily="34" charset="-128"/>
                <a:cs typeface="MS PGothic" charset="0"/>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cs typeface="MS PGothic" charset="0"/>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cs typeface="MS PGothic" charset="0"/>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buFont typeface="Monotype Sorts" pitchFamily="-84" charset="2"/>
              <a:buNone/>
            </a:pPr>
            <a:r>
              <a:rPr lang="en-US" altLang="en-US" b="1" kern="0" dirty="0">
                <a:solidFill>
                  <a:srgbClr val="000000"/>
                </a:solidFill>
                <a:latin typeface="Courier New" pitchFamily="49" charset="0"/>
                <a:cs typeface="Courier New" pitchFamily="49" charset="0"/>
              </a:rPr>
              <a:t>	do </a:t>
            </a:r>
            <a:r>
              <a:rPr lang="en-US" altLang="en-US" sz="1600" b="1" kern="0" dirty="0">
                <a:solidFill>
                  <a:srgbClr val="000000"/>
                </a:solidFill>
                <a:latin typeface="Courier New" pitchFamily="49" charset="0"/>
                <a:cs typeface="Courier New" pitchFamily="49" charset="0"/>
              </a:rPr>
              <a:t>{ </a:t>
            </a:r>
          </a:p>
          <a:p>
            <a:pPr>
              <a:buFont typeface="Monotype Sorts" pitchFamily="-84" charset="2"/>
              <a:buNone/>
            </a:pPr>
            <a:r>
              <a:rPr lang="en-US" altLang="en-US" sz="1600" b="1" kern="0" dirty="0">
                <a:solidFill>
                  <a:srgbClr val="000000"/>
                </a:solidFill>
                <a:latin typeface="Courier New" pitchFamily="49" charset="0"/>
                <a:cs typeface="Courier New" pitchFamily="49" charset="0"/>
              </a:rPr>
              <a:t>		flag[1] = true; </a:t>
            </a:r>
          </a:p>
          <a:p>
            <a:pPr>
              <a:buFont typeface="Monotype Sorts" pitchFamily="-84" charset="2"/>
              <a:buNone/>
            </a:pPr>
            <a:r>
              <a:rPr lang="en-US" altLang="en-US" sz="1600" b="1" kern="0" dirty="0">
                <a:solidFill>
                  <a:srgbClr val="000000"/>
                </a:solidFill>
                <a:latin typeface="Courier New" pitchFamily="49" charset="0"/>
                <a:cs typeface="Courier New" pitchFamily="49" charset="0"/>
              </a:rPr>
              <a:t>		turn = 0; </a:t>
            </a:r>
          </a:p>
          <a:p>
            <a:pPr>
              <a:buFont typeface="Monotype Sorts" pitchFamily="-84" charset="2"/>
              <a:buNone/>
            </a:pPr>
            <a:r>
              <a:rPr lang="en-US" altLang="en-US" sz="1600" b="1" kern="0" dirty="0">
                <a:solidFill>
                  <a:srgbClr val="000000"/>
                </a:solidFill>
                <a:latin typeface="Courier New" pitchFamily="49" charset="0"/>
                <a:cs typeface="Courier New" pitchFamily="49" charset="0"/>
              </a:rPr>
              <a:t>		while (flag[0] &amp;&amp; turn = = 0); </a:t>
            </a:r>
          </a:p>
          <a:p>
            <a:pPr>
              <a:buFont typeface="Monotype Sorts" pitchFamily="-84" charset="2"/>
              <a:buNone/>
            </a:pPr>
            <a:r>
              <a:rPr lang="en-US" altLang="en-US" sz="1600" b="1" kern="0" dirty="0">
                <a:solidFill>
                  <a:srgbClr val="000000"/>
                </a:solidFill>
                <a:latin typeface="Courier New" pitchFamily="49" charset="0"/>
                <a:cs typeface="Courier New" pitchFamily="49" charset="0"/>
              </a:rPr>
              <a:t>			critical section </a:t>
            </a:r>
          </a:p>
          <a:p>
            <a:pPr>
              <a:buFont typeface="Monotype Sorts" pitchFamily="-84" charset="2"/>
              <a:buNone/>
            </a:pPr>
            <a:r>
              <a:rPr lang="en-US" altLang="en-US" sz="1600" b="1" kern="0" dirty="0">
                <a:solidFill>
                  <a:srgbClr val="000000"/>
                </a:solidFill>
                <a:latin typeface="Courier New" pitchFamily="49" charset="0"/>
                <a:cs typeface="Courier New" pitchFamily="49" charset="0"/>
              </a:rPr>
              <a:t>	</a:t>
            </a:r>
            <a:r>
              <a:rPr lang="en-US" altLang="en-US" sz="1600" b="1" kern="0">
                <a:solidFill>
                  <a:srgbClr val="000000"/>
                </a:solidFill>
                <a:latin typeface="Courier New" pitchFamily="49" charset="0"/>
                <a:cs typeface="Courier New" pitchFamily="49" charset="0"/>
              </a:rPr>
              <a:t>	flag[1] </a:t>
            </a:r>
            <a:r>
              <a:rPr lang="en-US" altLang="en-US" sz="1600" b="1" kern="0" dirty="0">
                <a:solidFill>
                  <a:srgbClr val="000000"/>
                </a:solidFill>
                <a:latin typeface="Courier New" pitchFamily="49" charset="0"/>
                <a:cs typeface="Courier New" pitchFamily="49" charset="0"/>
              </a:rPr>
              <a:t>= false; </a:t>
            </a:r>
          </a:p>
          <a:p>
            <a:pPr>
              <a:buFont typeface="Monotype Sorts" pitchFamily="-84" charset="2"/>
              <a:buNone/>
            </a:pPr>
            <a:r>
              <a:rPr lang="en-US" altLang="en-US" sz="1600" b="1" kern="0" dirty="0">
                <a:solidFill>
                  <a:srgbClr val="000000"/>
                </a:solidFill>
                <a:latin typeface="Courier New" pitchFamily="49" charset="0"/>
                <a:cs typeface="Courier New" pitchFamily="49" charset="0"/>
              </a:rPr>
              <a:t>			remainder section </a:t>
            </a:r>
          </a:p>
          <a:p>
            <a:pPr>
              <a:buFont typeface="Monotype Sorts" pitchFamily="-84" charset="2"/>
              <a:buNone/>
            </a:pPr>
            <a:r>
              <a:rPr lang="en-US" altLang="en-US" sz="1600" b="1" kern="0" dirty="0">
                <a:solidFill>
                  <a:srgbClr val="000000"/>
                </a:solidFill>
                <a:latin typeface="Courier New" pitchFamily="49" charset="0"/>
                <a:cs typeface="Courier New" pitchFamily="49" charset="0"/>
              </a:rPr>
              <a:t>	 } while (true); </a:t>
            </a:r>
          </a:p>
          <a:p>
            <a:pPr>
              <a:buFont typeface="Monotype Sorts" pitchFamily="-84" charset="2"/>
              <a:buNone/>
            </a:pPr>
            <a:endParaRPr lang="en-US" altLang="en-US" sz="1600" kern="0" dirty="0">
              <a:solidFill>
                <a:srgbClr val="0000FF"/>
              </a:solidFill>
            </a:endParaRPr>
          </a:p>
        </p:txBody>
      </p:sp>
      <p:sp>
        <p:nvSpPr>
          <p:cNvPr id="11" name="Rectangle 3"/>
          <p:cNvSpPr txBox="1">
            <a:spLocks noChangeArrowheads="1"/>
          </p:cNvSpPr>
          <p:nvPr/>
        </p:nvSpPr>
        <p:spPr bwMode="auto">
          <a:xfrm>
            <a:off x="2152652" y="937418"/>
            <a:ext cx="2895600"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lvl1pPr marL="341313" indent="-341313"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MS PGothic" charset="0"/>
              </a:defRPr>
            </a:lvl1pPr>
            <a:lvl2pPr marL="741363" indent="-284163"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cs typeface="MS PGothic" charset="0"/>
              </a:defRPr>
            </a:lvl2pPr>
            <a:lvl3pPr marL="1084263" indent="-227013" algn="l" rtl="0" eaLnBrk="0" fontAlgn="base" hangingPunct="0">
              <a:spcBef>
                <a:spcPct val="35000"/>
              </a:spcBef>
              <a:spcAft>
                <a:spcPct val="0"/>
              </a:spcAft>
              <a:buClr>
                <a:srgbClr val="009900"/>
              </a:buClr>
              <a:buSzPct val="75000"/>
              <a:buFont typeface="Webdings" pitchFamily="18" charset="2"/>
              <a:buChar char="4"/>
              <a:defRPr kumimoji="1">
                <a:solidFill>
                  <a:schemeClr val="tx1"/>
                </a:solidFill>
                <a:latin typeface="+mn-lt"/>
                <a:ea typeface="MS PGothic" pitchFamily="34" charset="-128"/>
                <a:cs typeface="MS PGothic" charset="0"/>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cs typeface="MS PGothic" charset="0"/>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cs typeface="MS PGothic" charset="0"/>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buNone/>
            </a:pPr>
            <a:r>
              <a:rPr lang="en-US" altLang="en-US" dirty="0"/>
              <a:t>P</a:t>
            </a:r>
            <a:r>
              <a:rPr lang="en-US" altLang="en-US" baseline="-25000" dirty="0">
                <a:solidFill>
                  <a:srgbClr val="0000FF"/>
                </a:solidFill>
              </a:rPr>
              <a:t>0</a:t>
            </a:r>
            <a:endParaRPr lang="en-US" altLang="en-US" kern="0" baseline="-25000" dirty="0"/>
          </a:p>
        </p:txBody>
      </p:sp>
      <p:sp>
        <p:nvSpPr>
          <p:cNvPr id="12" name="Rectangle 3"/>
          <p:cNvSpPr txBox="1">
            <a:spLocks noChangeArrowheads="1"/>
          </p:cNvSpPr>
          <p:nvPr/>
        </p:nvSpPr>
        <p:spPr bwMode="auto">
          <a:xfrm>
            <a:off x="6364289" y="937418"/>
            <a:ext cx="2895600"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lvl1pPr marL="341313" indent="-341313"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MS PGothic" charset="0"/>
              </a:defRPr>
            </a:lvl1pPr>
            <a:lvl2pPr marL="741363" indent="-284163"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cs typeface="MS PGothic" charset="0"/>
              </a:defRPr>
            </a:lvl2pPr>
            <a:lvl3pPr marL="1084263" indent="-227013" algn="l" rtl="0" eaLnBrk="0" fontAlgn="base" hangingPunct="0">
              <a:spcBef>
                <a:spcPct val="35000"/>
              </a:spcBef>
              <a:spcAft>
                <a:spcPct val="0"/>
              </a:spcAft>
              <a:buClr>
                <a:srgbClr val="009900"/>
              </a:buClr>
              <a:buSzPct val="75000"/>
              <a:buFont typeface="Webdings" pitchFamily="18" charset="2"/>
              <a:buChar char="4"/>
              <a:defRPr kumimoji="1">
                <a:solidFill>
                  <a:schemeClr val="tx1"/>
                </a:solidFill>
                <a:latin typeface="+mn-lt"/>
                <a:ea typeface="MS PGothic" pitchFamily="34" charset="-128"/>
                <a:cs typeface="MS PGothic" charset="0"/>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cs typeface="MS PGothic" charset="0"/>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cs typeface="MS PGothic" charset="0"/>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buNone/>
            </a:pPr>
            <a:r>
              <a:rPr lang="en-US" altLang="en-US" dirty="0"/>
              <a:t>P</a:t>
            </a:r>
            <a:r>
              <a:rPr lang="en-US" altLang="en-US" baseline="-25000" dirty="0">
                <a:solidFill>
                  <a:srgbClr val="0000FF"/>
                </a:solidFill>
              </a:rPr>
              <a:t>1</a:t>
            </a:r>
            <a:endParaRPr lang="en-US" altLang="en-US" kern="0" baseline="-25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100138" y="277813"/>
            <a:ext cx="7586662" cy="576262"/>
          </a:xfrm>
        </p:spPr>
        <p:txBody>
          <a:bodyPr/>
          <a:lstStyle/>
          <a:p>
            <a:pPr eaLnBrk="1" hangingPunct="1"/>
            <a:r>
              <a:rPr lang="en-US" altLang="en-US"/>
              <a:t>Peterson</a:t>
            </a:r>
            <a:r>
              <a:rPr lang="ja-JP" altLang="en-US"/>
              <a:t>’</a:t>
            </a:r>
            <a:r>
              <a:rPr lang="en-US" altLang="ja-JP"/>
              <a:t>s Solution (Cont.)</a:t>
            </a:r>
            <a:endParaRPr lang="en-US" altLang="en-US"/>
          </a:p>
        </p:txBody>
      </p:sp>
      <p:sp>
        <p:nvSpPr>
          <p:cNvPr id="17411" name="Rectangle 3"/>
          <p:cNvSpPr>
            <a:spLocks noGrp="1" noChangeArrowheads="1"/>
          </p:cNvSpPr>
          <p:nvPr>
            <p:ph idx="1"/>
          </p:nvPr>
        </p:nvSpPr>
        <p:spPr>
          <a:xfrm>
            <a:off x="806450" y="1233488"/>
            <a:ext cx="7623175" cy="4422775"/>
          </a:xfrm>
        </p:spPr>
        <p:txBody>
          <a:bodyPr/>
          <a:lstStyle/>
          <a:p>
            <a:r>
              <a:rPr lang="en-US" altLang="en-US">
                <a:solidFill>
                  <a:srgbClr val="000000"/>
                </a:solidFill>
              </a:rPr>
              <a:t>Provable that the three  CS requirement are met:</a:t>
            </a:r>
          </a:p>
          <a:p>
            <a:pPr>
              <a:buFont typeface="Monotype Sorts" pitchFamily="-84" charset="2"/>
              <a:buNone/>
            </a:pPr>
            <a:r>
              <a:rPr lang="en-US" altLang="en-US">
                <a:solidFill>
                  <a:srgbClr val="000000"/>
                </a:solidFill>
              </a:rPr>
              <a:t>        1.   Mutual exclusion is preserved</a:t>
            </a:r>
          </a:p>
          <a:p>
            <a:pPr>
              <a:buFont typeface="Monotype Sorts" pitchFamily="-84" charset="2"/>
              <a:buNone/>
            </a:pPr>
            <a:r>
              <a:rPr lang="en-US" altLang="en-US">
                <a:solidFill>
                  <a:srgbClr val="000000"/>
                </a:solidFill>
              </a:rPr>
              <a:t>                </a:t>
            </a:r>
            <a:r>
              <a:rPr lang="en-US" altLang="en-US" sz="2000" b="1">
                <a:solidFill>
                  <a:srgbClr val="000000"/>
                </a:solidFill>
                <a:latin typeface="Courier New" pitchFamily="49" charset="0"/>
                <a:cs typeface="Courier New" pitchFamily="49" charset="0"/>
              </a:rPr>
              <a:t>P</a:t>
            </a:r>
            <a:r>
              <a:rPr lang="en-US" altLang="en-US" sz="2000" b="1" baseline="-25000">
                <a:solidFill>
                  <a:srgbClr val="000000"/>
                </a:solidFill>
                <a:latin typeface="Courier New" pitchFamily="49" charset="0"/>
                <a:cs typeface="Courier New" pitchFamily="49" charset="0"/>
              </a:rPr>
              <a:t>i</a:t>
            </a:r>
            <a:r>
              <a:rPr lang="en-US" altLang="en-US" b="1">
                <a:solidFill>
                  <a:srgbClr val="000000"/>
                </a:solidFill>
                <a:latin typeface="Courier New" pitchFamily="49" charset="0"/>
                <a:cs typeface="Courier New" pitchFamily="49" charset="0"/>
              </a:rPr>
              <a:t> </a:t>
            </a:r>
            <a:r>
              <a:rPr lang="en-US" altLang="en-US">
                <a:solidFill>
                  <a:srgbClr val="000000"/>
                </a:solidFill>
              </a:rPr>
              <a:t>enters CS only if:</a:t>
            </a:r>
          </a:p>
          <a:p>
            <a:pPr>
              <a:buFont typeface="Monotype Sorts" pitchFamily="-84" charset="2"/>
              <a:buNone/>
            </a:pPr>
            <a:r>
              <a:rPr lang="en-US" altLang="en-US">
                <a:solidFill>
                  <a:srgbClr val="000000"/>
                </a:solidFill>
              </a:rPr>
              <a:t>                      either </a:t>
            </a:r>
            <a:r>
              <a:rPr lang="en-US" altLang="en-US" b="1">
                <a:solidFill>
                  <a:srgbClr val="000000"/>
                </a:solidFill>
                <a:latin typeface="Courier New" pitchFamily="49" charset="0"/>
                <a:cs typeface="Courier New" pitchFamily="49" charset="0"/>
              </a:rPr>
              <a:t>flag[j] = false </a:t>
            </a:r>
            <a:r>
              <a:rPr lang="en-US" altLang="en-US">
                <a:solidFill>
                  <a:srgbClr val="000000"/>
                </a:solidFill>
              </a:rPr>
              <a:t>or</a:t>
            </a:r>
            <a:r>
              <a:rPr lang="en-US" altLang="en-US" b="1">
                <a:solidFill>
                  <a:srgbClr val="000000"/>
                </a:solidFill>
                <a:latin typeface="Courier New" pitchFamily="49" charset="0"/>
                <a:cs typeface="Courier New" pitchFamily="49" charset="0"/>
              </a:rPr>
              <a:t> turn = i</a:t>
            </a:r>
            <a:endParaRPr lang="en-US" altLang="en-US">
              <a:solidFill>
                <a:srgbClr val="000000"/>
              </a:solidFill>
            </a:endParaRPr>
          </a:p>
          <a:p>
            <a:pPr>
              <a:buFont typeface="Monotype Sorts" pitchFamily="-84" charset="2"/>
              <a:buNone/>
            </a:pPr>
            <a:r>
              <a:rPr lang="en-US" altLang="en-US">
                <a:solidFill>
                  <a:srgbClr val="000000"/>
                </a:solidFill>
              </a:rPr>
              <a:t>        2.   Progress requirement is satisfied</a:t>
            </a:r>
          </a:p>
          <a:p>
            <a:pPr>
              <a:buFont typeface="Monotype Sorts" pitchFamily="-84" charset="2"/>
              <a:buNone/>
            </a:pPr>
            <a:r>
              <a:rPr lang="en-US" altLang="en-US">
                <a:solidFill>
                  <a:srgbClr val="000000"/>
                </a:solidFill>
              </a:rPr>
              <a:t>        3.   Bounded-waiting requirement is met</a:t>
            </a:r>
            <a:endParaRPr lang="en-US" altLang="en-US" sz="1600">
              <a:solidFill>
                <a:srgbClr val="000000"/>
              </a:solidFill>
            </a:endParaRPr>
          </a:p>
          <a:p>
            <a:pPr>
              <a:lnSpc>
                <a:spcPct val="90000"/>
              </a:lnSpc>
            </a:pPr>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139825" y="176213"/>
            <a:ext cx="7724775" cy="576262"/>
          </a:xfrm>
        </p:spPr>
        <p:txBody>
          <a:bodyPr/>
          <a:lstStyle/>
          <a:p>
            <a:pPr eaLnBrk="1" hangingPunct="1"/>
            <a:r>
              <a:rPr lang="en-US" altLang="en-US"/>
              <a:t>Critical-Section Handling in OS </a:t>
            </a:r>
          </a:p>
        </p:txBody>
      </p:sp>
      <p:sp>
        <p:nvSpPr>
          <p:cNvPr id="14339" name="Rectangle 3"/>
          <p:cNvSpPr>
            <a:spLocks noGrp="1" noChangeArrowheads="1"/>
          </p:cNvSpPr>
          <p:nvPr>
            <p:ph idx="1"/>
          </p:nvPr>
        </p:nvSpPr>
        <p:spPr>
          <a:xfrm>
            <a:off x="768350" y="1103313"/>
            <a:ext cx="6991350" cy="4530725"/>
          </a:xfrm>
        </p:spPr>
        <p:txBody>
          <a:bodyPr/>
          <a:lstStyle/>
          <a:p>
            <a:pPr>
              <a:buFont typeface="Monotype Sorts" pitchFamily="-84" charset="2"/>
              <a:buNone/>
            </a:pPr>
            <a:r>
              <a:rPr lang="en-US" altLang="en-US" dirty="0"/>
              <a:t>     Two approaches depending on if kernel is preemptive or non-  preemptive </a:t>
            </a:r>
          </a:p>
          <a:p>
            <a:pPr marL="795338" lvl="1" indent="-338138">
              <a:buSzPct val="125000"/>
            </a:pPr>
            <a:r>
              <a:rPr lang="en-US" altLang="en-US" b="1" dirty="0">
                <a:solidFill>
                  <a:srgbClr val="3366FF"/>
                </a:solidFill>
              </a:rPr>
              <a:t>Preemptive</a:t>
            </a:r>
            <a:r>
              <a:rPr lang="en-US" altLang="en-US" sz="1400" dirty="0"/>
              <a:t> </a:t>
            </a:r>
            <a:r>
              <a:rPr lang="en-US" altLang="en-US" dirty="0"/>
              <a:t>– allows preemption of process when running in kernel mode</a:t>
            </a:r>
          </a:p>
          <a:p>
            <a:pPr marL="795338" lvl="1" indent="-338138">
              <a:buSzPct val="125000"/>
            </a:pPr>
            <a:r>
              <a:rPr lang="en-US" altLang="en-US" b="1" dirty="0">
                <a:solidFill>
                  <a:srgbClr val="3366FF"/>
                </a:solidFill>
              </a:rPr>
              <a:t>Non-preemptive </a:t>
            </a:r>
            <a:r>
              <a:rPr lang="en-US" altLang="en-US" dirty="0"/>
              <a:t>– runs until exits kernel mode, blocks, or voluntarily yields CPU</a:t>
            </a:r>
          </a:p>
          <a:p>
            <a:pPr marL="996950" lvl="2" indent="-198438">
              <a:buSzPct val="125000"/>
            </a:pPr>
            <a:r>
              <a:rPr lang="en-US" altLang="en-US" dirty="0"/>
              <a:t>Essentially free of race conditions in kernel mode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100138" y="277813"/>
            <a:ext cx="7586662" cy="576262"/>
          </a:xfrm>
        </p:spPr>
        <p:txBody>
          <a:bodyPr/>
          <a:lstStyle/>
          <a:p>
            <a:pPr eaLnBrk="1" hangingPunct="1"/>
            <a:r>
              <a:rPr lang="en-US" altLang="en-US"/>
              <a:t>Synchronization Hardware</a:t>
            </a:r>
          </a:p>
        </p:txBody>
      </p:sp>
      <p:sp>
        <p:nvSpPr>
          <p:cNvPr id="18435" name="Rectangle 3"/>
          <p:cNvSpPr>
            <a:spLocks noGrp="1" noChangeArrowheads="1"/>
          </p:cNvSpPr>
          <p:nvPr>
            <p:ph idx="1"/>
          </p:nvPr>
        </p:nvSpPr>
        <p:spPr>
          <a:xfrm>
            <a:off x="908050" y="1233488"/>
            <a:ext cx="7161213" cy="4422775"/>
          </a:xfrm>
        </p:spPr>
        <p:txBody>
          <a:bodyPr/>
          <a:lstStyle/>
          <a:p>
            <a:pPr>
              <a:lnSpc>
                <a:spcPct val="90000"/>
              </a:lnSpc>
              <a:tabLst>
                <a:tab pos="739775" algn="l"/>
                <a:tab pos="1020763" algn="l"/>
                <a:tab pos="1257300" algn="l"/>
              </a:tabLst>
            </a:pPr>
            <a:r>
              <a:rPr lang="en-US" altLang="en-US"/>
              <a:t>Many systems provide hardware support for implementing the critical section code.</a:t>
            </a:r>
          </a:p>
          <a:p>
            <a:pPr>
              <a:lnSpc>
                <a:spcPct val="90000"/>
              </a:lnSpc>
              <a:tabLst>
                <a:tab pos="739775" algn="l"/>
                <a:tab pos="1020763" algn="l"/>
                <a:tab pos="1257300" algn="l"/>
              </a:tabLst>
            </a:pPr>
            <a:r>
              <a:rPr lang="en-US" altLang="en-US"/>
              <a:t>All solutions below based on idea of </a:t>
            </a:r>
            <a:r>
              <a:rPr lang="en-US" altLang="en-US" b="1">
                <a:solidFill>
                  <a:srgbClr val="3366FF"/>
                </a:solidFill>
              </a:rPr>
              <a:t>locking</a:t>
            </a:r>
          </a:p>
          <a:p>
            <a:pPr lvl="1">
              <a:lnSpc>
                <a:spcPct val="90000"/>
              </a:lnSpc>
              <a:tabLst>
                <a:tab pos="739775" algn="l"/>
                <a:tab pos="1020763" algn="l"/>
                <a:tab pos="1257300" algn="l"/>
              </a:tabLst>
            </a:pPr>
            <a:r>
              <a:rPr lang="en-US" altLang="en-US"/>
              <a:t>Protecting critical regions via locks</a:t>
            </a:r>
          </a:p>
          <a:p>
            <a:pPr>
              <a:lnSpc>
                <a:spcPct val="90000"/>
              </a:lnSpc>
              <a:tabLst>
                <a:tab pos="739775" algn="l"/>
                <a:tab pos="1020763" algn="l"/>
                <a:tab pos="1257300" algn="l"/>
              </a:tabLst>
            </a:pPr>
            <a:r>
              <a:rPr lang="en-US" altLang="en-US"/>
              <a:t>Uniprocessors – could disable interrupts</a:t>
            </a:r>
          </a:p>
          <a:p>
            <a:pPr lvl="1">
              <a:lnSpc>
                <a:spcPct val="90000"/>
              </a:lnSpc>
              <a:tabLst>
                <a:tab pos="739775" algn="l"/>
                <a:tab pos="1020763" algn="l"/>
                <a:tab pos="1257300" algn="l"/>
              </a:tabLst>
            </a:pPr>
            <a:r>
              <a:rPr lang="en-US" altLang="en-US"/>
              <a:t>Currently running code would execute without preemption</a:t>
            </a:r>
          </a:p>
          <a:p>
            <a:pPr lvl="1">
              <a:lnSpc>
                <a:spcPct val="90000"/>
              </a:lnSpc>
              <a:tabLst>
                <a:tab pos="739775" algn="l"/>
                <a:tab pos="1020763" algn="l"/>
                <a:tab pos="1257300" algn="l"/>
              </a:tabLst>
            </a:pPr>
            <a:r>
              <a:rPr lang="en-US" altLang="en-US"/>
              <a:t>Generally too inefficient on multiprocessor systems</a:t>
            </a:r>
          </a:p>
          <a:p>
            <a:pPr lvl="2">
              <a:lnSpc>
                <a:spcPct val="90000"/>
              </a:lnSpc>
              <a:tabLst>
                <a:tab pos="739775" algn="l"/>
                <a:tab pos="1020763" algn="l"/>
                <a:tab pos="1257300" algn="l"/>
              </a:tabLst>
            </a:pPr>
            <a:r>
              <a:rPr lang="en-US" altLang="en-US"/>
              <a:t>Operating systems using this not broadly scalable</a:t>
            </a:r>
          </a:p>
          <a:p>
            <a:pPr>
              <a:lnSpc>
                <a:spcPct val="90000"/>
              </a:lnSpc>
              <a:tabLst>
                <a:tab pos="739775" algn="l"/>
                <a:tab pos="1020763" algn="l"/>
                <a:tab pos="1257300" algn="l"/>
              </a:tabLst>
            </a:pPr>
            <a:r>
              <a:rPr lang="en-US" altLang="en-US"/>
              <a:t>Modern machines provide special atomic hardware instructions</a:t>
            </a:r>
          </a:p>
          <a:p>
            <a:pPr lvl="2">
              <a:lnSpc>
                <a:spcPct val="90000"/>
              </a:lnSpc>
              <a:tabLst>
                <a:tab pos="739775" algn="l"/>
                <a:tab pos="1020763" algn="l"/>
                <a:tab pos="1257300" algn="l"/>
              </a:tabLst>
            </a:pPr>
            <a:r>
              <a:rPr lang="en-US" altLang="en-US" b="1">
                <a:solidFill>
                  <a:srgbClr val="3366FF"/>
                </a:solidFill>
              </a:rPr>
              <a:t>Atomic</a:t>
            </a:r>
            <a:r>
              <a:rPr lang="en-US" altLang="en-US"/>
              <a:t> = non-interruptible</a:t>
            </a:r>
          </a:p>
          <a:p>
            <a:pPr lvl="1">
              <a:lnSpc>
                <a:spcPct val="90000"/>
              </a:lnSpc>
              <a:tabLst>
                <a:tab pos="739775" algn="l"/>
                <a:tab pos="1020763" algn="l"/>
                <a:tab pos="1257300" algn="l"/>
              </a:tabLst>
            </a:pPr>
            <a:r>
              <a:rPr lang="en-US" altLang="en-US"/>
              <a:t>Either test memory word and set value</a:t>
            </a:r>
          </a:p>
          <a:p>
            <a:pPr lvl="1">
              <a:lnSpc>
                <a:spcPct val="90000"/>
              </a:lnSpc>
              <a:tabLst>
                <a:tab pos="739775" algn="l"/>
                <a:tab pos="1020763" algn="l"/>
                <a:tab pos="1257300" algn="l"/>
              </a:tabLst>
            </a:pPr>
            <a:r>
              <a:rPr lang="en-US" altLang="en-US"/>
              <a:t>Or swap contents of two memory words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auto">
          <a:xfrm>
            <a:off x="1898650" y="2058988"/>
            <a:ext cx="1674813" cy="376237"/>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6" name="Rectangle 5"/>
          <p:cNvSpPr/>
          <p:nvPr/>
        </p:nvSpPr>
        <p:spPr bwMode="auto">
          <a:xfrm>
            <a:off x="1906588" y="1419225"/>
            <a:ext cx="1674812" cy="346075"/>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19460" name="Title 1"/>
          <p:cNvSpPr>
            <a:spLocks noGrp="1"/>
          </p:cNvSpPr>
          <p:nvPr>
            <p:ph type="title"/>
          </p:nvPr>
        </p:nvSpPr>
        <p:spPr>
          <a:xfrm>
            <a:off x="1193800" y="119063"/>
            <a:ext cx="8154988" cy="576262"/>
          </a:xfrm>
        </p:spPr>
        <p:txBody>
          <a:bodyPr/>
          <a:lstStyle/>
          <a:p>
            <a:r>
              <a:rPr lang="en-US" altLang="en-US" sz="2400"/>
              <a:t>Solution to Critical-section Problem Using Locks</a:t>
            </a:r>
          </a:p>
        </p:txBody>
      </p:sp>
      <p:sp>
        <p:nvSpPr>
          <p:cNvPr id="19461" name="Content Placeholder 2"/>
          <p:cNvSpPr>
            <a:spLocks noGrp="1"/>
          </p:cNvSpPr>
          <p:nvPr>
            <p:ph idx="1"/>
          </p:nvPr>
        </p:nvSpPr>
        <p:spPr>
          <a:xfrm>
            <a:off x="996950" y="1103313"/>
            <a:ext cx="7727950" cy="4530725"/>
          </a:xfrm>
        </p:spPr>
        <p:txBody>
          <a:bodyPr/>
          <a:lstStyle/>
          <a:p>
            <a:pPr>
              <a:buFont typeface="Monotype Sorts" pitchFamily="-84" charset="2"/>
              <a:buNone/>
            </a:pPr>
            <a:r>
              <a:rPr lang="en-US" altLang="en-US" sz="1400" b="1">
                <a:solidFill>
                  <a:srgbClr val="000000"/>
                </a:solidFill>
                <a:latin typeface="Courier New" pitchFamily="49" charset="0"/>
                <a:cs typeface="Courier New" pitchFamily="49" charset="0"/>
              </a:rPr>
              <a:t>	</a:t>
            </a:r>
            <a:r>
              <a:rPr lang="en-US" altLang="en-US" sz="1600" b="1">
                <a:solidFill>
                  <a:srgbClr val="000000"/>
                </a:solidFill>
                <a:latin typeface="Courier New" pitchFamily="49" charset="0"/>
                <a:cs typeface="Courier New" pitchFamily="49" charset="0"/>
              </a:rPr>
              <a:t>do { </a:t>
            </a:r>
          </a:p>
          <a:p>
            <a:pPr>
              <a:buFont typeface="Monotype Sorts" pitchFamily="-84" charset="2"/>
              <a:buNone/>
            </a:pPr>
            <a:r>
              <a:rPr lang="en-US" altLang="en-US" sz="1600" b="1">
                <a:solidFill>
                  <a:srgbClr val="000000"/>
                </a:solidFill>
                <a:latin typeface="Courier New" pitchFamily="49" charset="0"/>
                <a:cs typeface="Courier New" pitchFamily="49" charset="0"/>
              </a:rPr>
              <a:t>		acquire lock </a:t>
            </a:r>
          </a:p>
          <a:p>
            <a:pPr>
              <a:buFont typeface="Monotype Sorts" pitchFamily="-84" charset="2"/>
              <a:buNone/>
            </a:pPr>
            <a:r>
              <a:rPr lang="en-US" altLang="en-US" sz="1600" b="1">
                <a:solidFill>
                  <a:srgbClr val="000000"/>
                </a:solidFill>
                <a:latin typeface="Courier New" pitchFamily="49" charset="0"/>
                <a:cs typeface="Courier New" pitchFamily="49" charset="0"/>
              </a:rPr>
              <a:t>			critical section </a:t>
            </a:r>
          </a:p>
          <a:p>
            <a:pPr>
              <a:buFont typeface="Monotype Sorts" pitchFamily="-84" charset="2"/>
              <a:buNone/>
            </a:pPr>
            <a:r>
              <a:rPr lang="en-US" altLang="en-US" sz="1600" b="1">
                <a:solidFill>
                  <a:srgbClr val="000000"/>
                </a:solidFill>
                <a:latin typeface="Courier New" pitchFamily="49" charset="0"/>
                <a:cs typeface="Courier New" pitchFamily="49" charset="0"/>
              </a:rPr>
              <a:t>		release lock </a:t>
            </a:r>
          </a:p>
          <a:p>
            <a:pPr>
              <a:buFont typeface="Monotype Sorts" pitchFamily="-84" charset="2"/>
              <a:buNone/>
            </a:pPr>
            <a:r>
              <a:rPr lang="en-US" altLang="en-US" sz="1600" b="1">
                <a:solidFill>
                  <a:srgbClr val="000000"/>
                </a:solidFill>
                <a:latin typeface="Courier New" pitchFamily="49" charset="0"/>
                <a:cs typeface="Courier New" pitchFamily="49" charset="0"/>
              </a:rPr>
              <a:t>			remainder section </a:t>
            </a:r>
          </a:p>
          <a:p>
            <a:pPr>
              <a:buFont typeface="Monotype Sorts" pitchFamily="-84" charset="2"/>
              <a:buNone/>
            </a:pPr>
            <a:r>
              <a:rPr lang="en-US" altLang="en-US" sz="1600" b="1">
                <a:solidFill>
                  <a:srgbClr val="000000"/>
                </a:solidFill>
                <a:latin typeface="Courier New" pitchFamily="49" charset="0"/>
                <a:cs typeface="Courier New" pitchFamily="49" charset="0"/>
              </a:rPr>
              <a:t>	} while (TRUE);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287463" y="161925"/>
            <a:ext cx="7399337" cy="576263"/>
          </a:xfrm>
        </p:spPr>
        <p:txBody>
          <a:bodyPr/>
          <a:lstStyle/>
          <a:p>
            <a:pPr eaLnBrk="1" hangingPunct="1"/>
            <a:r>
              <a:rPr lang="en-US" altLang="en-US"/>
              <a:t>test_and_set  Instruction </a:t>
            </a:r>
          </a:p>
        </p:txBody>
      </p:sp>
      <p:sp>
        <p:nvSpPr>
          <p:cNvPr id="20483" name="Rectangle 3"/>
          <p:cNvSpPr>
            <a:spLocks noGrp="1" noChangeArrowheads="1"/>
          </p:cNvSpPr>
          <p:nvPr>
            <p:ph idx="1"/>
          </p:nvPr>
        </p:nvSpPr>
        <p:spPr>
          <a:xfrm>
            <a:off x="806450" y="827088"/>
            <a:ext cx="7408863" cy="4422775"/>
          </a:xfrm>
        </p:spPr>
        <p:txBody>
          <a:bodyPr/>
          <a:lstStyle/>
          <a:p>
            <a:pPr>
              <a:lnSpc>
                <a:spcPct val="90000"/>
              </a:lnSpc>
              <a:buFont typeface="Monotype Sorts" pitchFamily="-84" charset="2"/>
              <a:buNone/>
              <a:tabLst>
                <a:tab pos="739775" algn="l"/>
                <a:tab pos="1020763" algn="l"/>
                <a:tab pos="1257300" algn="l"/>
              </a:tabLst>
            </a:pPr>
            <a:endParaRPr lang="en-US" altLang="en-US" dirty="0"/>
          </a:p>
          <a:p>
            <a:pPr>
              <a:lnSpc>
                <a:spcPct val="90000"/>
              </a:lnSpc>
              <a:buFont typeface="Monotype Sorts" pitchFamily="-84" charset="2"/>
              <a:buNone/>
              <a:tabLst>
                <a:tab pos="739775" algn="l"/>
                <a:tab pos="1020763" algn="l"/>
                <a:tab pos="1257300" algn="l"/>
              </a:tabLst>
            </a:pPr>
            <a:r>
              <a:rPr lang="en-US" altLang="en-US" dirty="0"/>
              <a:t>   Definition:</a:t>
            </a:r>
            <a:endParaRPr lang="en-US" altLang="en-US" b="1" dirty="0">
              <a:solidFill>
                <a:srgbClr val="000000"/>
              </a:solidFill>
              <a:latin typeface="Courier New" pitchFamily="49" charset="0"/>
              <a:cs typeface="Courier New" pitchFamily="49" charset="0"/>
            </a:endParaRP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itchFamily="49" charset="0"/>
                <a:cs typeface="Courier New" pitchFamily="49" charset="0"/>
              </a:rPr>
              <a:t>         </a:t>
            </a:r>
            <a:r>
              <a:rPr lang="en-US" altLang="en-US" sz="1600" b="1" dirty="0" err="1">
                <a:solidFill>
                  <a:srgbClr val="000000"/>
                </a:solidFill>
                <a:latin typeface="Courier New" pitchFamily="49" charset="0"/>
                <a:cs typeface="Courier New" pitchFamily="49" charset="0"/>
              </a:rPr>
              <a:t>boolean</a:t>
            </a:r>
            <a:r>
              <a:rPr lang="en-US" altLang="en-US" sz="1600" b="1" dirty="0">
                <a:solidFill>
                  <a:srgbClr val="000000"/>
                </a:solidFill>
                <a:latin typeface="Courier New" pitchFamily="49" charset="0"/>
                <a:cs typeface="Courier New" pitchFamily="49" charset="0"/>
              </a:rPr>
              <a:t> </a:t>
            </a:r>
            <a:r>
              <a:rPr lang="en-US" altLang="en-US" sz="1600" b="1" dirty="0" err="1">
                <a:solidFill>
                  <a:srgbClr val="000000"/>
                </a:solidFill>
                <a:latin typeface="Courier New" pitchFamily="49" charset="0"/>
                <a:cs typeface="Courier New" pitchFamily="49" charset="0"/>
              </a:rPr>
              <a:t>test_and_set</a:t>
            </a:r>
            <a:r>
              <a:rPr lang="en-US" altLang="en-US" sz="1600" b="1" dirty="0">
                <a:solidFill>
                  <a:srgbClr val="000000"/>
                </a:solidFill>
                <a:latin typeface="Courier New" pitchFamily="49" charset="0"/>
                <a:cs typeface="Courier New" pitchFamily="49" charset="0"/>
              </a:rPr>
              <a:t> (</a:t>
            </a:r>
            <a:r>
              <a:rPr lang="en-US" altLang="en-US" sz="1600" b="1" dirty="0" err="1">
                <a:solidFill>
                  <a:srgbClr val="000000"/>
                </a:solidFill>
                <a:latin typeface="Courier New" pitchFamily="49" charset="0"/>
                <a:cs typeface="Courier New" pitchFamily="49" charset="0"/>
              </a:rPr>
              <a:t>boolean</a:t>
            </a:r>
            <a:r>
              <a:rPr lang="en-US" altLang="en-US" sz="1600" b="1" dirty="0">
                <a:solidFill>
                  <a:srgbClr val="000000"/>
                </a:solidFill>
                <a:latin typeface="Courier New" pitchFamily="49" charset="0"/>
                <a:cs typeface="Courier New" pitchFamily="49" charset="0"/>
              </a:rPr>
              <a:t> *target)</a:t>
            </a:r>
          </a:p>
          <a:p>
            <a:pPr>
              <a:lnSpc>
                <a:spcPct val="90000"/>
              </a:lnSpc>
              <a:buFont typeface="Monotype Sorts" pitchFamily="-84" charset="2"/>
              <a:buNone/>
              <a:tabLst>
                <a:tab pos="739775" algn="l"/>
                <a:tab pos="1020763" algn="l"/>
                <a:tab pos="1257300" algn="l"/>
              </a:tabLst>
            </a:pPr>
            <a:r>
              <a:rPr lang="en-US" altLang="en-US" sz="1600" b="1" dirty="0">
                <a:solidFill>
                  <a:srgbClr val="000000"/>
                </a:solidFill>
                <a:latin typeface="Courier New" pitchFamily="49" charset="0"/>
                <a:cs typeface="Courier New" pitchFamily="49" charset="0"/>
              </a:rPr>
              <a:t>          {</a:t>
            </a:r>
          </a:p>
          <a:p>
            <a:pPr>
              <a:lnSpc>
                <a:spcPct val="90000"/>
              </a:lnSpc>
              <a:buFont typeface="Monotype Sorts" pitchFamily="-84" charset="2"/>
              <a:buNone/>
              <a:tabLst>
                <a:tab pos="739775" algn="l"/>
                <a:tab pos="1020763" algn="l"/>
                <a:tab pos="1257300" algn="l"/>
              </a:tabLst>
            </a:pPr>
            <a:r>
              <a:rPr lang="en-US" altLang="en-US" sz="1600" b="1" dirty="0">
                <a:solidFill>
                  <a:srgbClr val="000000"/>
                </a:solidFill>
                <a:latin typeface="Courier New" pitchFamily="49" charset="0"/>
                <a:cs typeface="Courier New" pitchFamily="49" charset="0"/>
              </a:rPr>
              <a:t>               </a:t>
            </a:r>
            <a:r>
              <a:rPr lang="en-US" altLang="en-US" sz="1600" b="1" dirty="0" err="1">
                <a:solidFill>
                  <a:srgbClr val="000000"/>
                </a:solidFill>
                <a:latin typeface="Courier New" pitchFamily="49" charset="0"/>
                <a:cs typeface="Courier New" pitchFamily="49" charset="0"/>
              </a:rPr>
              <a:t>boolean</a:t>
            </a:r>
            <a:r>
              <a:rPr lang="en-US" altLang="en-US" sz="1600" b="1" dirty="0">
                <a:solidFill>
                  <a:srgbClr val="000000"/>
                </a:solidFill>
                <a:latin typeface="Courier New" pitchFamily="49" charset="0"/>
                <a:cs typeface="Courier New" pitchFamily="49" charset="0"/>
              </a:rPr>
              <a:t> </a:t>
            </a:r>
            <a:r>
              <a:rPr lang="en-US" altLang="en-US" sz="1600" b="1" dirty="0" err="1">
                <a:solidFill>
                  <a:srgbClr val="000000"/>
                </a:solidFill>
                <a:latin typeface="Courier New" pitchFamily="49" charset="0"/>
                <a:cs typeface="Courier New" pitchFamily="49" charset="0"/>
              </a:rPr>
              <a:t>rv</a:t>
            </a:r>
            <a:r>
              <a:rPr lang="en-US" altLang="en-US" sz="1600" b="1" dirty="0">
                <a:solidFill>
                  <a:srgbClr val="000000"/>
                </a:solidFill>
                <a:latin typeface="Courier New" pitchFamily="49" charset="0"/>
                <a:cs typeface="Courier New" pitchFamily="49" charset="0"/>
              </a:rPr>
              <a:t> = *target;</a:t>
            </a:r>
          </a:p>
          <a:p>
            <a:pPr>
              <a:lnSpc>
                <a:spcPct val="90000"/>
              </a:lnSpc>
              <a:buFont typeface="Monotype Sorts" pitchFamily="-84" charset="2"/>
              <a:buNone/>
              <a:tabLst>
                <a:tab pos="739775" algn="l"/>
                <a:tab pos="1020763" algn="l"/>
                <a:tab pos="1257300" algn="l"/>
              </a:tabLst>
            </a:pPr>
            <a:r>
              <a:rPr lang="en-US" altLang="en-US" sz="1600" b="1" dirty="0">
                <a:solidFill>
                  <a:srgbClr val="000000"/>
                </a:solidFill>
                <a:latin typeface="Courier New" pitchFamily="49" charset="0"/>
                <a:cs typeface="Courier New" pitchFamily="49" charset="0"/>
              </a:rPr>
              <a:t>               *target = TRUE;</a:t>
            </a:r>
          </a:p>
          <a:p>
            <a:pPr>
              <a:lnSpc>
                <a:spcPct val="90000"/>
              </a:lnSpc>
              <a:buFont typeface="Monotype Sorts" pitchFamily="-84" charset="2"/>
              <a:buNone/>
              <a:tabLst>
                <a:tab pos="739775" algn="l"/>
                <a:tab pos="1020763" algn="l"/>
                <a:tab pos="1257300" algn="l"/>
              </a:tabLst>
            </a:pPr>
            <a:r>
              <a:rPr lang="en-US" altLang="en-US" sz="1600" b="1" dirty="0">
                <a:solidFill>
                  <a:srgbClr val="000000"/>
                </a:solidFill>
                <a:latin typeface="Courier New" pitchFamily="49" charset="0"/>
                <a:cs typeface="Courier New" pitchFamily="49" charset="0"/>
              </a:rPr>
              <a:t>               return </a:t>
            </a:r>
            <a:r>
              <a:rPr lang="en-US" altLang="en-US" sz="1600" b="1" dirty="0" err="1">
                <a:solidFill>
                  <a:srgbClr val="000000"/>
                </a:solidFill>
                <a:latin typeface="Courier New" pitchFamily="49" charset="0"/>
                <a:cs typeface="Courier New" pitchFamily="49" charset="0"/>
              </a:rPr>
              <a:t>rv</a:t>
            </a:r>
            <a:r>
              <a:rPr lang="en-US" altLang="en-US" sz="1600" b="1" dirty="0">
                <a:solidFill>
                  <a:srgbClr val="000000"/>
                </a:solidFill>
                <a:latin typeface="Courier New" pitchFamily="49" charset="0"/>
                <a:cs typeface="Courier New" pitchFamily="49" charset="0"/>
              </a:rPr>
              <a:t>:</a:t>
            </a:r>
          </a:p>
          <a:p>
            <a:pPr>
              <a:lnSpc>
                <a:spcPct val="90000"/>
              </a:lnSpc>
              <a:buFont typeface="Monotype Sorts" pitchFamily="-84" charset="2"/>
              <a:buNone/>
              <a:tabLst>
                <a:tab pos="739775" algn="l"/>
                <a:tab pos="1020763" algn="l"/>
                <a:tab pos="1257300" algn="l"/>
              </a:tabLst>
            </a:pPr>
            <a:r>
              <a:rPr lang="en-US" altLang="en-US" sz="1600" b="1" dirty="0">
                <a:solidFill>
                  <a:srgbClr val="000000"/>
                </a:solidFill>
                <a:latin typeface="Courier New" pitchFamily="49" charset="0"/>
                <a:cs typeface="Courier New" pitchFamily="49" charset="0"/>
              </a:rPr>
              <a:t>          }</a:t>
            </a:r>
            <a:endParaRPr lang="en-US" altLang="en-US" sz="1600" dirty="0">
              <a:solidFill>
                <a:srgbClr val="0000FF"/>
              </a:solidFill>
            </a:endParaRPr>
          </a:p>
          <a:p>
            <a:pPr>
              <a:lnSpc>
                <a:spcPct val="90000"/>
              </a:lnSpc>
              <a:buFont typeface="Monotype Sorts" pitchFamily="-84" charset="2"/>
              <a:buAutoNum type="arabicPeriod"/>
              <a:tabLst>
                <a:tab pos="739775" algn="l"/>
                <a:tab pos="1020763" algn="l"/>
                <a:tab pos="1257300" algn="l"/>
              </a:tabLst>
            </a:pPr>
            <a:r>
              <a:rPr lang="en-US" altLang="en-US" dirty="0"/>
              <a:t>Executed atomically</a:t>
            </a:r>
          </a:p>
          <a:p>
            <a:pPr>
              <a:lnSpc>
                <a:spcPct val="90000"/>
              </a:lnSpc>
              <a:buFont typeface="Monotype Sorts" pitchFamily="-84" charset="2"/>
              <a:buAutoNum type="arabicPeriod"/>
              <a:tabLst>
                <a:tab pos="739775" algn="l"/>
                <a:tab pos="1020763" algn="l"/>
                <a:tab pos="1257300" algn="l"/>
              </a:tabLst>
            </a:pPr>
            <a:r>
              <a:rPr lang="en-US" altLang="en-US" dirty="0"/>
              <a:t>Returns the original value of passed parameter</a:t>
            </a:r>
          </a:p>
          <a:p>
            <a:pPr>
              <a:lnSpc>
                <a:spcPct val="90000"/>
              </a:lnSpc>
              <a:buFont typeface="Monotype Sorts" pitchFamily="-84" charset="2"/>
              <a:buAutoNum type="arabicPeriod"/>
              <a:tabLst>
                <a:tab pos="739775" algn="l"/>
                <a:tab pos="1020763" algn="l"/>
                <a:tab pos="1257300" algn="l"/>
              </a:tabLst>
            </a:pPr>
            <a:r>
              <a:rPr lang="en-US" altLang="en-US" dirty="0"/>
              <a:t>Set the new value of passed parameter to “TRUE”.</a:t>
            </a:r>
          </a:p>
          <a:p>
            <a:pPr>
              <a:lnSpc>
                <a:spcPct val="90000"/>
              </a:lnSpc>
              <a:buFont typeface="Monotype Sorts" pitchFamily="-84" charset="2"/>
              <a:buAutoNum type="arabicPeriod"/>
              <a:tabLst>
                <a:tab pos="739775" algn="l"/>
                <a:tab pos="1020763" algn="l"/>
                <a:tab pos="1257300" algn="l"/>
              </a:tabLst>
            </a:pPr>
            <a:endParaRPr lang="en-US" altLang="en-US" dirty="0">
              <a:solidFill>
                <a:srgbClr val="0000FF"/>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849313" y="161925"/>
            <a:ext cx="7837487" cy="576263"/>
          </a:xfrm>
        </p:spPr>
        <p:txBody>
          <a:bodyPr/>
          <a:lstStyle/>
          <a:p>
            <a:pPr eaLnBrk="1" hangingPunct="1"/>
            <a:r>
              <a:rPr lang="en-US" altLang="en-US"/>
              <a:t>Solution using test_and_set()</a:t>
            </a:r>
          </a:p>
        </p:txBody>
      </p:sp>
      <p:sp>
        <p:nvSpPr>
          <p:cNvPr id="18435" name="Rectangle 3"/>
          <p:cNvSpPr>
            <a:spLocks noGrp="1" noChangeArrowheads="1"/>
          </p:cNvSpPr>
          <p:nvPr>
            <p:ph idx="1"/>
          </p:nvPr>
        </p:nvSpPr>
        <p:spPr>
          <a:xfrm>
            <a:off x="869950" y="1193800"/>
            <a:ext cx="7632700" cy="3319463"/>
          </a:xfrm>
        </p:spPr>
        <p:txBody>
          <a:bodyPr/>
          <a:lstStyle/>
          <a:p>
            <a:pPr marL="342866" indent="-342866">
              <a:lnSpc>
                <a:spcPct val="90000"/>
              </a:lnSpc>
              <a:buFont typeface="Monotype Sorts" charset="0"/>
              <a:buChar char="n"/>
              <a:tabLst>
                <a:tab pos="742278" algn="l"/>
                <a:tab pos="1023411" algn="l"/>
                <a:tab pos="1258984" algn="l"/>
              </a:tabLst>
              <a:defRPr/>
            </a:pPr>
            <a:r>
              <a:rPr lang="en-US" dirty="0">
                <a:ea typeface="ＭＳ Ｐゴシック" charset="0"/>
                <a:cs typeface="ＭＳ Ｐゴシック" charset="0"/>
              </a:rPr>
              <a:t>Shared Boolean variable lock, initialized to FALSE</a:t>
            </a:r>
          </a:p>
          <a:p>
            <a:pPr marL="342866" indent="-342866">
              <a:lnSpc>
                <a:spcPct val="90000"/>
              </a:lnSpc>
              <a:buFont typeface="Monotype Sorts" charset="0"/>
              <a:buChar char="n"/>
              <a:tabLst>
                <a:tab pos="742278" algn="l"/>
                <a:tab pos="1023411" algn="l"/>
                <a:tab pos="1258984" algn="l"/>
              </a:tabLst>
              <a:defRPr/>
            </a:pPr>
            <a:r>
              <a:rPr lang="en-US" dirty="0">
                <a:ea typeface="ＭＳ Ｐゴシック" charset="0"/>
                <a:cs typeface="ＭＳ Ｐゴシック" charset="0"/>
              </a:rPr>
              <a:t>Solution:</a:t>
            </a:r>
            <a:endParaRPr lang="en-US" sz="1400" b="1" dirty="0">
              <a:latin typeface="Courier New"/>
              <a:ea typeface="ＭＳ Ｐゴシック" charset="0"/>
              <a:cs typeface="Courier New"/>
            </a:endParaRPr>
          </a:p>
          <a:p>
            <a:pPr marL="0" indent="0">
              <a:buFont typeface="Monotype Sorts" pitchFamily="-84" charset="2"/>
              <a:buNone/>
              <a:defRPr/>
            </a:pPr>
            <a:r>
              <a:rPr lang="en-US" sz="1400" b="1" dirty="0">
                <a:latin typeface="Courier New"/>
                <a:ea typeface="ＭＳ Ｐゴシック" pitchFamily="-84" charset="-128"/>
                <a:cs typeface="Courier New"/>
              </a:rPr>
              <a:t>       </a:t>
            </a:r>
            <a:r>
              <a:rPr lang="en-US" altLang="en-US" sz="1600" b="1" dirty="0">
                <a:solidFill>
                  <a:srgbClr val="000000"/>
                </a:solidFill>
                <a:latin typeface="Courier New" pitchFamily="49" charset="0"/>
                <a:cs typeface="Courier New" pitchFamily="49" charset="0"/>
              </a:rPr>
              <a:t>do {</a:t>
            </a:r>
            <a:br>
              <a:rPr lang="en-US" altLang="en-US" sz="1600" b="1" dirty="0">
                <a:solidFill>
                  <a:srgbClr val="000000"/>
                </a:solidFill>
                <a:latin typeface="Courier New" pitchFamily="49" charset="0"/>
                <a:cs typeface="Courier New" pitchFamily="49" charset="0"/>
              </a:rPr>
            </a:br>
            <a:r>
              <a:rPr lang="en-US" altLang="en-US" sz="1600" b="1" dirty="0">
                <a:solidFill>
                  <a:srgbClr val="000000"/>
                </a:solidFill>
                <a:latin typeface="Courier New" pitchFamily="49" charset="0"/>
                <a:cs typeface="Courier New" pitchFamily="49" charset="0"/>
              </a:rPr>
              <a:t>          while (</a:t>
            </a:r>
            <a:r>
              <a:rPr lang="en-US" altLang="en-US" sz="1600" b="1" dirty="0" err="1">
                <a:solidFill>
                  <a:srgbClr val="000000"/>
                </a:solidFill>
                <a:latin typeface="Courier New" pitchFamily="49" charset="0"/>
                <a:cs typeface="Courier New" pitchFamily="49" charset="0"/>
              </a:rPr>
              <a:t>test_and_set</a:t>
            </a:r>
            <a:r>
              <a:rPr lang="en-US" altLang="en-US" sz="1600" b="1" dirty="0">
                <a:solidFill>
                  <a:srgbClr val="000000"/>
                </a:solidFill>
                <a:latin typeface="Courier New" pitchFamily="49" charset="0"/>
                <a:cs typeface="Courier New" pitchFamily="49" charset="0"/>
              </a:rPr>
              <a:t>(&amp;lock)) ; /* do nothing */ </a:t>
            </a:r>
          </a:p>
          <a:p>
            <a:pPr marL="0" indent="0">
              <a:buFont typeface="Monotype Sorts" pitchFamily="-84" charset="2"/>
              <a:buNone/>
              <a:defRPr/>
            </a:pPr>
            <a:r>
              <a:rPr lang="en-US" altLang="en-US" sz="1600" b="1" dirty="0" err="1">
                <a:solidFill>
                  <a:srgbClr val="000000"/>
                </a:solidFill>
                <a:latin typeface="Courier New" pitchFamily="49" charset="0"/>
                <a:cs typeface="Courier New" pitchFamily="49" charset="0"/>
              </a:rPr>
              <a:t>                 /* critical section */ </a:t>
            </a:r>
          </a:p>
          <a:p>
            <a:pPr marL="0" indent="0">
              <a:buFont typeface="Monotype Sorts" pitchFamily="-84" charset="2"/>
              <a:buNone/>
              <a:defRPr/>
            </a:pPr>
            <a:r>
              <a:rPr lang="en-US" altLang="en-US" sz="1600" b="1" dirty="0" err="1">
                <a:solidFill>
                  <a:srgbClr val="000000"/>
                </a:solidFill>
                <a:latin typeface="Courier New" pitchFamily="49" charset="0"/>
                <a:cs typeface="Courier New" pitchFamily="49" charset="0"/>
              </a:rPr>
              <a:t>          lock = false; </a:t>
            </a:r>
          </a:p>
          <a:p>
            <a:pPr marL="0" indent="0">
              <a:buFont typeface="Monotype Sorts" pitchFamily="-84" charset="2"/>
              <a:buNone/>
              <a:defRPr/>
            </a:pPr>
            <a:r>
              <a:rPr lang="en-US" altLang="en-US" sz="1600" b="1" dirty="0" err="1">
                <a:solidFill>
                  <a:srgbClr val="000000"/>
                </a:solidFill>
                <a:latin typeface="Courier New" pitchFamily="49" charset="0"/>
                <a:cs typeface="Courier New" pitchFamily="49" charset="0"/>
              </a:rPr>
              <a:t>                 /* remainder section */ </a:t>
            </a:r>
          </a:p>
          <a:p>
            <a:pPr marL="0" indent="0">
              <a:buFont typeface="Monotype Sorts" pitchFamily="-84" charset="2"/>
              <a:buNone/>
              <a:defRPr/>
            </a:pPr>
            <a:r>
              <a:rPr lang="en-US" altLang="en-US" sz="1600" b="1" dirty="0" err="1">
                <a:solidFill>
                  <a:srgbClr val="000000"/>
                </a:solidFill>
                <a:latin typeface="Courier New" pitchFamily="49" charset="0"/>
                <a:cs typeface="Courier New" pitchFamily="49" charset="0"/>
              </a:rPr>
              <a:t>       } while (true);</a:t>
            </a:r>
            <a:r>
              <a:rPr lang="en-US" altLang="en-US" b="1" dirty="0" err="1">
                <a:solidFill>
                  <a:srgbClr val="000000"/>
                </a:solidFill>
                <a:latin typeface="Courier New" pitchFamily="49" charset="0"/>
                <a:cs typeface="Courier New" pitchFamily="49" charset="0"/>
              </a:rPr>
              <a:t> </a:t>
            </a:r>
          </a:p>
          <a:p>
            <a:pPr marL="0" indent="0">
              <a:lnSpc>
                <a:spcPct val="90000"/>
              </a:lnSpc>
              <a:buFont typeface="Monotype Sorts" pitchFamily="-84" charset="2"/>
              <a:buNone/>
              <a:tabLst>
                <a:tab pos="742278" algn="l"/>
                <a:tab pos="1023411" algn="l"/>
                <a:tab pos="1258984" algn="l"/>
              </a:tabLst>
              <a:defRPr/>
            </a:pPr>
            <a:endParaRPr lang="en-US" dirty="0">
              <a:solidFill>
                <a:srgbClr val="0000FF"/>
              </a:solidFill>
              <a:ea typeface="ＭＳ Ｐゴシック" charset="0"/>
              <a:cs typeface="ＭＳ Ｐゴシック" charset="0"/>
            </a:endParaRPr>
          </a:p>
          <a:p>
            <a:pPr marL="0" indent="0">
              <a:lnSpc>
                <a:spcPct val="90000"/>
              </a:lnSpc>
              <a:buFont typeface="Monotype Sorts" pitchFamily="-84" charset="2"/>
              <a:buNone/>
              <a:tabLst>
                <a:tab pos="742278" algn="l"/>
                <a:tab pos="1023411" algn="l"/>
                <a:tab pos="1258984" algn="l"/>
              </a:tabLst>
              <a:defRPr/>
            </a:pPr>
            <a:r>
              <a:rPr lang="en-US" dirty="0">
                <a:ea typeface="ＭＳ Ｐゴシック" charset="0"/>
                <a:cs typeface="ＭＳ Ｐゴシック" charset="0"/>
              </a:rPr>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063625" y="277813"/>
            <a:ext cx="7623175" cy="576262"/>
          </a:xfrm>
        </p:spPr>
        <p:txBody>
          <a:bodyPr/>
          <a:lstStyle/>
          <a:p>
            <a:pPr eaLnBrk="1" hangingPunct="1"/>
            <a:r>
              <a:rPr lang="en-US" altLang="en-US"/>
              <a:t>compare_and_swap Instruction</a:t>
            </a:r>
          </a:p>
        </p:txBody>
      </p:sp>
      <p:sp>
        <p:nvSpPr>
          <p:cNvPr id="22531" name="Rectangle 3"/>
          <p:cNvSpPr>
            <a:spLocks noGrp="1" noChangeArrowheads="1"/>
          </p:cNvSpPr>
          <p:nvPr>
            <p:ph idx="1"/>
          </p:nvPr>
        </p:nvSpPr>
        <p:spPr>
          <a:xfrm>
            <a:off x="806450" y="850900"/>
            <a:ext cx="7916863" cy="4867275"/>
          </a:xfrm>
        </p:spPr>
        <p:txBody>
          <a:bodyPr/>
          <a:lstStyle/>
          <a:p>
            <a:pPr>
              <a:lnSpc>
                <a:spcPct val="90000"/>
              </a:lnSpc>
              <a:buFont typeface="Monotype Sorts" pitchFamily="-84" charset="2"/>
              <a:buNone/>
              <a:tabLst>
                <a:tab pos="741363" algn="l"/>
                <a:tab pos="1022350" algn="l"/>
                <a:tab pos="1258888" algn="l"/>
              </a:tabLst>
            </a:pPr>
            <a:endParaRPr lang="en-US" altLang="en-US" dirty="0"/>
          </a:p>
          <a:p>
            <a:pPr>
              <a:lnSpc>
                <a:spcPct val="90000"/>
              </a:lnSpc>
              <a:buFont typeface="Monotype Sorts" pitchFamily="-84" charset="2"/>
              <a:buNone/>
              <a:tabLst>
                <a:tab pos="741363" algn="l"/>
                <a:tab pos="1022350" algn="l"/>
                <a:tab pos="1258888" algn="l"/>
              </a:tabLst>
            </a:pPr>
            <a:r>
              <a:rPr lang="en-US" altLang="en-US" dirty="0"/>
              <a:t>Definition:</a:t>
            </a:r>
          </a:p>
          <a:p>
            <a:pPr>
              <a:buFont typeface="Monotype Sorts" pitchFamily="-84" charset="2"/>
              <a:buNone/>
              <a:tabLst>
                <a:tab pos="741363" algn="l"/>
                <a:tab pos="1022350" algn="l"/>
                <a:tab pos="1258888" algn="l"/>
              </a:tabLst>
            </a:pPr>
            <a:r>
              <a:rPr lang="en-US" altLang="en-US" sz="1400" b="1" dirty="0">
                <a:latin typeface="Courier New" pitchFamily="49" charset="0"/>
                <a:cs typeface="Courier New" pitchFamily="49" charset="0"/>
              </a:rPr>
              <a:t>     int </a:t>
            </a:r>
            <a:r>
              <a:rPr lang="en-US" altLang="en-US" sz="1400" b="1" dirty="0" err="1">
                <a:latin typeface="Courier New" pitchFamily="49" charset="0"/>
                <a:cs typeface="Courier New" pitchFamily="49" charset="0"/>
              </a:rPr>
              <a:t>compare_and_swap</a:t>
            </a:r>
            <a:r>
              <a:rPr lang="en-US" altLang="en-US" sz="1400" b="1" dirty="0">
                <a:latin typeface="Courier New" pitchFamily="49" charset="0"/>
                <a:cs typeface="Courier New" pitchFamily="49" charset="0"/>
              </a:rPr>
              <a:t>(int *value, int expected, int </a:t>
            </a:r>
            <a:r>
              <a:rPr lang="en-US" altLang="en-US" sz="1400" b="1" dirty="0" err="1">
                <a:latin typeface="Courier New" pitchFamily="49" charset="0"/>
                <a:cs typeface="Courier New" pitchFamily="49" charset="0"/>
              </a:rPr>
              <a:t>new_value</a:t>
            </a:r>
            <a:r>
              <a:rPr lang="en-US" altLang="en-US" sz="1400" b="1" dirty="0">
                <a:latin typeface="Courier New" pitchFamily="49" charset="0"/>
                <a:cs typeface="Courier New" pitchFamily="49" charset="0"/>
              </a:rPr>
              <a:t>) </a:t>
            </a:r>
          </a:p>
          <a:p>
            <a:pPr>
              <a:buFont typeface="Monotype Sorts" pitchFamily="-84" charset="2"/>
              <a:buNone/>
              <a:tabLst>
                <a:tab pos="741363" algn="l"/>
                <a:tab pos="1022350" algn="l"/>
                <a:tab pos="1258888" algn="l"/>
              </a:tabLst>
            </a:pPr>
            <a:r>
              <a:rPr lang="en-US" altLang="en-US" sz="1400" b="1" dirty="0">
                <a:latin typeface="Courier New" pitchFamily="49" charset="0"/>
                <a:cs typeface="Courier New" pitchFamily="49" charset="0"/>
              </a:rPr>
              <a:t>     { </a:t>
            </a:r>
          </a:p>
          <a:p>
            <a:pPr>
              <a:buFont typeface="Monotype Sorts" pitchFamily="-84" charset="2"/>
              <a:buNone/>
              <a:tabLst>
                <a:tab pos="741363" algn="l"/>
                <a:tab pos="1022350" algn="l"/>
                <a:tab pos="1258888" algn="l"/>
              </a:tabLst>
            </a:pPr>
            <a:r>
              <a:rPr lang="en-US" altLang="en-US" sz="1400" b="1" dirty="0">
                <a:latin typeface="Courier New" pitchFamily="49" charset="0"/>
                <a:cs typeface="Courier New" pitchFamily="49" charset="0"/>
              </a:rPr>
              <a:t>         </a:t>
            </a:r>
            <a:r>
              <a:rPr lang="en-US" altLang="en-US" sz="1400" b="1" dirty="0" err="1">
                <a:latin typeface="Courier New" pitchFamily="49" charset="0"/>
                <a:cs typeface="Courier New" pitchFamily="49" charset="0"/>
              </a:rPr>
              <a:t>int</a:t>
            </a:r>
            <a:r>
              <a:rPr lang="en-US" altLang="en-US" sz="1400" b="1" dirty="0">
                <a:latin typeface="Courier New" pitchFamily="49" charset="0"/>
                <a:cs typeface="Courier New" pitchFamily="49" charset="0"/>
              </a:rPr>
              <a:t> temp = *value; </a:t>
            </a:r>
          </a:p>
          <a:p>
            <a:pPr>
              <a:buFont typeface="Monotype Sorts" pitchFamily="-84" charset="2"/>
              <a:buNone/>
              <a:tabLst>
                <a:tab pos="741363" algn="l"/>
                <a:tab pos="1022350" algn="l"/>
                <a:tab pos="1258888" algn="l"/>
              </a:tabLst>
            </a:pPr>
            <a:endParaRPr lang="en-US" altLang="en-US" sz="1400" b="1" dirty="0">
              <a:latin typeface="Courier New" pitchFamily="49" charset="0"/>
              <a:cs typeface="Courier New" pitchFamily="49" charset="0"/>
            </a:endParaRPr>
          </a:p>
          <a:p>
            <a:pPr>
              <a:buFont typeface="Monotype Sorts" pitchFamily="-84" charset="2"/>
              <a:buNone/>
              <a:tabLst>
                <a:tab pos="741363" algn="l"/>
                <a:tab pos="1022350" algn="l"/>
                <a:tab pos="1258888" algn="l"/>
              </a:tabLst>
            </a:pPr>
            <a:r>
              <a:rPr lang="en-US" altLang="en-US" sz="1400" b="1" dirty="0">
                <a:latin typeface="Courier New" pitchFamily="49" charset="0"/>
                <a:cs typeface="Courier New" pitchFamily="49" charset="0"/>
              </a:rPr>
              <a:t>         if (*value == expected) </a:t>
            </a:r>
          </a:p>
          <a:p>
            <a:pPr>
              <a:buFont typeface="Monotype Sorts" pitchFamily="-84" charset="2"/>
              <a:buNone/>
              <a:tabLst>
                <a:tab pos="741363" algn="l"/>
                <a:tab pos="1022350" algn="l"/>
                <a:tab pos="1258888" algn="l"/>
              </a:tabLst>
            </a:pPr>
            <a:r>
              <a:rPr lang="en-US" altLang="en-US" sz="1400" b="1" dirty="0">
                <a:latin typeface="Courier New" pitchFamily="49" charset="0"/>
                <a:cs typeface="Courier New" pitchFamily="49" charset="0"/>
              </a:rPr>
              <a:t>            *value = </a:t>
            </a:r>
            <a:r>
              <a:rPr lang="en-US" altLang="en-US" sz="1400" b="1" dirty="0" err="1">
                <a:latin typeface="Courier New" pitchFamily="49" charset="0"/>
                <a:cs typeface="Courier New" pitchFamily="49" charset="0"/>
              </a:rPr>
              <a:t>new_value</a:t>
            </a:r>
            <a:r>
              <a:rPr lang="en-US" altLang="en-US" sz="1400" b="1" dirty="0">
                <a:latin typeface="Courier New" pitchFamily="49" charset="0"/>
                <a:cs typeface="Courier New" pitchFamily="49" charset="0"/>
              </a:rPr>
              <a:t>; </a:t>
            </a:r>
          </a:p>
          <a:p>
            <a:pPr>
              <a:buFont typeface="Monotype Sorts" pitchFamily="-84" charset="2"/>
              <a:buNone/>
              <a:tabLst>
                <a:tab pos="741363" algn="l"/>
                <a:tab pos="1022350" algn="l"/>
                <a:tab pos="1258888" algn="l"/>
              </a:tabLst>
            </a:pPr>
            <a:r>
              <a:rPr lang="en-US" altLang="en-US" sz="1400" b="1" dirty="0">
                <a:latin typeface="Courier New" pitchFamily="49" charset="0"/>
                <a:cs typeface="Courier New" pitchFamily="49" charset="0"/>
              </a:rPr>
              <a:t>         return temp; </a:t>
            </a:r>
          </a:p>
          <a:p>
            <a:pPr>
              <a:buFont typeface="Monotype Sorts" pitchFamily="-84" charset="2"/>
              <a:buNone/>
              <a:tabLst>
                <a:tab pos="741363" algn="l"/>
                <a:tab pos="1022350" algn="l"/>
                <a:tab pos="1258888" algn="l"/>
              </a:tabLst>
            </a:pPr>
            <a:r>
              <a:rPr lang="en-US" altLang="en-US" sz="1400" b="1" dirty="0">
                <a:latin typeface="Courier New" pitchFamily="49" charset="0"/>
                <a:cs typeface="Courier New" pitchFamily="49" charset="0"/>
              </a:rPr>
              <a:t>     } </a:t>
            </a:r>
          </a:p>
          <a:p>
            <a:pPr>
              <a:lnSpc>
                <a:spcPct val="90000"/>
              </a:lnSpc>
              <a:buFont typeface="Monotype Sorts" pitchFamily="-84" charset="2"/>
              <a:buAutoNum type="arabicPeriod"/>
              <a:tabLst>
                <a:tab pos="741363" algn="l"/>
                <a:tab pos="1022350" algn="l"/>
                <a:tab pos="1258888" algn="l"/>
              </a:tabLst>
            </a:pPr>
            <a:r>
              <a:rPr lang="en-US" altLang="en-US" dirty="0"/>
              <a:t>Executed atomically</a:t>
            </a:r>
          </a:p>
          <a:p>
            <a:pPr>
              <a:lnSpc>
                <a:spcPct val="90000"/>
              </a:lnSpc>
              <a:buFont typeface="Monotype Sorts" pitchFamily="-84" charset="2"/>
              <a:buAutoNum type="arabicPeriod"/>
              <a:tabLst>
                <a:tab pos="741363" algn="l"/>
                <a:tab pos="1022350" algn="l"/>
                <a:tab pos="1258888" algn="l"/>
              </a:tabLst>
            </a:pPr>
            <a:r>
              <a:rPr lang="en-US" altLang="en-US" dirty="0"/>
              <a:t>Returns the original value of passed parameter “value”</a:t>
            </a:r>
          </a:p>
          <a:p>
            <a:pPr>
              <a:lnSpc>
                <a:spcPct val="90000"/>
              </a:lnSpc>
              <a:buFont typeface="Monotype Sorts" pitchFamily="-84" charset="2"/>
              <a:buAutoNum type="arabicPeriod"/>
              <a:tabLst>
                <a:tab pos="741363" algn="l"/>
                <a:tab pos="1022350" algn="l"/>
                <a:tab pos="1258888" algn="l"/>
              </a:tabLst>
            </a:pPr>
            <a:r>
              <a:rPr lang="en-US" altLang="en-US" dirty="0"/>
              <a:t>Set  the variable “value”  the value of the passed parameter “</a:t>
            </a:r>
            <a:r>
              <a:rPr lang="en-US" altLang="en-US" dirty="0" err="1"/>
              <a:t>new_value</a:t>
            </a:r>
            <a:r>
              <a:rPr lang="en-US" altLang="en-US" dirty="0"/>
              <a:t>” but only if “value” ==“expected”. That is, the swap takes place only under this condition.</a:t>
            </a:r>
          </a:p>
          <a:p>
            <a:pPr>
              <a:lnSpc>
                <a:spcPct val="90000"/>
              </a:lnSpc>
              <a:buFont typeface="Monotype Sorts" pitchFamily="-84" charset="2"/>
              <a:buAutoNum type="arabicPeriod"/>
              <a:tabLst>
                <a:tab pos="741363" algn="l"/>
                <a:tab pos="1022350" algn="l"/>
                <a:tab pos="1258888" algn="l"/>
              </a:tabLst>
            </a:pPr>
            <a:endParaRPr lang="en-US" altLang="en-US" dirty="0">
              <a:solidFill>
                <a:srgbClr val="0000FF"/>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192213" y="219075"/>
            <a:ext cx="7567612" cy="576263"/>
          </a:xfrm>
        </p:spPr>
        <p:txBody>
          <a:bodyPr/>
          <a:lstStyle/>
          <a:p>
            <a:pPr eaLnBrk="1" hangingPunct="1"/>
            <a:r>
              <a:rPr lang="en-US" altLang="en-US"/>
              <a:t>Solution using compare_and_swap</a:t>
            </a:r>
          </a:p>
        </p:txBody>
      </p:sp>
      <p:sp>
        <p:nvSpPr>
          <p:cNvPr id="23555" name="Rectangle 3"/>
          <p:cNvSpPr>
            <a:spLocks noGrp="1" noChangeArrowheads="1"/>
          </p:cNvSpPr>
          <p:nvPr>
            <p:ph idx="1"/>
          </p:nvPr>
        </p:nvSpPr>
        <p:spPr>
          <a:xfrm>
            <a:off x="827088" y="1211263"/>
            <a:ext cx="7766050" cy="4333875"/>
          </a:xfrm>
        </p:spPr>
        <p:txBody>
          <a:bodyPr/>
          <a:lstStyle/>
          <a:p>
            <a:pPr>
              <a:lnSpc>
                <a:spcPct val="90000"/>
              </a:lnSpc>
              <a:tabLst>
                <a:tab pos="741363" algn="l"/>
                <a:tab pos="1022350" algn="l"/>
                <a:tab pos="1258888" algn="l"/>
              </a:tabLst>
            </a:pPr>
            <a:r>
              <a:rPr lang="en-US" altLang="en-US" dirty="0"/>
              <a:t>Shared integer  </a:t>
            </a:r>
            <a:r>
              <a:rPr lang="ja-JP" altLang="en-US" dirty="0"/>
              <a:t>“</a:t>
            </a:r>
            <a:r>
              <a:rPr lang="en-US" altLang="ja-JP" dirty="0"/>
              <a:t>lock</a:t>
            </a:r>
            <a:r>
              <a:rPr lang="ja-JP" altLang="en-US" dirty="0"/>
              <a:t>”</a:t>
            </a:r>
            <a:r>
              <a:rPr lang="en-US" altLang="ja-JP" dirty="0"/>
              <a:t>  initialized to 0; </a:t>
            </a:r>
          </a:p>
          <a:p>
            <a:pPr>
              <a:lnSpc>
                <a:spcPct val="90000"/>
              </a:lnSpc>
              <a:tabLst>
                <a:tab pos="741363" algn="l"/>
                <a:tab pos="1022350" algn="l"/>
                <a:tab pos="1258888" algn="l"/>
              </a:tabLst>
            </a:pPr>
            <a:r>
              <a:rPr lang="en-US" altLang="en-US" dirty="0"/>
              <a:t>Solution:</a:t>
            </a:r>
          </a:p>
          <a:p>
            <a:pPr>
              <a:buFont typeface="Monotype Sorts" pitchFamily="-84" charset="2"/>
              <a:buNone/>
              <a:tabLst>
                <a:tab pos="741363" algn="l"/>
                <a:tab pos="1022350" algn="l"/>
                <a:tab pos="1258888" algn="l"/>
              </a:tabLst>
            </a:pPr>
            <a:r>
              <a:rPr lang="en-US" altLang="en-US" b="1" dirty="0">
                <a:latin typeface="Courier New" pitchFamily="49" charset="0"/>
                <a:cs typeface="Courier New" pitchFamily="49" charset="0"/>
              </a:rPr>
              <a:t>      </a:t>
            </a:r>
            <a:r>
              <a:rPr lang="en-US" altLang="en-US" sz="1600" b="1" dirty="0">
                <a:latin typeface="Courier New" pitchFamily="49" charset="0"/>
                <a:cs typeface="Courier New" pitchFamily="49" charset="0"/>
              </a:rPr>
              <a:t>do {</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while (</a:t>
            </a:r>
            <a:r>
              <a:rPr lang="en-US" altLang="en-US" sz="1600" b="1" dirty="0" err="1">
                <a:latin typeface="Courier New" pitchFamily="49" charset="0"/>
                <a:cs typeface="Courier New" pitchFamily="49" charset="0"/>
              </a:rPr>
              <a:t>compare_and_swap</a:t>
            </a:r>
            <a:r>
              <a:rPr lang="en-US" altLang="en-US" sz="1600" b="1" dirty="0">
                <a:latin typeface="Courier New" pitchFamily="49" charset="0"/>
                <a:cs typeface="Courier New" pitchFamily="49" charset="0"/>
              </a:rPr>
              <a:t>(&amp;lock, 0, 1) != 0) </a:t>
            </a:r>
          </a:p>
          <a:p>
            <a:pPr>
              <a:buFont typeface="Monotype Sorts" pitchFamily="-84" charset="2"/>
              <a:buNone/>
              <a:tabLst>
                <a:tab pos="741363" algn="l"/>
                <a:tab pos="1022350" algn="l"/>
                <a:tab pos="1258888" algn="l"/>
              </a:tabLst>
            </a:pPr>
            <a:r>
              <a:rPr lang="en-US" altLang="en-US" sz="1600" b="1" dirty="0">
                <a:latin typeface="Courier New" pitchFamily="49" charset="0"/>
                <a:cs typeface="Courier New" pitchFamily="49" charset="0"/>
              </a:rPr>
              <a:t>            ; /* do nothing */ </a:t>
            </a:r>
          </a:p>
          <a:p>
            <a:pPr>
              <a:buFont typeface="Monotype Sorts" pitchFamily="-84" charset="2"/>
              <a:buNone/>
              <a:tabLst>
                <a:tab pos="741363" algn="l"/>
                <a:tab pos="1022350" algn="l"/>
                <a:tab pos="1258888" algn="l"/>
              </a:tabLst>
            </a:pPr>
            <a:r>
              <a:rPr lang="en-US" altLang="en-US" sz="1600" b="1" dirty="0">
                <a:latin typeface="Courier New" pitchFamily="49" charset="0"/>
                <a:cs typeface="Courier New" pitchFamily="49" charset="0"/>
              </a:rPr>
              <a:t>                   /* critical section */ </a:t>
            </a:r>
          </a:p>
          <a:p>
            <a:pPr>
              <a:buFont typeface="Monotype Sorts" pitchFamily="-84" charset="2"/>
              <a:buNone/>
              <a:tabLst>
                <a:tab pos="741363" algn="l"/>
                <a:tab pos="1022350" algn="l"/>
                <a:tab pos="1258888" algn="l"/>
              </a:tabLst>
            </a:pPr>
            <a:r>
              <a:rPr lang="en-US" altLang="en-US" sz="1600" b="1" dirty="0">
                <a:latin typeface="Courier New" pitchFamily="49" charset="0"/>
                <a:cs typeface="Courier New" pitchFamily="49" charset="0"/>
              </a:rPr>
              <a:t>            lock = 0; </a:t>
            </a:r>
          </a:p>
          <a:p>
            <a:pPr>
              <a:buFont typeface="Monotype Sorts" pitchFamily="-84" charset="2"/>
              <a:buNone/>
              <a:tabLst>
                <a:tab pos="741363" algn="l"/>
                <a:tab pos="1022350" algn="l"/>
                <a:tab pos="1258888" algn="l"/>
              </a:tabLst>
            </a:pPr>
            <a:r>
              <a:rPr lang="en-US" altLang="en-US" sz="1600" b="1" dirty="0">
                <a:latin typeface="Courier New" pitchFamily="49" charset="0"/>
                <a:cs typeface="Courier New" pitchFamily="49" charset="0"/>
              </a:rPr>
              <a:t>                   /* remainder section */ </a:t>
            </a:r>
          </a:p>
          <a:p>
            <a:pPr>
              <a:buFont typeface="Monotype Sorts" pitchFamily="-84" charset="2"/>
              <a:buNone/>
              <a:tabLst>
                <a:tab pos="741363" algn="l"/>
                <a:tab pos="1022350" algn="l"/>
                <a:tab pos="1258888" algn="l"/>
              </a:tabLst>
            </a:pPr>
            <a:r>
              <a:rPr lang="en-US" altLang="en-US" sz="1600" b="1" dirty="0">
                <a:latin typeface="Courier New" pitchFamily="49" charset="0"/>
                <a:cs typeface="Courier New" pitchFamily="49" charset="0"/>
              </a:rPr>
              <a:t>      } while (true); </a:t>
            </a:r>
          </a:p>
          <a:p>
            <a:pPr>
              <a:lnSpc>
                <a:spcPct val="90000"/>
              </a:lnSpc>
              <a:buFont typeface="Monotype Sorts" pitchFamily="-84" charset="2"/>
              <a:buNone/>
              <a:tabLst>
                <a:tab pos="741363" algn="l"/>
                <a:tab pos="1022350" algn="l"/>
                <a:tab pos="1258888" algn="l"/>
              </a:tabLst>
            </a:pPr>
            <a:r>
              <a:rPr lang="en-US" altLang="en-US" sz="1600" dirty="0"/>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1217613" y="138113"/>
            <a:ext cx="7931150" cy="576262"/>
          </a:xfrm>
        </p:spPr>
        <p:txBody>
          <a:bodyPr/>
          <a:lstStyle/>
          <a:p>
            <a:r>
              <a:rPr lang="en-US" altLang="en-US" sz="2400"/>
              <a:t>Bounded-waiting Mutual Exclusion with test_and_set</a:t>
            </a:r>
          </a:p>
        </p:txBody>
      </p:sp>
      <p:sp>
        <p:nvSpPr>
          <p:cNvPr id="24579" name="Content Placeholder 2"/>
          <p:cNvSpPr>
            <a:spLocks noGrp="1"/>
          </p:cNvSpPr>
          <p:nvPr>
            <p:ph idx="1"/>
          </p:nvPr>
        </p:nvSpPr>
        <p:spPr>
          <a:xfrm>
            <a:off x="1068388" y="1233488"/>
            <a:ext cx="6015037" cy="4530725"/>
          </a:xfrm>
        </p:spPr>
        <p:txBody>
          <a:bodyPr/>
          <a:lstStyle/>
          <a:p>
            <a:pPr marL="0" indent="0">
              <a:buFont typeface="Monotype Sorts" pitchFamily="-84" charset="2"/>
              <a:buNone/>
            </a:pPr>
            <a:r>
              <a:rPr lang="en-US" altLang="en-US" sz="1400" b="1" dirty="0">
                <a:latin typeface="Courier New" pitchFamily="49" charset="0"/>
                <a:cs typeface="Courier New" pitchFamily="49" charset="0"/>
              </a:rPr>
              <a:t>do {</a:t>
            </a:r>
            <a:br>
              <a:rPr lang="en-US" altLang="en-US" sz="1400" b="1" dirty="0">
                <a:latin typeface="Courier New" pitchFamily="49" charset="0"/>
                <a:cs typeface="Courier New" pitchFamily="49" charset="0"/>
              </a:rPr>
            </a:br>
            <a:r>
              <a:rPr lang="en-US" altLang="en-US" sz="1400" b="1" dirty="0">
                <a:solidFill>
                  <a:srgbClr val="0070C0"/>
                </a:solidFill>
                <a:latin typeface="Courier New" pitchFamily="49" charset="0"/>
                <a:cs typeface="Courier New" pitchFamily="49" charset="0"/>
              </a:rPr>
              <a:t>   waiting[</a:t>
            </a:r>
            <a:r>
              <a:rPr lang="en-US" altLang="en-US" sz="1400" b="1" dirty="0" err="1">
                <a:solidFill>
                  <a:srgbClr val="0070C0"/>
                </a:solidFill>
                <a:latin typeface="Courier New" pitchFamily="49" charset="0"/>
                <a:cs typeface="Courier New" pitchFamily="49" charset="0"/>
              </a:rPr>
              <a:t>i</a:t>
            </a:r>
            <a:r>
              <a:rPr lang="en-US" altLang="en-US" sz="1400" b="1" dirty="0">
                <a:solidFill>
                  <a:srgbClr val="0070C0"/>
                </a:solidFill>
                <a:latin typeface="Courier New" pitchFamily="49" charset="0"/>
                <a:cs typeface="Courier New" pitchFamily="49" charset="0"/>
              </a:rPr>
              <a:t>] = true;</a:t>
            </a:r>
            <a:br>
              <a:rPr lang="en-US" altLang="en-US" sz="1400" b="1" dirty="0">
                <a:solidFill>
                  <a:srgbClr val="0070C0"/>
                </a:solidFill>
                <a:latin typeface="Courier New" pitchFamily="49" charset="0"/>
                <a:cs typeface="Courier New" pitchFamily="49" charset="0"/>
              </a:rPr>
            </a:br>
            <a:r>
              <a:rPr lang="en-US" altLang="en-US" sz="1400" b="1" dirty="0">
                <a:solidFill>
                  <a:srgbClr val="0070C0"/>
                </a:solidFill>
                <a:latin typeface="Courier New" pitchFamily="49" charset="0"/>
                <a:cs typeface="Courier New" pitchFamily="49" charset="0"/>
              </a:rPr>
              <a:t>   key = true;</a:t>
            </a:r>
            <a:br>
              <a:rPr lang="en-US" altLang="en-US" sz="1400" b="1" dirty="0">
                <a:solidFill>
                  <a:srgbClr val="0070C0"/>
                </a:solidFill>
                <a:latin typeface="Courier New" pitchFamily="49" charset="0"/>
                <a:cs typeface="Courier New" pitchFamily="49" charset="0"/>
              </a:rPr>
            </a:br>
            <a:r>
              <a:rPr lang="en-US" altLang="en-US" sz="1400" b="1" dirty="0">
                <a:solidFill>
                  <a:srgbClr val="0070C0"/>
                </a:solidFill>
                <a:latin typeface="Courier New" pitchFamily="49" charset="0"/>
                <a:cs typeface="Courier New" pitchFamily="49" charset="0"/>
              </a:rPr>
              <a:t>   while (waiting[</a:t>
            </a:r>
            <a:r>
              <a:rPr lang="en-US" altLang="en-US" sz="1400" b="1" dirty="0" err="1">
                <a:solidFill>
                  <a:srgbClr val="0070C0"/>
                </a:solidFill>
                <a:latin typeface="Courier New" pitchFamily="49" charset="0"/>
                <a:cs typeface="Courier New" pitchFamily="49" charset="0"/>
              </a:rPr>
              <a:t>i</a:t>
            </a:r>
            <a:r>
              <a:rPr lang="en-US" altLang="en-US" sz="1400" b="1" dirty="0">
                <a:solidFill>
                  <a:srgbClr val="0070C0"/>
                </a:solidFill>
                <a:latin typeface="Courier New" pitchFamily="49" charset="0"/>
                <a:cs typeface="Courier New" pitchFamily="49" charset="0"/>
              </a:rPr>
              <a:t>] &amp;&amp; key) </a:t>
            </a:r>
          </a:p>
          <a:p>
            <a:pPr marL="0" indent="0">
              <a:buFont typeface="Monotype Sorts" pitchFamily="-84" charset="2"/>
              <a:buNone/>
            </a:pPr>
            <a:r>
              <a:rPr lang="en-US" altLang="en-US" sz="1400" b="1" dirty="0">
                <a:solidFill>
                  <a:srgbClr val="0070C0"/>
                </a:solidFill>
                <a:latin typeface="Courier New" pitchFamily="49" charset="0"/>
                <a:cs typeface="Courier New" pitchFamily="49" charset="0"/>
              </a:rPr>
              <a:t>      key = </a:t>
            </a:r>
            <a:r>
              <a:rPr lang="en-US" altLang="en-US" sz="1400" b="1" dirty="0" err="1">
                <a:solidFill>
                  <a:srgbClr val="0070C0"/>
                </a:solidFill>
                <a:latin typeface="Courier New" pitchFamily="49" charset="0"/>
                <a:cs typeface="Courier New" pitchFamily="49" charset="0"/>
              </a:rPr>
              <a:t>test_and_set</a:t>
            </a:r>
            <a:r>
              <a:rPr lang="en-US" altLang="en-US" sz="1400" b="1" dirty="0">
                <a:solidFill>
                  <a:srgbClr val="0070C0"/>
                </a:solidFill>
                <a:latin typeface="Courier New" pitchFamily="49" charset="0"/>
                <a:cs typeface="Courier New" pitchFamily="49" charset="0"/>
              </a:rPr>
              <a:t>(&amp;lock); </a:t>
            </a:r>
          </a:p>
          <a:p>
            <a:pPr marL="0" indent="0">
              <a:buFont typeface="Monotype Sorts" pitchFamily="-84" charset="2"/>
              <a:buNone/>
            </a:pPr>
            <a:r>
              <a:rPr lang="en-US" altLang="en-US" sz="1400" b="1" dirty="0">
                <a:solidFill>
                  <a:srgbClr val="0070C0"/>
                </a:solidFill>
                <a:latin typeface="Courier New" pitchFamily="49" charset="0"/>
                <a:cs typeface="Courier New" pitchFamily="49" charset="0"/>
              </a:rPr>
              <a:t>   waiting[</a:t>
            </a:r>
            <a:r>
              <a:rPr lang="en-US" altLang="en-US" sz="1400" b="1" dirty="0" err="1">
                <a:solidFill>
                  <a:srgbClr val="0070C0"/>
                </a:solidFill>
                <a:latin typeface="Courier New" pitchFamily="49" charset="0"/>
                <a:cs typeface="Courier New" pitchFamily="49" charset="0"/>
              </a:rPr>
              <a:t>i</a:t>
            </a:r>
            <a:r>
              <a:rPr lang="en-US" altLang="en-US" sz="1400" b="1" dirty="0">
                <a:solidFill>
                  <a:srgbClr val="0070C0"/>
                </a:solidFill>
                <a:latin typeface="Courier New" pitchFamily="49" charset="0"/>
                <a:cs typeface="Courier New" pitchFamily="49" charset="0"/>
              </a:rPr>
              <a:t>] = false; </a:t>
            </a:r>
          </a:p>
          <a:p>
            <a:pPr marL="0" indent="0">
              <a:buFont typeface="Monotype Sorts" pitchFamily="-84" charset="2"/>
              <a:buNone/>
            </a:pPr>
            <a:r>
              <a:rPr lang="en-US" altLang="en-US" sz="1400" b="1" dirty="0">
                <a:latin typeface="Courier New" pitchFamily="49" charset="0"/>
                <a:cs typeface="Courier New" pitchFamily="49" charset="0"/>
              </a:rPr>
              <a:t>   /* critical section */ </a:t>
            </a:r>
          </a:p>
          <a:p>
            <a:pPr marL="0" indent="0">
              <a:buFont typeface="Monotype Sorts" pitchFamily="-84" charset="2"/>
              <a:buNone/>
            </a:pPr>
            <a:r>
              <a:rPr lang="en-US" altLang="en-US" sz="1400" b="1" dirty="0">
                <a:latin typeface="Courier New" pitchFamily="49" charset="0"/>
                <a:cs typeface="Courier New" pitchFamily="49" charset="0"/>
              </a:rPr>
              <a:t>   </a:t>
            </a:r>
            <a:r>
              <a:rPr lang="en-US" altLang="en-US" sz="1400" b="1" dirty="0">
                <a:solidFill>
                  <a:srgbClr val="0070C0"/>
                </a:solidFill>
                <a:latin typeface="Courier New" pitchFamily="49" charset="0"/>
                <a:cs typeface="Courier New" pitchFamily="49" charset="0"/>
              </a:rPr>
              <a:t>j = (</a:t>
            </a:r>
            <a:r>
              <a:rPr lang="en-US" altLang="en-US" sz="1400" b="1" dirty="0" err="1">
                <a:solidFill>
                  <a:srgbClr val="0070C0"/>
                </a:solidFill>
                <a:latin typeface="Courier New" pitchFamily="49" charset="0"/>
                <a:cs typeface="Courier New" pitchFamily="49" charset="0"/>
              </a:rPr>
              <a:t>i</a:t>
            </a:r>
            <a:r>
              <a:rPr lang="en-US" altLang="en-US" sz="1400" b="1" dirty="0">
                <a:solidFill>
                  <a:srgbClr val="0070C0"/>
                </a:solidFill>
                <a:latin typeface="Courier New" pitchFamily="49" charset="0"/>
                <a:cs typeface="Courier New" pitchFamily="49" charset="0"/>
              </a:rPr>
              <a:t> + 1) % n; </a:t>
            </a:r>
          </a:p>
          <a:p>
            <a:pPr marL="0" indent="0">
              <a:buFont typeface="Monotype Sorts" pitchFamily="-84" charset="2"/>
              <a:buNone/>
            </a:pPr>
            <a:r>
              <a:rPr lang="en-US" altLang="en-US" sz="1400" b="1" dirty="0">
                <a:solidFill>
                  <a:srgbClr val="FF0000"/>
                </a:solidFill>
                <a:latin typeface="Courier New" pitchFamily="49" charset="0"/>
                <a:cs typeface="Courier New" pitchFamily="49" charset="0"/>
              </a:rPr>
              <a:t>   while ((j != </a:t>
            </a:r>
            <a:r>
              <a:rPr lang="en-US" altLang="en-US" sz="1400" b="1" dirty="0" err="1">
                <a:solidFill>
                  <a:srgbClr val="FF0000"/>
                </a:solidFill>
                <a:latin typeface="Courier New" pitchFamily="49" charset="0"/>
                <a:cs typeface="Courier New" pitchFamily="49" charset="0"/>
              </a:rPr>
              <a:t>i</a:t>
            </a:r>
            <a:r>
              <a:rPr lang="en-US" altLang="en-US" sz="1400" b="1" dirty="0">
                <a:solidFill>
                  <a:srgbClr val="FF0000"/>
                </a:solidFill>
                <a:latin typeface="Courier New" pitchFamily="49" charset="0"/>
                <a:cs typeface="Courier New" pitchFamily="49" charset="0"/>
              </a:rPr>
              <a:t>) &amp;&amp; !waiting[j]) </a:t>
            </a:r>
          </a:p>
          <a:p>
            <a:pPr marL="0" indent="0">
              <a:buFont typeface="Monotype Sorts" pitchFamily="-84" charset="2"/>
              <a:buNone/>
            </a:pPr>
            <a:r>
              <a:rPr lang="en-US" altLang="en-US" sz="1400" b="1" dirty="0">
                <a:solidFill>
                  <a:srgbClr val="FF0000"/>
                </a:solidFill>
                <a:latin typeface="Courier New" pitchFamily="49" charset="0"/>
                <a:cs typeface="Courier New" pitchFamily="49" charset="0"/>
              </a:rPr>
              <a:t>      j = (j + 1) % n; </a:t>
            </a:r>
          </a:p>
          <a:p>
            <a:pPr marL="0" indent="0">
              <a:buFont typeface="Monotype Sorts" pitchFamily="-84" charset="2"/>
              <a:buNone/>
            </a:pPr>
            <a:r>
              <a:rPr lang="en-US" altLang="en-US" sz="1400" b="1" dirty="0">
                <a:solidFill>
                  <a:srgbClr val="0070C0"/>
                </a:solidFill>
                <a:latin typeface="Courier New" pitchFamily="49" charset="0"/>
                <a:cs typeface="Courier New" pitchFamily="49" charset="0"/>
              </a:rPr>
              <a:t>   if (j == </a:t>
            </a:r>
            <a:r>
              <a:rPr lang="en-US" altLang="en-US" sz="1400" b="1" dirty="0" err="1">
                <a:solidFill>
                  <a:srgbClr val="0070C0"/>
                </a:solidFill>
                <a:latin typeface="Courier New" pitchFamily="49" charset="0"/>
                <a:cs typeface="Courier New" pitchFamily="49" charset="0"/>
              </a:rPr>
              <a:t>i</a:t>
            </a:r>
            <a:r>
              <a:rPr lang="en-US" altLang="en-US" sz="1400" b="1" dirty="0">
                <a:solidFill>
                  <a:srgbClr val="0070C0"/>
                </a:solidFill>
                <a:latin typeface="Courier New" pitchFamily="49" charset="0"/>
                <a:cs typeface="Courier New" pitchFamily="49" charset="0"/>
              </a:rPr>
              <a:t>) </a:t>
            </a:r>
          </a:p>
          <a:p>
            <a:pPr marL="0" indent="0">
              <a:buFont typeface="Monotype Sorts" pitchFamily="-84" charset="2"/>
              <a:buNone/>
            </a:pPr>
            <a:r>
              <a:rPr lang="en-US" altLang="en-US" sz="1400" b="1" dirty="0">
                <a:solidFill>
                  <a:srgbClr val="0070C0"/>
                </a:solidFill>
                <a:latin typeface="Courier New" pitchFamily="49" charset="0"/>
                <a:cs typeface="Courier New" pitchFamily="49" charset="0"/>
              </a:rPr>
              <a:t>      lock = false; </a:t>
            </a:r>
          </a:p>
          <a:p>
            <a:pPr marL="0" indent="0">
              <a:buFont typeface="Monotype Sorts" pitchFamily="-84" charset="2"/>
              <a:buNone/>
            </a:pPr>
            <a:r>
              <a:rPr lang="en-US" altLang="en-US" sz="1400" b="1" dirty="0">
                <a:solidFill>
                  <a:srgbClr val="0070C0"/>
                </a:solidFill>
                <a:latin typeface="Courier New" pitchFamily="49" charset="0"/>
                <a:cs typeface="Courier New" pitchFamily="49" charset="0"/>
              </a:rPr>
              <a:t>   else </a:t>
            </a:r>
          </a:p>
          <a:p>
            <a:pPr marL="0" indent="0">
              <a:buFont typeface="Monotype Sorts" pitchFamily="-84" charset="2"/>
              <a:buNone/>
            </a:pPr>
            <a:r>
              <a:rPr lang="en-US" altLang="en-US" sz="1400" b="1" dirty="0">
                <a:solidFill>
                  <a:srgbClr val="0070C0"/>
                </a:solidFill>
                <a:latin typeface="Courier New" pitchFamily="49" charset="0"/>
                <a:cs typeface="Courier New" pitchFamily="49" charset="0"/>
              </a:rPr>
              <a:t>      waiting[j] = false; </a:t>
            </a:r>
          </a:p>
          <a:p>
            <a:pPr marL="0" indent="0">
              <a:buFont typeface="Monotype Sorts" pitchFamily="-84" charset="2"/>
              <a:buNone/>
            </a:pPr>
            <a:r>
              <a:rPr lang="en-US" altLang="en-US" sz="1400" b="1" dirty="0">
                <a:latin typeface="Courier New" pitchFamily="49" charset="0"/>
                <a:cs typeface="Courier New" pitchFamily="49" charset="0"/>
              </a:rPr>
              <a:t>   /* remainder section */ </a:t>
            </a:r>
          </a:p>
          <a:p>
            <a:pPr marL="0" indent="0">
              <a:buFont typeface="Monotype Sorts" pitchFamily="-84" charset="2"/>
              <a:buNone/>
            </a:pPr>
            <a:r>
              <a:rPr lang="en-US" altLang="en-US" sz="1400" b="1" dirty="0">
                <a:latin typeface="Courier New" pitchFamily="49" charset="0"/>
                <a:cs typeface="Courier New" pitchFamily="49" charset="0"/>
              </a:rPr>
              <a:t>} while (true); </a:t>
            </a:r>
          </a:p>
        </p:txBody>
      </p:sp>
      <p:sp>
        <p:nvSpPr>
          <p:cNvPr id="2" name="Rectangle 1"/>
          <p:cNvSpPr/>
          <p:nvPr/>
        </p:nvSpPr>
        <p:spPr bwMode="auto">
          <a:xfrm>
            <a:off x="1222376" y="1466850"/>
            <a:ext cx="3960812" cy="129540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Verdana" charset="0"/>
            </a:endParaRPr>
          </a:p>
        </p:txBody>
      </p:sp>
      <p:sp>
        <p:nvSpPr>
          <p:cNvPr id="5" name="Rectangle 4"/>
          <p:cNvSpPr/>
          <p:nvPr/>
        </p:nvSpPr>
        <p:spPr bwMode="auto">
          <a:xfrm>
            <a:off x="1222376" y="3054350"/>
            <a:ext cx="3960812" cy="1968500"/>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Verdana"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57200" y="190500"/>
            <a:ext cx="8229600" cy="576263"/>
          </a:xfrm>
        </p:spPr>
        <p:txBody>
          <a:bodyPr/>
          <a:lstStyle/>
          <a:p>
            <a:pPr eaLnBrk="1" hangingPunct="1"/>
            <a:r>
              <a:rPr lang="en-US" altLang="en-US"/>
              <a:t>Mutex Locks</a:t>
            </a:r>
          </a:p>
        </p:txBody>
      </p:sp>
      <p:sp>
        <p:nvSpPr>
          <p:cNvPr id="22531" name="Rectangle 3"/>
          <p:cNvSpPr>
            <a:spLocks noGrp="1" noChangeArrowheads="1"/>
          </p:cNvSpPr>
          <p:nvPr>
            <p:ph idx="1"/>
          </p:nvPr>
        </p:nvSpPr>
        <p:spPr>
          <a:xfrm>
            <a:off x="827088" y="1177925"/>
            <a:ext cx="6869112" cy="5254625"/>
          </a:xfrm>
        </p:spPr>
        <p:txBody>
          <a:bodyPr/>
          <a:lstStyle/>
          <a:p>
            <a:pPr marL="342866" indent="-342866">
              <a:lnSpc>
                <a:spcPct val="90000"/>
              </a:lnSpc>
              <a:buFont typeface="Monotype Sorts" charset="0"/>
              <a:buChar char="n"/>
              <a:defRPr/>
            </a:pPr>
            <a:r>
              <a:rPr lang="en-US" dirty="0">
                <a:ea typeface="ＭＳ Ｐゴシック" charset="0"/>
                <a:cs typeface="ＭＳ Ｐゴシック" charset="0"/>
              </a:rPr>
              <a:t>Previous solutions are complicated and generally inaccessible to application programmers</a:t>
            </a:r>
          </a:p>
          <a:p>
            <a:pPr marL="342866" indent="-342866">
              <a:lnSpc>
                <a:spcPct val="90000"/>
              </a:lnSpc>
              <a:buFont typeface="Monotype Sorts" charset="0"/>
              <a:buChar char="n"/>
              <a:defRPr/>
            </a:pPr>
            <a:r>
              <a:rPr lang="en-US" dirty="0">
                <a:ea typeface="ＭＳ Ｐゴシック" charset="0"/>
                <a:cs typeface="ＭＳ Ｐゴシック" charset="0"/>
              </a:rPr>
              <a:t>OS designers build software tools to solve critical section problem</a:t>
            </a:r>
          </a:p>
          <a:p>
            <a:pPr marL="342866" indent="-342866">
              <a:lnSpc>
                <a:spcPct val="90000"/>
              </a:lnSpc>
              <a:buFont typeface="Monotype Sorts" charset="0"/>
              <a:buChar char="n"/>
              <a:defRPr/>
            </a:pPr>
            <a:r>
              <a:rPr lang="en-US" dirty="0">
                <a:ea typeface="ＭＳ Ｐゴシック" charset="0"/>
                <a:cs typeface="ＭＳ Ｐゴシック" charset="0"/>
              </a:rPr>
              <a:t>Simplest is </a:t>
            </a:r>
            <a:r>
              <a:rPr lang="en-US" sz="2000" dirty="0" err="1">
                <a:ea typeface="ＭＳ Ｐゴシック" charset="0"/>
                <a:cs typeface="ＭＳ Ｐゴシック" charset="0"/>
              </a:rPr>
              <a:t>mutex</a:t>
            </a:r>
            <a:r>
              <a:rPr lang="en-US" dirty="0">
                <a:ea typeface="ＭＳ Ｐゴシック" charset="0"/>
                <a:cs typeface="ＭＳ Ｐゴシック" charset="0"/>
              </a:rPr>
              <a:t> lock</a:t>
            </a:r>
          </a:p>
          <a:p>
            <a:pPr marL="342866" indent="-342866">
              <a:lnSpc>
                <a:spcPct val="90000"/>
              </a:lnSpc>
              <a:buFont typeface="Monotype Sorts" charset="0"/>
              <a:buChar char="n"/>
              <a:defRPr/>
            </a:pPr>
            <a:r>
              <a:rPr lang="en-US" dirty="0">
                <a:ea typeface="ＭＳ Ｐゴシック" charset="0"/>
                <a:cs typeface="ＭＳ Ｐゴシック" charset="0"/>
              </a:rPr>
              <a:t>Protect a critical section  by first </a:t>
            </a:r>
            <a:r>
              <a:rPr lang="en-US" sz="2000" b="1" dirty="0">
                <a:latin typeface="Courier New"/>
                <a:ea typeface="ＭＳ Ｐゴシック" charset="0"/>
                <a:cs typeface="Courier New"/>
              </a:rPr>
              <a:t>acquire()</a:t>
            </a:r>
            <a:r>
              <a:rPr lang="en-US" sz="2000" dirty="0">
                <a:ea typeface="ＭＳ Ｐゴシック" charset="0"/>
                <a:cs typeface="ＭＳ Ｐゴシック" charset="0"/>
              </a:rPr>
              <a:t> </a:t>
            </a:r>
            <a:r>
              <a:rPr lang="en-US" dirty="0">
                <a:ea typeface="ＭＳ Ｐゴシック" charset="0"/>
                <a:cs typeface="ＭＳ Ｐゴシック" charset="0"/>
              </a:rPr>
              <a:t>a lock then </a:t>
            </a:r>
            <a:r>
              <a:rPr lang="en-US" sz="2000" b="1" dirty="0">
                <a:latin typeface="Courier New"/>
                <a:ea typeface="ＭＳ Ｐゴシック" charset="0"/>
                <a:cs typeface="Courier New"/>
              </a:rPr>
              <a:t>release()</a:t>
            </a:r>
            <a:r>
              <a:rPr lang="en-US" sz="2000" dirty="0">
                <a:ea typeface="ＭＳ Ｐゴシック" charset="0"/>
                <a:cs typeface="ＭＳ Ｐゴシック" charset="0"/>
              </a:rPr>
              <a:t> </a:t>
            </a:r>
            <a:r>
              <a:rPr lang="en-US" dirty="0">
                <a:ea typeface="ＭＳ Ｐゴシック" charset="0"/>
                <a:cs typeface="ＭＳ Ｐゴシック" charset="0"/>
              </a:rPr>
              <a:t>the lock</a:t>
            </a:r>
          </a:p>
          <a:p>
            <a:pPr marL="742876" lvl="1" indent="-285722">
              <a:lnSpc>
                <a:spcPct val="90000"/>
              </a:lnSpc>
              <a:buFont typeface="Monotype Sorts" charset="0"/>
              <a:buChar char="l"/>
              <a:defRPr/>
            </a:pPr>
            <a:r>
              <a:rPr lang="en-US" dirty="0">
                <a:ea typeface="ＭＳ Ｐゴシック" charset="0"/>
                <a:cs typeface="ＭＳ Ｐゴシック" charset="0"/>
              </a:rPr>
              <a:t>Boolean variable indicating if lock is available or not</a:t>
            </a:r>
          </a:p>
          <a:p>
            <a:pPr marL="342866" indent="-342866">
              <a:lnSpc>
                <a:spcPct val="90000"/>
              </a:lnSpc>
              <a:buFont typeface="Monotype Sorts" charset="0"/>
              <a:buChar char="n"/>
              <a:defRPr/>
            </a:pPr>
            <a:r>
              <a:rPr lang="en-US" dirty="0">
                <a:ea typeface="ＭＳ Ｐゴシック" charset="0"/>
                <a:cs typeface="ＭＳ Ｐゴシック" charset="0"/>
              </a:rPr>
              <a:t>Calls to </a:t>
            </a:r>
            <a:r>
              <a:rPr lang="en-US" sz="2000" b="1" dirty="0">
                <a:latin typeface="Courier New"/>
                <a:ea typeface="ＭＳ Ｐゴシック" charset="0"/>
                <a:cs typeface="Courier New"/>
              </a:rPr>
              <a:t>acquire()</a:t>
            </a:r>
            <a:r>
              <a:rPr lang="en-US" sz="2000" dirty="0">
                <a:ea typeface="ＭＳ Ｐゴシック" charset="0"/>
                <a:cs typeface="ＭＳ Ｐゴシック" charset="0"/>
              </a:rPr>
              <a:t> </a:t>
            </a:r>
            <a:r>
              <a:rPr lang="en-US" dirty="0">
                <a:ea typeface="ＭＳ Ｐゴシック" charset="0"/>
                <a:cs typeface="ＭＳ Ｐゴシック" charset="0"/>
              </a:rPr>
              <a:t>and </a:t>
            </a:r>
            <a:r>
              <a:rPr lang="en-US" sz="2000" b="1" dirty="0">
                <a:latin typeface="Courier New"/>
                <a:ea typeface="ＭＳ Ｐゴシック" charset="0"/>
                <a:cs typeface="Courier New"/>
              </a:rPr>
              <a:t>release()</a:t>
            </a:r>
            <a:r>
              <a:rPr lang="en-US" sz="2000" dirty="0">
                <a:ea typeface="ＭＳ Ｐゴシック" charset="0"/>
                <a:cs typeface="ＭＳ Ｐゴシック" charset="0"/>
              </a:rPr>
              <a:t> </a:t>
            </a:r>
            <a:r>
              <a:rPr lang="en-US" dirty="0">
                <a:ea typeface="ＭＳ Ｐゴシック" charset="0"/>
                <a:cs typeface="ＭＳ Ｐゴシック" charset="0"/>
              </a:rPr>
              <a:t>must be atomic</a:t>
            </a:r>
          </a:p>
          <a:p>
            <a:pPr marL="742876" lvl="1" indent="-285722">
              <a:lnSpc>
                <a:spcPct val="90000"/>
              </a:lnSpc>
              <a:buFont typeface="Monotype Sorts" charset="0"/>
              <a:buChar char="l"/>
              <a:defRPr/>
            </a:pPr>
            <a:r>
              <a:rPr lang="en-US" dirty="0">
                <a:ea typeface="ＭＳ Ｐゴシック" charset="0"/>
                <a:cs typeface="ＭＳ Ｐゴシック" charset="0"/>
              </a:rPr>
              <a:t>Usually implemented via hardware atomic instructions</a:t>
            </a:r>
          </a:p>
          <a:p>
            <a:pPr marL="342866" indent="-342866">
              <a:lnSpc>
                <a:spcPct val="90000"/>
              </a:lnSpc>
              <a:buFont typeface="Monotype Sorts" charset="0"/>
              <a:buChar char="n"/>
              <a:defRPr/>
            </a:pPr>
            <a:r>
              <a:rPr lang="en-US" dirty="0">
                <a:ea typeface="ＭＳ Ｐゴシック" charset="0"/>
                <a:cs typeface="ＭＳ Ｐゴシック" charset="0"/>
              </a:rPr>
              <a:t>But this solution requires </a:t>
            </a:r>
            <a:r>
              <a:rPr lang="en-US" b="1" dirty="0">
                <a:solidFill>
                  <a:srgbClr val="3366FF"/>
                </a:solidFill>
                <a:ea typeface="ＭＳ Ｐゴシック" charset="0"/>
                <a:cs typeface="ＭＳ Ｐゴシック" charset="-128"/>
              </a:rPr>
              <a:t>busy waiting</a:t>
            </a:r>
          </a:p>
          <a:p>
            <a:pPr marL="742896" lvl="1" indent="-342866">
              <a:lnSpc>
                <a:spcPct val="90000"/>
              </a:lnSpc>
              <a:buFont typeface="Monotype Sorts" charset="0"/>
              <a:buChar char="n"/>
              <a:defRPr/>
            </a:pPr>
            <a:r>
              <a:rPr lang="en-US" dirty="0">
                <a:ea typeface="ＭＳ Ｐゴシック" charset="0"/>
                <a:cs typeface="ＭＳ Ｐゴシック" charset="0"/>
              </a:rPr>
              <a:t>This lock therefore called a </a:t>
            </a:r>
            <a:r>
              <a:rPr lang="en-US" b="1" dirty="0">
                <a:solidFill>
                  <a:srgbClr val="3366FF"/>
                </a:solidFill>
                <a:ea typeface="ＭＳ Ｐゴシック" charset="0"/>
                <a:cs typeface="ＭＳ Ｐゴシック" charset="-128"/>
              </a:rPr>
              <a:t>spinlock</a:t>
            </a:r>
          </a:p>
          <a:p>
            <a:pPr marL="0" indent="0">
              <a:lnSpc>
                <a:spcPct val="90000"/>
              </a:lnSpc>
              <a:buFont typeface="Monotype Sorts" pitchFamily="-84" charset="2"/>
              <a:buNone/>
              <a:defRPr/>
            </a:pPr>
            <a:endParaRPr lang="en-US" sz="1600" dirty="0">
              <a:ea typeface="ＭＳ Ｐゴシック" charset="0"/>
              <a:cs typeface="ＭＳ Ｐゴシック"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1414463" y="4684713"/>
            <a:ext cx="1587500" cy="377825"/>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650875" indent="-193675" algn="l" rtl="0" eaLnBrk="0" fontAlgn="base" hangingPunct="0">
              <a:spcBef>
                <a:spcPct val="0"/>
              </a:spcBef>
              <a:spcAft>
                <a:spcPct val="0"/>
              </a:spcAft>
              <a:defRPr kern="1200">
                <a:solidFill>
                  <a:schemeClr val="lt1"/>
                </a:solidFill>
                <a:latin typeface="+mn-lt"/>
                <a:ea typeface="+mn-ea"/>
                <a:cs typeface="+mn-cs"/>
              </a:defRPr>
            </a:lvl2pPr>
            <a:lvl3pPr marL="1303338" indent="-388938" algn="l" rtl="0" eaLnBrk="0" fontAlgn="base" hangingPunct="0">
              <a:spcBef>
                <a:spcPct val="0"/>
              </a:spcBef>
              <a:spcAft>
                <a:spcPct val="0"/>
              </a:spcAft>
              <a:defRPr kern="1200">
                <a:solidFill>
                  <a:schemeClr val="lt1"/>
                </a:solidFill>
                <a:latin typeface="+mn-lt"/>
                <a:ea typeface="+mn-ea"/>
                <a:cs typeface="+mn-cs"/>
              </a:defRPr>
            </a:lvl3pPr>
            <a:lvl4pPr marL="1957388" indent="-585788" algn="l" rtl="0" eaLnBrk="0" fontAlgn="base" hangingPunct="0">
              <a:spcBef>
                <a:spcPct val="0"/>
              </a:spcBef>
              <a:spcAft>
                <a:spcPct val="0"/>
              </a:spcAft>
              <a:defRPr kern="1200">
                <a:solidFill>
                  <a:schemeClr val="lt1"/>
                </a:solidFill>
                <a:latin typeface="+mn-lt"/>
                <a:ea typeface="+mn-ea"/>
                <a:cs typeface="+mn-cs"/>
              </a:defRPr>
            </a:lvl4pPr>
            <a:lvl5pPr marL="2609850" indent="-781050" algn="l" rtl="0" eaLnBrk="0" fontAlgn="base" hangingPunct="0">
              <a:spcBef>
                <a:spcPct val="0"/>
              </a:spcBef>
              <a:spcAft>
                <a:spcPct val="0"/>
              </a:spcAft>
              <a:defRPr kern="1200">
                <a:solidFill>
                  <a:schemeClr val="lt1"/>
                </a:solidFill>
                <a:latin typeface="+mn-lt"/>
                <a:ea typeface="+mn-ea"/>
                <a:cs typeface="+mn-cs"/>
              </a:defRPr>
            </a:lvl5pPr>
            <a:lvl6pPr marL="2286000" algn="l" defTabSz="457200" rtl="0" eaLnBrk="1" latinLnBrk="0" hangingPunct="1">
              <a:defRPr kern="1200">
                <a:solidFill>
                  <a:schemeClr val="lt1"/>
                </a:solidFill>
                <a:latin typeface="+mn-lt"/>
                <a:ea typeface="+mn-ea"/>
                <a:cs typeface="+mn-cs"/>
              </a:defRPr>
            </a:lvl6pPr>
            <a:lvl7pPr marL="2743200" algn="l" defTabSz="457200" rtl="0" eaLnBrk="1" latinLnBrk="0" hangingPunct="1">
              <a:defRPr kern="1200">
                <a:solidFill>
                  <a:schemeClr val="lt1"/>
                </a:solidFill>
                <a:latin typeface="+mn-lt"/>
                <a:ea typeface="+mn-ea"/>
                <a:cs typeface="+mn-cs"/>
              </a:defRPr>
            </a:lvl7pPr>
            <a:lvl8pPr marL="3200400" algn="l" defTabSz="457200" rtl="0" eaLnBrk="1" latinLnBrk="0" hangingPunct="1">
              <a:defRPr kern="1200">
                <a:solidFill>
                  <a:schemeClr val="lt1"/>
                </a:solidFill>
                <a:latin typeface="+mn-lt"/>
                <a:ea typeface="+mn-ea"/>
                <a:cs typeface="+mn-cs"/>
              </a:defRPr>
            </a:lvl8pPr>
            <a:lvl9pPr marL="3657600" algn="l" defTabSz="457200" rtl="0" eaLnBrk="1" latinLnBrk="0" hangingPunct="1">
              <a:defRPr kern="1200">
                <a:solidFill>
                  <a:schemeClr val="lt1"/>
                </a:solidFill>
                <a:latin typeface="+mn-lt"/>
                <a:ea typeface="+mn-ea"/>
                <a:cs typeface="+mn-cs"/>
              </a:defRPr>
            </a:lvl9pPr>
          </a:lstStyle>
          <a:p>
            <a:pPr>
              <a:defRPr/>
            </a:pPr>
            <a:endParaRPr lang="en-US">
              <a:solidFill>
                <a:schemeClr val="tx1"/>
              </a:solidFill>
              <a:latin typeface="Verdana" charset="0"/>
            </a:endParaRPr>
          </a:p>
        </p:txBody>
      </p:sp>
      <p:sp>
        <p:nvSpPr>
          <p:cNvPr id="4" name="Rectangle 3"/>
          <p:cNvSpPr/>
          <p:nvPr/>
        </p:nvSpPr>
        <p:spPr bwMode="auto">
          <a:xfrm>
            <a:off x="1401763" y="4030663"/>
            <a:ext cx="1589087" cy="379412"/>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650875" indent="-193675" algn="l" rtl="0" eaLnBrk="0" fontAlgn="base" hangingPunct="0">
              <a:spcBef>
                <a:spcPct val="0"/>
              </a:spcBef>
              <a:spcAft>
                <a:spcPct val="0"/>
              </a:spcAft>
              <a:defRPr kern="1200">
                <a:solidFill>
                  <a:schemeClr val="lt1"/>
                </a:solidFill>
                <a:latin typeface="+mn-lt"/>
                <a:ea typeface="+mn-ea"/>
                <a:cs typeface="+mn-cs"/>
              </a:defRPr>
            </a:lvl2pPr>
            <a:lvl3pPr marL="1303338" indent="-388938" algn="l" rtl="0" eaLnBrk="0" fontAlgn="base" hangingPunct="0">
              <a:spcBef>
                <a:spcPct val="0"/>
              </a:spcBef>
              <a:spcAft>
                <a:spcPct val="0"/>
              </a:spcAft>
              <a:defRPr kern="1200">
                <a:solidFill>
                  <a:schemeClr val="lt1"/>
                </a:solidFill>
                <a:latin typeface="+mn-lt"/>
                <a:ea typeface="+mn-ea"/>
                <a:cs typeface="+mn-cs"/>
              </a:defRPr>
            </a:lvl3pPr>
            <a:lvl4pPr marL="1957388" indent="-585788" algn="l" rtl="0" eaLnBrk="0" fontAlgn="base" hangingPunct="0">
              <a:spcBef>
                <a:spcPct val="0"/>
              </a:spcBef>
              <a:spcAft>
                <a:spcPct val="0"/>
              </a:spcAft>
              <a:defRPr kern="1200">
                <a:solidFill>
                  <a:schemeClr val="lt1"/>
                </a:solidFill>
                <a:latin typeface="+mn-lt"/>
                <a:ea typeface="+mn-ea"/>
                <a:cs typeface="+mn-cs"/>
              </a:defRPr>
            </a:lvl4pPr>
            <a:lvl5pPr marL="2609850" indent="-781050" algn="l" rtl="0" eaLnBrk="0" fontAlgn="base" hangingPunct="0">
              <a:spcBef>
                <a:spcPct val="0"/>
              </a:spcBef>
              <a:spcAft>
                <a:spcPct val="0"/>
              </a:spcAft>
              <a:defRPr kern="1200">
                <a:solidFill>
                  <a:schemeClr val="lt1"/>
                </a:solidFill>
                <a:latin typeface="+mn-lt"/>
                <a:ea typeface="+mn-ea"/>
                <a:cs typeface="+mn-cs"/>
              </a:defRPr>
            </a:lvl5pPr>
            <a:lvl6pPr marL="2286000" algn="l" defTabSz="457200" rtl="0" eaLnBrk="1" latinLnBrk="0" hangingPunct="1">
              <a:defRPr kern="1200">
                <a:solidFill>
                  <a:schemeClr val="lt1"/>
                </a:solidFill>
                <a:latin typeface="+mn-lt"/>
                <a:ea typeface="+mn-ea"/>
                <a:cs typeface="+mn-cs"/>
              </a:defRPr>
            </a:lvl6pPr>
            <a:lvl7pPr marL="2743200" algn="l" defTabSz="457200" rtl="0" eaLnBrk="1" latinLnBrk="0" hangingPunct="1">
              <a:defRPr kern="1200">
                <a:solidFill>
                  <a:schemeClr val="lt1"/>
                </a:solidFill>
                <a:latin typeface="+mn-lt"/>
                <a:ea typeface="+mn-ea"/>
                <a:cs typeface="+mn-cs"/>
              </a:defRPr>
            </a:lvl7pPr>
            <a:lvl8pPr marL="3200400" algn="l" defTabSz="457200" rtl="0" eaLnBrk="1" latinLnBrk="0" hangingPunct="1">
              <a:defRPr kern="1200">
                <a:solidFill>
                  <a:schemeClr val="lt1"/>
                </a:solidFill>
                <a:latin typeface="+mn-lt"/>
                <a:ea typeface="+mn-ea"/>
                <a:cs typeface="+mn-cs"/>
              </a:defRPr>
            </a:lvl8pPr>
            <a:lvl9pPr marL="3657600" algn="l" defTabSz="457200" rtl="0" eaLnBrk="1" latinLnBrk="0" hangingPunct="1">
              <a:defRPr kern="1200">
                <a:solidFill>
                  <a:schemeClr val="lt1"/>
                </a:solidFill>
                <a:latin typeface="+mn-lt"/>
                <a:ea typeface="+mn-ea"/>
                <a:cs typeface="+mn-cs"/>
              </a:defRPr>
            </a:lvl9pPr>
          </a:lstStyle>
          <a:p>
            <a:pPr>
              <a:defRPr/>
            </a:pPr>
            <a:endParaRPr lang="en-US">
              <a:solidFill>
                <a:schemeClr val="tx1"/>
              </a:solidFill>
              <a:latin typeface="Verdana" charset="0"/>
            </a:endParaRPr>
          </a:p>
        </p:txBody>
      </p:sp>
      <p:sp>
        <p:nvSpPr>
          <p:cNvPr id="26628" name="Title 1"/>
          <p:cNvSpPr>
            <a:spLocks noGrp="1"/>
          </p:cNvSpPr>
          <p:nvPr>
            <p:ph type="title"/>
          </p:nvPr>
        </p:nvSpPr>
        <p:spPr>
          <a:xfrm>
            <a:off x="457200" y="161925"/>
            <a:ext cx="8229600" cy="576263"/>
          </a:xfrm>
        </p:spPr>
        <p:txBody>
          <a:bodyPr/>
          <a:lstStyle/>
          <a:p>
            <a:r>
              <a:rPr lang="en-US" altLang="en-US"/>
              <a:t>acquire() and release()</a:t>
            </a:r>
          </a:p>
        </p:txBody>
      </p:sp>
      <p:sp>
        <p:nvSpPr>
          <p:cNvPr id="26629" name="Content Placeholder 2"/>
          <p:cNvSpPr>
            <a:spLocks noGrp="1"/>
          </p:cNvSpPr>
          <p:nvPr>
            <p:ph idx="1"/>
          </p:nvPr>
        </p:nvSpPr>
        <p:spPr>
          <a:xfrm>
            <a:off x="882650" y="1169988"/>
            <a:ext cx="7234238" cy="4530725"/>
          </a:xfrm>
        </p:spPr>
        <p:txBody>
          <a:bodyPr/>
          <a:lstStyle/>
          <a:p>
            <a:pPr marL="0" indent="0"/>
            <a:r>
              <a:rPr lang="en-US" altLang="en-US" sz="1400" b="1">
                <a:latin typeface="Courier New" pitchFamily="49" charset="0"/>
                <a:cs typeface="Courier New" pitchFamily="49" charset="0"/>
              </a:rPr>
              <a:t>   </a:t>
            </a:r>
            <a:r>
              <a:rPr lang="en-US" altLang="en-US" sz="1600" b="1">
                <a:latin typeface="Courier New" pitchFamily="49" charset="0"/>
                <a:cs typeface="Courier New" pitchFamily="49" charset="0"/>
              </a:rPr>
              <a:t>acquire() {</a:t>
            </a:r>
            <a:br>
              <a:rPr lang="en-US" altLang="en-US" sz="1600" b="1">
                <a:latin typeface="Courier New" pitchFamily="49" charset="0"/>
                <a:cs typeface="Courier New" pitchFamily="49" charset="0"/>
              </a:rPr>
            </a:br>
            <a:r>
              <a:rPr lang="en-US" altLang="en-US" sz="1600" b="1">
                <a:latin typeface="Courier New" pitchFamily="49" charset="0"/>
                <a:cs typeface="Courier New" pitchFamily="49" charset="0"/>
              </a:rPr>
              <a:t>       while (!available) </a:t>
            </a:r>
          </a:p>
          <a:p>
            <a:pPr marL="0" indent="0">
              <a:buFont typeface="Monotype Sorts" pitchFamily="-84" charset="2"/>
              <a:buNone/>
            </a:pPr>
            <a:r>
              <a:rPr lang="en-US" altLang="en-US" sz="1600" b="1">
                <a:latin typeface="Courier New" pitchFamily="49" charset="0"/>
                <a:cs typeface="Courier New" pitchFamily="49" charset="0"/>
              </a:rPr>
              <a:t>          ; /* busy wait */ </a:t>
            </a:r>
          </a:p>
          <a:p>
            <a:pPr marL="0" indent="0">
              <a:buFont typeface="Monotype Sorts" pitchFamily="-84" charset="2"/>
              <a:buNone/>
            </a:pPr>
            <a:r>
              <a:rPr lang="en-US" altLang="en-US" sz="1600" b="1">
                <a:latin typeface="Courier New" pitchFamily="49" charset="0"/>
                <a:cs typeface="Courier New" pitchFamily="49" charset="0"/>
              </a:rPr>
              <a:t>       available = false;; </a:t>
            </a:r>
          </a:p>
          <a:p>
            <a:pPr marL="0" indent="0">
              <a:buFont typeface="Monotype Sorts" pitchFamily="-84" charset="2"/>
              <a:buNone/>
            </a:pPr>
            <a:r>
              <a:rPr lang="en-US" altLang="en-US" sz="1600" b="1">
                <a:latin typeface="Courier New" pitchFamily="49" charset="0"/>
                <a:cs typeface="Courier New" pitchFamily="49" charset="0"/>
              </a:rPr>
              <a:t>    } </a:t>
            </a:r>
          </a:p>
          <a:p>
            <a:pPr marL="0" indent="0"/>
            <a:r>
              <a:rPr lang="en-US" altLang="en-US" sz="1600" b="1">
                <a:latin typeface="Courier New" pitchFamily="49" charset="0"/>
                <a:cs typeface="Courier New" pitchFamily="49" charset="0"/>
              </a:rPr>
              <a:t>   release() { </a:t>
            </a:r>
          </a:p>
          <a:p>
            <a:pPr marL="0" indent="0">
              <a:buFont typeface="Monotype Sorts" pitchFamily="-84" charset="2"/>
              <a:buNone/>
            </a:pPr>
            <a:r>
              <a:rPr lang="en-US" altLang="en-US" sz="1600" b="1">
                <a:latin typeface="Courier New" pitchFamily="49" charset="0"/>
                <a:cs typeface="Courier New" pitchFamily="49" charset="0"/>
              </a:rPr>
              <a:t>       available = true; </a:t>
            </a:r>
          </a:p>
          <a:p>
            <a:pPr marL="0" indent="0">
              <a:buFont typeface="Monotype Sorts" pitchFamily="-84" charset="2"/>
              <a:buNone/>
            </a:pPr>
            <a:r>
              <a:rPr lang="en-US" altLang="en-US" sz="1600" b="1">
                <a:latin typeface="Courier New" pitchFamily="49" charset="0"/>
                <a:cs typeface="Courier New" pitchFamily="49" charset="0"/>
              </a:rPr>
              <a:t>    } </a:t>
            </a:r>
          </a:p>
          <a:p>
            <a:pPr marL="0" indent="0"/>
            <a:r>
              <a:rPr lang="en-US" altLang="en-US" sz="1600" b="1">
                <a:latin typeface="Courier New" pitchFamily="49" charset="0"/>
                <a:cs typeface="Courier New" pitchFamily="49" charset="0"/>
              </a:rPr>
              <a:t>   do { </a:t>
            </a:r>
          </a:p>
          <a:p>
            <a:pPr marL="0" indent="0">
              <a:buFont typeface="Monotype Sorts" pitchFamily="-84" charset="2"/>
              <a:buNone/>
            </a:pPr>
            <a:r>
              <a:rPr lang="en-US" altLang="en-US" sz="1600" b="1" i="1">
                <a:latin typeface="Courier New" pitchFamily="49" charset="0"/>
                <a:cs typeface="Courier New" pitchFamily="49" charset="0"/>
              </a:rPr>
              <a:t>    acquire lock</a:t>
            </a:r>
          </a:p>
          <a:p>
            <a:pPr marL="0" indent="0">
              <a:buFont typeface="Monotype Sorts" pitchFamily="-84" charset="2"/>
              <a:buNone/>
            </a:pPr>
            <a:r>
              <a:rPr lang="en-US" altLang="en-US" sz="1600" b="1">
                <a:latin typeface="Courier New" pitchFamily="49" charset="0"/>
                <a:cs typeface="Courier New" pitchFamily="49" charset="0"/>
              </a:rPr>
              <a:t>       critical section</a:t>
            </a:r>
          </a:p>
          <a:p>
            <a:pPr marL="0" indent="0">
              <a:buFont typeface="Monotype Sorts" pitchFamily="-84" charset="2"/>
              <a:buNone/>
            </a:pPr>
            <a:r>
              <a:rPr lang="en-US" altLang="en-US" sz="1600" b="1" i="1">
                <a:latin typeface="Courier New" pitchFamily="49" charset="0"/>
                <a:cs typeface="Courier New" pitchFamily="49" charset="0"/>
              </a:rPr>
              <a:t>    release lock </a:t>
            </a:r>
          </a:p>
          <a:p>
            <a:pPr marL="0" indent="0">
              <a:buFont typeface="Monotype Sorts" pitchFamily="-84" charset="2"/>
              <a:buNone/>
            </a:pPr>
            <a:r>
              <a:rPr lang="en-US" altLang="en-US" sz="1600" b="1">
                <a:latin typeface="Courier New" pitchFamily="49" charset="0"/>
                <a:cs typeface="Courier New" pitchFamily="49" charset="0"/>
              </a:rPr>
              <a:t>      remainder section </a:t>
            </a:r>
          </a:p>
          <a:p>
            <a:pPr marL="0" indent="0">
              <a:buFont typeface="Monotype Sorts" pitchFamily="-84" charset="2"/>
              <a:buNone/>
            </a:pPr>
            <a:r>
              <a:rPr lang="en-US" altLang="en-US" sz="1600" b="1">
                <a:latin typeface="Courier New" pitchFamily="49" charset="0"/>
                <a:cs typeface="Courier New" pitchFamily="49" charset="0"/>
              </a:rPr>
              <a:t> } while (true); </a:t>
            </a:r>
          </a:p>
          <a:p>
            <a:pPr marL="0" indent="0">
              <a:buFont typeface="Monotype Sorts" pitchFamily="-84" charset="2"/>
              <a:buNone/>
            </a:pPr>
            <a:endParaRPr lang="en-US" altLang="en-US" sz="1400" b="1">
              <a:latin typeface="Courier New" pitchFamily="49" charset="0"/>
              <a:cs typeface="Courier New" pitchFamily="49" charset="0"/>
            </a:endParaRPr>
          </a:p>
          <a:p>
            <a:pPr marL="0" indent="0">
              <a:buFont typeface="Monotype Sorts" pitchFamily="-84" charset="2"/>
              <a:buNone/>
            </a:pPr>
            <a:endParaRPr lang="en-US"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57200" y="147638"/>
            <a:ext cx="8229600" cy="576262"/>
          </a:xfrm>
        </p:spPr>
        <p:txBody>
          <a:bodyPr/>
          <a:lstStyle/>
          <a:p>
            <a:pPr eaLnBrk="1" hangingPunct="1"/>
            <a:r>
              <a:rPr lang="en-US" altLang="en-US"/>
              <a:t>Semaphore</a:t>
            </a:r>
          </a:p>
        </p:txBody>
      </p:sp>
      <p:sp>
        <p:nvSpPr>
          <p:cNvPr id="27651" name="Rectangle 3"/>
          <p:cNvSpPr>
            <a:spLocks noGrp="1" noChangeArrowheads="1"/>
          </p:cNvSpPr>
          <p:nvPr>
            <p:ph idx="1"/>
          </p:nvPr>
        </p:nvSpPr>
        <p:spPr>
          <a:xfrm>
            <a:off x="827088" y="1163638"/>
            <a:ext cx="7921625" cy="5254625"/>
          </a:xfrm>
        </p:spPr>
        <p:txBody>
          <a:bodyPr/>
          <a:lstStyle/>
          <a:p>
            <a:pPr>
              <a:lnSpc>
                <a:spcPct val="90000"/>
              </a:lnSpc>
            </a:pPr>
            <a:r>
              <a:rPr lang="en-US" altLang="en-US" sz="1600" dirty="0"/>
              <a:t>Synchronization tool that provides more sophisticated ways (than </a:t>
            </a:r>
            <a:r>
              <a:rPr lang="en-US" altLang="en-US" sz="1600" dirty="0" err="1"/>
              <a:t>Mutex</a:t>
            </a:r>
            <a:r>
              <a:rPr lang="en-US" altLang="en-US" sz="1600" dirty="0"/>
              <a:t> locks)  for process to synchronize their activities.</a:t>
            </a:r>
            <a:endParaRPr lang="en-US" altLang="en-US" sz="1600" i="1" dirty="0">
              <a:solidFill>
                <a:schemeClr val="tx2"/>
              </a:solidFill>
            </a:endParaRPr>
          </a:p>
          <a:p>
            <a:pPr>
              <a:lnSpc>
                <a:spcPct val="90000"/>
              </a:lnSpc>
            </a:pPr>
            <a:r>
              <a:rPr lang="en-US" altLang="en-US" sz="1600" dirty="0"/>
              <a:t>Semaphore </a:t>
            </a:r>
            <a:r>
              <a:rPr lang="en-US" altLang="en-US" sz="1600" b="1" i="1" dirty="0"/>
              <a:t>S</a:t>
            </a:r>
            <a:r>
              <a:rPr lang="en-US" altLang="en-US" sz="1600" dirty="0"/>
              <a:t> – integer variable</a:t>
            </a:r>
          </a:p>
          <a:p>
            <a:pPr>
              <a:lnSpc>
                <a:spcPct val="90000"/>
              </a:lnSpc>
            </a:pPr>
            <a:r>
              <a:rPr lang="en-US" altLang="en-US" sz="1600" dirty="0"/>
              <a:t>Can only be accessed via two indivisible (atomic) operations</a:t>
            </a:r>
          </a:p>
          <a:p>
            <a:pPr lvl="1">
              <a:lnSpc>
                <a:spcPct val="90000"/>
              </a:lnSpc>
            </a:pPr>
            <a:r>
              <a:rPr lang="en-US" altLang="en-US" b="1" dirty="0">
                <a:solidFill>
                  <a:srgbClr val="000000"/>
                </a:solidFill>
                <a:latin typeface="Courier New" pitchFamily="49" charset="0"/>
              </a:rPr>
              <a:t>wait()</a:t>
            </a:r>
            <a:r>
              <a:rPr lang="en-US" altLang="en-US" dirty="0">
                <a:solidFill>
                  <a:srgbClr val="000000"/>
                </a:solidFill>
              </a:rPr>
              <a:t> </a:t>
            </a:r>
            <a:r>
              <a:rPr lang="en-US" altLang="en-US" sz="1600" dirty="0">
                <a:solidFill>
                  <a:srgbClr val="000000"/>
                </a:solidFill>
              </a:rPr>
              <a:t>and </a:t>
            </a:r>
            <a:r>
              <a:rPr lang="en-US" altLang="en-US" b="1" dirty="0">
                <a:solidFill>
                  <a:srgbClr val="000000"/>
                </a:solidFill>
                <a:latin typeface="Courier New" pitchFamily="49" charset="0"/>
              </a:rPr>
              <a:t>signal()</a:t>
            </a:r>
          </a:p>
          <a:p>
            <a:pPr lvl="2">
              <a:lnSpc>
                <a:spcPct val="90000"/>
              </a:lnSpc>
            </a:pPr>
            <a:r>
              <a:rPr lang="en-US" altLang="en-US" sz="1600" dirty="0"/>
              <a:t>Originally called </a:t>
            </a:r>
            <a:r>
              <a:rPr lang="en-US" altLang="en-US" b="1" dirty="0">
                <a:solidFill>
                  <a:srgbClr val="000000"/>
                </a:solidFill>
                <a:latin typeface="Courier New" pitchFamily="49" charset="0"/>
              </a:rPr>
              <a:t>P()</a:t>
            </a:r>
            <a:r>
              <a:rPr lang="en-US" altLang="en-US" dirty="0"/>
              <a:t> </a:t>
            </a:r>
            <a:r>
              <a:rPr lang="en-US" altLang="en-US" sz="1600" dirty="0"/>
              <a:t>and </a:t>
            </a:r>
            <a:r>
              <a:rPr lang="en-US" altLang="en-US" b="1" dirty="0">
                <a:solidFill>
                  <a:srgbClr val="000000"/>
                </a:solidFill>
                <a:latin typeface="Courier New" pitchFamily="49" charset="0"/>
              </a:rPr>
              <a:t>V()</a:t>
            </a:r>
          </a:p>
          <a:p>
            <a:pPr>
              <a:lnSpc>
                <a:spcPct val="90000"/>
              </a:lnSpc>
            </a:pPr>
            <a:r>
              <a:rPr lang="en-US" altLang="en-US" sz="1600" dirty="0"/>
              <a:t>Definition of  the </a:t>
            </a:r>
            <a:r>
              <a:rPr lang="en-US" altLang="en-US" b="1" dirty="0">
                <a:solidFill>
                  <a:srgbClr val="000000"/>
                </a:solidFill>
                <a:latin typeface="Courier New" pitchFamily="49" charset="0"/>
                <a:cs typeface="Courier New" pitchFamily="49" charset="0"/>
              </a:rPr>
              <a:t>wait() operation</a:t>
            </a:r>
          </a:p>
          <a:p>
            <a:pPr lvl="1">
              <a:lnSpc>
                <a:spcPct val="90000"/>
              </a:lnSpc>
              <a:buFont typeface="Monotype Sorts" pitchFamily="-84" charset="2"/>
              <a:buNone/>
            </a:pPr>
            <a:r>
              <a:rPr lang="en-US" altLang="en-US" b="1" dirty="0">
                <a:latin typeface="Courier New" pitchFamily="49" charset="0"/>
                <a:sym typeface="Symbol" pitchFamily="18" charset="2"/>
              </a:rPr>
              <a:t>wait(S)</a:t>
            </a:r>
            <a:r>
              <a:rPr lang="en-US" altLang="en-US" sz="1600" b="1" dirty="0">
                <a:latin typeface="Courier New" pitchFamily="49" charset="0"/>
                <a:sym typeface="Symbol" pitchFamily="18" charset="2"/>
              </a:rPr>
              <a:t> { </a:t>
            </a:r>
          </a:p>
          <a:p>
            <a:pPr lvl="1">
              <a:lnSpc>
                <a:spcPct val="90000"/>
              </a:lnSpc>
              <a:buFont typeface="Monotype Sorts" pitchFamily="-84" charset="2"/>
              <a:buNone/>
            </a:pPr>
            <a:r>
              <a:rPr lang="en-US" altLang="en-US" sz="1600" b="1" dirty="0">
                <a:latin typeface="Courier New" pitchFamily="49" charset="0"/>
                <a:sym typeface="Symbol" pitchFamily="18" charset="2"/>
              </a:rPr>
              <a:t>    while (S &lt;= 0)</a:t>
            </a:r>
          </a:p>
          <a:p>
            <a:pPr lvl="1">
              <a:lnSpc>
                <a:spcPct val="90000"/>
              </a:lnSpc>
              <a:buFont typeface="Monotype Sorts" pitchFamily="-84" charset="2"/>
              <a:buNone/>
            </a:pPr>
            <a:r>
              <a:rPr lang="en-US" altLang="en-US" sz="1600" b="1" dirty="0">
                <a:latin typeface="Courier New" pitchFamily="49" charset="0"/>
                <a:sym typeface="Symbol" pitchFamily="18" charset="2"/>
              </a:rPr>
              <a:t>       ; // busy wait</a:t>
            </a:r>
          </a:p>
          <a:p>
            <a:pPr lvl="1">
              <a:lnSpc>
                <a:spcPct val="90000"/>
              </a:lnSpc>
              <a:buFont typeface="Monotype Sorts" pitchFamily="-84" charset="2"/>
              <a:buNone/>
            </a:pPr>
            <a:r>
              <a:rPr lang="en-US" altLang="en-US" sz="1600" b="1" dirty="0">
                <a:latin typeface="Courier New" pitchFamily="49" charset="0"/>
                <a:sym typeface="Symbol" pitchFamily="18" charset="2"/>
              </a:rPr>
              <a:t>    S--;</a:t>
            </a:r>
          </a:p>
          <a:p>
            <a:pPr lvl="1">
              <a:lnSpc>
                <a:spcPct val="90000"/>
              </a:lnSpc>
              <a:buFont typeface="Monotype Sorts" pitchFamily="-84" charset="2"/>
              <a:buNone/>
            </a:pPr>
            <a:r>
              <a:rPr lang="en-US" altLang="en-US" sz="1600" b="1" dirty="0">
                <a:latin typeface="Courier New" pitchFamily="49" charset="0"/>
                <a:sym typeface="Symbol" pitchFamily="18" charset="2"/>
              </a:rPr>
              <a:t>}</a:t>
            </a:r>
          </a:p>
          <a:p>
            <a:pPr>
              <a:lnSpc>
                <a:spcPct val="90000"/>
              </a:lnSpc>
            </a:pPr>
            <a:r>
              <a:rPr lang="en-US" altLang="en-US" sz="1600" dirty="0"/>
              <a:t>Definition of  the </a:t>
            </a:r>
            <a:r>
              <a:rPr lang="en-US" altLang="en-US" b="1" dirty="0">
                <a:solidFill>
                  <a:srgbClr val="000000"/>
                </a:solidFill>
                <a:latin typeface="Courier New" pitchFamily="49" charset="0"/>
                <a:cs typeface="Courier New" pitchFamily="49" charset="0"/>
              </a:rPr>
              <a:t>signal() operation</a:t>
            </a:r>
            <a:endParaRPr lang="en-US" altLang="en-US" sz="1600" b="1" dirty="0">
              <a:latin typeface="Courier New" pitchFamily="49" charset="0"/>
              <a:cs typeface="Courier New" pitchFamily="49" charset="0"/>
              <a:sym typeface="Symbol" pitchFamily="18" charset="2"/>
            </a:endParaRPr>
          </a:p>
          <a:p>
            <a:pPr lvl="1">
              <a:lnSpc>
                <a:spcPct val="90000"/>
              </a:lnSpc>
              <a:buFont typeface="Monotype Sorts" pitchFamily="-84" charset="2"/>
              <a:buNone/>
            </a:pPr>
            <a:r>
              <a:rPr lang="en-US" altLang="en-US" b="1" dirty="0">
                <a:latin typeface="Courier New" pitchFamily="49" charset="0"/>
                <a:sym typeface="Symbol" pitchFamily="18" charset="2"/>
              </a:rPr>
              <a:t>signal(S)</a:t>
            </a:r>
            <a:r>
              <a:rPr lang="en-US" altLang="en-US" sz="1600" b="1" dirty="0">
                <a:latin typeface="Courier New" pitchFamily="49" charset="0"/>
                <a:sym typeface="Symbol" pitchFamily="18" charset="2"/>
              </a:rPr>
              <a:t> { </a:t>
            </a:r>
          </a:p>
          <a:p>
            <a:pPr lvl="1">
              <a:lnSpc>
                <a:spcPct val="90000"/>
              </a:lnSpc>
              <a:buFont typeface="Monotype Sorts" pitchFamily="-84" charset="2"/>
              <a:buNone/>
            </a:pPr>
            <a:r>
              <a:rPr lang="en-US" altLang="en-US" sz="1600" b="1" dirty="0">
                <a:latin typeface="Courier New" pitchFamily="49" charset="0"/>
                <a:sym typeface="Symbol" pitchFamily="18" charset="2"/>
              </a:rPr>
              <a:t>    S++;</a:t>
            </a:r>
          </a:p>
          <a:p>
            <a:pPr lvl="1">
              <a:lnSpc>
                <a:spcPct val="90000"/>
              </a:lnSpc>
              <a:buFont typeface="Monotype Sorts" pitchFamily="-84" charset="2"/>
              <a:buNone/>
            </a:pPr>
            <a:r>
              <a:rPr lang="en-US" altLang="en-US" sz="1600" b="1" dirty="0">
                <a:latin typeface="Courier New" pitchFamily="49" charset="0"/>
                <a:sym typeface="Symbol" pitchFamily="18" charset="2"/>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561975" y="288925"/>
            <a:ext cx="8534400" cy="457200"/>
          </a:xfrm>
        </p:spPr>
        <p:txBody>
          <a:bodyPr/>
          <a:lstStyle/>
          <a:p>
            <a:pPr eaLnBrk="1" hangingPunct="1"/>
            <a:r>
              <a:rPr lang="en-US" altLang="en-US"/>
              <a:t>Semaphore Usage</a:t>
            </a:r>
          </a:p>
        </p:txBody>
      </p:sp>
      <p:sp>
        <p:nvSpPr>
          <p:cNvPr id="28675" name="Rectangle 3"/>
          <p:cNvSpPr>
            <a:spLocks noGrp="1" noChangeArrowheads="1"/>
          </p:cNvSpPr>
          <p:nvPr>
            <p:ph idx="1"/>
          </p:nvPr>
        </p:nvSpPr>
        <p:spPr>
          <a:xfrm>
            <a:off x="844550" y="1093788"/>
            <a:ext cx="7194550" cy="4530725"/>
          </a:xfrm>
        </p:spPr>
        <p:txBody>
          <a:bodyPr/>
          <a:lstStyle/>
          <a:p>
            <a:pPr>
              <a:tabLst>
                <a:tab pos="2001838" algn="ctr"/>
                <a:tab pos="4513263" algn="ctr"/>
              </a:tabLst>
            </a:pPr>
            <a:r>
              <a:rPr lang="en-US" altLang="en-US" sz="1600" b="1" dirty="0">
                <a:solidFill>
                  <a:srgbClr val="3366FF"/>
                </a:solidFill>
              </a:rPr>
              <a:t>Counting semaphore </a:t>
            </a:r>
            <a:r>
              <a:rPr lang="en-US" altLang="en-US" sz="1600" dirty="0"/>
              <a:t>– integer value can range over an unrestricted domain</a:t>
            </a:r>
          </a:p>
          <a:p>
            <a:pPr>
              <a:tabLst>
                <a:tab pos="2001838" algn="ctr"/>
                <a:tab pos="4513263" algn="ctr"/>
              </a:tabLst>
            </a:pPr>
            <a:r>
              <a:rPr lang="en-US" altLang="en-US" sz="1600" b="1" dirty="0">
                <a:solidFill>
                  <a:srgbClr val="3366FF"/>
                </a:solidFill>
              </a:rPr>
              <a:t>Binary semaphore </a:t>
            </a:r>
            <a:r>
              <a:rPr lang="en-US" altLang="en-US" sz="1600" dirty="0"/>
              <a:t>– integer value can range only between 0 and 1</a:t>
            </a:r>
          </a:p>
          <a:p>
            <a:pPr lvl="1">
              <a:tabLst>
                <a:tab pos="2001838" algn="ctr"/>
                <a:tab pos="4513263" algn="ctr"/>
              </a:tabLst>
            </a:pPr>
            <a:r>
              <a:rPr lang="en-US" altLang="en-US" sz="1600" dirty="0">
                <a:sym typeface="MT Extra" pitchFamily="18" charset="2"/>
              </a:rPr>
              <a:t>Same as a </a:t>
            </a:r>
            <a:r>
              <a:rPr lang="en-US" altLang="en-US" sz="1600" b="1" dirty="0" err="1">
                <a:solidFill>
                  <a:srgbClr val="3366FF"/>
                </a:solidFill>
                <a:sym typeface="MT Extra" pitchFamily="18" charset="2"/>
              </a:rPr>
              <a:t>mutex</a:t>
            </a:r>
            <a:r>
              <a:rPr lang="en-US" altLang="en-US" sz="1600" b="1" dirty="0">
                <a:solidFill>
                  <a:srgbClr val="3366FF"/>
                </a:solidFill>
                <a:sym typeface="MT Extra" pitchFamily="18" charset="2"/>
              </a:rPr>
              <a:t> lock</a:t>
            </a:r>
            <a:endParaRPr lang="en-US" altLang="en-US" sz="1600" b="1" dirty="0">
              <a:solidFill>
                <a:srgbClr val="3366FF"/>
              </a:solidFill>
            </a:endParaRPr>
          </a:p>
          <a:p>
            <a:pPr>
              <a:tabLst>
                <a:tab pos="2001838" algn="ctr"/>
                <a:tab pos="4513263" algn="ctr"/>
              </a:tabLst>
            </a:pPr>
            <a:r>
              <a:rPr lang="en-US" altLang="en-US" sz="1600" dirty="0">
                <a:sym typeface="MT Extra" pitchFamily="18" charset="2"/>
              </a:rPr>
              <a:t>Can solve various synchronization problems</a:t>
            </a:r>
          </a:p>
          <a:p>
            <a:pPr>
              <a:tabLst>
                <a:tab pos="2001838" algn="ctr"/>
                <a:tab pos="4513263" algn="ctr"/>
              </a:tabLst>
            </a:pPr>
            <a:r>
              <a:rPr lang="en-US" altLang="en-US" sz="1600" dirty="0">
                <a:sym typeface="MT Extra" pitchFamily="18" charset="2"/>
              </a:rPr>
              <a:t>Consider </a:t>
            </a:r>
            <a:r>
              <a:rPr lang="en-US" altLang="en-US" sz="1600" b="1" i="1" dirty="0">
                <a:sym typeface="MT Extra" pitchFamily="18" charset="2"/>
              </a:rPr>
              <a:t>P</a:t>
            </a:r>
            <a:r>
              <a:rPr lang="en-US" altLang="en-US" sz="1600" b="1" i="1" baseline="-25000" dirty="0">
                <a:sym typeface="MT Extra" pitchFamily="18" charset="2"/>
              </a:rPr>
              <a:t>1</a:t>
            </a:r>
            <a:r>
              <a:rPr lang="en-US" altLang="en-US" sz="1600" b="1" i="1" dirty="0">
                <a:sym typeface="MT Extra" pitchFamily="18" charset="2"/>
              </a:rPr>
              <a:t> </a:t>
            </a:r>
            <a:r>
              <a:rPr lang="en-US" altLang="en-US" sz="1600" dirty="0">
                <a:sym typeface="MT Extra" pitchFamily="18" charset="2"/>
              </a:rPr>
              <a:t> and </a:t>
            </a:r>
            <a:r>
              <a:rPr lang="en-US" altLang="en-US" sz="1600" b="1" i="1" dirty="0">
                <a:sym typeface="MT Extra" pitchFamily="18" charset="2"/>
              </a:rPr>
              <a:t>P</a:t>
            </a:r>
            <a:r>
              <a:rPr lang="en-US" altLang="en-US" sz="1600" b="1" i="1" baseline="-25000" dirty="0">
                <a:sym typeface="MT Extra" pitchFamily="18" charset="2"/>
              </a:rPr>
              <a:t>2</a:t>
            </a:r>
            <a:r>
              <a:rPr lang="en-US" altLang="en-US" sz="1600" dirty="0">
                <a:sym typeface="MT Extra" pitchFamily="18" charset="2"/>
              </a:rPr>
              <a:t> that require</a:t>
            </a:r>
            <a:r>
              <a:rPr lang="en-US" altLang="en-US" sz="1600" b="1" i="1" dirty="0">
                <a:sym typeface="MT Extra" pitchFamily="18" charset="2"/>
              </a:rPr>
              <a:t> Stmts</a:t>
            </a:r>
            <a:r>
              <a:rPr lang="en-US" altLang="en-US" sz="1600" b="1" i="1" baseline="-25000" dirty="0">
                <a:sym typeface="MT Extra" pitchFamily="18" charset="2"/>
              </a:rPr>
              <a:t>1</a:t>
            </a:r>
            <a:r>
              <a:rPr lang="en-US" altLang="en-US" sz="1600" b="1" i="1" dirty="0">
                <a:sym typeface="MT Extra" pitchFamily="18" charset="2"/>
              </a:rPr>
              <a:t> </a:t>
            </a:r>
            <a:r>
              <a:rPr lang="en-US" altLang="en-US" sz="1600" dirty="0">
                <a:sym typeface="MT Extra" pitchFamily="18" charset="2"/>
              </a:rPr>
              <a:t>to happen before </a:t>
            </a:r>
            <a:r>
              <a:rPr lang="en-US" altLang="en-US" sz="1600" b="1" i="1" dirty="0">
                <a:sym typeface="MT Extra" pitchFamily="18" charset="2"/>
              </a:rPr>
              <a:t>Stmts</a:t>
            </a:r>
            <a:r>
              <a:rPr lang="en-US" altLang="en-US" sz="1600" b="1" i="1" baseline="-25000" dirty="0">
                <a:sym typeface="MT Extra" pitchFamily="18" charset="2"/>
              </a:rPr>
              <a:t>2</a:t>
            </a:r>
          </a:p>
          <a:p>
            <a:pPr>
              <a:buFont typeface="Monotype Sorts" pitchFamily="-84" charset="2"/>
              <a:buNone/>
              <a:tabLst>
                <a:tab pos="2001838" algn="ctr"/>
                <a:tab pos="4513263" algn="ctr"/>
              </a:tabLst>
            </a:pPr>
            <a:r>
              <a:rPr lang="en-US" altLang="en-US" sz="1600" dirty="0">
                <a:sym typeface="MT Extra" pitchFamily="18" charset="2"/>
              </a:rPr>
              <a:t>       Create a semaphore “</a:t>
            </a:r>
            <a:r>
              <a:rPr lang="en-US" altLang="ja-JP" sz="1600" b="1" dirty="0">
                <a:solidFill>
                  <a:srgbClr val="000000"/>
                </a:solidFill>
                <a:latin typeface="Courier New" pitchFamily="49" charset="0"/>
                <a:cs typeface="Courier New" pitchFamily="49" charset="0"/>
                <a:sym typeface="MT Extra" pitchFamily="18" charset="2"/>
              </a:rPr>
              <a:t>synch</a:t>
            </a:r>
            <a:r>
              <a:rPr lang="en-US" altLang="en-US" sz="1600" dirty="0">
                <a:sym typeface="MT Extra" pitchFamily="18" charset="2"/>
              </a:rPr>
              <a:t>”</a:t>
            </a:r>
            <a:r>
              <a:rPr lang="en-US" altLang="ja-JP" sz="1600" dirty="0">
                <a:sym typeface="MT Extra" pitchFamily="18" charset="2"/>
              </a:rPr>
              <a:t> initialized to 0 </a:t>
            </a:r>
          </a:p>
          <a:p>
            <a:pPr lvl="1">
              <a:buFont typeface="Monotype Sorts" pitchFamily="-84" charset="2"/>
              <a:buNone/>
              <a:tabLst>
                <a:tab pos="2001838" algn="ctr"/>
                <a:tab pos="4513263" algn="ctr"/>
              </a:tabLst>
            </a:pPr>
            <a:r>
              <a:rPr lang="en-US" altLang="en-US" sz="1600" b="1" dirty="0">
                <a:solidFill>
                  <a:srgbClr val="000000"/>
                </a:solidFill>
                <a:latin typeface="Courier New" pitchFamily="49" charset="0"/>
                <a:cs typeface="Courier New" pitchFamily="49" charset="0"/>
                <a:sym typeface="MT Extra" pitchFamily="18" charset="2"/>
              </a:rPr>
              <a:t>P1:</a:t>
            </a:r>
          </a:p>
          <a:p>
            <a:pPr lvl="1">
              <a:buFont typeface="Monotype Sorts" pitchFamily="-84" charset="2"/>
              <a:buNone/>
              <a:tabLst>
                <a:tab pos="2001838" algn="ctr"/>
                <a:tab pos="4513263" algn="ctr"/>
              </a:tabLst>
            </a:pPr>
            <a:r>
              <a:rPr lang="en-US" altLang="en-US" sz="1600" b="1" dirty="0">
                <a:solidFill>
                  <a:srgbClr val="000000"/>
                </a:solidFill>
                <a:latin typeface="Courier New" pitchFamily="49" charset="0"/>
                <a:cs typeface="Courier New" pitchFamily="49" charset="0"/>
                <a:sym typeface="MT Extra" pitchFamily="18" charset="2"/>
              </a:rPr>
              <a:t>   Stmts</a:t>
            </a:r>
            <a:r>
              <a:rPr lang="en-US" altLang="en-US" sz="1600" b="1" baseline="-25000" dirty="0">
                <a:solidFill>
                  <a:srgbClr val="000000"/>
                </a:solidFill>
                <a:latin typeface="Courier New" pitchFamily="49" charset="0"/>
                <a:cs typeface="Courier New" pitchFamily="49" charset="0"/>
                <a:sym typeface="MT Extra" pitchFamily="18" charset="2"/>
              </a:rPr>
              <a:t>1</a:t>
            </a:r>
            <a:r>
              <a:rPr lang="en-US" altLang="en-US" sz="1600" b="1" dirty="0">
                <a:solidFill>
                  <a:srgbClr val="000000"/>
                </a:solidFill>
                <a:latin typeface="Courier New" pitchFamily="49" charset="0"/>
                <a:cs typeface="Courier New" pitchFamily="49" charset="0"/>
                <a:sym typeface="MT Extra" pitchFamily="18" charset="2"/>
              </a:rPr>
              <a:t>;</a:t>
            </a:r>
          </a:p>
          <a:p>
            <a:pPr lvl="1">
              <a:buFont typeface="Monotype Sorts" pitchFamily="-84" charset="2"/>
              <a:buNone/>
              <a:tabLst>
                <a:tab pos="2001838" algn="ctr"/>
                <a:tab pos="4513263" algn="ctr"/>
              </a:tabLst>
            </a:pPr>
            <a:r>
              <a:rPr lang="en-US" altLang="en-US" sz="1600" b="1" dirty="0">
                <a:solidFill>
                  <a:srgbClr val="000000"/>
                </a:solidFill>
                <a:latin typeface="Courier New" pitchFamily="49" charset="0"/>
                <a:cs typeface="Courier New" pitchFamily="49" charset="0"/>
                <a:sym typeface="MT Extra" pitchFamily="18" charset="2"/>
              </a:rPr>
              <a:t>   signal(synch);</a:t>
            </a:r>
          </a:p>
          <a:p>
            <a:pPr lvl="1">
              <a:buFont typeface="Monotype Sorts" pitchFamily="-84" charset="2"/>
              <a:buNone/>
              <a:tabLst>
                <a:tab pos="2001838" algn="ctr"/>
                <a:tab pos="4513263" algn="ctr"/>
              </a:tabLst>
            </a:pPr>
            <a:r>
              <a:rPr lang="en-US" altLang="en-US" sz="1600" b="1" dirty="0">
                <a:solidFill>
                  <a:srgbClr val="000000"/>
                </a:solidFill>
                <a:latin typeface="Courier New" pitchFamily="49" charset="0"/>
                <a:cs typeface="Courier New" pitchFamily="49" charset="0"/>
                <a:sym typeface="MT Extra" pitchFamily="18" charset="2"/>
              </a:rPr>
              <a:t>P2:</a:t>
            </a:r>
          </a:p>
          <a:p>
            <a:pPr lvl="1">
              <a:buFont typeface="Monotype Sorts" pitchFamily="-84" charset="2"/>
              <a:buNone/>
              <a:tabLst>
                <a:tab pos="2001838" algn="ctr"/>
                <a:tab pos="4513263" algn="ctr"/>
              </a:tabLst>
            </a:pPr>
            <a:r>
              <a:rPr lang="en-US" altLang="en-US" sz="1600" b="1" dirty="0">
                <a:solidFill>
                  <a:srgbClr val="000000"/>
                </a:solidFill>
                <a:latin typeface="Courier New" pitchFamily="49" charset="0"/>
                <a:cs typeface="Courier New" pitchFamily="49" charset="0"/>
                <a:sym typeface="MT Extra" pitchFamily="18" charset="2"/>
              </a:rPr>
              <a:t>   wait(synch)</a:t>
            </a:r>
            <a:r>
              <a:rPr lang="en-US" altLang="en-US" sz="1400" dirty="0">
                <a:solidFill>
                  <a:srgbClr val="0000FF"/>
                </a:solidFill>
                <a:sym typeface="MT Extra" pitchFamily="18" charset="2"/>
              </a:rPr>
              <a:t>;</a:t>
            </a:r>
            <a:endParaRPr lang="en-US" altLang="en-US" sz="1600" b="1" dirty="0">
              <a:solidFill>
                <a:srgbClr val="000000"/>
              </a:solidFill>
              <a:latin typeface="Courier New" pitchFamily="49" charset="0"/>
              <a:cs typeface="Courier New" pitchFamily="49" charset="0"/>
              <a:sym typeface="MT Extra" pitchFamily="18" charset="2"/>
            </a:endParaRPr>
          </a:p>
          <a:p>
            <a:pPr lvl="1">
              <a:buFont typeface="Monotype Sorts" pitchFamily="-84" charset="2"/>
              <a:buNone/>
              <a:tabLst>
                <a:tab pos="2001838" algn="ctr"/>
                <a:tab pos="4513263" algn="ctr"/>
              </a:tabLst>
            </a:pPr>
            <a:r>
              <a:rPr lang="en-US" altLang="en-US" sz="1600" b="1" dirty="0">
                <a:solidFill>
                  <a:srgbClr val="000000"/>
                </a:solidFill>
                <a:latin typeface="Courier New" pitchFamily="49" charset="0"/>
                <a:cs typeface="Courier New" pitchFamily="49" charset="0"/>
                <a:sym typeface="MT Extra" pitchFamily="18" charset="2"/>
              </a:rPr>
              <a:t>   Stamts</a:t>
            </a:r>
            <a:r>
              <a:rPr lang="en-US" altLang="en-US" sz="1600" b="1" baseline="-25000" dirty="0">
                <a:solidFill>
                  <a:srgbClr val="000000"/>
                </a:solidFill>
                <a:latin typeface="Courier New" pitchFamily="49" charset="0"/>
                <a:cs typeface="Courier New" pitchFamily="49" charset="0"/>
                <a:sym typeface="MT Extra" pitchFamily="18" charset="2"/>
              </a:rPr>
              <a:t>2</a:t>
            </a:r>
            <a:r>
              <a:rPr lang="en-US" altLang="en-US" sz="1600" b="1" dirty="0">
                <a:solidFill>
                  <a:srgbClr val="000000"/>
                </a:solidFill>
                <a:latin typeface="Courier New" pitchFamily="49" charset="0"/>
                <a:cs typeface="Courier New" pitchFamily="49" charset="0"/>
                <a:sym typeface="MT Extra" pitchFamily="18" charset="2"/>
              </a:rPr>
              <a:t>;</a:t>
            </a:r>
            <a:endParaRPr lang="en-US" altLang="en-US" sz="1600" dirty="0">
              <a:sym typeface="MT Extra" pitchFamily="18" charset="2"/>
            </a:endParaRPr>
          </a:p>
          <a:p>
            <a:pPr>
              <a:tabLst>
                <a:tab pos="2001838" algn="ctr"/>
                <a:tab pos="4513263" algn="ctr"/>
              </a:tabLst>
            </a:pPr>
            <a:r>
              <a:rPr lang="en-US" altLang="en-US" sz="1600" dirty="0"/>
              <a:t>Can implement a counting semaphore </a:t>
            </a:r>
            <a:r>
              <a:rPr lang="en-US" altLang="en-US" sz="1600" b="1" i="1" dirty="0">
                <a:solidFill>
                  <a:srgbClr val="000000"/>
                </a:solidFill>
              </a:rPr>
              <a:t>S</a:t>
            </a:r>
            <a:r>
              <a:rPr lang="en-US" altLang="en-US" sz="1600" dirty="0"/>
              <a:t> as a binary semaphore</a:t>
            </a:r>
          </a:p>
          <a:p>
            <a:pPr>
              <a:tabLst>
                <a:tab pos="2001838" algn="ctr"/>
                <a:tab pos="4513263" algn="ctr"/>
              </a:tabLst>
            </a:pPr>
            <a:endParaRPr lang="en-US" altLang="en-US" sz="1600" b="1" i="1" baseline="-25000" dirty="0">
              <a:sym typeface="MT Extra" pitchFamily="18" charset="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57200" y="190500"/>
            <a:ext cx="8229600" cy="576263"/>
          </a:xfrm>
        </p:spPr>
        <p:txBody>
          <a:bodyPr/>
          <a:lstStyle/>
          <a:p>
            <a:pPr eaLnBrk="1" hangingPunct="1"/>
            <a:r>
              <a:rPr lang="en-US" altLang="en-US"/>
              <a:t>Semaphore Implementation</a:t>
            </a:r>
          </a:p>
        </p:txBody>
      </p:sp>
      <p:sp>
        <p:nvSpPr>
          <p:cNvPr id="29699" name="Rectangle 3"/>
          <p:cNvSpPr>
            <a:spLocks noGrp="1" noChangeArrowheads="1"/>
          </p:cNvSpPr>
          <p:nvPr>
            <p:ph idx="1"/>
          </p:nvPr>
        </p:nvSpPr>
        <p:spPr>
          <a:xfrm>
            <a:off x="869950" y="1157288"/>
            <a:ext cx="7143750" cy="4530725"/>
          </a:xfrm>
        </p:spPr>
        <p:txBody>
          <a:bodyPr/>
          <a:lstStyle/>
          <a:p>
            <a:r>
              <a:rPr lang="en-US" altLang="en-US"/>
              <a:t>Must guarantee that no two processes can execute  the </a:t>
            </a:r>
            <a:r>
              <a:rPr lang="en-US" altLang="en-US" sz="2000" b="1">
                <a:latin typeface="Courier New" pitchFamily="49" charset="0"/>
                <a:cs typeface="Courier New" pitchFamily="49" charset="0"/>
              </a:rPr>
              <a:t>wait() </a:t>
            </a:r>
            <a:r>
              <a:rPr lang="en-US" altLang="en-US"/>
              <a:t>and </a:t>
            </a:r>
            <a:r>
              <a:rPr lang="en-US" altLang="en-US" sz="2000" b="1">
                <a:latin typeface="Courier New" pitchFamily="49" charset="0"/>
                <a:cs typeface="Courier New" pitchFamily="49" charset="0"/>
              </a:rPr>
              <a:t>signal() </a:t>
            </a:r>
            <a:r>
              <a:rPr lang="en-US" altLang="en-US"/>
              <a:t>on the same semaphore at the same time</a:t>
            </a:r>
          </a:p>
          <a:p>
            <a:r>
              <a:rPr lang="en-US" altLang="en-US"/>
              <a:t>Thus, the implementation becomes the critical section problem where the </a:t>
            </a:r>
            <a:r>
              <a:rPr lang="en-US" altLang="en-US" sz="2000" b="1">
                <a:latin typeface="Courier New" pitchFamily="49" charset="0"/>
                <a:cs typeface="Courier New" pitchFamily="49" charset="0"/>
              </a:rPr>
              <a:t>wait</a:t>
            </a:r>
            <a:r>
              <a:rPr lang="en-US" altLang="en-US"/>
              <a:t> and </a:t>
            </a:r>
            <a:r>
              <a:rPr lang="en-US" altLang="en-US" sz="2000" b="1">
                <a:latin typeface="Courier New" pitchFamily="49" charset="0"/>
                <a:cs typeface="Courier New" pitchFamily="49" charset="0"/>
              </a:rPr>
              <a:t>signal</a:t>
            </a:r>
            <a:r>
              <a:rPr lang="en-US" altLang="en-US"/>
              <a:t> code are placed in the critical section</a:t>
            </a:r>
          </a:p>
          <a:p>
            <a:pPr lvl="1"/>
            <a:r>
              <a:rPr lang="en-US" altLang="en-US"/>
              <a:t>Could now have </a:t>
            </a:r>
            <a:r>
              <a:rPr lang="en-US" altLang="en-US" b="1">
                <a:solidFill>
                  <a:srgbClr val="3366FF"/>
                </a:solidFill>
              </a:rPr>
              <a:t>busy waiting</a:t>
            </a:r>
            <a:r>
              <a:rPr lang="en-US" altLang="en-US">
                <a:solidFill>
                  <a:srgbClr val="3366FF"/>
                </a:solidFill>
              </a:rPr>
              <a:t> </a:t>
            </a:r>
            <a:r>
              <a:rPr lang="en-US" altLang="en-US"/>
              <a:t>in critical section implementation</a:t>
            </a:r>
          </a:p>
          <a:p>
            <a:pPr lvl="2"/>
            <a:r>
              <a:rPr lang="en-US" altLang="en-US"/>
              <a:t>But implementation code is short</a:t>
            </a:r>
          </a:p>
          <a:p>
            <a:pPr lvl="2"/>
            <a:r>
              <a:rPr lang="en-US" altLang="en-US"/>
              <a:t>Little busy waiting if critical section rarely occupied</a:t>
            </a:r>
          </a:p>
          <a:p>
            <a:r>
              <a:rPr lang="en-US" altLang="en-US"/>
              <a:t>Note that applications may spend lots of time in critical sections and therefore this is not a good solution</a:t>
            </a:r>
          </a:p>
          <a:p>
            <a:pPr>
              <a:buFont typeface="Monotype Sorts" pitchFamily="-84" charset="2"/>
              <a:buNone/>
            </a:pPr>
            <a:r>
              <a:rPr lang="en-US" altLang="en-US"/>
              <a:t> </a:t>
            </a:r>
          </a:p>
          <a:p>
            <a:pPr lvl="1">
              <a:buFont typeface="Monotype Sorts" pitchFamily="-84" charset="2"/>
              <a:buNone/>
            </a:pPr>
            <a:endParaRPr lang="en-US"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922338" y="44450"/>
            <a:ext cx="8467725" cy="609600"/>
          </a:xfrm>
        </p:spPr>
        <p:txBody>
          <a:bodyPr/>
          <a:lstStyle/>
          <a:p>
            <a:pPr eaLnBrk="1" hangingPunct="1"/>
            <a:r>
              <a:rPr lang="en-US" altLang="en-US" sz="2400"/>
              <a:t>Semaphore Implementation with no Busy waiting </a:t>
            </a:r>
          </a:p>
        </p:txBody>
      </p:sp>
      <p:sp>
        <p:nvSpPr>
          <p:cNvPr id="30723" name="Rectangle 3"/>
          <p:cNvSpPr>
            <a:spLocks noGrp="1" noChangeArrowheads="1"/>
          </p:cNvSpPr>
          <p:nvPr>
            <p:ph idx="1"/>
          </p:nvPr>
        </p:nvSpPr>
        <p:spPr>
          <a:xfrm>
            <a:off x="936625" y="1041400"/>
            <a:ext cx="6962775" cy="4700588"/>
          </a:xfrm>
        </p:spPr>
        <p:txBody>
          <a:bodyPr/>
          <a:lstStyle/>
          <a:p>
            <a:r>
              <a:rPr lang="en-US" altLang="en-US" dirty="0"/>
              <a:t>With each semaphore there is an associated waiting queue</a:t>
            </a:r>
          </a:p>
          <a:p>
            <a:r>
              <a:rPr lang="en-US" altLang="en-US" dirty="0"/>
              <a:t>Each entry in a waiting queue has two data items:</a:t>
            </a:r>
          </a:p>
          <a:p>
            <a:pPr lvl="1"/>
            <a:r>
              <a:rPr lang="en-US" altLang="en-US" dirty="0"/>
              <a:t> value (of type integer)</a:t>
            </a:r>
          </a:p>
          <a:p>
            <a:pPr lvl="1"/>
            <a:r>
              <a:rPr lang="en-US" altLang="en-US" dirty="0"/>
              <a:t> pointer to next record in the list</a:t>
            </a:r>
          </a:p>
          <a:p>
            <a:r>
              <a:rPr lang="en-US" altLang="en-US" dirty="0"/>
              <a:t>Two operations:</a:t>
            </a:r>
          </a:p>
          <a:p>
            <a:pPr lvl="1"/>
            <a:r>
              <a:rPr lang="en-US" altLang="en-US" b="1" dirty="0">
                <a:solidFill>
                  <a:srgbClr val="3366FF"/>
                </a:solidFill>
              </a:rPr>
              <a:t>block</a:t>
            </a:r>
            <a:r>
              <a:rPr lang="en-US" altLang="en-US" dirty="0">
                <a:solidFill>
                  <a:srgbClr val="3366FF"/>
                </a:solidFill>
              </a:rPr>
              <a:t> </a:t>
            </a:r>
            <a:r>
              <a:rPr lang="en-US" altLang="en-US" dirty="0"/>
              <a:t>– place the process invoking the operation on the appropriate waiting queue</a:t>
            </a:r>
          </a:p>
          <a:p>
            <a:pPr lvl="1"/>
            <a:r>
              <a:rPr lang="en-US" altLang="en-US" b="1" dirty="0">
                <a:solidFill>
                  <a:srgbClr val="3366FF"/>
                </a:solidFill>
              </a:rPr>
              <a:t>wakeup</a:t>
            </a:r>
            <a:r>
              <a:rPr lang="en-US" altLang="en-US" dirty="0">
                <a:solidFill>
                  <a:srgbClr val="3366FF"/>
                </a:solidFill>
              </a:rPr>
              <a:t> </a:t>
            </a:r>
            <a:r>
              <a:rPr lang="en-US" altLang="en-US" dirty="0"/>
              <a:t>– remove one of the processes in the waiting queue and place it in the ready queue</a:t>
            </a:r>
          </a:p>
          <a:p>
            <a:r>
              <a:rPr lang="en-US" altLang="en-US" sz="1600" b="1" dirty="0" err="1">
                <a:latin typeface="Courier New" pitchFamily="49" charset="0"/>
                <a:cs typeface="Courier New" pitchFamily="49" charset="0"/>
              </a:rPr>
              <a:t>typedef</a:t>
            </a:r>
            <a:r>
              <a:rPr lang="en-US" altLang="en-US" sz="1600" b="1" dirty="0">
                <a:latin typeface="Courier New" pitchFamily="49" charset="0"/>
                <a:cs typeface="Courier New" pitchFamily="49" charset="0"/>
              </a:rPr>
              <a:t> </a:t>
            </a:r>
            <a:r>
              <a:rPr lang="en-US" altLang="en-US" sz="1600" b="1" dirty="0" err="1">
                <a:latin typeface="Courier New" pitchFamily="49" charset="0"/>
                <a:cs typeface="Courier New" pitchFamily="49" charset="0"/>
              </a:rPr>
              <a:t>struct</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a:t>
            </a:r>
            <a:r>
              <a:rPr lang="en-US" altLang="en-US" sz="1600" b="1" dirty="0" err="1">
                <a:latin typeface="Courier New" pitchFamily="49" charset="0"/>
                <a:cs typeface="Courier New" pitchFamily="49" charset="0"/>
              </a:rPr>
              <a:t>int</a:t>
            </a:r>
            <a:r>
              <a:rPr lang="en-US" altLang="en-US" sz="1600" b="1" dirty="0">
                <a:latin typeface="Courier New" pitchFamily="49" charset="0"/>
                <a:cs typeface="Courier New" pitchFamily="49" charset="0"/>
              </a:rPr>
              <a:t> value; </a:t>
            </a:r>
          </a:p>
          <a:p>
            <a:pPr>
              <a:buFont typeface="Monotype Sorts" pitchFamily="-84" charset="2"/>
              <a:buNone/>
            </a:pPr>
            <a:r>
              <a:rPr lang="en-US" altLang="en-US" sz="1600" b="1" dirty="0">
                <a:latin typeface="Courier New" pitchFamily="49" charset="0"/>
                <a:cs typeface="Courier New" pitchFamily="49" charset="0"/>
              </a:rPr>
              <a:t>       </a:t>
            </a:r>
            <a:r>
              <a:rPr lang="en-US" altLang="en-US" sz="1600" b="1" dirty="0" err="1">
                <a:latin typeface="Courier New" pitchFamily="49" charset="0"/>
                <a:cs typeface="Courier New" pitchFamily="49" charset="0"/>
              </a:rPr>
              <a:t>struct</a:t>
            </a:r>
            <a:r>
              <a:rPr lang="en-US" altLang="en-US" sz="1600" b="1" dirty="0">
                <a:latin typeface="Courier New" pitchFamily="49" charset="0"/>
                <a:cs typeface="Courier New" pitchFamily="49" charset="0"/>
              </a:rPr>
              <a:t> process *list; </a:t>
            </a:r>
          </a:p>
          <a:p>
            <a:pPr>
              <a:buFont typeface="Monotype Sorts" pitchFamily="-84" charset="2"/>
              <a:buNone/>
            </a:pPr>
            <a:r>
              <a:rPr lang="en-US" altLang="en-US" sz="1600" b="1" dirty="0">
                <a:latin typeface="Courier New" pitchFamily="49" charset="0"/>
                <a:cs typeface="Courier New" pitchFamily="49" charset="0"/>
              </a:rPr>
              <a:t>   } semaphore; </a:t>
            </a:r>
          </a:p>
          <a:p>
            <a:endParaRPr lang="en-US" altLang="en-US" dirty="0"/>
          </a:p>
          <a:p>
            <a:pPr lvl="1"/>
            <a:endParaRPr lang="en-US" altLang="en-US" dirty="0"/>
          </a:p>
          <a:p>
            <a:pPr>
              <a:buFont typeface="Monotype Sorts" pitchFamily="-84" charset="2"/>
              <a:buNone/>
            </a:pPr>
            <a:r>
              <a:rPr lang="en-US" altLang="en-US" dirty="0">
                <a:solidFill>
                  <a:srgbClr val="0000FF"/>
                </a:solidFill>
              </a:rPr>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822325" y="144463"/>
            <a:ext cx="8356600" cy="581025"/>
          </a:xfrm>
        </p:spPr>
        <p:txBody>
          <a:bodyPr/>
          <a:lstStyle/>
          <a:p>
            <a:pPr eaLnBrk="1" hangingPunct="1"/>
            <a:r>
              <a:rPr lang="en-US" altLang="en-US" sz="2400"/>
              <a:t>Implementation with no Busy waiting (Cont.)</a:t>
            </a:r>
          </a:p>
        </p:txBody>
      </p:sp>
      <p:sp>
        <p:nvSpPr>
          <p:cNvPr id="31747" name="Rectangle 3"/>
          <p:cNvSpPr>
            <a:spLocks noGrp="1" noChangeArrowheads="1"/>
          </p:cNvSpPr>
          <p:nvPr>
            <p:ph idx="1"/>
          </p:nvPr>
        </p:nvSpPr>
        <p:spPr>
          <a:xfrm>
            <a:off x="1154113" y="901700"/>
            <a:ext cx="6122987" cy="5029200"/>
          </a:xfrm>
        </p:spPr>
        <p:txBody>
          <a:bodyPr/>
          <a:lstStyle/>
          <a:p>
            <a:pPr marL="0" indent="0">
              <a:buFont typeface="Monotype Sorts" pitchFamily="-84" charset="2"/>
              <a:buNone/>
            </a:pPr>
            <a:endParaRPr lang="en-US" altLang="en-US" sz="1400" b="1" dirty="0">
              <a:latin typeface="Courier New" pitchFamily="49" charset="0"/>
              <a:cs typeface="Courier New" pitchFamily="49" charset="0"/>
            </a:endParaRPr>
          </a:p>
          <a:p>
            <a:pPr marL="0" indent="0">
              <a:buFont typeface="Monotype Sorts" pitchFamily="-84" charset="2"/>
              <a:buNone/>
            </a:pPr>
            <a:r>
              <a:rPr lang="en-US" altLang="en-US" sz="1600" b="1" dirty="0">
                <a:latin typeface="Courier New" pitchFamily="49" charset="0"/>
                <a:cs typeface="Courier New" pitchFamily="49" charset="0"/>
              </a:rPr>
              <a:t>wait(semaphore *S) { </a:t>
            </a:r>
          </a:p>
          <a:p>
            <a:pPr marL="0" indent="0">
              <a:buFont typeface="Monotype Sorts" pitchFamily="-84" charset="2"/>
              <a:buNone/>
            </a:pPr>
            <a:r>
              <a:rPr lang="en-US" altLang="en-US" sz="1600" b="1" dirty="0">
                <a:latin typeface="Courier New" pitchFamily="49" charset="0"/>
                <a:cs typeface="Courier New" pitchFamily="49" charset="0"/>
              </a:rPr>
              <a:t>   S-&gt;value--; </a:t>
            </a:r>
          </a:p>
          <a:p>
            <a:pPr marL="0" indent="0">
              <a:buFont typeface="Monotype Sorts" pitchFamily="-84" charset="2"/>
              <a:buNone/>
            </a:pPr>
            <a:r>
              <a:rPr lang="en-US" altLang="en-US" sz="1600" b="1" dirty="0">
                <a:latin typeface="Courier New" pitchFamily="49" charset="0"/>
                <a:cs typeface="Courier New" pitchFamily="49" charset="0"/>
              </a:rPr>
              <a:t>   if (S-&gt;value &lt; 0) {</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add this process to S-&gt;list; </a:t>
            </a:r>
          </a:p>
          <a:p>
            <a:pPr marL="0" indent="0">
              <a:buFont typeface="Monotype Sorts" pitchFamily="-84" charset="2"/>
              <a:buNone/>
            </a:pPr>
            <a:r>
              <a:rPr lang="en-US" altLang="en-US" sz="1600" b="1" dirty="0">
                <a:latin typeface="Courier New" pitchFamily="49" charset="0"/>
                <a:cs typeface="Courier New" pitchFamily="49" charset="0"/>
              </a:rPr>
              <a:t>      </a:t>
            </a:r>
            <a:r>
              <a:rPr lang="en-US" altLang="en-US" sz="1600" b="1" dirty="0">
                <a:solidFill>
                  <a:srgbClr val="FF0000"/>
                </a:solidFill>
                <a:latin typeface="Courier New" pitchFamily="49" charset="0"/>
                <a:cs typeface="Courier New" pitchFamily="49" charset="0"/>
              </a:rPr>
              <a:t>block(); </a:t>
            </a:r>
          </a:p>
          <a:p>
            <a:pPr marL="0" indent="0">
              <a:buFont typeface="Monotype Sorts" pitchFamily="-84" charset="2"/>
              <a:buNone/>
            </a:pPr>
            <a:r>
              <a:rPr lang="en-US" altLang="en-US" sz="1600" b="1" dirty="0">
                <a:latin typeface="Courier New" pitchFamily="49" charset="0"/>
                <a:cs typeface="Courier New" pitchFamily="49" charset="0"/>
              </a:rPr>
              <a:t>   } </a:t>
            </a:r>
          </a:p>
          <a:p>
            <a:pPr marL="0" indent="0">
              <a:buFont typeface="Monotype Sorts" pitchFamily="-84" charset="2"/>
              <a:buNone/>
            </a:pPr>
            <a:r>
              <a:rPr lang="en-US" altLang="en-US" sz="1600" b="1" dirty="0">
                <a:latin typeface="Courier New" pitchFamily="49" charset="0"/>
                <a:cs typeface="Courier New" pitchFamily="49" charset="0"/>
              </a:rPr>
              <a:t>}</a:t>
            </a:r>
          </a:p>
          <a:p>
            <a:pPr marL="0" indent="0">
              <a:buFont typeface="Monotype Sorts" pitchFamily="-84" charset="2"/>
              <a:buNone/>
            </a:pPr>
            <a:endParaRPr lang="en-US" altLang="en-US" sz="1600" b="1" dirty="0">
              <a:latin typeface="Courier New" pitchFamily="49" charset="0"/>
              <a:cs typeface="Courier New" pitchFamily="49" charset="0"/>
            </a:endParaRPr>
          </a:p>
          <a:p>
            <a:pPr marL="0" indent="0">
              <a:buFont typeface="Monotype Sorts" pitchFamily="-84" charset="2"/>
              <a:buNone/>
            </a:pPr>
            <a:r>
              <a:rPr lang="en-US" altLang="en-US" sz="1600" b="1" dirty="0">
                <a:latin typeface="Courier New" pitchFamily="49" charset="0"/>
                <a:cs typeface="Courier New" pitchFamily="49" charset="0"/>
              </a:rPr>
              <a:t>signal(semaphore *S) { </a:t>
            </a:r>
          </a:p>
          <a:p>
            <a:pPr marL="0" indent="0">
              <a:buFont typeface="Monotype Sorts" pitchFamily="-84" charset="2"/>
              <a:buNone/>
            </a:pPr>
            <a:r>
              <a:rPr lang="en-US" altLang="en-US" sz="1600" b="1" dirty="0">
                <a:latin typeface="Courier New" pitchFamily="49" charset="0"/>
                <a:cs typeface="Courier New" pitchFamily="49" charset="0"/>
              </a:rPr>
              <a:t>   S-&gt;value++; </a:t>
            </a:r>
          </a:p>
          <a:p>
            <a:pPr marL="0" indent="0">
              <a:buFont typeface="Monotype Sorts" pitchFamily="-84" charset="2"/>
              <a:buNone/>
            </a:pPr>
            <a:r>
              <a:rPr lang="en-US" altLang="en-US" sz="1600" b="1" dirty="0">
                <a:latin typeface="Courier New" pitchFamily="49" charset="0"/>
                <a:cs typeface="Courier New" pitchFamily="49" charset="0"/>
              </a:rPr>
              <a:t>   if (S-&gt;value &lt;= 0) {</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remove a process P from S-&gt;list; </a:t>
            </a:r>
          </a:p>
          <a:p>
            <a:pPr marL="0" indent="0">
              <a:buFont typeface="Monotype Sorts" pitchFamily="-84" charset="2"/>
              <a:buNone/>
            </a:pPr>
            <a:r>
              <a:rPr lang="en-US" altLang="en-US" sz="1600" b="1" dirty="0">
                <a:latin typeface="Courier New" pitchFamily="49" charset="0"/>
                <a:cs typeface="Courier New" pitchFamily="49" charset="0"/>
              </a:rPr>
              <a:t>      </a:t>
            </a:r>
            <a:r>
              <a:rPr lang="en-US" altLang="en-US" sz="1600" b="1" dirty="0">
                <a:solidFill>
                  <a:srgbClr val="FF0000"/>
                </a:solidFill>
                <a:latin typeface="Courier New" pitchFamily="49" charset="0"/>
                <a:cs typeface="Courier New" pitchFamily="49" charset="0"/>
              </a:rPr>
              <a:t>wakeup(P); </a:t>
            </a:r>
          </a:p>
          <a:p>
            <a:pPr marL="0" indent="0">
              <a:buFont typeface="Monotype Sorts" pitchFamily="-84" charset="2"/>
              <a:buNone/>
            </a:pPr>
            <a:r>
              <a:rPr lang="en-US" altLang="en-US" sz="1600" b="1" dirty="0">
                <a:latin typeface="Courier New" pitchFamily="49" charset="0"/>
                <a:cs typeface="Courier New" pitchFamily="49" charset="0"/>
              </a:rPr>
              <a:t>   } </a:t>
            </a:r>
          </a:p>
          <a:p>
            <a:pPr marL="0" indent="0">
              <a:buFont typeface="Monotype Sorts" pitchFamily="-84" charset="2"/>
              <a:buNone/>
            </a:pPr>
            <a:r>
              <a:rPr lang="en-US" altLang="en-US" sz="1600" b="1" dirty="0">
                <a:latin typeface="Courier New" pitchFamily="49" charset="0"/>
                <a:cs typeface="Courier New" pitchFamily="49" charset="0"/>
              </a:rPr>
              <a:t>}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969963" y="161925"/>
            <a:ext cx="7716837" cy="576263"/>
          </a:xfrm>
        </p:spPr>
        <p:txBody>
          <a:bodyPr/>
          <a:lstStyle/>
          <a:p>
            <a:pPr eaLnBrk="1" hangingPunct="1"/>
            <a:r>
              <a:rPr lang="en-US" altLang="en-US"/>
              <a:t>Deadlock and Starvation</a:t>
            </a:r>
          </a:p>
        </p:txBody>
      </p:sp>
      <p:sp>
        <p:nvSpPr>
          <p:cNvPr id="32771" name="Rectangle 3"/>
          <p:cNvSpPr>
            <a:spLocks noGrp="1" noChangeArrowheads="1"/>
          </p:cNvSpPr>
          <p:nvPr>
            <p:ph idx="1"/>
          </p:nvPr>
        </p:nvSpPr>
        <p:spPr>
          <a:xfrm>
            <a:off x="820738" y="1073150"/>
            <a:ext cx="7640637" cy="4906963"/>
          </a:xfrm>
        </p:spPr>
        <p:txBody>
          <a:bodyPr/>
          <a:lstStyle/>
          <a:p>
            <a:pPr>
              <a:lnSpc>
                <a:spcPct val="90000"/>
              </a:lnSpc>
              <a:tabLst>
                <a:tab pos="1882775" algn="ctr"/>
                <a:tab pos="4568825" algn="ctr"/>
              </a:tabLst>
            </a:pPr>
            <a:r>
              <a:rPr lang="en-US" altLang="en-US" b="1" dirty="0">
                <a:solidFill>
                  <a:srgbClr val="3366FF"/>
                </a:solidFill>
              </a:rPr>
              <a:t>Deadlock </a:t>
            </a:r>
            <a:r>
              <a:rPr lang="en-US" altLang="en-US" dirty="0"/>
              <a:t>– two or more processes are waiting indefinitely for an event that can be caused by only one of the waiting processes</a:t>
            </a:r>
          </a:p>
          <a:p>
            <a:pPr>
              <a:lnSpc>
                <a:spcPct val="90000"/>
              </a:lnSpc>
              <a:tabLst>
                <a:tab pos="1882775" algn="ctr"/>
                <a:tab pos="4568825" algn="ctr"/>
              </a:tabLst>
            </a:pPr>
            <a:r>
              <a:rPr lang="en-US" altLang="en-US" dirty="0">
                <a:solidFill>
                  <a:srgbClr val="000000"/>
                </a:solidFill>
              </a:rPr>
              <a:t>Let </a:t>
            </a:r>
            <a:r>
              <a:rPr lang="en-US" altLang="en-US" sz="2000" b="1" i="1" dirty="0">
                <a:solidFill>
                  <a:srgbClr val="000000"/>
                </a:solidFill>
                <a:latin typeface="Courier New" pitchFamily="49" charset="0"/>
                <a:cs typeface="Courier New" pitchFamily="49" charset="0"/>
              </a:rPr>
              <a:t>S</a:t>
            </a:r>
            <a:r>
              <a:rPr lang="en-US" altLang="en-US" dirty="0">
                <a:solidFill>
                  <a:srgbClr val="000000"/>
                </a:solidFill>
              </a:rPr>
              <a:t> and</a:t>
            </a:r>
            <a:r>
              <a:rPr lang="en-US" altLang="en-US" sz="1600" b="1" dirty="0">
                <a:solidFill>
                  <a:srgbClr val="000000"/>
                </a:solidFill>
                <a:latin typeface="Courier New" pitchFamily="49" charset="0"/>
                <a:cs typeface="Courier New" pitchFamily="49" charset="0"/>
              </a:rPr>
              <a:t> </a:t>
            </a:r>
            <a:r>
              <a:rPr lang="en-US" altLang="en-US" sz="2000" b="1" i="1" dirty="0">
                <a:solidFill>
                  <a:srgbClr val="000000"/>
                </a:solidFill>
                <a:latin typeface="Courier New" pitchFamily="49" charset="0"/>
                <a:cs typeface="Courier New" pitchFamily="49" charset="0"/>
              </a:rPr>
              <a:t>Q</a:t>
            </a:r>
            <a:r>
              <a:rPr lang="en-US" altLang="en-US" sz="1600" b="1" dirty="0">
                <a:solidFill>
                  <a:srgbClr val="000000"/>
                </a:solidFill>
                <a:latin typeface="Courier New" pitchFamily="49" charset="0"/>
                <a:cs typeface="Courier New" pitchFamily="49" charset="0"/>
              </a:rPr>
              <a:t> </a:t>
            </a:r>
            <a:r>
              <a:rPr lang="en-US" altLang="en-US" dirty="0">
                <a:solidFill>
                  <a:srgbClr val="000000"/>
                </a:solidFill>
              </a:rPr>
              <a:t>be </a:t>
            </a:r>
            <a:r>
              <a:rPr lang="en-US" altLang="en-US" dirty="0"/>
              <a:t>two semaphores initialized to 1</a:t>
            </a:r>
          </a:p>
          <a:p>
            <a:pPr>
              <a:lnSpc>
                <a:spcPct val="90000"/>
              </a:lnSpc>
              <a:buFont typeface="Monotype Sorts" pitchFamily="-84" charset="2"/>
              <a:buNone/>
              <a:tabLst>
                <a:tab pos="1882775" algn="ctr"/>
                <a:tab pos="4568825" algn="ctr"/>
              </a:tabLst>
            </a:pPr>
            <a:r>
              <a:rPr lang="en-US" altLang="en-US" i="1" dirty="0">
                <a:solidFill>
                  <a:srgbClr val="000000"/>
                </a:solidFill>
              </a:rPr>
              <a:t>		        P</a:t>
            </a:r>
            <a:r>
              <a:rPr lang="en-US" altLang="en-US" baseline="-25000" dirty="0">
                <a:solidFill>
                  <a:srgbClr val="000000"/>
                </a:solidFill>
              </a:rPr>
              <a:t>0</a:t>
            </a:r>
            <a:r>
              <a:rPr lang="en-US" altLang="en-US" dirty="0">
                <a:solidFill>
                  <a:srgbClr val="000000"/>
                </a:solidFill>
              </a:rPr>
              <a:t>	                            </a:t>
            </a:r>
            <a:r>
              <a:rPr lang="en-US" altLang="en-US" i="1" dirty="0">
                <a:solidFill>
                  <a:srgbClr val="000000"/>
                </a:solidFill>
              </a:rPr>
              <a:t>P</a:t>
            </a:r>
            <a:r>
              <a:rPr lang="en-US" altLang="en-US" baseline="-25000" dirty="0">
                <a:solidFill>
                  <a:srgbClr val="000000"/>
                </a:solidFill>
              </a:rPr>
              <a:t>1</a:t>
            </a:r>
          </a:p>
          <a:p>
            <a:pPr>
              <a:lnSpc>
                <a:spcPct val="90000"/>
              </a:lnSpc>
              <a:buFont typeface="Monotype Sorts" pitchFamily="-84" charset="2"/>
              <a:buNone/>
              <a:tabLst>
                <a:tab pos="1882775" algn="ctr"/>
                <a:tab pos="4568825" algn="ctr"/>
              </a:tabLst>
            </a:pPr>
            <a:r>
              <a:rPr lang="en-US" altLang="en-US" b="1" dirty="0">
                <a:solidFill>
                  <a:srgbClr val="000000"/>
                </a:solidFill>
                <a:latin typeface="Courier New" pitchFamily="49" charset="0"/>
                <a:cs typeface="Courier New" pitchFamily="49" charset="0"/>
              </a:rPr>
              <a:t>	          </a:t>
            </a:r>
            <a:r>
              <a:rPr lang="en-US" altLang="en-US" sz="1600" b="1" dirty="0">
                <a:solidFill>
                  <a:srgbClr val="000000"/>
                </a:solidFill>
                <a:latin typeface="Courier New" pitchFamily="49" charset="0"/>
                <a:cs typeface="Courier New" pitchFamily="49" charset="0"/>
              </a:rPr>
              <a:t>wait(S); 	              wait(Q);</a:t>
            </a:r>
          </a:p>
          <a:p>
            <a:pPr>
              <a:lnSpc>
                <a:spcPct val="90000"/>
              </a:lnSpc>
              <a:buFont typeface="Monotype Sorts" pitchFamily="-84" charset="2"/>
              <a:buNone/>
              <a:tabLst>
                <a:tab pos="1882775" algn="ctr"/>
                <a:tab pos="4568825" algn="ctr"/>
              </a:tabLst>
            </a:pPr>
            <a:r>
              <a:rPr lang="en-US" altLang="en-US" sz="1600" b="1" dirty="0">
                <a:solidFill>
                  <a:srgbClr val="000000"/>
                </a:solidFill>
                <a:latin typeface="Courier New" pitchFamily="49" charset="0"/>
                <a:cs typeface="Courier New" pitchFamily="49" charset="0"/>
              </a:rPr>
              <a:t>	           wait(Q); 	              wait(S);</a:t>
            </a:r>
          </a:p>
          <a:p>
            <a:pPr>
              <a:lnSpc>
                <a:spcPct val="90000"/>
              </a:lnSpc>
              <a:buFont typeface="Monotype Sorts" pitchFamily="-84" charset="2"/>
              <a:buNone/>
              <a:tabLst>
                <a:tab pos="1882775" algn="ctr"/>
                <a:tab pos="4568825" algn="ctr"/>
              </a:tabLst>
            </a:pPr>
            <a:r>
              <a:rPr lang="en-US" altLang="en-US" sz="1600" b="1" dirty="0">
                <a:solidFill>
                  <a:srgbClr val="000000"/>
                </a:solidFill>
                <a:latin typeface="Courier New" pitchFamily="49" charset="0"/>
                <a:cs typeface="Courier New" pitchFamily="49" charset="0"/>
              </a:rPr>
              <a:t>		 ...		     ...</a:t>
            </a:r>
          </a:p>
          <a:p>
            <a:pPr>
              <a:lnSpc>
                <a:spcPct val="90000"/>
              </a:lnSpc>
              <a:buFont typeface="Monotype Sorts" pitchFamily="-84" charset="2"/>
              <a:buNone/>
              <a:tabLst>
                <a:tab pos="1882775" algn="ctr"/>
                <a:tab pos="4568825" algn="ctr"/>
              </a:tabLst>
            </a:pPr>
            <a:r>
              <a:rPr lang="en-US" altLang="en-US" sz="1600" b="1" dirty="0">
                <a:solidFill>
                  <a:srgbClr val="000000"/>
                </a:solidFill>
                <a:latin typeface="Courier New" pitchFamily="49" charset="0"/>
                <a:cs typeface="Courier New" pitchFamily="49" charset="0"/>
              </a:rPr>
              <a:t>	           signal(S);                 signal(Q);</a:t>
            </a:r>
          </a:p>
          <a:p>
            <a:pPr>
              <a:lnSpc>
                <a:spcPct val="90000"/>
              </a:lnSpc>
              <a:buFont typeface="Monotype Sorts" pitchFamily="-84" charset="2"/>
              <a:buNone/>
              <a:tabLst>
                <a:tab pos="1882775" algn="ctr"/>
                <a:tab pos="4568825" algn="ctr"/>
              </a:tabLst>
            </a:pPr>
            <a:r>
              <a:rPr lang="en-US" altLang="en-US" sz="1600" b="1" dirty="0">
                <a:solidFill>
                  <a:srgbClr val="000000"/>
                </a:solidFill>
                <a:latin typeface="Courier New" pitchFamily="49" charset="0"/>
                <a:cs typeface="Courier New" pitchFamily="49" charset="0"/>
              </a:rPr>
              <a:t>              signal(Q);                 signal(S);</a:t>
            </a:r>
          </a:p>
          <a:p>
            <a:pPr>
              <a:lnSpc>
                <a:spcPct val="90000"/>
              </a:lnSpc>
              <a:buFont typeface="Monotype Sorts" pitchFamily="-84" charset="2"/>
              <a:buNone/>
              <a:tabLst>
                <a:tab pos="1882775" algn="ctr"/>
                <a:tab pos="4568825" algn="ctr"/>
              </a:tabLst>
            </a:pPr>
            <a:endParaRPr lang="en-US" altLang="en-US" sz="1600" b="1" dirty="0">
              <a:solidFill>
                <a:srgbClr val="000000"/>
              </a:solidFill>
              <a:latin typeface="Courier New" pitchFamily="49" charset="0"/>
              <a:cs typeface="Courier New" pitchFamily="49" charset="0"/>
            </a:endParaRPr>
          </a:p>
          <a:p>
            <a:pPr>
              <a:lnSpc>
                <a:spcPct val="90000"/>
              </a:lnSpc>
              <a:tabLst>
                <a:tab pos="1882775" algn="ctr"/>
                <a:tab pos="4568825" algn="ctr"/>
              </a:tabLst>
            </a:pPr>
            <a:r>
              <a:rPr lang="en-US" altLang="en-US" b="1" dirty="0">
                <a:solidFill>
                  <a:srgbClr val="3366FF"/>
                </a:solidFill>
                <a:sym typeface="MT Extra" pitchFamily="18" charset="2"/>
              </a:rPr>
              <a:t>Starvation</a:t>
            </a:r>
            <a:r>
              <a:rPr lang="en-US" altLang="en-US" dirty="0">
                <a:solidFill>
                  <a:srgbClr val="3366FF"/>
                </a:solidFill>
                <a:sym typeface="MT Extra" pitchFamily="18" charset="2"/>
              </a:rPr>
              <a:t> </a:t>
            </a:r>
            <a:r>
              <a:rPr lang="en-US" altLang="en-US" dirty="0"/>
              <a:t>– </a:t>
            </a:r>
            <a:r>
              <a:rPr lang="en-US" altLang="en-US" b="1" dirty="0">
                <a:solidFill>
                  <a:srgbClr val="3366FF"/>
                </a:solidFill>
              </a:rPr>
              <a:t>indefinite blocking  </a:t>
            </a:r>
          </a:p>
          <a:p>
            <a:pPr lvl="1">
              <a:lnSpc>
                <a:spcPct val="90000"/>
              </a:lnSpc>
              <a:tabLst>
                <a:tab pos="1882775" algn="ctr"/>
                <a:tab pos="4568825" algn="ctr"/>
              </a:tabLst>
            </a:pPr>
            <a:r>
              <a:rPr lang="en-US" altLang="en-US" sz="1600" dirty="0"/>
              <a:t>A process may never be removed from the semaphore queue in which it is suspended</a:t>
            </a:r>
          </a:p>
          <a:p>
            <a:pPr>
              <a:lnSpc>
                <a:spcPct val="90000"/>
              </a:lnSpc>
              <a:tabLst>
                <a:tab pos="1882775" algn="ctr"/>
                <a:tab pos="4568825" algn="ctr"/>
              </a:tabLst>
            </a:pPr>
            <a:r>
              <a:rPr lang="en-US" altLang="en-US" b="1" dirty="0">
                <a:solidFill>
                  <a:srgbClr val="3366FF"/>
                </a:solidFill>
              </a:rPr>
              <a:t>Priority Inversion</a:t>
            </a:r>
            <a:r>
              <a:rPr lang="en-US" altLang="en-US" dirty="0">
                <a:solidFill>
                  <a:srgbClr val="3366FF"/>
                </a:solidFill>
              </a:rPr>
              <a:t> </a:t>
            </a:r>
            <a:r>
              <a:rPr lang="en-US" altLang="en-US" dirty="0"/>
              <a:t>– Scheduling problem when lower-priority process holds a lock needed by higher-priority process</a:t>
            </a:r>
          </a:p>
          <a:p>
            <a:pPr lvl="1">
              <a:lnSpc>
                <a:spcPct val="90000"/>
              </a:lnSpc>
              <a:tabLst>
                <a:tab pos="1882775" algn="ctr"/>
                <a:tab pos="4568825" algn="ctr"/>
              </a:tabLst>
            </a:pPr>
            <a:r>
              <a:rPr lang="en-US" altLang="en-US" sz="1600" dirty="0"/>
              <a:t>Solved via </a:t>
            </a:r>
            <a:r>
              <a:rPr lang="en-US" altLang="en-US" sz="1600" b="1" dirty="0">
                <a:solidFill>
                  <a:srgbClr val="3366FF"/>
                </a:solidFill>
              </a:rPr>
              <a:t>priority-inheritance protocol</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1146175" y="185738"/>
            <a:ext cx="8077200" cy="609600"/>
          </a:xfrm>
        </p:spPr>
        <p:txBody>
          <a:bodyPr/>
          <a:lstStyle/>
          <a:p>
            <a:pPr eaLnBrk="1" hangingPunct="1"/>
            <a:r>
              <a:rPr lang="en-US" altLang="en-US"/>
              <a:t>Classical Problems of Synchronization</a:t>
            </a:r>
          </a:p>
        </p:txBody>
      </p:sp>
      <p:sp>
        <p:nvSpPr>
          <p:cNvPr id="33795" name="Rectangle 3"/>
          <p:cNvSpPr>
            <a:spLocks noGrp="1" noChangeArrowheads="1"/>
          </p:cNvSpPr>
          <p:nvPr>
            <p:ph idx="1"/>
          </p:nvPr>
        </p:nvSpPr>
        <p:spPr>
          <a:xfrm>
            <a:off x="806450" y="1233488"/>
            <a:ext cx="7524750" cy="4530725"/>
          </a:xfrm>
        </p:spPr>
        <p:txBody>
          <a:bodyPr/>
          <a:lstStyle/>
          <a:p>
            <a:r>
              <a:rPr lang="en-US" altLang="en-US"/>
              <a:t>Classical problems used to test newly-proposed synchronization schemes</a:t>
            </a:r>
          </a:p>
          <a:p>
            <a:pPr lvl="1"/>
            <a:r>
              <a:rPr lang="en-US" altLang="en-US"/>
              <a:t>Bounded-Buffer Problem</a:t>
            </a:r>
          </a:p>
          <a:p>
            <a:pPr lvl="1"/>
            <a:r>
              <a:rPr lang="en-US" altLang="en-US"/>
              <a:t>Readers and Writers Problem</a:t>
            </a:r>
          </a:p>
          <a:p>
            <a:pPr lvl="1"/>
            <a:r>
              <a:rPr lang="en-US" altLang="en-US"/>
              <a:t>Dining-Philosophers Problem</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1279525" y="277813"/>
            <a:ext cx="7407275" cy="576262"/>
          </a:xfrm>
        </p:spPr>
        <p:txBody>
          <a:bodyPr/>
          <a:lstStyle/>
          <a:p>
            <a:pPr eaLnBrk="1" hangingPunct="1"/>
            <a:r>
              <a:rPr lang="en-US" altLang="en-US"/>
              <a:t>Bounded-Buffer Problem</a:t>
            </a:r>
          </a:p>
        </p:txBody>
      </p:sp>
      <p:sp>
        <p:nvSpPr>
          <p:cNvPr id="34819" name="Rectangle 3"/>
          <p:cNvSpPr>
            <a:spLocks noGrp="1" noChangeArrowheads="1"/>
          </p:cNvSpPr>
          <p:nvPr>
            <p:ph idx="1"/>
          </p:nvPr>
        </p:nvSpPr>
        <p:spPr>
          <a:xfrm>
            <a:off x="914400" y="1293813"/>
            <a:ext cx="7210425" cy="3725862"/>
          </a:xfrm>
        </p:spPr>
        <p:txBody>
          <a:bodyPr/>
          <a:lstStyle/>
          <a:p>
            <a:r>
              <a:rPr lang="en-US" altLang="en-US" sz="2000" b="1" i="1" dirty="0"/>
              <a:t>n</a:t>
            </a:r>
            <a:r>
              <a:rPr lang="en-US" altLang="en-US" dirty="0"/>
              <a:t> buffers, each can hold one item</a:t>
            </a:r>
          </a:p>
          <a:p>
            <a:r>
              <a:rPr lang="en-US" altLang="en-US" dirty="0" err="1"/>
              <a:t>pthread_mutex_t</a:t>
            </a:r>
            <a:r>
              <a:rPr lang="en-US" altLang="en-US" dirty="0"/>
              <a:t> </a:t>
            </a:r>
            <a:r>
              <a:rPr lang="en-US" altLang="en-US" sz="2000" b="1" dirty="0">
                <a:solidFill>
                  <a:srgbClr val="000000"/>
                </a:solidFill>
                <a:latin typeface="Courier New" pitchFamily="49" charset="0"/>
                <a:cs typeface="Courier New" pitchFamily="49" charset="0"/>
              </a:rPr>
              <a:t>mutex</a:t>
            </a:r>
            <a:r>
              <a:rPr lang="en-US" altLang="en-US" dirty="0">
                <a:solidFill>
                  <a:srgbClr val="000000"/>
                </a:solidFill>
              </a:rPr>
              <a:t> i</a:t>
            </a:r>
            <a:r>
              <a:rPr lang="en-US" altLang="en-US" dirty="0"/>
              <a:t>nitialized to the value 1</a:t>
            </a:r>
          </a:p>
          <a:p>
            <a:r>
              <a:rPr lang="en-US" altLang="en-US" dirty="0">
                <a:solidFill>
                  <a:srgbClr val="000000"/>
                </a:solidFill>
              </a:rPr>
              <a:t>Semaphore </a:t>
            </a:r>
            <a:r>
              <a:rPr lang="en-US" altLang="en-US" sz="2000" b="1" dirty="0">
                <a:solidFill>
                  <a:srgbClr val="000000"/>
                </a:solidFill>
                <a:latin typeface="Courier New" pitchFamily="49" charset="0"/>
                <a:cs typeface="Courier New" pitchFamily="49" charset="0"/>
              </a:rPr>
              <a:t>full</a:t>
            </a:r>
            <a:r>
              <a:rPr lang="en-US" altLang="en-US" dirty="0">
                <a:solidFill>
                  <a:srgbClr val="000000"/>
                </a:solidFill>
              </a:rPr>
              <a:t> initialized </a:t>
            </a:r>
            <a:r>
              <a:rPr lang="en-US" altLang="en-US" dirty="0"/>
              <a:t>to the value 0</a:t>
            </a:r>
          </a:p>
          <a:p>
            <a:r>
              <a:rPr lang="en-US" altLang="en-US" dirty="0"/>
              <a:t>Semaphore </a:t>
            </a:r>
            <a:r>
              <a:rPr lang="en-US" altLang="en-US" sz="2000" b="1" dirty="0">
                <a:solidFill>
                  <a:srgbClr val="000000"/>
                </a:solidFill>
                <a:latin typeface="Courier New" pitchFamily="49" charset="0"/>
                <a:cs typeface="Courier New" pitchFamily="49" charset="0"/>
              </a:rPr>
              <a:t>empty</a:t>
            </a:r>
            <a:r>
              <a:rPr lang="en-US" altLang="en-US" b="1" dirty="0">
                <a:solidFill>
                  <a:srgbClr val="000000"/>
                </a:solidFill>
                <a:latin typeface="Courier New" pitchFamily="49" charset="0"/>
                <a:cs typeface="Courier New" pitchFamily="49" charset="0"/>
              </a:rPr>
              <a:t> </a:t>
            </a:r>
            <a:r>
              <a:rPr lang="en-US" altLang="en-US" dirty="0">
                <a:solidFill>
                  <a:srgbClr val="000000"/>
                </a:solidFill>
              </a:rPr>
              <a:t>initialized </a:t>
            </a:r>
            <a:r>
              <a:rPr lang="en-US" altLang="en-US" dirty="0"/>
              <a:t>to the value n</a:t>
            </a:r>
          </a:p>
          <a:p>
            <a:endParaRPr lang="en-US" altLang="en-US" dirty="0"/>
          </a:p>
        </p:txBody>
      </p:sp>
      <p:sp>
        <p:nvSpPr>
          <p:cNvPr id="34820" name="Rectangle 5"/>
          <p:cNvSpPr>
            <a:spLocks noChangeArrowheads="1"/>
          </p:cNvSpPr>
          <p:nvPr/>
        </p:nvSpPr>
        <p:spPr bwMode="auto">
          <a:xfrm>
            <a:off x="2492375" y="3246438"/>
            <a:ext cx="18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6" tIns="45714" rIns="91426" bIns="45714">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endParaRPr kumimoji="1" lang="en-US" altLang="en-US">
              <a:latin typeface="Helvetica" pitchFamily="-8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1111250" y="176213"/>
            <a:ext cx="7575550" cy="576262"/>
          </a:xfrm>
        </p:spPr>
        <p:txBody>
          <a:bodyPr/>
          <a:lstStyle/>
          <a:p>
            <a:pPr eaLnBrk="1" hangingPunct="1"/>
            <a:r>
              <a:rPr lang="en-US" altLang="en-US"/>
              <a:t>Bounded Buffer Problem (Cont.)</a:t>
            </a:r>
          </a:p>
        </p:txBody>
      </p:sp>
      <p:sp>
        <p:nvSpPr>
          <p:cNvPr id="35843" name="Rectangle 3"/>
          <p:cNvSpPr>
            <a:spLocks noGrp="1" noChangeArrowheads="1"/>
          </p:cNvSpPr>
          <p:nvPr>
            <p:ph idx="1"/>
          </p:nvPr>
        </p:nvSpPr>
        <p:spPr>
          <a:xfrm>
            <a:off x="914400" y="1279525"/>
            <a:ext cx="7848600" cy="4876800"/>
          </a:xfrm>
        </p:spPr>
        <p:txBody>
          <a:bodyPr/>
          <a:lstStyle/>
          <a:p>
            <a:r>
              <a:rPr lang="en-US" altLang="en-US" sz="1600" dirty="0"/>
              <a:t>The structure of the producer process</a:t>
            </a:r>
          </a:p>
          <a:p>
            <a:pPr>
              <a:buFont typeface="Monotype Sorts" pitchFamily="-84" charset="2"/>
              <a:buNone/>
            </a:pPr>
            <a:endParaRPr lang="en-US" altLang="en-US" sz="1400" b="1" dirty="0">
              <a:latin typeface="Courier New" pitchFamily="49" charset="0"/>
              <a:cs typeface="Courier New" pitchFamily="49" charset="0"/>
            </a:endParaRPr>
          </a:p>
          <a:p>
            <a:pPr>
              <a:buFont typeface="Monotype Sorts" pitchFamily="-84" charset="2"/>
              <a:buNone/>
            </a:pPr>
            <a:r>
              <a:rPr lang="en-US" altLang="en-US" sz="1400" b="1" dirty="0">
                <a:latin typeface="Courier New" pitchFamily="49" charset="0"/>
                <a:cs typeface="Courier New" pitchFamily="49" charset="0"/>
              </a:rPr>
              <a:t>     </a:t>
            </a:r>
            <a:r>
              <a:rPr lang="en-US" altLang="en-US" sz="1600" b="1" dirty="0">
                <a:latin typeface="Courier New" pitchFamily="49" charset="0"/>
                <a:cs typeface="Courier New" pitchFamily="49" charset="0"/>
              </a:rPr>
              <a:t>do { </a:t>
            </a:r>
          </a:p>
          <a:p>
            <a:pPr>
              <a:buFont typeface="Monotype Sorts" pitchFamily="-84" charset="2"/>
              <a:buNone/>
            </a:pPr>
            <a:r>
              <a:rPr lang="en-US" altLang="en-US" sz="1600" b="1" dirty="0">
                <a:latin typeface="Courier New" pitchFamily="49" charset="0"/>
                <a:cs typeface="Courier New" pitchFamily="49" charset="0"/>
              </a:rPr>
              <a:t>          ...</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 produce an item in </a:t>
            </a:r>
            <a:r>
              <a:rPr lang="en-US" altLang="en-US" sz="1600" b="1" dirty="0" err="1">
                <a:latin typeface="Courier New" pitchFamily="49" charset="0"/>
                <a:cs typeface="Courier New" pitchFamily="49" charset="0"/>
              </a:rPr>
              <a:t>next_produced</a:t>
            </a:r>
            <a:r>
              <a:rPr lang="en-US" altLang="en-US" sz="1600" b="1" dirty="0">
                <a:latin typeface="Courier New" pitchFamily="49" charset="0"/>
                <a:cs typeface="Courier New" pitchFamily="49" charset="0"/>
              </a:rPr>
              <a:t> */ </a:t>
            </a:r>
          </a:p>
          <a:p>
            <a:pPr>
              <a:buFont typeface="Monotype Sorts" pitchFamily="-84" charset="2"/>
              <a:buNone/>
            </a:pPr>
            <a:r>
              <a:rPr lang="en-US" altLang="en-US" sz="1600" b="1" dirty="0">
                <a:latin typeface="Courier New" pitchFamily="49" charset="0"/>
                <a:cs typeface="Courier New" pitchFamily="49" charset="0"/>
              </a:rPr>
              <a:t>          ... </a:t>
            </a:r>
          </a:p>
          <a:p>
            <a:pPr>
              <a:buFont typeface="Monotype Sorts" pitchFamily="-84" charset="2"/>
              <a:buNone/>
            </a:pPr>
            <a:r>
              <a:rPr lang="en-US" altLang="en-US" sz="1600" b="1" dirty="0">
                <a:latin typeface="Courier New" pitchFamily="49" charset="0"/>
                <a:cs typeface="Courier New" pitchFamily="49" charset="0"/>
              </a:rPr>
              <a:t>        wait(empty); </a:t>
            </a:r>
          </a:p>
          <a:p>
            <a:pPr>
              <a:buFont typeface="Monotype Sorts" pitchFamily="-84" charset="2"/>
              <a:buNone/>
            </a:pPr>
            <a:r>
              <a:rPr lang="en-US" altLang="en-US" sz="1600" b="1" dirty="0">
                <a:latin typeface="Courier New" pitchFamily="49" charset="0"/>
                <a:cs typeface="Courier New" pitchFamily="49" charset="0"/>
              </a:rPr>
              <a:t>        wait(</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 add next produced to the buffer */ </a:t>
            </a:r>
          </a:p>
          <a:p>
            <a:pPr>
              <a:buFont typeface="Monotype Sorts" pitchFamily="-84" charset="2"/>
              <a:buNone/>
            </a:pPr>
            <a:r>
              <a:rPr lang="en-US" altLang="en-US" sz="1600" b="1" dirty="0">
                <a:latin typeface="Courier New" pitchFamily="49" charset="0"/>
                <a:cs typeface="Courier New" pitchFamily="49" charset="0"/>
              </a:rPr>
              <a:t>           ... </a:t>
            </a:r>
          </a:p>
          <a:p>
            <a:pPr>
              <a:buFont typeface="Monotype Sorts" pitchFamily="-84" charset="2"/>
              <a:buNone/>
            </a:pPr>
            <a:r>
              <a:rPr lang="en-US" altLang="en-US" sz="1600" b="1" dirty="0">
                <a:latin typeface="Courier New" pitchFamily="49" charset="0"/>
                <a:cs typeface="Courier New" pitchFamily="49" charset="0"/>
              </a:rPr>
              <a:t>        signal(</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signal(full); </a:t>
            </a:r>
          </a:p>
          <a:p>
            <a:pPr>
              <a:buFont typeface="Monotype Sorts" pitchFamily="-84" charset="2"/>
              <a:buNone/>
            </a:pPr>
            <a:r>
              <a:rPr lang="en-US" altLang="en-US" sz="1600" b="1" dirty="0">
                <a:latin typeface="Courier New" pitchFamily="49" charset="0"/>
                <a:cs typeface="Courier New" pitchFamily="49" charset="0"/>
              </a:rPr>
              <a:t>     } while (true);</a:t>
            </a:r>
            <a:br>
              <a:rPr lang="en-US" altLang="en-US" sz="1400" b="1" dirty="0">
                <a:latin typeface="Courier New" pitchFamily="49" charset="0"/>
                <a:cs typeface="Courier New" pitchFamily="49" charset="0"/>
              </a:rPr>
            </a:br>
            <a:endParaRPr lang="en-US" altLang="en-US" sz="1400" b="1" dirty="0">
              <a:latin typeface="Courier New" pitchFamily="49" charset="0"/>
              <a:cs typeface="Courier New" pitchFamily="49"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1306513" y="176213"/>
            <a:ext cx="7156450" cy="576262"/>
          </a:xfrm>
        </p:spPr>
        <p:txBody>
          <a:bodyPr/>
          <a:lstStyle/>
          <a:p>
            <a:pPr eaLnBrk="1" hangingPunct="1"/>
            <a:r>
              <a:rPr lang="en-US" altLang="en-US"/>
              <a:t>Bounded Buffer Problem (Cont.)</a:t>
            </a:r>
          </a:p>
        </p:txBody>
      </p:sp>
      <p:sp>
        <p:nvSpPr>
          <p:cNvPr id="31747" name="Rectangle 3"/>
          <p:cNvSpPr>
            <a:spLocks noGrp="1" noChangeArrowheads="1"/>
          </p:cNvSpPr>
          <p:nvPr>
            <p:ph idx="1"/>
          </p:nvPr>
        </p:nvSpPr>
        <p:spPr>
          <a:xfrm>
            <a:off x="839788" y="1152525"/>
            <a:ext cx="7848600" cy="4876800"/>
          </a:xfrm>
        </p:spPr>
        <p:txBody>
          <a:bodyPr/>
          <a:lstStyle/>
          <a:p>
            <a:pPr marL="342866" indent="-342866">
              <a:buFont typeface="Monotype Sorts" charset="0"/>
              <a:buChar char="n"/>
              <a:defRPr/>
            </a:pPr>
            <a:r>
              <a:rPr lang="en-US" sz="1600" dirty="0">
                <a:ea typeface="ＭＳ Ｐゴシック" charset="0"/>
                <a:cs typeface="ＭＳ Ｐゴシック" charset="0"/>
              </a:rPr>
              <a:t>The structure of the consumer process</a:t>
            </a:r>
          </a:p>
          <a:p>
            <a:pPr marL="342866" indent="-342866">
              <a:buFont typeface="Monotype Sorts" charset="0"/>
              <a:buChar char="n"/>
              <a:defRPr/>
            </a:pPr>
            <a:endParaRPr lang="en-US" sz="1600" dirty="0">
              <a:ea typeface="ＭＳ Ｐゴシック" charset="0"/>
              <a:cs typeface="ＭＳ Ｐゴシック" charset="0"/>
            </a:endParaRPr>
          </a:p>
          <a:p>
            <a:pPr marL="0" indent="0">
              <a:buFont typeface="Monotype Sorts" pitchFamily="-84" charset="2"/>
              <a:buNone/>
              <a:defRPr/>
            </a:pPr>
            <a:r>
              <a:rPr lang="en-US" sz="1400" b="1" dirty="0">
                <a:latin typeface="Courier New"/>
                <a:ea typeface="ＭＳ Ｐゴシック" pitchFamily="-84" charset="-128"/>
                <a:cs typeface="Courier New"/>
              </a:rPr>
              <a:t>     </a:t>
            </a:r>
            <a:r>
              <a:rPr lang="en-US" sz="1600" b="1" dirty="0">
                <a:latin typeface="Courier New"/>
                <a:ea typeface="ＭＳ Ｐゴシック" pitchFamily="-84" charset="-128"/>
                <a:cs typeface="Courier New"/>
              </a:rPr>
              <a:t>Do { </a:t>
            </a:r>
          </a:p>
          <a:p>
            <a:pPr marL="0" indent="0">
              <a:buFont typeface="Monotype Sorts" pitchFamily="-84" charset="2"/>
              <a:buNone/>
              <a:defRPr/>
            </a:pPr>
            <a:r>
              <a:rPr lang="en-US" sz="1600" b="1" dirty="0">
                <a:latin typeface="Courier New"/>
                <a:ea typeface="ＭＳ Ｐゴシック" pitchFamily="-84" charset="-128"/>
                <a:cs typeface="Courier New"/>
              </a:rPr>
              <a:t>        wait(full); </a:t>
            </a:r>
          </a:p>
          <a:p>
            <a:pPr marL="0" indent="0">
              <a:buFont typeface="Monotype Sorts" pitchFamily="-84" charset="2"/>
              <a:buNone/>
              <a:defRPr/>
            </a:pPr>
            <a:r>
              <a:rPr lang="en-US" sz="1600" b="1" dirty="0">
                <a:latin typeface="Courier New"/>
                <a:ea typeface="ＭＳ Ｐゴシック" pitchFamily="-84" charset="-128"/>
                <a:cs typeface="Courier New"/>
              </a:rPr>
              <a:t>        wait(</a:t>
            </a:r>
            <a:r>
              <a:rPr lang="en-US" sz="1600" b="1" dirty="0" err="1">
                <a:latin typeface="Courier New"/>
                <a:ea typeface="ＭＳ Ｐゴシック" pitchFamily="-84" charset="-128"/>
                <a:cs typeface="Courier New"/>
              </a:rPr>
              <a:t>mutex</a:t>
            </a:r>
            <a:r>
              <a:rPr lang="en-US" sz="1600" b="1" dirty="0">
                <a:latin typeface="Courier New"/>
                <a:ea typeface="ＭＳ Ｐゴシック" pitchFamily="-84" charset="-128"/>
                <a:cs typeface="Courier New"/>
              </a:rPr>
              <a:t>); </a:t>
            </a:r>
          </a:p>
          <a:p>
            <a:pPr marL="0" indent="0">
              <a:buFont typeface="Monotype Sorts" pitchFamily="-84" charset="2"/>
              <a:buNone/>
              <a:defRPr/>
            </a:pPr>
            <a:r>
              <a:rPr lang="en-US" sz="1600" b="1" dirty="0">
                <a:latin typeface="Courier New"/>
                <a:ea typeface="ＭＳ Ｐゴシック" pitchFamily="-84" charset="-128"/>
                <a:cs typeface="Courier New"/>
              </a:rPr>
              <a:t>           ...</a:t>
            </a:r>
            <a:br>
              <a:rPr lang="en-US" sz="1600" b="1" dirty="0">
                <a:latin typeface="Courier New"/>
                <a:ea typeface="ＭＳ Ｐゴシック" pitchFamily="-84" charset="-128"/>
                <a:cs typeface="Courier New"/>
              </a:rPr>
            </a:br>
            <a:r>
              <a:rPr lang="en-US" sz="1600" b="1" dirty="0">
                <a:latin typeface="Courier New"/>
                <a:ea typeface="ＭＳ Ｐゴシック" pitchFamily="-84" charset="-128"/>
                <a:cs typeface="Courier New"/>
              </a:rPr>
              <a:t>        /* remove an item from buffer to </a:t>
            </a:r>
            <a:r>
              <a:rPr lang="en-US" sz="1600" b="1" dirty="0" err="1">
                <a:latin typeface="Courier New"/>
                <a:ea typeface="ＭＳ Ｐゴシック" pitchFamily="-84" charset="-128"/>
                <a:cs typeface="Courier New"/>
              </a:rPr>
              <a:t>next_consumed</a:t>
            </a:r>
            <a:r>
              <a:rPr lang="en-US" sz="1600" b="1" dirty="0">
                <a:latin typeface="Courier New"/>
                <a:ea typeface="ＭＳ Ｐゴシック" pitchFamily="-84" charset="-128"/>
                <a:cs typeface="Courier New"/>
              </a:rPr>
              <a:t> */ </a:t>
            </a:r>
          </a:p>
          <a:p>
            <a:pPr marL="0" indent="0">
              <a:buFont typeface="Monotype Sorts" pitchFamily="-84" charset="2"/>
              <a:buNone/>
              <a:defRPr/>
            </a:pPr>
            <a:r>
              <a:rPr lang="en-US" sz="1600" b="1" dirty="0">
                <a:latin typeface="Courier New"/>
                <a:ea typeface="ＭＳ Ｐゴシック" pitchFamily="-84" charset="-128"/>
                <a:cs typeface="Courier New"/>
              </a:rPr>
              <a:t>           ... </a:t>
            </a:r>
          </a:p>
          <a:p>
            <a:pPr marL="0" indent="0">
              <a:buFont typeface="Monotype Sorts" pitchFamily="-84" charset="2"/>
              <a:buNone/>
              <a:defRPr/>
            </a:pPr>
            <a:r>
              <a:rPr lang="en-US" sz="1600" b="1" dirty="0">
                <a:latin typeface="Courier New"/>
                <a:ea typeface="ＭＳ Ｐゴシック" pitchFamily="-84" charset="-128"/>
                <a:cs typeface="Courier New"/>
              </a:rPr>
              <a:t>        signal(</a:t>
            </a:r>
            <a:r>
              <a:rPr lang="en-US" sz="1600" b="1" dirty="0" err="1">
                <a:latin typeface="Courier New"/>
                <a:ea typeface="ＭＳ Ｐゴシック" pitchFamily="-84" charset="-128"/>
                <a:cs typeface="Courier New"/>
              </a:rPr>
              <a:t>mutex</a:t>
            </a:r>
            <a:r>
              <a:rPr lang="en-US" sz="1600" b="1" dirty="0">
                <a:latin typeface="Courier New"/>
                <a:ea typeface="ＭＳ Ｐゴシック" pitchFamily="-84" charset="-128"/>
                <a:cs typeface="Courier New"/>
              </a:rPr>
              <a:t>); </a:t>
            </a:r>
          </a:p>
          <a:p>
            <a:pPr marL="0" indent="0">
              <a:buFont typeface="Monotype Sorts" pitchFamily="-84" charset="2"/>
              <a:buNone/>
              <a:defRPr/>
            </a:pPr>
            <a:r>
              <a:rPr lang="en-US" sz="1600" b="1" dirty="0">
                <a:latin typeface="Courier New"/>
                <a:ea typeface="ＭＳ Ｐゴシック" pitchFamily="-84" charset="-128"/>
                <a:cs typeface="Courier New"/>
              </a:rPr>
              <a:t>        signal(empty); </a:t>
            </a:r>
          </a:p>
          <a:p>
            <a:pPr marL="0" indent="0">
              <a:buFont typeface="Monotype Sorts" pitchFamily="-84" charset="2"/>
              <a:buNone/>
              <a:defRPr/>
            </a:pPr>
            <a:r>
              <a:rPr lang="en-US" sz="1600" b="1" dirty="0">
                <a:latin typeface="Courier New"/>
                <a:ea typeface="ＭＳ Ｐゴシック" pitchFamily="-84" charset="-128"/>
                <a:cs typeface="Courier New"/>
              </a:rPr>
              <a:t>           ...</a:t>
            </a:r>
            <a:br>
              <a:rPr lang="en-US" sz="1600" b="1" dirty="0">
                <a:latin typeface="Courier New"/>
                <a:ea typeface="ＭＳ Ｐゴシック" pitchFamily="-84" charset="-128"/>
                <a:cs typeface="Courier New"/>
              </a:rPr>
            </a:br>
            <a:r>
              <a:rPr lang="en-US" sz="1600" b="1" dirty="0">
                <a:latin typeface="Courier New"/>
                <a:ea typeface="ＭＳ Ｐゴシック" pitchFamily="-84" charset="-128"/>
                <a:cs typeface="Courier New"/>
              </a:rPr>
              <a:t>        /* consume the item in next consumed */ </a:t>
            </a:r>
          </a:p>
          <a:p>
            <a:pPr marL="0" indent="0">
              <a:buFont typeface="Monotype Sorts" pitchFamily="-84" charset="2"/>
              <a:buNone/>
              <a:defRPr/>
            </a:pPr>
            <a:r>
              <a:rPr lang="en-US" sz="1600" b="1" dirty="0">
                <a:latin typeface="Courier New"/>
                <a:ea typeface="ＭＳ Ｐゴシック" pitchFamily="-84" charset="-128"/>
                <a:cs typeface="Courier New"/>
              </a:rPr>
              <a:t>           ...</a:t>
            </a:r>
            <a:br>
              <a:rPr lang="en-US" sz="1600" b="1" dirty="0">
                <a:latin typeface="Courier New"/>
                <a:ea typeface="ＭＳ Ｐゴシック" pitchFamily="-84" charset="-128"/>
                <a:cs typeface="Courier New"/>
              </a:rPr>
            </a:br>
            <a:r>
              <a:rPr lang="en-US" sz="1600" b="1" dirty="0">
                <a:latin typeface="Courier New"/>
                <a:ea typeface="ＭＳ Ｐゴシック" pitchFamily="-84" charset="-128"/>
                <a:cs typeface="Courier New"/>
              </a:rPr>
              <a:t>     } while (true); </a:t>
            </a:r>
          </a:p>
          <a:p>
            <a:pPr marL="342866" indent="-342866">
              <a:buFont typeface="Monotype Sorts" pitchFamily="-84" charset="2"/>
              <a:buNone/>
              <a:defRPr/>
            </a:pPr>
            <a:endParaRPr lang="en-US" sz="1600" dirty="0">
              <a:ea typeface="ＭＳ Ｐゴシック" charset="0"/>
              <a:cs typeface="ＭＳ Ｐゴシック"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120775" y="146050"/>
            <a:ext cx="7566025" cy="576263"/>
          </a:xfrm>
        </p:spPr>
        <p:txBody>
          <a:bodyPr/>
          <a:lstStyle/>
          <a:p>
            <a:pPr eaLnBrk="1" hangingPunct="1"/>
            <a:r>
              <a:rPr lang="en-US" altLang="en-US"/>
              <a:t>Readers-Writers Problem</a:t>
            </a:r>
          </a:p>
        </p:txBody>
      </p:sp>
      <p:sp>
        <p:nvSpPr>
          <p:cNvPr id="37891" name="Rectangle 3"/>
          <p:cNvSpPr>
            <a:spLocks noGrp="1" noChangeArrowheads="1"/>
          </p:cNvSpPr>
          <p:nvPr>
            <p:ph idx="1"/>
          </p:nvPr>
        </p:nvSpPr>
        <p:spPr>
          <a:xfrm>
            <a:off x="860425" y="1111250"/>
            <a:ext cx="7866063" cy="5005388"/>
          </a:xfrm>
        </p:spPr>
        <p:txBody>
          <a:bodyPr/>
          <a:lstStyle/>
          <a:p>
            <a:r>
              <a:rPr lang="en-US" altLang="en-US"/>
              <a:t>A data set is shared among a number of concurrent processes</a:t>
            </a:r>
          </a:p>
          <a:p>
            <a:pPr lvl="1"/>
            <a:r>
              <a:rPr lang="en-US" altLang="en-US"/>
              <a:t>Readers – only read the data set; they do </a:t>
            </a:r>
            <a:r>
              <a:rPr lang="en-US" altLang="en-US" b="1" i="1"/>
              <a:t>not</a:t>
            </a:r>
            <a:r>
              <a:rPr lang="en-US" altLang="en-US" b="1"/>
              <a:t> </a:t>
            </a:r>
            <a:r>
              <a:rPr lang="en-US" altLang="en-US"/>
              <a:t>perform any updates</a:t>
            </a:r>
          </a:p>
          <a:p>
            <a:pPr lvl="1"/>
            <a:r>
              <a:rPr lang="en-US" altLang="en-US"/>
              <a:t>Writers   – can both read and write</a:t>
            </a:r>
          </a:p>
          <a:p>
            <a:r>
              <a:rPr lang="en-US" altLang="en-US"/>
              <a:t>Problem – allow multiple readers to read at the same time</a:t>
            </a:r>
          </a:p>
          <a:p>
            <a:pPr lvl="1"/>
            <a:r>
              <a:rPr lang="en-US" altLang="en-US"/>
              <a:t>Only one single writer can access the shared data at the same time</a:t>
            </a:r>
          </a:p>
          <a:p>
            <a:r>
              <a:rPr lang="en-US" altLang="en-US"/>
              <a:t>Several variations of how readers and writers are considered  – all involve some form of priorities</a:t>
            </a:r>
          </a:p>
          <a:p>
            <a:r>
              <a:rPr lang="en-US" altLang="en-US"/>
              <a:t>Shared Data</a:t>
            </a:r>
          </a:p>
          <a:p>
            <a:pPr lvl="1"/>
            <a:r>
              <a:rPr lang="en-US" altLang="en-US"/>
              <a:t>Data set</a:t>
            </a:r>
          </a:p>
          <a:p>
            <a:pPr lvl="1"/>
            <a:r>
              <a:rPr lang="en-US" altLang="en-US"/>
              <a:t>Semaphore</a:t>
            </a:r>
            <a:r>
              <a:rPr lang="en-US" altLang="en-US" b="1">
                <a:solidFill>
                  <a:srgbClr val="000000"/>
                </a:solidFill>
                <a:latin typeface="Courier New" pitchFamily="49" charset="0"/>
              </a:rPr>
              <a:t> </a:t>
            </a:r>
            <a:r>
              <a:rPr lang="en-US" altLang="en-US" sz="2000" b="1">
                <a:solidFill>
                  <a:srgbClr val="000000"/>
                </a:solidFill>
                <a:latin typeface="Courier New" pitchFamily="49" charset="0"/>
              </a:rPr>
              <a:t>rw_mutex</a:t>
            </a:r>
            <a:r>
              <a:rPr lang="en-US" altLang="en-US" b="1">
                <a:solidFill>
                  <a:srgbClr val="000000"/>
                </a:solidFill>
                <a:latin typeface="Courier New" pitchFamily="49" charset="0"/>
              </a:rPr>
              <a:t> </a:t>
            </a:r>
            <a:r>
              <a:rPr lang="en-US" altLang="en-US"/>
              <a:t>initialized to 1</a:t>
            </a:r>
          </a:p>
          <a:p>
            <a:pPr lvl="1"/>
            <a:r>
              <a:rPr lang="en-US" altLang="en-US"/>
              <a:t>Semaphore </a:t>
            </a:r>
            <a:r>
              <a:rPr lang="en-US" altLang="en-US" sz="2000" b="1">
                <a:solidFill>
                  <a:srgbClr val="000000"/>
                </a:solidFill>
                <a:latin typeface="Courier New" pitchFamily="49" charset="0"/>
              </a:rPr>
              <a:t>mutex</a:t>
            </a:r>
            <a:r>
              <a:rPr lang="en-US" altLang="en-US" b="1">
                <a:solidFill>
                  <a:srgbClr val="000000"/>
                </a:solidFill>
                <a:latin typeface="Courier New" pitchFamily="49" charset="0"/>
              </a:rPr>
              <a:t> </a:t>
            </a:r>
            <a:r>
              <a:rPr lang="en-US" altLang="en-US"/>
              <a:t>initialized to 1</a:t>
            </a:r>
          </a:p>
          <a:p>
            <a:pPr lvl="1"/>
            <a:r>
              <a:rPr lang="en-US" altLang="en-US"/>
              <a:t>Integer </a:t>
            </a:r>
            <a:r>
              <a:rPr lang="en-US" altLang="en-US" sz="2000" b="1">
                <a:solidFill>
                  <a:srgbClr val="000000"/>
                </a:solidFill>
                <a:latin typeface="Courier New" pitchFamily="49" charset="0"/>
              </a:rPr>
              <a:t>read_count</a:t>
            </a:r>
            <a:r>
              <a:rPr lang="en-US" altLang="en-US"/>
              <a:t> initialized to 0</a:t>
            </a:r>
          </a:p>
          <a:p>
            <a:pPr lvl="1"/>
            <a:endParaRPr lang="en-US"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025525" y="190500"/>
            <a:ext cx="7661275" cy="576263"/>
          </a:xfrm>
        </p:spPr>
        <p:txBody>
          <a:bodyPr/>
          <a:lstStyle/>
          <a:p>
            <a:pPr eaLnBrk="1" hangingPunct="1"/>
            <a:r>
              <a:rPr lang="en-US" altLang="en-US"/>
              <a:t>Readers-Writers Problem (Cont.)</a:t>
            </a:r>
          </a:p>
        </p:txBody>
      </p:sp>
      <p:sp>
        <p:nvSpPr>
          <p:cNvPr id="38915" name="Rectangle 3"/>
          <p:cNvSpPr>
            <a:spLocks noGrp="1" noChangeArrowheads="1"/>
          </p:cNvSpPr>
          <p:nvPr>
            <p:ph idx="1"/>
          </p:nvPr>
        </p:nvSpPr>
        <p:spPr>
          <a:xfrm>
            <a:off x="827088" y="1279525"/>
            <a:ext cx="7848600" cy="4876800"/>
          </a:xfrm>
        </p:spPr>
        <p:txBody>
          <a:bodyPr/>
          <a:lstStyle/>
          <a:p>
            <a:r>
              <a:rPr lang="en-US" altLang="en-US" sz="1600" dirty="0"/>
              <a:t>The structure of a writer process</a:t>
            </a:r>
          </a:p>
          <a:p>
            <a:pPr>
              <a:buFont typeface="Monotype Sorts" pitchFamily="-84" charset="2"/>
              <a:buNone/>
            </a:pPr>
            <a:r>
              <a:rPr lang="en-US" altLang="en-US" sz="1600" dirty="0">
                <a:solidFill>
                  <a:srgbClr val="0000FF"/>
                </a:solidFill>
              </a:rPr>
              <a:t>        </a:t>
            </a:r>
          </a:p>
          <a:p>
            <a:pPr>
              <a:buFont typeface="Monotype Sorts" pitchFamily="-84" charset="2"/>
              <a:buNone/>
            </a:pPr>
            <a:r>
              <a:rPr lang="en-US" altLang="en-US" sz="1600" b="1" dirty="0">
                <a:latin typeface="Courier New" pitchFamily="49" charset="0"/>
                <a:cs typeface="Courier New" pitchFamily="49" charset="0"/>
              </a:rPr>
              <a:t>       do {</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wait(</a:t>
            </a:r>
            <a:r>
              <a:rPr lang="en-US" altLang="en-US" sz="1600" b="1" dirty="0" err="1">
                <a:latin typeface="Courier New" pitchFamily="49" charset="0"/>
                <a:cs typeface="Courier New" pitchFamily="49" charset="0"/>
              </a:rPr>
              <a:t>rw_mutex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 writing is performed */ </a:t>
            </a:r>
          </a:p>
          <a:p>
            <a:pPr>
              <a:buFont typeface="Monotype Sorts" pitchFamily="-84" charset="2"/>
              <a:buNone/>
            </a:pPr>
            <a:r>
              <a:rPr lang="en-US" altLang="en-US" sz="1600" b="1" dirty="0">
                <a:latin typeface="Courier New" pitchFamily="49" charset="0"/>
                <a:cs typeface="Courier New" pitchFamily="49" charset="0"/>
              </a:rPr>
              <a:t>               ... </a:t>
            </a:r>
          </a:p>
          <a:p>
            <a:pPr>
              <a:buFont typeface="Monotype Sorts" pitchFamily="-84" charset="2"/>
              <a:buNone/>
            </a:pPr>
            <a:r>
              <a:rPr lang="en-US" altLang="en-US" sz="1600" b="1" dirty="0">
                <a:latin typeface="Courier New" pitchFamily="49" charset="0"/>
                <a:cs typeface="Courier New" pitchFamily="49" charset="0"/>
              </a:rPr>
              <a:t>             signal(</a:t>
            </a:r>
            <a:r>
              <a:rPr lang="en-US" altLang="en-US" sz="1600" b="1" dirty="0" err="1">
                <a:latin typeface="Courier New" pitchFamily="49" charset="0"/>
                <a:cs typeface="Courier New" pitchFamily="49" charset="0"/>
              </a:rPr>
              <a:t>rw_mutex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 while (true);</a:t>
            </a:r>
            <a:br>
              <a:rPr lang="en-US" altLang="en-US" sz="1400" b="1" dirty="0">
                <a:latin typeface="Courier New" pitchFamily="49" charset="0"/>
                <a:cs typeface="Courier New" pitchFamily="49" charset="0"/>
              </a:rPr>
            </a:br>
            <a:endParaRPr lang="en-US" altLang="en-US" sz="1400" b="1" dirty="0">
              <a:latin typeface="Courier New" pitchFamily="49" charset="0"/>
              <a:cs typeface="Courier New" pitchFamily="49" charset="0"/>
            </a:endParaRPr>
          </a:p>
          <a:p>
            <a:pPr>
              <a:buFont typeface="Monotype Sorts" pitchFamily="-84" charset="2"/>
              <a:buNone/>
            </a:pPr>
            <a:endParaRPr lang="en-US" altLang="en-US" dirty="0">
              <a:solidFill>
                <a:srgbClr val="0000FF"/>
              </a:solidFill>
            </a:endParaRPr>
          </a:p>
          <a:p>
            <a:pPr>
              <a:buFont typeface="Monotype Sorts" pitchFamily="-84" charset="2"/>
              <a:buNone/>
            </a:pPr>
            <a:endParaRPr lang="en-US" altLang="en-US" dirty="0">
              <a:solidFill>
                <a:srgbClr val="0000FF"/>
              </a:solidFill>
            </a:endParaRPr>
          </a:p>
          <a:p>
            <a:pPr>
              <a:buFont typeface="Monotype Sorts" pitchFamily="-84" charset="2"/>
              <a:buNone/>
            </a:pPr>
            <a:r>
              <a:rPr lang="en-US" altLang="en-US" dirty="0">
                <a:solidFill>
                  <a:srgbClr val="0000FF"/>
                </a:solidFill>
              </a:rPr>
              <a:t>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035050" y="190500"/>
            <a:ext cx="7651750" cy="576263"/>
          </a:xfrm>
        </p:spPr>
        <p:txBody>
          <a:bodyPr/>
          <a:lstStyle/>
          <a:p>
            <a:pPr eaLnBrk="1" hangingPunct="1"/>
            <a:r>
              <a:rPr lang="en-US" altLang="en-US"/>
              <a:t>Readers-Writers Problem (Cont.)</a:t>
            </a:r>
          </a:p>
        </p:txBody>
      </p:sp>
      <p:sp>
        <p:nvSpPr>
          <p:cNvPr id="39939" name="Rectangle 3"/>
          <p:cNvSpPr>
            <a:spLocks noGrp="1" noChangeArrowheads="1"/>
          </p:cNvSpPr>
          <p:nvPr>
            <p:ph idx="1"/>
          </p:nvPr>
        </p:nvSpPr>
        <p:spPr>
          <a:xfrm>
            <a:off x="841375" y="1076325"/>
            <a:ext cx="7747000" cy="5065713"/>
          </a:xfrm>
        </p:spPr>
        <p:txBody>
          <a:bodyPr/>
          <a:lstStyle/>
          <a:p>
            <a:pPr>
              <a:lnSpc>
                <a:spcPct val="80000"/>
              </a:lnSpc>
            </a:pPr>
            <a:r>
              <a:rPr lang="en-US" altLang="en-US" dirty="0"/>
              <a:t>The structure of a reader process</a:t>
            </a:r>
            <a:endParaRPr lang="en-US" altLang="en-US" sz="1600" dirty="0">
              <a:solidFill>
                <a:srgbClr val="0000FF"/>
              </a:solidFill>
            </a:endParaRPr>
          </a:p>
          <a:p>
            <a:pPr>
              <a:buFont typeface="Monotype Sorts" pitchFamily="-84" charset="2"/>
              <a:buNone/>
            </a:pPr>
            <a:r>
              <a:rPr lang="en-US" altLang="en-US" sz="1600" b="1" dirty="0">
                <a:latin typeface="Courier New" pitchFamily="49" charset="0"/>
                <a:cs typeface="Courier New" pitchFamily="49" charset="0"/>
              </a:rPr>
              <a:t>       do {</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wait(</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a:t>
            </a:r>
            <a:r>
              <a:rPr lang="en-US" altLang="en-US" sz="1600" b="1" dirty="0" err="1">
                <a:latin typeface="Courier New" pitchFamily="49" charset="0"/>
                <a:cs typeface="Courier New" pitchFamily="49" charset="0"/>
              </a:rPr>
              <a:t>read_count</a:t>
            </a:r>
            <a:r>
              <a:rPr lang="en-US" altLang="en-US" sz="1600" b="1" dirty="0">
                <a:latin typeface="Courier New" pitchFamily="49" charset="0"/>
                <a:cs typeface="Courier New" pitchFamily="49" charset="0"/>
              </a:rPr>
              <a:t>++;</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if (</a:t>
            </a:r>
            <a:r>
              <a:rPr lang="en-US" altLang="en-US" sz="1600" b="1" dirty="0" err="1">
                <a:latin typeface="Courier New" pitchFamily="49" charset="0"/>
                <a:cs typeface="Courier New" pitchFamily="49" charset="0"/>
              </a:rPr>
              <a:t>read_count</a:t>
            </a:r>
            <a:r>
              <a:rPr lang="en-US" altLang="en-US" sz="1600" b="1" dirty="0">
                <a:latin typeface="Courier New" pitchFamily="49" charset="0"/>
                <a:cs typeface="Courier New" pitchFamily="49" charset="0"/>
              </a:rPr>
              <a:t> == 1) </a:t>
            </a:r>
          </a:p>
          <a:p>
            <a:pPr>
              <a:buFont typeface="Monotype Sorts" pitchFamily="-84" charset="2"/>
              <a:buNone/>
            </a:pPr>
            <a:r>
              <a:rPr lang="en-US" altLang="en-US" sz="1600" b="1" dirty="0">
                <a:latin typeface="Courier New" pitchFamily="49" charset="0"/>
                <a:cs typeface="Courier New" pitchFamily="49" charset="0"/>
              </a:rPr>
              <a:t>              wait(</a:t>
            </a:r>
            <a:r>
              <a:rPr lang="en-US" altLang="en-US" sz="1600" b="1" dirty="0" err="1">
                <a:latin typeface="Courier New" pitchFamily="49" charset="0"/>
                <a:cs typeface="Courier New" pitchFamily="49" charset="0"/>
              </a:rPr>
              <a:t>rw_mutex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signal(</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 reading is performed */ </a:t>
            </a:r>
          </a:p>
          <a:p>
            <a:pPr>
              <a:buFont typeface="Monotype Sorts" pitchFamily="-84" charset="2"/>
              <a:buNone/>
            </a:pPr>
            <a:r>
              <a:rPr lang="en-US" altLang="en-US" sz="1600" b="1" dirty="0">
                <a:latin typeface="Courier New" pitchFamily="49" charset="0"/>
                <a:cs typeface="Courier New" pitchFamily="49" charset="0"/>
              </a:rPr>
              <a:t>               ... </a:t>
            </a:r>
          </a:p>
          <a:p>
            <a:pPr>
              <a:buFont typeface="Monotype Sorts" pitchFamily="-84" charset="2"/>
              <a:buNone/>
            </a:pPr>
            <a:r>
              <a:rPr lang="en-US" altLang="en-US" sz="1600" b="1" dirty="0">
                <a:latin typeface="Courier New" pitchFamily="49" charset="0"/>
                <a:cs typeface="Courier New" pitchFamily="49" charset="0"/>
              </a:rPr>
              <a:t>           wait(mutex);</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a:t>
            </a:r>
            <a:r>
              <a:rPr lang="en-US" altLang="en-US" sz="1600" b="1" dirty="0" err="1">
                <a:latin typeface="Courier New" pitchFamily="49" charset="0"/>
                <a:cs typeface="Courier New" pitchFamily="49" charset="0"/>
              </a:rPr>
              <a:t>read_count</a:t>
            </a:r>
            <a:r>
              <a:rPr lang="en-US" altLang="en-US" sz="1600" b="1" dirty="0">
                <a:latin typeface="Courier New" pitchFamily="49" charset="0"/>
                <a:cs typeface="Courier New" pitchFamily="49" charset="0"/>
              </a:rPr>
              <a:t>--;</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if (</a:t>
            </a:r>
            <a:r>
              <a:rPr lang="en-US" altLang="en-US" sz="1600" b="1" dirty="0" err="1">
                <a:latin typeface="Courier New" pitchFamily="49" charset="0"/>
                <a:cs typeface="Courier New" pitchFamily="49" charset="0"/>
              </a:rPr>
              <a:t>read_count</a:t>
            </a:r>
            <a:r>
              <a:rPr lang="en-US" altLang="en-US" sz="1600" b="1" dirty="0">
                <a:latin typeface="Courier New" pitchFamily="49" charset="0"/>
                <a:cs typeface="Courier New" pitchFamily="49" charset="0"/>
              </a:rPr>
              <a:t> == 0) </a:t>
            </a:r>
          </a:p>
          <a:p>
            <a:pPr>
              <a:buFont typeface="Monotype Sorts" pitchFamily="-84" charset="2"/>
              <a:buNone/>
            </a:pPr>
            <a:r>
              <a:rPr lang="en-US" altLang="en-US" sz="1600" b="1" dirty="0">
                <a:latin typeface="Courier New" pitchFamily="49" charset="0"/>
                <a:cs typeface="Courier New" pitchFamily="49" charset="0"/>
              </a:rPr>
              <a:t>             signal(</a:t>
            </a:r>
            <a:r>
              <a:rPr lang="en-US" altLang="en-US" sz="1600" b="1" dirty="0" err="1">
                <a:latin typeface="Courier New" pitchFamily="49" charset="0"/>
                <a:cs typeface="Courier New" pitchFamily="49" charset="0"/>
              </a:rPr>
              <a:t>rw_mutex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signal(</a:t>
            </a:r>
            <a:r>
              <a:rPr lang="en-US" altLang="en-US" sz="1600" b="1" dirty="0" err="1">
                <a:latin typeface="Courier New" pitchFamily="49" charset="0"/>
                <a:cs typeface="Courier New" pitchFamily="49" charset="0"/>
              </a:rPr>
              <a:t>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 while (true);</a:t>
            </a:r>
            <a:br>
              <a:rPr lang="en-US" altLang="en-US" sz="1400" b="1" dirty="0">
                <a:latin typeface="Courier New" pitchFamily="49" charset="0"/>
                <a:cs typeface="Courier New" pitchFamily="49" charset="0"/>
              </a:rPr>
            </a:br>
            <a:endParaRPr lang="en-US" altLang="en-US" sz="1400" b="1" dirty="0">
              <a:latin typeface="Courier New" pitchFamily="49" charset="0"/>
              <a:cs typeface="Courier New" pitchFamily="49" charset="0"/>
            </a:endParaRPr>
          </a:p>
          <a:p>
            <a:pPr>
              <a:lnSpc>
                <a:spcPct val="80000"/>
              </a:lnSpc>
              <a:buFont typeface="Monotype Sorts" pitchFamily="-84" charset="2"/>
              <a:buNone/>
            </a:pPr>
            <a:endParaRPr lang="en-US" altLang="en-US" sz="1600" dirty="0">
              <a:solidFill>
                <a:srgbClr val="0000FF"/>
              </a:solidFill>
            </a:endParaRPr>
          </a:p>
          <a:p>
            <a:pPr>
              <a:lnSpc>
                <a:spcPct val="80000"/>
              </a:lnSpc>
              <a:buFont typeface="Monotype Sorts" pitchFamily="-84" charset="2"/>
              <a:buNone/>
            </a:pPr>
            <a:endParaRPr lang="en-US" altLang="en-US" sz="1600" dirty="0">
              <a:solidFill>
                <a:srgbClr val="0000FF"/>
              </a:solidFill>
            </a:endParaRPr>
          </a:p>
          <a:p>
            <a:pPr>
              <a:lnSpc>
                <a:spcPct val="80000"/>
              </a:lnSpc>
              <a:buFont typeface="Monotype Sorts" pitchFamily="-84" charset="2"/>
              <a:buNone/>
            </a:pPr>
            <a:r>
              <a:rPr lang="en-US" altLang="en-US" sz="1600" dirty="0">
                <a:solidFill>
                  <a:srgbClr val="0000FF"/>
                </a:solidFill>
              </a:rPr>
              <a:t>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1255713" y="147638"/>
            <a:ext cx="7677150" cy="576262"/>
          </a:xfrm>
        </p:spPr>
        <p:txBody>
          <a:bodyPr/>
          <a:lstStyle/>
          <a:p>
            <a:r>
              <a:rPr lang="en-US" altLang="en-US"/>
              <a:t>Readers-Writers Problem Variations</a:t>
            </a:r>
          </a:p>
        </p:txBody>
      </p:sp>
      <p:sp>
        <p:nvSpPr>
          <p:cNvPr id="40963" name="Content Placeholder 2"/>
          <p:cNvSpPr>
            <a:spLocks noGrp="1"/>
          </p:cNvSpPr>
          <p:nvPr>
            <p:ph idx="1"/>
          </p:nvPr>
        </p:nvSpPr>
        <p:spPr>
          <a:xfrm>
            <a:off x="879475" y="1146175"/>
            <a:ext cx="6359525" cy="4530725"/>
          </a:xfrm>
        </p:spPr>
        <p:txBody>
          <a:bodyPr/>
          <a:lstStyle/>
          <a:p>
            <a:r>
              <a:rPr lang="en-US" altLang="en-US" b="1" i="1"/>
              <a:t>First</a:t>
            </a:r>
            <a:r>
              <a:rPr lang="en-US" altLang="en-US" i="1"/>
              <a:t>  </a:t>
            </a:r>
            <a:r>
              <a:rPr lang="en-US" altLang="en-US"/>
              <a:t>variation – no reader kept waiting unless writer has permission to use shared object</a:t>
            </a:r>
          </a:p>
          <a:p>
            <a:r>
              <a:rPr lang="en-US" altLang="en-US" b="1" i="1"/>
              <a:t>Second</a:t>
            </a:r>
            <a:r>
              <a:rPr lang="en-US" altLang="en-US" i="1"/>
              <a:t> </a:t>
            </a:r>
            <a:r>
              <a:rPr lang="en-US" altLang="en-US"/>
              <a:t>variation – once writer is ready, it performs the write ASAP</a:t>
            </a:r>
          </a:p>
          <a:p>
            <a:r>
              <a:rPr lang="en-US" altLang="en-US"/>
              <a:t>Both may have starvation leading to even more variations</a:t>
            </a:r>
          </a:p>
          <a:p>
            <a:r>
              <a:rPr lang="en-US" altLang="en-US"/>
              <a:t>Problem is solved on some systems by kernel providing reader-writer locks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016000" y="147638"/>
            <a:ext cx="7670800" cy="576262"/>
          </a:xfrm>
        </p:spPr>
        <p:txBody>
          <a:bodyPr/>
          <a:lstStyle/>
          <a:p>
            <a:pPr eaLnBrk="1" hangingPunct="1"/>
            <a:r>
              <a:rPr lang="en-US" altLang="en-US"/>
              <a:t>Dining-Philosophers Problem</a:t>
            </a:r>
          </a:p>
        </p:txBody>
      </p:sp>
      <p:sp>
        <p:nvSpPr>
          <p:cNvPr id="41987" name="Rectangle 3"/>
          <p:cNvSpPr>
            <a:spLocks noGrp="1" noChangeArrowheads="1"/>
          </p:cNvSpPr>
          <p:nvPr>
            <p:ph idx="1"/>
          </p:nvPr>
        </p:nvSpPr>
        <p:spPr>
          <a:xfrm>
            <a:off x="928688" y="3403600"/>
            <a:ext cx="6908800" cy="2765425"/>
          </a:xfrm>
        </p:spPr>
        <p:txBody>
          <a:bodyPr/>
          <a:lstStyle/>
          <a:p>
            <a:pPr>
              <a:tabLst>
                <a:tab pos="1365250" algn="l"/>
                <a:tab pos="1538288" algn="l"/>
              </a:tabLst>
            </a:pPr>
            <a:r>
              <a:rPr lang="en-US" altLang="en-US" sz="1600"/>
              <a:t>Philosophers spend their lives alternating thinking and eating</a:t>
            </a:r>
          </a:p>
          <a:p>
            <a:pPr>
              <a:tabLst>
                <a:tab pos="1365250" algn="l"/>
                <a:tab pos="1538288" algn="l"/>
              </a:tabLst>
            </a:pPr>
            <a:r>
              <a:rPr lang="en-US" altLang="en-US" sz="1600"/>
              <a:t>Don’</a:t>
            </a:r>
            <a:r>
              <a:rPr lang="en-US" altLang="ja-JP" sz="1600"/>
              <a:t>t interact with their neighbors, occasionally try to pick up 2 chopsticks (one at a time) to eat from bowl</a:t>
            </a:r>
          </a:p>
          <a:p>
            <a:pPr lvl="1">
              <a:tabLst>
                <a:tab pos="1365250" algn="l"/>
                <a:tab pos="1538288" algn="l"/>
              </a:tabLst>
            </a:pPr>
            <a:r>
              <a:rPr lang="en-US" altLang="en-US" sz="1600"/>
              <a:t>Need both to eat, then release both when done</a:t>
            </a:r>
          </a:p>
          <a:p>
            <a:pPr>
              <a:tabLst>
                <a:tab pos="1365250" algn="l"/>
                <a:tab pos="1538288" algn="l"/>
              </a:tabLst>
            </a:pPr>
            <a:r>
              <a:rPr lang="en-US" altLang="en-US" sz="1600"/>
              <a:t>In the case of 5 philosophers</a:t>
            </a:r>
          </a:p>
          <a:p>
            <a:pPr lvl="1">
              <a:tabLst>
                <a:tab pos="1365250" algn="l"/>
                <a:tab pos="1538288" algn="l"/>
              </a:tabLst>
            </a:pPr>
            <a:r>
              <a:rPr lang="en-US" altLang="en-US" sz="1600"/>
              <a:t>Shared data </a:t>
            </a:r>
          </a:p>
          <a:p>
            <a:pPr lvl="2">
              <a:tabLst>
                <a:tab pos="1365250" algn="l"/>
                <a:tab pos="1538288" algn="l"/>
              </a:tabLst>
            </a:pPr>
            <a:r>
              <a:rPr lang="en-US" altLang="en-US" sz="1600"/>
              <a:t>Bowl of rice (data set)</a:t>
            </a:r>
          </a:p>
          <a:p>
            <a:pPr lvl="2">
              <a:tabLst>
                <a:tab pos="1365250" algn="l"/>
                <a:tab pos="1538288" algn="l"/>
              </a:tabLst>
            </a:pPr>
            <a:r>
              <a:rPr lang="en-US" altLang="en-US" sz="1600"/>
              <a:t>Semaphore </a:t>
            </a:r>
            <a:r>
              <a:rPr lang="en-US" altLang="en-US" sz="1600">
                <a:solidFill>
                  <a:srgbClr val="FF0000"/>
                </a:solidFill>
              </a:rPr>
              <a:t>chopstick [5]</a:t>
            </a:r>
            <a:r>
              <a:rPr lang="en-US" altLang="en-US" sz="1600"/>
              <a:t> initialized to 1</a:t>
            </a:r>
          </a:p>
        </p:txBody>
      </p:sp>
      <p:pic>
        <p:nvPicPr>
          <p:cNvPr id="41988" name="Picture 5" descr="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5663" y="1079500"/>
            <a:ext cx="2208212"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038225" y="161925"/>
            <a:ext cx="7866063" cy="576263"/>
          </a:xfrm>
        </p:spPr>
        <p:txBody>
          <a:bodyPr/>
          <a:lstStyle/>
          <a:p>
            <a:pPr eaLnBrk="1" hangingPunct="1"/>
            <a:r>
              <a:rPr lang="en-US" altLang="en-US" sz="3000"/>
              <a:t>  Dining-Philosophers Problem Algorithm</a:t>
            </a:r>
          </a:p>
        </p:txBody>
      </p:sp>
      <p:sp>
        <p:nvSpPr>
          <p:cNvPr id="43011" name="Rectangle 3"/>
          <p:cNvSpPr>
            <a:spLocks noGrp="1" noChangeArrowheads="1"/>
          </p:cNvSpPr>
          <p:nvPr>
            <p:ph idx="1"/>
          </p:nvPr>
        </p:nvSpPr>
        <p:spPr>
          <a:xfrm>
            <a:off x="827088" y="1119188"/>
            <a:ext cx="7107237" cy="4784725"/>
          </a:xfrm>
        </p:spPr>
        <p:txBody>
          <a:bodyPr/>
          <a:lstStyle/>
          <a:p>
            <a:pPr marL="376238" indent="-376238">
              <a:lnSpc>
                <a:spcPct val="90000"/>
              </a:lnSpc>
              <a:tabLst>
                <a:tab pos="1709738" algn="l"/>
                <a:tab pos="2001838" algn="l"/>
                <a:tab pos="2227263" algn="l"/>
                <a:tab pos="2454275" algn="l"/>
              </a:tabLst>
            </a:pPr>
            <a:r>
              <a:rPr lang="en-US" altLang="en-US" dirty="0"/>
              <a:t>The structure of Philosopher</a:t>
            </a:r>
            <a:r>
              <a:rPr lang="en-US" altLang="en-US" i="1" dirty="0">
                <a:solidFill>
                  <a:srgbClr val="0000FF"/>
                </a:solidFill>
              </a:rPr>
              <a:t> i</a:t>
            </a:r>
            <a:r>
              <a:rPr lang="en-US" altLang="en-US" dirty="0"/>
              <a:t>:</a:t>
            </a:r>
          </a:p>
          <a:p>
            <a:pPr marL="1195388" lvl="2" indent="-338138">
              <a:lnSpc>
                <a:spcPct val="90000"/>
              </a:lnSpc>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do { </a:t>
            </a:r>
          </a:p>
          <a:p>
            <a:pPr marL="1195388" lvl="2" indent="-338138">
              <a:lnSpc>
                <a:spcPct val="90000"/>
              </a:lnSpc>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wait (chopstick[</a:t>
            </a:r>
            <a:r>
              <a:rPr lang="en-US" altLang="en-US" sz="1600" b="1" dirty="0" err="1">
                <a:solidFill>
                  <a:srgbClr val="000000"/>
                </a:solidFill>
                <a:latin typeface="Courier New" pitchFamily="49" charset="0"/>
              </a:rPr>
              <a:t>i</a:t>
            </a:r>
            <a:r>
              <a:rPr lang="en-US" altLang="en-US" sz="1600" b="1" dirty="0">
                <a:solidFill>
                  <a:srgbClr val="000000"/>
                </a:solidFill>
                <a:latin typeface="Courier New" pitchFamily="49" charset="0"/>
              </a:rPr>
              <a:t>] );</a:t>
            </a:r>
          </a:p>
          <a:p>
            <a:pPr marL="1195388" lvl="2" indent="-338138">
              <a:lnSpc>
                <a:spcPct val="90000"/>
              </a:lnSpc>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wait (</a:t>
            </a:r>
            <a:r>
              <a:rPr lang="en-US" altLang="en-US" sz="1600" b="1" dirty="0" err="1">
                <a:solidFill>
                  <a:srgbClr val="000000"/>
                </a:solidFill>
                <a:latin typeface="Courier New" pitchFamily="49" charset="0"/>
              </a:rPr>
              <a:t>chopStick</a:t>
            </a:r>
            <a:r>
              <a:rPr lang="en-US" altLang="en-US" sz="1600" b="1" dirty="0">
                <a:solidFill>
                  <a:srgbClr val="000000"/>
                </a:solidFill>
                <a:latin typeface="Courier New" pitchFamily="49" charset="0"/>
              </a:rPr>
              <a:t>[ (</a:t>
            </a:r>
            <a:r>
              <a:rPr lang="en-US" altLang="en-US" sz="1600" b="1" dirty="0" err="1">
                <a:solidFill>
                  <a:srgbClr val="000000"/>
                </a:solidFill>
                <a:latin typeface="Courier New" pitchFamily="49" charset="0"/>
              </a:rPr>
              <a:t>i</a:t>
            </a:r>
            <a:r>
              <a:rPr lang="en-US" altLang="en-US" sz="1600" b="1" dirty="0">
                <a:solidFill>
                  <a:srgbClr val="000000"/>
                </a:solidFill>
                <a:latin typeface="Courier New" pitchFamily="49" charset="0"/>
              </a:rPr>
              <a:t> + 1) % 5] );</a:t>
            </a:r>
          </a:p>
          <a:p>
            <a:pPr marL="1195388" lvl="2" indent="-338138">
              <a:lnSpc>
                <a:spcPct val="90000"/>
              </a:lnSpc>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a:t>
            </a:r>
          </a:p>
          <a:p>
            <a:pPr marL="1195388" lvl="2" indent="-338138">
              <a:lnSpc>
                <a:spcPct val="90000"/>
              </a:lnSpc>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  eat</a:t>
            </a:r>
          </a:p>
          <a:p>
            <a:pPr marL="1195388" lvl="2" indent="-338138">
              <a:lnSpc>
                <a:spcPct val="90000"/>
              </a:lnSpc>
              <a:buFont typeface="Webdings" pitchFamily="18" charset="2"/>
              <a:buNone/>
              <a:tabLst>
                <a:tab pos="1709738" algn="l"/>
                <a:tab pos="2001838" algn="l"/>
                <a:tab pos="2227263" algn="l"/>
                <a:tab pos="2454275" algn="l"/>
              </a:tabLst>
            </a:pPr>
            <a:endParaRPr lang="en-US" altLang="en-US" sz="1600" b="1" dirty="0">
              <a:solidFill>
                <a:srgbClr val="000000"/>
              </a:solidFill>
              <a:latin typeface="Courier New" pitchFamily="49" charset="0"/>
            </a:endParaRPr>
          </a:p>
          <a:p>
            <a:pPr marL="1195388" lvl="2" indent="-338138">
              <a:lnSpc>
                <a:spcPct val="90000"/>
              </a:lnSpc>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signal (chopstick[</a:t>
            </a:r>
            <a:r>
              <a:rPr lang="en-US" altLang="en-US" sz="1600" b="1" dirty="0" err="1">
                <a:solidFill>
                  <a:srgbClr val="000000"/>
                </a:solidFill>
                <a:latin typeface="Courier New" pitchFamily="49" charset="0"/>
              </a:rPr>
              <a:t>i</a:t>
            </a:r>
            <a:r>
              <a:rPr lang="en-US" altLang="en-US" sz="1600" b="1" dirty="0">
                <a:solidFill>
                  <a:srgbClr val="000000"/>
                </a:solidFill>
                <a:latin typeface="Courier New" pitchFamily="49" charset="0"/>
              </a:rPr>
              <a:t>] );</a:t>
            </a:r>
          </a:p>
          <a:p>
            <a:pPr marL="1195388" lvl="2" indent="-338138">
              <a:lnSpc>
                <a:spcPct val="90000"/>
              </a:lnSpc>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signal (chopstick[ (</a:t>
            </a:r>
            <a:r>
              <a:rPr lang="en-US" altLang="en-US" sz="1600" b="1" dirty="0" err="1">
                <a:solidFill>
                  <a:srgbClr val="000000"/>
                </a:solidFill>
                <a:latin typeface="Courier New" pitchFamily="49" charset="0"/>
              </a:rPr>
              <a:t>i</a:t>
            </a:r>
            <a:r>
              <a:rPr lang="en-US" altLang="en-US" sz="1600" b="1" dirty="0">
                <a:solidFill>
                  <a:srgbClr val="000000"/>
                </a:solidFill>
                <a:latin typeface="Courier New" pitchFamily="49" charset="0"/>
              </a:rPr>
              <a:t> + 1) % 5] );</a:t>
            </a:r>
          </a:p>
          <a:p>
            <a:pPr marL="1195388" lvl="2" indent="-338138">
              <a:lnSpc>
                <a:spcPct val="90000"/>
              </a:lnSpc>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a:t>
            </a:r>
          </a:p>
          <a:p>
            <a:pPr marL="1195388" lvl="2" indent="-338138">
              <a:lnSpc>
                <a:spcPct val="90000"/>
              </a:lnSpc>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  think</a:t>
            </a:r>
          </a:p>
          <a:p>
            <a:pPr marL="1195388" lvl="2" indent="-338138">
              <a:lnSpc>
                <a:spcPct val="90000"/>
              </a:lnSpc>
              <a:buFont typeface="Webdings" pitchFamily="18" charset="2"/>
              <a:buNone/>
              <a:tabLst>
                <a:tab pos="1709738" algn="l"/>
                <a:tab pos="2001838" algn="l"/>
                <a:tab pos="2227263" algn="l"/>
                <a:tab pos="2454275" algn="l"/>
              </a:tabLst>
            </a:pPr>
            <a:endParaRPr lang="en-US" altLang="en-US" b="1" dirty="0">
              <a:solidFill>
                <a:srgbClr val="000000"/>
              </a:solidFill>
              <a:latin typeface="Courier New" pitchFamily="49" charset="0"/>
            </a:endParaRPr>
          </a:p>
          <a:p>
            <a:pPr marL="1195388" lvl="2" indent="-338138">
              <a:lnSpc>
                <a:spcPct val="90000"/>
              </a:lnSpc>
              <a:buFont typeface="Webdings" pitchFamily="18" charset="2"/>
              <a:buNone/>
              <a:tabLst>
                <a:tab pos="1709738" algn="l"/>
                <a:tab pos="2001838" algn="l"/>
                <a:tab pos="2227263" algn="l"/>
                <a:tab pos="2454275" algn="l"/>
              </a:tabLst>
            </a:pPr>
            <a:r>
              <a:rPr lang="en-US" altLang="en-US" sz="1600" b="1" dirty="0">
                <a:solidFill>
                  <a:srgbClr val="000000"/>
                </a:solidFill>
                <a:latin typeface="Courier New" pitchFamily="49" charset="0"/>
              </a:rPr>
              <a:t>} while (TRUE);</a:t>
            </a:r>
            <a:endParaRPr lang="en-US" altLang="en-US" sz="1600" dirty="0">
              <a:solidFill>
                <a:srgbClr val="0000FF"/>
              </a:solidFill>
            </a:endParaRPr>
          </a:p>
          <a:p>
            <a:pPr marL="376238" indent="-376238">
              <a:lnSpc>
                <a:spcPct val="90000"/>
              </a:lnSpc>
              <a:tabLst>
                <a:tab pos="1709738" algn="l"/>
                <a:tab pos="2001838" algn="l"/>
                <a:tab pos="2227263" algn="l"/>
                <a:tab pos="2454275" algn="l"/>
              </a:tabLst>
            </a:pPr>
            <a:r>
              <a:rPr lang="en-US" altLang="en-US" dirty="0"/>
              <a:t>  What is the problem with this algorithm?</a:t>
            </a:r>
          </a:p>
          <a:p>
            <a:pPr marL="1195388" lvl="2" indent="-338138">
              <a:lnSpc>
                <a:spcPct val="90000"/>
              </a:lnSpc>
              <a:buFont typeface="Webdings" pitchFamily="18" charset="2"/>
              <a:buNone/>
              <a:tabLst>
                <a:tab pos="1709738" algn="l"/>
                <a:tab pos="2001838" algn="l"/>
                <a:tab pos="2227263" algn="l"/>
                <a:tab pos="2454275" algn="l"/>
              </a:tabLst>
            </a:pPr>
            <a:endParaRPr lang="en-US" altLang="en-US" dirty="0">
              <a:solidFill>
                <a:srgbClr val="0000FF"/>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1025525" y="142875"/>
            <a:ext cx="8002588" cy="576263"/>
          </a:xfrm>
        </p:spPr>
        <p:txBody>
          <a:bodyPr/>
          <a:lstStyle/>
          <a:p>
            <a:pPr eaLnBrk="1" hangingPunct="1"/>
            <a:r>
              <a:rPr lang="en-US" altLang="en-US" sz="2400"/>
              <a:t>Dining-Philosophers Problem Algorithm (Cont.)</a:t>
            </a:r>
          </a:p>
        </p:txBody>
      </p:sp>
      <p:sp>
        <p:nvSpPr>
          <p:cNvPr id="44035" name="Rectangle 3"/>
          <p:cNvSpPr>
            <a:spLocks noGrp="1" noChangeArrowheads="1"/>
          </p:cNvSpPr>
          <p:nvPr>
            <p:ph idx="1"/>
          </p:nvPr>
        </p:nvSpPr>
        <p:spPr>
          <a:xfrm>
            <a:off x="885825" y="1223963"/>
            <a:ext cx="6442075" cy="4860925"/>
          </a:xfrm>
        </p:spPr>
        <p:txBody>
          <a:bodyPr/>
          <a:lstStyle/>
          <a:p>
            <a:r>
              <a:rPr lang="en-US" altLang="en-US"/>
              <a:t>Deadlock handling</a:t>
            </a:r>
          </a:p>
          <a:p>
            <a:pPr lvl="1"/>
            <a:r>
              <a:rPr lang="en-US" altLang="en-US"/>
              <a:t> Allow at most 4 philosophers to be sitting simultaneously at  the table.</a:t>
            </a:r>
          </a:p>
          <a:p>
            <a:pPr lvl="1"/>
            <a:r>
              <a:rPr lang="en-US" altLang="en-US"/>
              <a:t> Allow a philosopher to pick up  the chopsticks only if both are available (picking must be done in a critical section).</a:t>
            </a:r>
          </a:p>
          <a:p>
            <a:pPr lvl="1"/>
            <a:r>
              <a:rPr lang="en-US" altLang="en-US"/>
              <a:t> Use an asymmetric solution  -- an odd-numbered  philosopher picks  up first the left chopstick and then the right chopstick. Even-numbered  philosopher picks  up first the right chopstick and then the left chopstick. </a:t>
            </a:r>
          </a:p>
          <a:p>
            <a:pPr lvl="1"/>
            <a:endParaRPr lang="en-US" altLang="en-US"/>
          </a:p>
          <a:p>
            <a:pPr>
              <a:buFont typeface="Monotype Sorts" pitchFamily="-84" charset="2"/>
              <a:buNone/>
            </a:pPr>
            <a:endParaRPr lang="en-US" altLang="en-US"/>
          </a:p>
          <a:p>
            <a:endParaRPr lang="en-US" altLang="en-US"/>
          </a:p>
          <a:p>
            <a:endParaRPr lang="en-US"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ctrTitle"/>
          </p:nvPr>
        </p:nvSpPr>
        <p:spPr/>
        <p:txBody>
          <a:bodyPr/>
          <a:lstStyle/>
          <a:p>
            <a:pPr eaLnBrk="1" hangingPunct="1"/>
            <a:r>
              <a:rPr lang="en-US" altLang="en-US"/>
              <a:t>End of Chapter 5</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24861</TotalTime>
  <Words>3139</Words>
  <Application>Microsoft Office PowerPoint</Application>
  <PresentationFormat>On-screen Show (4:3)</PresentationFormat>
  <Paragraphs>478</Paragraphs>
  <Slides>43</Slides>
  <Notes>38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43</vt:i4>
      </vt:variant>
    </vt:vector>
  </HeadingPairs>
  <TitlesOfParts>
    <vt:vector size="55" baseType="lpstr">
      <vt:lpstr>Courier</vt:lpstr>
      <vt:lpstr>Monotype Sorts</vt:lpstr>
      <vt:lpstr>MS PGothic</vt:lpstr>
      <vt:lpstr>Arial</vt:lpstr>
      <vt:lpstr>Courier New</vt:lpstr>
      <vt:lpstr>Helvetica</vt:lpstr>
      <vt:lpstr>MT Extra</vt:lpstr>
      <vt:lpstr>Times New Roman</vt:lpstr>
      <vt:lpstr>Verdana</vt:lpstr>
      <vt:lpstr>Webdings</vt:lpstr>
      <vt:lpstr>Wingdings 2</vt:lpstr>
      <vt:lpstr>os-8</vt:lpstr>
      <vt:lpstr>Chapter 6:  Process Synchronization</vt:lpstr>
      <vt:lpstr>Chapter 6: Process Synchronization</vt:lpstr>
      <vt:lpstr>Background</vt:lpstr>
      <vt:lpstr>Producer </vt:lpstr>
      <vt:lpstr>Consumer</vt:lpstr>
      <vt:lpstr>Race Condition</vt:lpstr>
      <vt:lpstr>Critical Section Problem</vt:lpstr>
      <vt:lpstr>Critical Section</vt:lpstr>
      <vt:lpstr>Critical Section</vt:lpstr>
      <vt:lpstr>Solution to Critical-Section Problem</vt:lpstr>
      <vt:lpstr>Algorithm 1 for Process P0   P1 </vt:lpstr>
      <vt:lpstr>Algorithm 2 for Process P0   P1 </vt:lpstr>
      <vt:lpstr>Peterson’s Solution</vt:lpstr>
      <vt:lpstr>Algorithm for Process P0 P1</vt:lpstr>
      <vt:lpstr>Peterson’s Solution (Cont.)</vt:lpstr>
      <vt:lpstr>Critical-Section Handling in OS </vt:lpstr>
      <vt:lpstr>Synchronization Hardware</vt:lpstr>
      <vt:lpstr>Solution to Critical-section Problem Using Locks</vt:lpstr>
      <vt:lpstr>test_and_set  Instruction </vt:lpstr>
      <vt:lpstr>Solution using test_and_set()</vt:lpstr>
      <vt:lpstr>compare_and_swap Instruction</vt:lpstr>
      <vt:lpstr>Solution using compare_and_swap</vt:lpstr>
      <vt:lpstr>Bounded-waiting Mutual Exclusion with test_and_set</vt:lpstr>
      <vt:lpstr>Mutex Locks</vt:lpstr>
      <vt:lpstr>acquire() and release()</vt:lpstr>
      <vt:lpstr>Semaphore</vt:lpstr>
      <vt:lpstr>Semaphore Usage</vt:lpstr>
      <vt:lpstr>Semaphore Implementation</vt:lpstr>
      <vt:lpstr>Semaphore Implementation with no Busy waiting </vt:lpstr>
      <vt:lpstr>Implementation with no Busy waiting (Cont.)</vt:lpstr>
      <vt:lpstr>Deadlock and Starvation</vt:lpstr>
      <vt:lpstr>Classical Problems of Synchronization</vt:lpstr>
      <vt:lpstr>Bounded-Buffer Problem</vt:lpstr>
      <vt:lpstr>Bounded Buffer Problem (Cont.)</vt:lpstr>
      <vt:lpstr>Bounded Buffer Problem (Cont.)</vt:lpstr>
      <vt:lpstr>Readers-Writers Problem</vt:lpstr>
      <vt:lpstr>Readers-Writers Problem (Cont.)</vt:lpstr>
      <vt:lpstr>Readers-Writers Problem (Cont.)</vt:lpstr>
      <vt:lpstr>Readers-Writers Problem Variations</vt:lpstr>
      <vt:lpstr>Dining-Philosophers Problem</vt:lpstr>
      <vt:lpstr>  Dining-Philosophers Problem Algorithm</vt:lpstr>
      <vt:lpstr>Dining-Philosophers Problem Algorithm (Cont.)</vt:lpstr>
      <vt:lpstr>End of Chapter 5</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Liu, Siming</cp:lastModifiedBy>
  <cp:revision>484</cp:revision>
  <cp:lastPrinted>2013-09-18T17:45:18Z</cp:lastPrinted>
  <dcterms:created xsi:type="dcterms:W3CDTF">2011-01-13T23:43:38Z</dcterms:created>
  <dcterms:modified xsi:type="dcterms:W3CDTF">2024-09-05T13:34:18Z</dcterms:modified>
</cp:coreProperties>
</file>