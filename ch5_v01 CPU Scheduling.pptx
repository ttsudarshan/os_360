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3"/>
  </p:notesMasterIdLst>
  <p:handoutMasterIdLst>
    <p:handoutMasterId r:id="rId44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62" r:id="rId29"/>
    <p:sldId id="363" r:id="rId30"/>
    <p:sldId id="364" r:id="rId31"/>
    <p:sldId id="365" r:id="rId32"/>
    <p:sldId id="366" r:id="rId33"/>
    <p:sldId id="367" r:id="rId34"/>
    <p:sldId id="368" r:id="rId35"/>
    <p:sldId id="369" r:id="rId36"/>
    <p:sldId id="373" r:id="rId37"/>
    <p:sldId id="390" r:id="rId38"/>
    <p:sldId id="391" r:id="rId39"/>
    <p:sldId id="394" r:id="rId40"/>
    <p:sldId id="395" r:id="rId41"/>
    <p:sldId id="397" r:id="rId42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0000"/>
    <a:srgbClr val="CCECFF"/>
    <a:srgbClr val="66CCFF"/>
    <a:srgbClr val="CCFFFF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8CBDA7-5656-4494-A54C-2BCE49CBF7E4}" v="2" dt="2020-10-06T16:34:26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1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675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Siming" userId="1e4b75e0-8938-470c-9583-bf4243e4c4f1" providerId="ADAL" clId="{DF8CBDA7-5656-4494-A54C-2BCE49CBF7E4}"/>
    <pc:docChg chg="modSld">
      <pc:chgData name="Liu, Siming" userId="1e4b75e0-8938-470c-9583-bf4243e4c4f1" providerId="ADAL" clId="{DF8CBDA7-5656-4494-A54C-2BCE49CBF7E4}" dt="2020-10-06T16:34:26.759" v="2" actId="1076"/>
      <pc:docMkLst>
        <pc:docMk/>
      </pc:docMkLst>
      <pc:sldChg chg="addSp modSp mod">
        <pc:chgData name="Liu, Siming" userId="1e4b75e0-8938-470c-9583-bf4243e4c4f1" providerId="ADAL" clId="{DF8CBDA7-5656-4494-A54C-2BCE49CBF7E4}" dt="2020-10-06T16:34:26.759" v="2" actId="1076"/>
        <pc:sldMkLst>
          <pc:docMk/>
          <pc:sldMk cId="0" sldId="391"/>
        </pc:sldMkLst>
        <pc:picChg chg="add mod">
          <ac:chgData name="Liu, Siming" userId="1e4b75e0-8938-470c-9583-bf4243e4c4f1" providerId="ADAL" clId="{DF8CBDA7-5656-4494-A54C-2BCE49CBF7E4}" dt="2020-10-06T16:34:26.759" v="2" actId="1076"/>
          <ac:picMkLst>
            <pc:docMk/>
            <pc:sldMk cId="0" sldId="391"/>
            <ac:picMk id="2" creationId="{8681F645-2319-4C35-BFC0-4D991E4795C4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pitchFamily="-84" charset="0"/>
              </a:defRPr>
            </a:lvl1pPr>
          </a:lstStyle>
          <a:p>
            <a:pPr>
              <a:defRPr/>
            </a:pPr>
            <a:fld id="{FB992E79-9981-4D9C-9086-87C68B85BE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72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AC2065F-DFAF-463B-8F81-C8F556C55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479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8926DDB-215F-4D57-B455-A44A961AB938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FAE760D-21B0-4A34-8311-259C84A803DA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C8EB05B-7EE1-4D9A-BB3E-77D1E97807E9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F1BA5B4-C2F0-40E0-9051-0117C4D75C86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5FF19C8-BA22-4A0D-A2D0-98F311F09C15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6F93698-F901-4FBA-8B09-B13615F6E697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35CA231-DF6C-4DF1-A05C-5FFE783B091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9F401C-EDF7-46DD-BE02-42DA3E66DE67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44287AB-88A7-4BED-94E2-8A9D88FFE482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E90459F-3333-4FE2-9D30-9AF13E1D8AFE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E1907F0-17B0-4E3A-B846-05C48E8B106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0B599BE-1140-4F76-857C-C8054DF5B95F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8D87DD9-3AA3-4AEE-9BB3-4E941619A625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A2DEE3A-5A12-4420-8041-982C0A42D583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CE27B11-B435-42B4-9ED0-87DBF52BB266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56471F-FDC0-40AA-81B0-B755E6A44D11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F1C8DF1-C9F1-411F-8858-0195A7F60376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294FEAF-9EDC-46A7-87CE-B81148D49FEB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262F70-A0B2-499B-995F-AA2A91914DAD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455709-E5C4-4EEA-8D6F-C7C9D403A6B5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A567720-6F2E-451C-8FE6-22548CB4E3C7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2155FD-6A30-4E1F-8202-FE505ED603EE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85938EC-2DB9-4AE8-9FB0-45ABEF64343C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DB725BB-7636-426E-BFCA-1C7B5F6778DD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90520D1-8650-4BB9-AB73-A83F02F31774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1F70E08-8768-4E4A-BF69-63ACE25BB521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3B3440-C579-478F-B71E-C8AA5D8BD7CC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11C537B-00B1-45ED-B9E4-C8A6481C86AF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3842FC0-99B3-4090-93C3-414828D59DEB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5F32E45-BE3F-4111-B971-8497C1A35062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5BA1508-3526-4D27-8F17-D7E48F5BD818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F31D8B0-CEB2-47C8-94C8-BA5D4ED035C0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EDE202F-C116-4F96-AB20-0285D7E7D891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955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35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492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068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6484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993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291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45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0689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263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7298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873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6.</a:t>
            </a:r>
            <a:fld id="{2A4F99E5-FB3D-476A-8788-F71302E2E74F}" type="slidenum">
              <a:rPr lang="en-US" altLang="en-US" sz="1000" b="1" smtClean="0">
                <a:solidFill>
                  <a:srgbClr val="006699"/>
                </a:solidFill>
                <a:latin typeface="Helvetica" pitchFamily="-8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itchFamily="-8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8263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6:  CPU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762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/>
              <a:t>Chapter 6:  CPU Scheduling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195388"/>
            <a:ext cx="7335838" cy="3773487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  <a:p>
            <a:r>
              <a:rPr lang="en-US" altLang="en-US" dirty="0"/>
              <a:t>Scheduling Criteria </a:t>
            </a:r>
          </a:p>
          <a:p>
            <a:r>
              <a:rPr lang="en-US" altLang="en-US" dirty="0"/>
              <a:t>Scheduling Algorithms</a:t>
            </a:r>
          </a:p>
          <a:p>
            <a:r>
              <a:rPr lang="en-US" altLang="en-US" dirty="0"/>
              <a:t>Multiple-Processor Scheduling</a:t>
            </a:r>
          </a:p>
          <a:p>
            <a:r>
              <a:rPr lang="en-US" altLang="en-US" dirty="0"/>
              <a:t>Real-Time CPU Scheduling</a:t>
            </a:r>
          </a:p>
          <a:p>
            <a:r>
              <a:rPr lang="en-US" altLang="en-US" dirty="0"/>
              <a:t>Operating Systems Examples</a:t>
            </a:r>
          </a:p>
          <a:p>
            <a:r>
              <a:rPr lang="en-US" altLang="en-US" dirty="0"/>
              <a:t>Algorithm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946150" y="1233488"/>
            <a:ext cx="7283450" cy="4530725"/>
          </a:xfrm>
        </p:spPr>
        <p:txBody>
          <a:bodyPr/>
          <a:lstStyle/>
          <a:p>
            <a:r>
              <a:rPr lang="en-US" altLang="en-US"/>
              <a:t>To introduce CPU scheduling, which is the basis for multiprogrammed operating systems</a:t>
            </a:r>
          </a:p>
          <a:p>
            <a:r>
              <a:rPr lang="en-US" altLang="en-US"/>
              <a:t>To describe various CPU-scheduling algorithms</a:t>
            </a:r>
          </a:p>
          <a:p>
            <a:r>
              <a:rPr lang="en-US" altLang="en-US"/>
              <a:t>To discuss evaluation criteria for selecting a CPU-scheduling algorithm for a particular system</a:t>
            </a:r>
          </a:p>
          <a:p>
            <a:r>
              <a:rPr lang="en-US" altLang="en-US"/>
              <a:t>To examine the scheduling algorithms of several operating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Basic Concepts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1375" y="1274763"/>
            <a:ext cx="3978275" cy="5057775"/>
          </a:xfrm>
        </p:spPr>
        <p:txBody>
          <a:bodyPr/>
          <a:lstStyle/>
          <a:p>
            <a:r>
              <a:rPr lang="en-US" altLang="en-US"/>
              <a:t>Maximum CPU utilization obtained with multiprogramming</a:t>
            </a:r>
          </a:p>
          <a:p>
            <a:r>
              <a:rPr lang="en-US" altLang="en-US"/>
              <a:t>CPU–I/O Burst Cycle – Process execution consists of a </a:t>
            </a:r>
            <a:r>
              <a:rPr lang="en-US" altLang="en-US" b="1">
                <a:solidFill>
                  <a:srgbClr val="3366FF"/>
                </a:solidFill>
              </a:rPr>
              <a:t>cycle</a:t>
            </a:r>
            <a:r>
              <a:rPr lang="en-US" altLang="en-US"/>
              <a:t> of CPU execution and I/O wait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CPU burst </a:t>
            </a:r>
            <a:r>
              <a:rPr lang="en-US" altLang="en-US"/>
              <a:t>followed by </a:t>
            </a:r>
            <a:r>
              <a:rPr lang="en-US" altLang="en-US" b="1">
                <a:solidFill>
                  <a:srgbClr val="3366FF"/>
                </a:solidFill>
              </a:rPr>
              <a:t>I/O burst</a:t>
            </a:r>
            <a:endParaRPr lang="en-US" altLang="en-US"/>
          </a:p>
          <a:p>
            <a:r>
              <a:rPr lang="en-US" altLang="en-US"/>
              <a:t>CPU burst distribution is of main concern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  <p:pic>
        <p:nvPicPr>
          <p:cNvPr id="7172" name="Picture 1" descr="6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1143000"/>
            <a:ext cx="2360613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76213"/>
            <a:ext cx="7620000" cy="576262"/>
          </a:xfrm>
        </p:spPr>
        <p:txBody>
          <a:bodyPr/>
          <a:lstStyle/>
          <a:p>
            <a:pPr eaLnBrk="1" hangingPunct="1"/>
            <a:r>
              <a:rPr lang="en-US" altLang="en-US"/>
              <a:t>Histogram of CPU-burst Times</a:t>
            </a:r>
          </a:p>
        </p:txBody>
      </p:sp>
      <p:pic>
        <p:nvPicPr>
          <p:cNvPr id="819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525588"/>
            <a:ext cx="572135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16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169988"/>
            <a:ext cx="7067550" cy="4786312"/>
          </a:xfrm>
        </p:spPr>
        <p:txBody>
          <a:bodyPr/>
          <a:lstStyle/>
          <a:p>
            <a:pPr marL="342815" indent="-342815">
              <a:buFont typeface="Monotype Sorts" charset="2"/>
              <a:buChar char="n"/>
              <a:defRPr/>
            </a:pPr>
            <a:r>
              <a:rPr lang="en-US" sz="20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Short-term scheduler </a:t>
            </a:r>
            <a:r>
              <a:rPr lang="en-US" sz="2000" dirty="0">
                <a:ea typeface="ＭＳ Ｐゴシック" charset="-128"/>
              </a:rPr>
              <a:t>selects from among the processes in </a:t>
            </a:r>
            <a:r>
              <a:rPr lang="en-US" sz="20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ready</a:t>
            </a:r>
            <a:r>
              <a:rPr lang="en-US" sz="2000" dirty="0">
                <a:ea typeface="ＭＳ Ｐゴシック" charset="-128"/>
              </a:rPr>
              <a:t> queue</a:t>
            </a:r>
          </a:p>
          <a:p>
            <a:pPr marL="342815" indent="-342815">
              <a:buFont typeface="Monotype Sorts" charset="2"/>
              <a:buChar char="n"/>
              <a:defRPr/>
            </a:pPr>
            <a:endParaRPr lang="en-US" sz="2000" dirty="0">
              <a:ea typeface="ＭＳ Ｐゴシック" charset="-128"/>
            </a:endParaRP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sz="2000" dirty="0">
                <a:ea typeface="ＭＳ Ｐゴシック" charset="-128"/>
              </a:rPr>
              <a:t>CPU scheduling decisions:</a:t>
            </a:r>
          </a:p>
          <a:p>
            <a:pPr marL="799900" lvl="1" indent="-342815">
              <a:buNone/>
              <a:defRPr/>
            </a:pPr>
            <a:r>
              <a:rPr lang="en-US" sz="2000" dirty="0">
                <a:solidFill>
                  <a:srgbClr val="CC6600"/>
                </a:solidFill>
                <a:ea typeface="ＭＳ Ｐゴシック" charset="-128"/>
              </a:rPr>
              <a:t>1.	</a:t>
            </a:r>
            <a:r>
              <a:rPr lang="en-US" sz="2000" dirty="0">
                <a:ea typeface="ＭＳ Ｐゴシック" charset="-128"/>
              </a:rPr>
              <a:t>Running </a:t>
            </a:r>
            <a:r>
              <a:rPr lang="en-US" sz="2000" dirty="0"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sz="2000" dirty="0">
                <a:ea typeface="ＭＳ Ｐゴシック" charset="-128"/>
              </a:rPr>
              <a:t> Waiting </a:t>
            </a:r>
          </a:p>
          <a:p>
            <a:pPr marL="799900" lvl="1" indent="-342815">
              <a:buFont typeface="Monotype Sorts" pitchFamily="-84" charset="2"/>
              <a:buNone/>
              <a:defRPr/>
            </a:pPr>
            <a:r>
              <a:rPr lang="en-US" sz="2000" dirty="0">
                <a:solidFill>
                  <a:srgbClr val="CC6600"/>
                </a:solidFill>
                <a:ea typeface="ＭＳ Ｐゴシック" charset="-128"/>
              </a:rPr>
              <a:t>2.</a:t>
            </a:r>
            <a:r>
              <a:rPr lang="en-US" sz="2000" dirty="0">
                <a:ea typeface="ＭＳ Ｐゴシック" charset="-128"/>
              </a:rPr>
              <a:t>	Running </a:t>
            </a:r>
            <a:r>
              <a:rPr lang="en-US" sz="2000" dirty="0"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sz="2000" dirty="0">
                <a:ea typeface="ＭＳ Ｐゴシック" charset="-128"/>
              </a:rPr>
              <a:t> Ready</a:t>
            </a:r>
          </a:p>
          <a:p>
            <a:pPr marL="799900" lvl="1" indent="-342815">
              <a:buFont typeface="Monotype Sorts" pitchFamily="-84" charset="2"/>
              <a:buNone/>
              <a:defRPr/>
            </a:pPr>
            <a:r>
              <a:rPr lang="en-US" sz="2000" dirty="0">
                <a:solidFill>
                  <a:srgbClr val="CC6600"/>
                </a:solidFill>
                <a:ea typeface="ＭＳ Ｐゴシック" charset="-128"/>
              </a:rPr>
              <a:t>3.</a:t>
            </a:r>
            <a:r>
              <a:rPr lang="en-US" sz="2000" dirty="0">
                <a:ea typeface="ＭＳ Ｐゴシック" charset="-128"/>
              </a:rPr>
              <a:t>	Waiting </a:t>
            </a:r>
            <a:r>
              <a:rPr lang="en-US" sz="2000" dirty="0"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sz="2000" dirty="0">
                <a:ea typeface="ＭＳ Ｐゴシック" charset="-128"/>
              </a:rPr>
              <a:t> Ready</a:t>
            </a: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r>
              <a:rPr lang="en-US" sz="2000" dirty="0">
                <a:ea typeface="ＭＳ Ｐゴシック" charset="-128"/>
              </a:rPr>
              <a:t>Terminates</a:t>
            </a: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endParaRPr lang="en-US" sz="2000" dirty="0">
              <a:ea typeface="ＭＳ Ｐゴシック" charset="-128"/>
            </a:endParaRP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sz="2000" dirty="0">
                <a:ea typeface="ＭＳ Ｐゴシック" charset="-128"/>
              </a:rPr>
              <a:t>Scheduling under 1 and 4 is </a:t>
            </a:r>
            <a:r>
              <a:rPr lang="en-US" sz="2000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nonpreemptive</a:t>
            </a:r>
            <a:endParaRPr lang="en-US" sz="2000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sz="2000" dirty="0">
                <a:ea typeface="ＭＳ Ｐゴシック" charset="-128"/>
              </a:rPr>
              <a:t>All other scheduling is </a:t>
            </a:r>
            <a:r>
              <a:rPr lang="en-US" sz="20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preemptive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33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Dispatcher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775" y="1177925"/>
            <a:ext cx="6724650" cy="4483100"/>
          </a:xfrm>
        </p:spPr>
        <p:txBody>
          <a:bodyPr/>
          <a:lstStyle/>
          <a:p>
            <a:r>
              <a:rPr lang="en-US" altLang="en-US"/>
              <a:t>Dispatcher module gives control of the CPU to the process selected by the short-term scheduler; this involves:</a:t>
            </a:r>
          </a:p>
          <a:p>
            <a:pPr lvl="1"/>
            <a:r>
              <a:rPr lang="en-US" altLang="en-US"/>
              <a:t>switching context</a:t>
            </a:r>
          </a:p>
          <a:p>
            <a:pPr lvl="1"/>
            <a:r>
              <a:rPr lang="en-US" altLang="en-US"/>
              <a:t>switching to user mode</a:t>
            </a:r>
          </a:p>
          <a:p>
            <a:pPr lvl="1"/>
            <a:r>
              <a:rPr lang="en-US" altLang="en-US"/>
              <a:t>jumping to the proper location in the user program to restart that program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Dispatch latency </a:t>
            </a:r>
            <a:r>
              <a:rPr lang="en-US" altLang="en-US"/>
              <a:t>– time it takes for the dispatcher to stop one process and start another running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/>
          <a:lstStyle/>
          <a:p>
            <a:pPr eaLnBrk="1" hangingPunct="1"/>
            <a:r>
              <a:rPr lang="en-US" altLang="en-US"/>
              <a:t>Scheduling Criteria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246188"/>
            <a:ext cx="7156450" cy="4959350"/>
          </a:xfrm>
        </p:spPr>
        <p:txBody>
          <a:bodyPr/>
          <a:lstStyle/>
          <a:p>
            <a:r>
              <a:rPr lang="en-US" altLang="en-US" b="1"/>
              <a:t>CPU utilization </a:t>
            </a:r>
            <a:r>
              <a:rPr lang="en-US" altLang="en-US"/>
              <a:t>– keep the CPU as busy as possible</a:t>
            </a:r>
          </a:p>
          <a:p>
            <a:r>
              <a:rPr lang="en-US" altLang="en-US" b="1"/>
              <a:t>Throughput</a:t>
            </a:r>
            <a:r>
              <a:rPr lang="en-US" altLang="en-US"/>
              <a:t> – # of processes that complete their execution per time unit</a:t>
            </a:r>
          </a:p>
          <a:p>
            <a:r>
              <a:rPr lang="en-US" altLang="en-US" b="1"/>
              <a:t>Turnaround time </a:t>
            </a:r>
            <a:r>
              <a:rPr lang="en-US" altLang="en-US"/>
              <a:t>– amount of time to execute a particular process</a:t>
            </a:r>
          </a:p>
          <a:p>
            <a:r>
              <a:rPr lang="en-US" altLang="en-US" b="1"/>
              <a:t>Waiting time </a:t>
            </a:r>
            <a:r>
              <a:rPr lang="en-US" altLang="en-US"/>
              <a:t>– amount of time a process has been waiting in the ready queue</a:t>
            </a:r>
          </a:p>
          <a:p>
            <a:r>
              <a:rPr lang="en-US" altLang="en-US" b="1"/>
              <a:t>Response time </a:t>
            </a:r>
            <a:r>
              <a:rPr lang="en-US" altLang="en-US"/>
              <a:t>– amount of time it takes from when a request was submitted until the first response is produced, not output  (for time-sharing environment)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54163" y="138113"/>
            <a:ext cx="751363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Scheduling Algorithm Optimization Criteria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174750"/>
            <a:ext cx="6115050" cy="4483100"/>
          </a:xfrm>
        </p:spPr>
        <p:txBody>
          <a:bodyPr/>
          <a:lstStyle/>
          <a:p>
            <a:r>
              <a:rPr lang="en-US" altLang="en-US"/>
              <a:t>Max CPU utilization</a:t>
            </a:r>
          </a:p>
          <a:p>
            <a:r>
              <a:rPr lang="en-US" altLang="en-US"/>
              <a:t>Max throughput</a:t>
            </a:r>
          </a:p>
          <a:p>
            <a:r>
              <a:rPr lang="en-US" altLang="en-US"/>
              <a:t>Min turnaround time </a:t>
            </a:r>
          </a:p>
          <a:p>
            <a:r>
              <a:rPr lang="en-US" altLang="en-US"/>
              <a:t>Min waiting time </a:t>
            </a:r>
          </a:p>
          <a:p>
            <a:r>
              <a:rPr lang="en-US" altLang="en-US"/>
              <a:t>Min response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First-Come, First-Served (FCFS)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1250950"/>
            <a:ext cx="7566025" cy="41148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Suppose that the processes arrive in the order: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 </a:t>
            </a:r>
            <a:br>
              <a:rPr lang="en-US" altLang="en-US" i="1" baseline="-25000" dirty="0"/>
            </a:b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CC6600"/>
                </a:solidFill>
              </a:rPr>
              <a:t>Gantt Chart </a:t>
            </a:r>
            <a:r>
              <a:rPr lang="en-US" altLang="en-US" dirty="0"/>
              <a:t>for the schedule is: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6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Waiting time for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 = 0;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 = 24;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</a:t>
            </a:r>
            <a:r>
              <a:rPr lang="en-US" altLang="en-US" dirty="0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Average waiting time:  (0 + 24 + 27)/3 = 17</a:t>
            </a:r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3479800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651750" cy="4530725"/>
          </a:xfrm>
        </p:spPr>
        <p:txBody>
          <a:bodyPr/>
          <a:lstStyle/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/>
              <a:t>Suppose that the processes arrive in the order: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The Gantt chart for the schedule is: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Waiting time for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 </a:t>
            </a:r>
            <a:r>
              <a:rPr lang="en-US" altLang="en-US" i="1" dirty="0"/>
              <a:t>=</a:t>
            </a:r>
            <a:r>
              <a:rPr lang="en-US" altLang="en-US" dirty="0"/>
              <a:t> 6</a:t>
            </a:r>
            <a:r>
              <a:rPr lang="en-US" altLang="en-US" i="1" dirty="0"/>
              <a:t>;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= 0</a:t>
            </a:r>
            <a:r>
              <a:rPr lang="en-US" altLang="en-US" i="1" baseline="-25000" dirty="0"/>
              <a:t>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</a:t>
            </a:r>
            <a:r>
              <a:rPr lang="en-US" altLang="en-US" i="1" dirty="0"/>
              <a:t>= </a:t>
            </a:r>
            <a:r>
              <a:rPr lang="en-US" altLang="en-US" dirty="0"/>
              <a:t>3</a:t>
            </a:r>
            <a:endParaRPr lang="en-US" altLang="en-US" i="1" dirty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Average waiting time:   (6 + 0 + 3)/3 = 3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Much better than previous case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Convoy effect </a:t>
            </a:r>
            <a:r>
              <a:rPr lang="en-US" altLang="en-US" dirty="0"/>
              <a:t>- short process behind long process</a:t>
            </a:r>
          </a:p>
          <a:p>
            <a:pPr lvl="1">
              <a:tabLst>
                <a:tab pos="3649345" algn="ctr"/>
              </a:tabLst>
              <a:defRPr/>
            </a:pPr>
            <a:r>
              <a:rPr lang="en-US" altLang="en-US" dirty="0"/>
              <a:t>Consider one CPU-bound and many I/O-bound processes</a:t>
            </a:r>
          </a:p>
        </p:txBody>
      </p:sp>
      <p:pic>
        <p:nvPicPr>
          <p:cNvPr id="1434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2632075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143750" cy="4530725"/>
          </a:xfrm>
        </p:spPr>
        <p:txBody>
          <a:bodyPr/>
          <a:lstStyle/>
          <a:p>
            <a:r>
              <a:rPr lang="en-US" altLang="en-US" dirty="0"/>
              <a:t>Associate with each process the length of its next CPU burst</a:t>
            </a:r>
          </a:p>
          <a:p>
            <a:pPr lvl="1"/>
            <a:r>
              <a:rPr lang="en-US" altLang="en-US" dirty="0"/>
              <a:t> Use these lengths to schedule the process with the shortest time</a:t>
            </a:r>
          </a:p>
          <a:p>
            <a:r>
              <a:rPr lang="en-US" altLang="en-US" dirty="0">
                <a:solidFill>
                  <a:srgbClr val="CC6600"/>
                </a:solidFill>
              </a:rPr>
              <a:t>SJF is optimal</a:t>
            </a:r>
            <a:r>
              <a:rPr lang="en-US" altLang="en-US" dirty="0"/>
              <a:t> – gives minimum average waiting time for a given set of processes</a:t>
            </a:r>
          </a:p>
          <a:p>
            <a:pPr lvl="1"/>
            <a:r>
              <a:rPr lang="en-US" altLang="en-US" dirty="0"/>
              <a:t>The difficulty is knowing the length of the next CPU request</a:t>
            </a:r>
          </a:p>
          <a:p>
            <a:pPr lvl="1"/>
            <a:r>
              <a:rPr lang="en-US" altLang="en-US" dirty="0"/>
              <a:t>Could ask the user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SJF</a:t>
            </a:r>
          </a:p>
        </p:txBody>
      </p:sp>
      <p:sp>
        <p:nvSpPr>
          <p:cNvPr id="16387" name="Rectangle 36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      	                </a:t>
            </a:r>
            <a:r>
              <a:rPr lang="en-US" altLang="en-US" u="sng"/>
              <a:t>Process</a:t>
            </a:r>
            <a:r>
              <a:rPr lang="en-US" altLang="en-US" u="sng">
                <a:solidFill>
                  <a:schemeClr val="bg1"/>
                </a:solidFill>
              </a:rPr>
              <a:t>Arriva	l Time</a:t>
            </a:r>
            <a:r>
              <a:rPr lang="en-US" altLang="en-US"/>
              <a:t>	</a:t>
            </a:r>
            <a:r>
              <a:rPr lang="en-US" altLang="en-US" u="sng"/>
              <a:t>Burst Time</a:t>
            </a:r>
            <a:endParaRPr lang="en-US" altLang="en-US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   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0.0</a:t>
            </a:r>
            <a:r>
              <a:rPr lang="en-US" altLang="en-US"/>
              <a:t>	6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   </a:t>
            </a:r>
            <a:r>
              <a:rPr lang="en-US" altLang="en-US" i="1"/>
              <a:t>P</a:t>
            </a:r>
            <a:r>
              <a:rPr lang="en-US" altLang="en-US" i="1" baseline="-25000"/>
              <a:t>2 	</a:t>
            </a:r>
            <a:r>
              <a:rPr lang="en-US" altLang="en-US">
                <a:solidFill>
                  <a:schemeClr val="bg1"/>
                </a:solidFill>
              </a:rPr>
              <a:t>2.0</a:t>
            </a:r>
            <a:r>
              <a:rPr lang="en-US" altLang="en-US"/>
              <a:t>	8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   </a:t>
            </a:r>
            <a:r>
              <a:rPr lang="en-US" altLang="en-US" i="1"/>
              <a:t>P</a:t>
            </a:r>
            <a:r>
              <a:rPr lang="en-US" altLang="en-US" i="1" baseline="-25000"/>
              <a:t>3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4.0</a:t>
            </a:r>
            <a:r>
              <a:rPr lang="en-US" altLang="en-US"/>
              <a:t>	7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		            </a:t>
            </a:r>
            <a:r>
              <a:rPr lang="en-US" altLang="en-US" i="1"/>
              <a:t>P</a:t>
            </a:r>
            <a:r>
              <a:rPr lang="en-US" altLang="en-US" i="1" baseline="-25000"/>
              <a:t>4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5.0</a:t>
            </a:r>
            <a:r>
              <a:rPr lang="en-US" altLang="en-US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/>
              <a:t>Average waiting time = (3 + 16 + 9 + 0) / 4 = 7</a:t>
            </a:r>
            <a:endParaRPr lang="en-US" altLang="en-US" i="1" baseline="-25000"/>
          </a:p>
        </p:txBody>
      </p:sp>
      <p:pic>
        <p:nvPicPr>
          <p:cNvPr id="1638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4076700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9525" y="153988"/>
            <a:ext cx="7772400" cy="611187"/>
          </a:xfrm>
        </p:spPr>
        <p:txBody>
          <a:bodyPr/>
          <a:lstStyle/>
          <a:p>
            <a:pPr eaLnBrk="1" hangingPunct="1"/>
            <a:r>
              <a:rPr lang="en-US" altLang="en-US"/>
              <a:t>Determining Length of Next CPU Burst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233488"/>
            <a:ext cx="7435850" cy="493553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Can only estimate the length – should be similar to the previous one</a:t>
            </a:r>
          </a:p>
          <a:p>
            <a:pPr lvl="1">
              <a:defRPr/>
            </a:pPr>
            <a:r>
              <a:rPr lang="en-US" altLang="en-US" dirty="0"/>
              <a:t>Then pick process with shortest predicted next CPU burst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Can be done by using the length of previous CPU bursts, using exponential averaging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Commonly, </a:t>
            </a:r>
            <a:r>
              <a:rPr lang="en-US" altLang="en-US" dirty="0">
                <a:latin typeface="Lucida Grande" pitchFamily="-84" charset="0"/>
              </a:rPr>
              <a:t>α </a:t>
            </a:r>
            <a:r>
              <a:rPr lang="en-US" altLang="en-US" dirty="0"/>
              <a:t>set to ½</a:t>
            </a:r>
          </a:p>
          <a:p>
            <a:pPr>
              <a:defRPr/>
            </a:pPr>
            <a:r>
              <a:rPr lang="en-US" altLang="en-US" dirty="0"/>
              <a:t>Preemptive version called </a:t>
            </a:r>
            <a:r>
              <a:rPr lang="en-US" altLang="en-US" b="1" dirty="0">
                <a:solidFill>
                  <a:srgbClr val="3366FF"/>
                </a:solidFill>
              </a:rPr>
              <a:t>shortest-remaining-time-first</a:t>
            </a:r>
          </a:p>
          <a:p>
            <a:pPr lvl="1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979613" y="3103563"/>
          <a:ext cx="442753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6400800" imgH="1778000" progId="Equation.3">
                  <p:embed/>
                </p:oleObj>
              </mc:Choice>
              <mc:Fallback>
                <p:oleObj name="Equation" r:id="rId4" imgW="6400800" imgH="1778000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103563"/>
                        <a:ext cx="442753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55016"/>
              </p:ext>
            </p:extLst>
          </p:nvPr>
        </p:nvGraphicFramePr>
        <p:xfrm>
          <a:off x="3679825" y="4086225"/>
          <a:ext cx="1579418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1320480" imgH="228600" progId="Equation.3">
                  <p:embed/>
                </p:oleObj>
              </mc:Choice>
              <mc:Fallback>
                <p:oleObj name="Equation" r:id="rId6" imgW="1320480" imgH="228600" progId="Equation.3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825" y="4086225"/>
                        <a:ext cx="1579418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0913" y="-17463"/>
            <a:ext cx="8223250" cy="677863"/>
          </a:xfrm>
        </p:spPr>
        <p:txBody>
          <a:bodyPr/>
          <a:lstStyle/>
          <a:p>
            <a:pPr eaLnBrk="1" hangingPunct="1"/>
            <a:r>
              <a:rPr lang="en-US" altLang="en-US" sz="2400"/>
              <a:t>Prediction of the Length of the Next CPU Burst</a:t>
            </a:r>
          </a:p>
        </p:txBody>
      </p:sp>
      <p:pic>
        <p:nvPicPr>
          <p:cNvPr id="17411" name="Picture 1" descr="6_0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82700"/>
            <a:ext cx="5387975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201613"/>
            <a:ext cx="7451725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Examples of Exponential Averaging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245350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 =0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</a:t>
            </a:r>
            <a:r>
              <a:rPr lang="en-US" altLang="en-US" baseline="-25000" dirty="0">
                <a:sym typeface="Symbol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Recent history does not count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 =1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 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n</a:t>
            </a:r>
            <a:endParaRPr lang="en-US" altLang="en-US" baseline="-250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Only the actual last CPU burst counts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If we expand the formula, we get: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i="1" baseline="-25000" dirty="0">
                <a:sym typeface="Symbol" pitchFamily="18" charset="2"/>
              </a:rPr>
              <a:t>n</a:t>
            </a:r>
            <a:r>
              <a:rPr lang="en-US" altLang="en-US" baseline="-25000" dirty="0">
                <a:sym typeface="Symbol" pitchFamily="18" charset="2"/>
              </a:rPr>
              <a:t>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+(1</a:t>
            </a:r>
            <a:r>
              <a:rPr lang="en-US" altLang="en-US" i="1" dirty="0">
                <a:sym typeface="Symbol" pitchFamily="18" charset="2"/>
              </a:rPr>
              <a:t> - </a:t>
            </a:r>
            <a:r>
              <a:rPr lang="en-US" altLang="en-US" dirty="0">
                <a:sym typeface="Symbol" pitchFamily="18" charset="2"/>
              </a:rPr>
              <a:t>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-1</a:t>
            </a:r>
            <a:r>
              <a:rPr lang="en-US" altLang="en-US" i="1" baseline="-25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j</a:t>
            </a:r>
            <a:r>
              <a:rPr lang="en-US" altLang="en-US" baseline="30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</a:t>
            </a:r>
            <a:r>
              <a:rPr lang="en-US" altLang="en-US" i="1" baseline="-25000" dirty="0">
                <a:sym typeface="Symbol" pitchFamily="18" charset="2"/>
              </a:rPr>
              <a:t>j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n</a:t>
            </a:r>
            <a:r>
              <a:rPr lang="en-US" altLang="en-US" baseline="30000" dirty="0">
                <a:sym typeface="Symbol" pitchFamily="18" charset="2"/>
              </a:rPr>
              <a:t> +1 </a:t>
            </a: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0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endParaRPr lang="en-US" altLang="en-US" baseline="-25000" dirty="0">
              <a:sym typeface="Symbol" pitchFamily="18" charset="2"/>
            </a:endParaRPr>
          </a:p>
          <a:p>
            <a:pPr lvl="2">
              <a:lnSpc>
                <a:spcPct val="90000"/>
              </a:lnSpc>
              <a:buNone/>
            </a:pPr>
            <a:r>
              <a:rPr lang="en-US" altLang="en-US" baseline="-25000" dirty="0">
                <a:sym typeface="Symbol" pitchFamily="18" charset="2"/>
              </a:rPr>
              <a:t>e.g.</a:t>
            </a:r>
            <a:r>
              <a:rPr lang="en-US" altLang="en-US" dirty="0">
                <a:sym typeface="Symbol" pitchFamily="18" charset="2"/>
              </a:rPr>
              <a:t>  = 0.5,     </a:t>
            </a:r>
            <a:r>
              <a:rPr lang="en-US" altLang="en-US" i="1" baseline="-25000" dirty="0">
                <a:sym typeface="Symbol" pitchFamily="18" charset="2"/>
              </a:rPr>
              <a:t>n</a:t>
            </a:r>
            <a:r>
              <a:rPr lang="en-US" altLang="en-US" baseline="-25000" dirty="0">
                <a:sym typeface="Symbol" pitchFamily="18" charset="2"/>
              </a:rPr>
              <a:t>+1</a:t>
            </a:r>
            <a:r>
              <a:rPr lang="en-US" altLang="en-US" dirty="0">
                <a:sym typeface="Symbol" pitchFamily="18" charset="2"/>
              </a:rPr>
              <a:t> = 0.5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+ 0.25 </a:t>
            </a:r>
            <a:r>
              <a:rPr lang="en-US" altLang="en-US" i="1" dirty="0">
                <a:sym typeface="Symbol" pitchFamily="18" charset="2"/>
              </a:rPr>
              <a:t>t</a:t>
            </a:r>
            <a:r>
              <a:rPr lang="en-US" altLang="en-US" i="1" baseline="-25000" dirty="0">
                <a:sym typeface="Symbol" pitchFamily="18" charset="2"/>
              </a:rPr>
              <a:t>n</a:t>
            </a:r>
            <a:r>
              <a:rPr lang="en-US" altLang="en-US" baseline="-25000" dirty="0">
                <a:sym typeface="Symbol" pitchFamily="18" charset="2"/>
              </a:rPr>
              <a:t>-1</a:t>
            </a:r>
            <a:r>
              <a:rPr lang="en-US" altLang="en-US" i="1" baseline="-25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+ 0.125 </a:t>
            </a:r>
            <a:r>
              <a:rPr lang="en-US" altLang="en-US" i="1" dirty="0">
                <a:sym typeface="Symbol" pitchFamily="18" charset="2"/>
              </a:rPr>
              <a:t>t</a:t>
            </a:r>
            <a:r>
              <a:rPr lang="en-US" altLang="en-US" i="1" baseline="-25000" dirty="0">
                <a:sym typeface="Symbol" pitchFamily="18" charset="2"/>
              </a:rPr>
              <a:t>n</a:t>
            </a:r>
            <a:r>
              <a:rPr lang="en-US" altLang="en-US" baseline="-25000" dirty="0">
                <a:sym typeface="Symbol" pitchFamily="18" charset="2"/>
              </a:rPr>
              <a:t>-2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  <a:br>
              <a:rPr lang="en-US" altLang="en-US" baseline="-25000" dirty="0">
                <a:sym typeface="Symbol" pitchFamily="18" charset="2"/>
              </a:rPr>
            </a:br>
            <a:endParaRPr lang="en-US" altLang="en-US" baseline="-250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Since both  and (1 - ) are less than or equal to 1, each successive term has less weight than its predecessor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277813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1073150" y="1233488"/>
            <a:ext cx="7600950" cy="4530725"/>
          </a:xfrm>
        </p:spPr>
        <p:txBody>
          <a:bodyPr/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Now we add the concepts of varying </a:t>
            </a:r>
            <a:r>
              <a:rPr lang="en-US" altLang="en-US" dirty="0">
                <a:solidFill>
                  <a:srgbClr val="CC6600"/>
                </a:solidFill>
              </a:rPr>
              <a:t>arrival times </a:t>
            </a:r>
            <a:r>
              <a:rPr lang="en-US" altLang="en-US" dirty="0"/>
              <a:t>and </a:t>
            </a:r>
            <a:r>
              <a:rPr lang="en-US" altLang="en-US" dirty="0">
                <a:solidFill>
                  <a:srgbClr val="CC6600"/>
                </a:solidFill>
              </a:rPr>
              <a:t>preemption</a:t>
            </a:r>
            <a:r>
              <a:rPr lang="en-US" altLang="en-US" dirty="0"/>
              <a:t> to the analysis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</a:rPr>
              <a:t>arri</a:t>
            </a:r>
            <a:r>
              <a:rPr lang="en-US" altLang="en-US" u="sng" dirty="0">
                <a:solidFill>
                  <a:schemeClr val="bg1"/>
                </a:solidFill>
              </a:rPr>
              <a:t> </a:t>
            </a:r>
            <a:r>
              <a:rPr lang="en-US" altLang="en-US" i="1" u="sng" dirty="0"/>
              <a:t>Arrival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8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4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3</a:t>
            </a:r>
            <a:r>
              <a:rPr lang="en-US" altLang="en-US" dirty="0"/>
              <a:t>	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/>
              <a:t>Preemptive </a:t>
            </a:r>
            <a:r>
              <a:rPr lang="en-US" altLang="en-US" dirty="0"/>
              <a:t>SJF Gantt 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Average waiting time = [(10-1)+(1-1)+(17-2)+5-3)]/4 = 26/4 = 6.5 </a:t>
            </a:r>
            <a:r>
              <a:rPr lang="en-US" altLang="en-US" dirty="0" err="1"/>
              <a:t>msec</a:t>
            </a: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/>
          </a:p>
        </p:txBody>
      </p:sp>
      <p:pic>
        <p:nvPicPr>
          <p:cNvPr id="1946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4284663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233488"/>
            <a:ext cx="7423150" cy="4530725"/>
          </a:xfrm>
        </p:spPr>
        <p:txBody>
          <a:bodyPr/>
          <a:lstStyle/>
          <a:p>
            <a:r>
              <a:rPr lang="en-US" altLang="en-US" dirty="0"/>
              <a:t>A priority number (integer) is associated with each process</a:t>
            </a:r>
          </a:p>
          <a:p>
            <a:endParaRPr lang="en-US" altLang="en-US" sz="800" dirty="0"/>
          </a:p>
          <a:p>
            <a:r>
              <a:rPr lang="en-US" altLang="en-US" dirty="0"/>
              <a:t>The CPU is allocated to the process with the highest priority (smallest integer </a:t>
            </a:r>
            <a:r>
              <a:rPr lang="en-US" altLang="en-US" dirty="0">
                <a:sym typeface="Symbol" pitchFamily="18" charset="2"/>
              </a:rPr>
              <a:t> highest priority)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  <a:cs typeface="ＭＳ Ｐゴシック" charset="-128"/>
              </a:rPr>
              <a:t>Preemptive</a:t>
            </a:r>
          </a:p>
          <a:p>
            <a:pPr lvl="1"/>
            <a:r>
              <a:rPr lang="en-US" altLang="en-US" b="1" dirty="0" err="1">
                <a:solidFill>
                  <a:srgbClr val="3366FF"/>
                </a:solidFill>
                <a:cs typeface="ＭＳ Ｐゴシック" charset="-128"/>
              </a:rPr>
              <a:t>Nonpreemptive</a:t>
            </a:r>
            <a:endParaRPr lang="en-US" altLang="en-US" b="1" dirty="0">
              <a:solidFill>
                <a:srgbClr val="3366FF"/>
              </a:solidFill>
              <a:cs typeface="ＭＳ Ｐゴシック" charset="-128"/>
            </a:endParaRPr>
          </a:p>
          <a:p>
            <a:pPr lvl="1"/>
            <a:endParaRPr lang="en-US" altLang="en-US" sz="800" dirty="0"/>
          </a:p>
          <a:p>
            <a:r>
              <a:rPr lang="en-US" altLang="en-US" dirty="0"/>
              <a:t>SJF is priority scheduling where priority is the inverse of predicted next CPU burst time</a:t>
            </a:r>
          </a:p>
          <a:p>
            <a:endParaRPr lang="en-US" altLang="en-US" sz="800" dirty="0"/>
          </a:p>
          <a:p>
            <a:r>
              <a:rPr lang="en-US" altLang="en-US" dirty="0"/>
              <a:t>Problem </a:t>
            </a:r>
            <a:r>
              <a:rPr lang="en-US" altLang="en-US" dirty="0">
                <a:sym typeface="Symbol" pitchFamily="18" charset="2"/>
              </a:rPr>
              <a:t>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Starvation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– low priority processes may never execute</a:t>
            </a:r>
          </a:p>
          <a:p>
            <a:endParaRPr lang="en-US" altLang="en-US" sz="800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Solution 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Aging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– as time progresses increase the priority of the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3366FF"/>
              </a:solidFill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6525" y="201613"/>
            <a:ext cx="7280275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Priority Scheduling</a:t>
            </a:r>
          </a:p>
        </p:txBody>
      </p:sp>
      <p:sp>
        <p:nvSpPr>
          <p:cNvPr id="21507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8337550" cy="4887912"/>
          </a:xfrm>
          <a:noFill/>
        </p:spPr>
        <p:txBody>
          <a:bodyPr/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</a:rPr>
              <a:t>arri</a:t>
            </a:r>
            <a:r>
              <a:rPr lang="en-US" altLang="en-US" u="sng" dirty="0">
                <a:solidFill>
                  <a:schemeClr val="bg1"/>
                </a:solidFill>
              </a:rPr>
              <a:t> </a:t>
            </a:r>
            <a:r>
              <a:rPr lang="en-US" altLang="en-US" u="sng" dirty="0"/>
              <a:t>Burst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1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1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4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5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5	2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baseline="-25000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Priority scheduling Gantt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8.2 </a:t>
            </a:r>
            <a:r>
              <a:rPr lang="en-US" altLang="en-US" dirty="0" err="1"/>
              <a:t>msec</a:t>
            </a:r>
            <a:endParaRPr lang="en-US" altLang="en-US" i="1" baseline="-25000" dirty="0"/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1258888" y="4343402"/>
            <a:ext cx="6092825" cy="930276"/>
            <a:chOff x="793" y="2736"/>
            <a:chExt cx="3838" cy="586"/>
          </a:xfrm>
        </p:grpSpPr>
        <p:sp>
          <p:nvSpPr>
            <p:cNvPr id="3" name="AutoShape 6"/>
            <p:cNvSpPr>
              <a:spLocks noChangeAspect="1" noChangeArrowheads="1" noTextEdit="1"/>
            </p:cNvSpPr>
            <p:nvPr/>
          </p:nvSpPr>
          <p:spPr bwMode="auto">
            <a:xfrm>
              <a:off x="793" y="2736"/>
              <a:ext cx="3816" cy="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793" y="2736"/>
              <a:ext cx="3816" cy="559"/>
            </a:xfrm>
            <a:prstGeom prst="rect">
              <a:avLst/>
            </a:prstGeom>
            <a:noFill/>
            <a:ln w="0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829" y="2749"/>
              <a:ext cx="3721" cy="408"/>
            </a:xfrm>
            <a:prstGeom prst="rect">
              <a:avLst/>
            </a:prstGeom>
            <a:solidFill>
              <a:srgbClr val="EAF0F0"/>
            </a:solidFill>
            <a:ln w="0">
              <a:solidFill>
                <a:srgbClr val="EAF0F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10"/>
            <p:cNvSpPr>
              <a:spLocks noChangeShapeType="1"/>
            </p:cNvSpPr>
            <p:nvPr/>
          </p:nvSpPr>
          <p:spPr bwMode="auto">
            <a:xfrm flipH="1">
              <a:off x="829" y="3157"/>
              <a:ext cx="372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11"/>
            <p:cNvSpPr>
              <a:spLocks noChangeShapeType="1"/>
            </p:cNvSpPr>
            <p:nvPr/>
          </p:nvSpPr>
          <p:spPr bwMode="auto">
            <a:xfrm flipV="1">
              <a:off x="829" y="2749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12"/>
            <p:cNvSpPr>
              <a:spLocks noChangeShapeType="1"/>
            </p:cNvSpPr>
            <p:nvPr/>
          </p:nvSpPr>
          <p:spPr bwMode="auto">
            <a:xfrm>
              <a:off x="829" y="2749"/>
              <a:ext cx="372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3"/>
            <p:cNvSpPr>
              <a:spLocks noChangeShapeType="1"/>
            </p:cNvSpPr>
            <p:nvPr/>
          </p:nvSpPr>
          <p:spPr bwMode="auto">
            <a:xfrm>
              <a:off x="4550" y="2749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14"/>
            <p:cNvSpPr>
              <a:spLocks noChangeArrowheads="1"/>
            </p:cNvSpPr>
            <p:nvPr/>
          </p:nvSpPr>
          <p:spPr bwMode="auto">
            <a:xfrm>
              <a:off x="3010" y="2953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1" name="Rectangle 15"/>
            <p:cNvSpPr>
              <a:spLocks noChangeArrowheads="1"/>
            </p:cNvSpPr>
            <p:nvPr/>
          </p:nvSpPr>
          <p:spPr bwMode="auto">
            <a:xfrm>
              <a:off x="805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2" name="Rectangle 16"/>
            <p:cNvSpPr>
              <a:spLocks noChangeArrowheads="1"/>
            </p:cNvSpPr>
            <p:nvPr/>
          </p:nvSpPr>
          <p:spPr bwMode="auto">
            <a:xfrm>
              <a:off x="1002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3" name="Rectangle 17"/>
            <p:cNvSpPr>
              <a:spLocks noChangeArrowheads="1"/>
            </p:cNvSpPr>
            <p:nvPr/>
          </p:nvSpPr>
          <p:spPr bwMode="auto">
            <a:xfrm>
              <a:off x="4484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4" name="Rectangle 18"/>
            <p:cNvSpPr>
              <a:spLocks noChangeArrowheads="1"/>
            </p:cNvSpPr>
            <p:nvPr/>
          </p:nvSpPr>
          <p:spPr bwMode="auto">
            <a:xfrm>
              <a:off x="4540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9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869" y="2851"/>
              <a:ext cx="16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957" y="2953"/>
              <a:ext cx="4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solidFill>
                    <a:srgbClr val="000000"/>
                  </a:solidFill>
                  <a:latin typeface=""/>
                </a:rPr>
                <a:t>2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1432" y="2851"/>
              <a:ext cx="16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P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1519" y="2953"/>
              <a:ext cx="49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>
                  <a:solidFill>
                    <a:srgbClr val="000000"/>
                  </a:solidFill>
                  <a:latin typeface=""/>
                </a:rPr>
                <a:t>5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 flipV="1">
              <a:off x="3953" y="2749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24"/>
            <p:cNvSpPr>
              <a:spLocks noChangeArrowheads="1"/>
            </p:cNvSpPr>
            <p:nvPr/>
          </p:nvSpPr>
          <p:spPr bwMode="auto">
            <a:xfrm>
              <a:off x="3907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21" name="Rectangle 25"/>
            <p:cNvSpPr>
              <a:spLocks noChangeArrowheads="1"/>
            </p:cNvSpPr>
            <p:nvPr/>
          </p:nvSpPr>
          <p:spPr bwMode="auto">
            <a:xfrm>
              <a:off x="3963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22" name="Rectangle 26"/>
            <p:cNvSpPr>
              <a:spLocks noChangeArrowheads="1"/>
            </p:cNvSpPr>
            <p:nvPr/>
          </p:nvSpPr>
          <p:spPr bwMode="auto">
            <a:xfrm>
              <a:off x="4393" y="2851"/>
              <a:ext cx="15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23" name="Rectangle 27"/>
            <p:cNvSpPr>
              <a:spLocks noChangeArrowheads="1"/>
            </p:cNvSpPr>
            <p:nvPr/>
          </p:nvSpPr>
          <p:spPr bwMode="auto">
            <a:xfrm>
              <a:off x="4469" y="2953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24" name="Rectangle 28"/>
            <p:cNvSpPr>
              <a:spLocks noChangeArrowheads="1"/>
            </p:cNvSpPr>
            <p:nvPr/>
          </p:nvSpPr>
          <p:spPr bwMode="auto">
            <a:xfrm>
              <a:off x="4089" y="2851"/>
              <a:ext cx="15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25" name="Rectangle 29"/>
            <p:cNvSpPr>
              <a:spLocks noChangeArrowheads="1"/>
            </p:cNvSpPr>
            <p:nvPr/>
          </p:nvSpPr>
          <p:spPr bwMode="auto">
            <a:xfrm>
              <a:off x="4165" y="2953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26" name="Line 30"/>
            <p:cNvSpPr>
              <a:spLocks noChangeShapeType="1"/>
            </p:cNvSpPr>
            <p:nvPr/>
          </p:nvSpPr>
          <p:spPr bwMode="auto">
            <a:xfrm flipV="1">
              <a:off x="1035" y="2749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31"/>
            <p:cNvSpPr>
              <a:spLocks noChangeShapeType="1"/>
            </p:cNvSpPr>
            <p:nvPr/>
          </p:nvSpPr>
          <p:spPr bwMode="auto">
            <a:xfrm flipV="1">
              <a:off x="2007" y="2749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32"/>
            <p:cNvSpPr>
              <a:spLocks noChangeArrowheads="1"/>
            </p:cNvSpPr>
            <p:nvPr/>
          </p:nvSpPr>
          <p:spPr bwMode="auto">
            <a:xfrm>
              <a:off x="1991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29" name="Rectangle 33"/>
            <p:cNvSpPr>
              <a:spLocks noChangeArrowheads="1"/>
            </p:cNvSpPr>
            <p:nvPr/>
          </p:nvSpPr>
          <p:spPr bwMode="auto">
            <a:xfrm>
              <a:off x="4301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30" name="Rectangle 34"/>
            <p:cNvSpPr>
              <a:spLocks noChangeArrowheads="1"/>
            </p:cNvSpPr>
            <p:nvPr/>
          </p:nvSpPr>
          <p:spPr bwMode="auto">
            <a:xfrm>
              <a:off x="4357" y="3195"/>
              <a:ext cx="9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31" name="Rectangle 35"/>
            <p:cNvSpPr>
              <a:spLocks noChangeArrowheads="1"/>
            </p:cNvSpPr>
            <p:nvPr/>
          </p:nvSpPr>
          <p:spPr bwMode="auto">
            <a:xfrm>
              <a:off x="2933" y="2851"/>
              <a:ext cx="15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9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"/>
                  <a:ea typeface="MS PGothic" pitchFamily="34" charset="-128"/>
                </a:rPr>
                <a:t>P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MS PGothic" pitchFamily="34" charset="-128"/>
              </a:endParaRPr>
            </a:p>
          </p:txBody>
        </p:sp>
        <p:sp>
          <p:nvSpPr>
            <p:cNvPr id="21504" name="Line 36"/>
            <p:cNvSpPr>
              <a:spLocks noChangeShapeType="1"/>
            </p:cNvSpPr>
            <p:nvPr/>
          </p:nvSpPr>
          <p:spPr bwMode="auto">
            <a:xfrm flipV="1">
              <a:off x="4334" y="2749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1900"/>
            <a:ext cx="7150100" cy="4483100"/>
          </a:xfrm>
        </p:spPr>
        <p:txBody>
          <a:bodyPr/>
          <a:lstStyle/>
          <a:p>
            <a:r>
              <a:rPr lang="en-US" altLang="en-US"/>
              <a:t>Each process gets a small unit of CPU time (</a:t>
            </a:r>
            <a:r>
              <a:rPr lang="en-US" altLang="en-US" b="1">
                <a:solidFill>
                  <a:srgbClr val="3366FF"/>
                </a:solidFill>
              </a:rPr>
              <a:t>time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quantum</a:t>
            </a:r>
            <a:r>
              <a:rPr lang="en-US" altLang="en-US" b="1"/>
              <a:t> </a:t>
            </a:r>
            <a:r>
              <a:rPr lang="en-US" altLang="en-US" i="1"/>
              <a:t>q</a:t>
            </a:r>
            <a:r>
              <a:rPr lang="en-US" altLang="en-US"/>
              <a:t>), usually 10-100 milliseconds.  After this time has elapsed, the process is preempted and added to the end of the ready queue.</a:t>
            </a:r>
          </a:p>
          <a:p>
            <a:r>
              <a:rPr lang="en-US" altLang="en-US"/>
              <a:t>If there are </a:t>
            </a:r>
            <a:r>
              <a:rPr lang="en-US" altLang="en-US" i="1"/>
              <a:t>n</a:t>
            </a:r>
            <a:r>
              <a:rPr lang="en-US" altLang="en-US"/>
              <a:t> processes in the ready queue and the time quantum is </a:t>
            </a:r>
            <a:r>
              <a:rPr lang="en-US" altLang="en-US" i="1"/>
              <a:t>q</a:t>
            </a:r>
            <a:r>
              <a:rPr lang="en-US" altLang="en-US"/>
              <a:t>, then each process gets 1/</a:t>
            </a:r>
            <a:r>
              <a:rPr lang="en-US" altLang="en-US" i="1"/>
              <a:t>n</a:t>
            </a:r>
            <a:r>
              <a:rPr lang="en-US" altLang="en-US"/>
              <a:t> of the CPU time in chunks of at most </a:t>
            </a:r>
            <a:r>
              <a:rPr lang="en-US" altLang="en-US" i="1"/>
              <a:t>q</a:t>
            </a:r>
            <a:r>
              <a:rPr lang="en-US" altLang="en-US"/>
              <a:t> time units at once.  No process waits more than (</a:t>
            </a:r>
            <a:r>
              <a:rPr lang="en-US" altLang="en-US" i="1"/>
              <a:t>n</a:t>
            </a:r>
            <a:r>
              <a:rPr lang="en-US" altLang="en-US"/>
              <a:t>-1)</a:t>
            </a:r>
            <a:r>
              <a:rPr lang="en-US" altLang="en-US" i="1"/>
              <a:t>q </a:t>
            </a:r>
            <a:r>
              <a:rPr lang="en-US" altLang="en-US"/>
              <a:t>time units.</a:t>
            </a:r>
          </a:p>
          <a:p>
            <a:r>
              <a:rPr lang="en-US" altLang="en-US"/>
              <a:t>Timer interrupts every quantum to schedule next process</a:t>
            </a:r>
          </a:p>
          <a:p>
            <a:r>
              <a:rPr lang="en-US" altLang="en-US"/>
              <a:t>Performance</a:t>
            </a:r>
          </a:p>
          <a:p>
            <a:pPr lvl="1"/>
            <a:r>
              <a:rPr lang="en-US" altLang="en-US" i="1"/>
              <a:t>q</a:t>
            </a:r>
            <a:r>
              <a:rPr lang="en-US" altLang="en-US"/>
              <a:t> large </a:t>
            </a:r>
            <a:r>
              <a:rPr lang="en-US" altLang="en-US">
                <a:sym typeface="Symbol" pitchFamily="18" charset="2"/>
              </a:rPr>
              <a:t> FIFO</a:t>
            </a:r>
          </a:p>
          <a:p>
            <a:pPr lvl="1"/>
            <a:r>
              <a:rPr lang="en-US" altLang="en-US" i="1">
                <a:sym typeface="Symbol" pitchFamily="18" charset="2"/>
              </a:rPr>
              <a:t>q </a:t>
            </a:r>
            <a:r>
              <a:rPr lang="en-US" altLang="en-US">
                <a:sym typeface="Symbol" pitchFamily="18" charset="2"/>
              </a:rPr>
              <a:t>small  </a:t>
            </a:r>
            <a:r>
              <a:rPr lang="en-US" altLang="en-US" i="1">
                <a:sym typeface="Symbol" pitchFamily="18" charset="2"/>
              </a:rPr>
              <a:t>q </a:t>
            </a:r>
            <a:r>
              <a:rPr lang="en-US" altLang="en-US">
                <a:sym typeface="Symbol" pitchFamily="18" charset="2"/>
              </a:rPr>
              <a:t>must be large with respect to context switch, otherwise overhead is too high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8900" y="139700"/>
            <a:ext cx="7750175" cy="647700"/>
          </a:xfrm>
        </p:spPr>
        <p:txBody>
          <a:bodyPr/>
          <a:lstStyle/>
          <a:p>
            <a:pPr eaLnBrk="1" hangingPunct="1"/>
            <a:r>
              <a:rPr lang="en-US" altLang="en-US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4088" y="1193800"/>
            <a:ext cx="7351712" cy="44831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Typically, higher average turnaround than SJF, but better </a:t>
            </a:r>
            <a:r>
              <a:rPr lang="en-US" altLang="en-US" b="1" i="1" dirty="0"/>
              <a:t>response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q should be large compared to context switch time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q usually 10ms to 100ms, context switch &lt; 10 </a:t>
            </a:r>
            <a:r>
              <a:rPr lang="en-US" dirty="0"/>
              <a:t>µs  (1 </a:t>
            </a:r>
            <a:r>
              <a:rPr lang="en-US" dirty="0" err="1"/>
              <a:t>ms</a:t>
            </a:r>
            <a:r>
              <a:rPr lang="en-US" dirty="0"/>
              <a:t> = 1000 µs)</a:t>
            </a:r>
            <a:endParaRPr lang="en-US" altLang="en-US" dirty="0"/>
          </a:p>
        </p:txBody>
      </p:sp>
      <p:pic>
        <p:nvPicPr>
          <p:cNvPr id="2355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3227388"/>
            <a:ext cx="6770687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3625" y="182563"/>
            <a:ext cx="7829550" cy="525462"/>
          </a:xfrm>
        </p:spPr>
        <p:txBody>
          <a:bodyPr/>
          <a:lstStyle/>
          <a:p>
            <a:pPr eaLnBrk="1" hangingPunct="1"/>
            <a:r>
              <a:rPr lang="en-US" altLang="en-US" sz="2800"/>
              <a:t>Time Quantum and Context Switch Time</a:t>
            </a:r>
          </a:p>
        </p:txBody>
      </p:sp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3" y="266700"/>
            <a:ext cx="8535987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Turnaround Time Varies With The Time Quantum</a:t>
            </a:r>
          </a:p>
        </p:txBody>
      </p:sp>
      <p:pic>
        <p:nvPicPr>
          <p:cNvPr id="256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379538"/>
            <a:ext cx="5005387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3"/>
          <p:cNvSpPr txBox="1">
            <a:spLocks noChangeArrowheads="1"/>
          </p:cNvSpPr>
          <p:nvPr/>
        </p:nvSpPr>
        <p:spPr bwMode="auto">
          <a:xfrm>
            <a:off x="5937250" y="3744913"/>
            <a:ext cx="23129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sz="1300"/>
              <a:t>80% of CPU bursts should be shorter than q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/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068388"/>
            <a:ext cx="7537450" cy="5221287"/>
          </a:xfrm>
        </p:spPr>
        <p:txBody>
          <a:bodyPr/>
          <a:lstStyle/>
          <a:p>
            <a:r>
              <a:rPr lang="en-US" altLang="en-US" dirty="0"/>
              <a:t>Ready queue is partitioned into separate queues, </a:t>
            </a:r>
            <a:r>
              <a:rPr lang="en-US" altLang="en-US" dirty="0" err="1"/>
              <a:t>eg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foreground</a:t>
            </a:r>
            <a:r>
              <a:rPr lang="en-US" altLang="en-US" dirty="0"/>
              <a:t> (interactive)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background</a:t>
            </a:r>
            <a:r>
              <a:rPr lang="en-US" altLang="en-US" dirty="0"/>
              <a:t> (batch)</a:t>
            </a:r>
          </a:p>
          <a:p>
            <a:r>
              <a:rPr lang="en-US" altLang="en-US" dirty="0"/>
              <a:t>Process permanently in a given queue</a:t>
            </a:r>
            <a:endParaRPr lang="en-US" altLang="en-US" sz="800" dirty="0"/>
          </a:p>
          <a:p>
            <a:r>
              <a:rPr lang="en-US" altLang="en-US" dirty="0"/>
              <a:t>Each queue has its own scheduling algorithm:</a:t>
            </a:r>
          </a:p>
          <a:p>
            <a:pPr lvl="1"/>
            <a:r>
              <a:rPr lang="en-US" altLang="en-US" dirty="0"/>
              <a:t>foreground – RR</a:t>
            </a:r>
          </a:p>
          <a:p>
            <a:pPr lvl="1"/>
            <a:r>
              <a:rPr lang="en-US" altLang="en-US" dirty="0"/>
              <a:t>background – FCFS</a:t>
            </a:r>
            <a:endParaRPr lang="en-US" altLang="en-US" sz="800" dirty="0"/>
          </a:p>
          <a:p>
            <a:r>
              <a:rPr lang="en-US" altLang="en-US" dirty="0"/>
              <a:t>Scheduling must be done between the queues:</a:t>
            </a:r>
          </a:p>
          <a:p>
            <a:pPr lvl="1"/>
            <a:r>
              <a:rPr lang="en-US" altLang="en-US" dirty="0"/>
              <a:t>Fixed priority scheduling; (i.e., serve all from foreground then from background).  Possibility of starvation.</a:t>
            </a:r>
          </a:p>
          <a:p>
            <a:pPr lvl="1"/>
            <a:r>
              <a:rPr lang="en-US" altLang="en-US" dirty="0"/>
              <a:t>Time slice – each queue gets a certain amount of CPU time which it can schedule amongst its processes; </a:t>
            </a:r>
          </a:p>
          <a:p>
            <a:pPr lvl="2"/>
            <a:r>
              <a:rPr lang="en-US" altLang="en-US" dirty="0"/>
              <a:t>i.e., 80% to foreground in RR</a:t>
            </a:r>
          </a:p>
          <a:p>
            <a:pPr lvl="2"/>
            <a:r>
              <a:rPr lang="en-US" altLang="en-US" dirty="0"/>
              <a:t>20% to background in FCFS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613" y="188913"/>
            <a:ext cx="7596187" cy="576262"/>
          </a:xfrm>
        </p:spPr>
        <p:txBody>
          <a:bodyPr/>
          <a:lstStyle/>
          <a:p>
            <a:pPr eaLnBrk="1" hangingPunct="1"/>
            <a:r>
              <a:rPr lang="en-US" altLang="en-US"/>
              <a:t>Multilevel Queue Scheduling</a:t>
            </a:r>
          </a:p>
        </p:txBody>
      </p:sp>
      <p:pic>
        <p:nvPicPr>
          <p:cNvPr id="27651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1466850"/>
            <a:ext cx="66865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39713"/>
            <a:ext cx="8026400" cy="576262"/>
          </a:xfrm>
        </p:spPr>
        <p:txBody>
          <a:bodyPr/>
          <a:lstStyle/>
          <a:p>
            <a:pPr eaLnBrk="1" hangingPunct="1"/>
            <a:r>
              <a:rPr lang="en-US" altLang="en-US"/>
              <a:t>Multilevel Feedback Queue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9488" y="1468438"/>
            <a:ext cx="7351712" cy="4483100"/>
          </a:xfrm>
        </p:spPr>
        <p:txBody>
          <a:bodyPr/>
          <a:lstStyle/>
          <a:p>
            <a:r>
              <a:rPr lang="en-US" altLang="en-US"/>
              <a:t>A process can move between the various queues; aging can be implemented this way</a:t>
            </a:r>
          </a:p>
          <a:p>
            <a:r>
              <a:rPr lang="en-US" altLang="en-US"/>
              <a:t>Multilevel-feedback-queue scheduler defined by the following parameters:</a:t>
            </a:r>
          </a:p>
          <a:p>
            <a:pPr lvl="1"/>
            <a:r>
              <a:rPr lang="en-US" altLang="en-US"/>
              <a:t>number of queues</a:t>
            </a:r>
          </a:p>
          <a:p>
            <a:pPr lvl="1"/>
            <a:r>
              <a:rPr lang="en-US" altLang="en-US"/>
              <a:t>scheduling algorithms for each queue</a:t>
            </a:r>
          </a:p>
          <a:p>
            <a:pPr lvl="1"/>
            <a:r>
              <a:rPr lang="en-US" altLang="en-US"/>
              <a:t>method used to determine when to upgrade a process</a:t>
            </a:r>
          </a:p>
          <a:p>
            <a:pPr lvl="1"/>
            <a:r>
              <a:rPr lang="en-US" altLang="en-US"/>
              <a:t>method used to determine when to demote a process</a:t>
            </a:r>
          </a:p>
          <a:p>
            <a:pPr lvl="1"/>
            <a:r>
              <a:rPr lang="en-US" altLang="en-US"/>
              <a:t>method used to determine which queue a process will enter when that process needs service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50800"/>
            <a:ext cx="7710488" cy="679450"/>
          </a:xfrm>
        </p:spPr>
        <p:txBody>
          <a:bodyPr/>
          <a:lstStyle/>
          <a:p>
            <a:pPr eaLnBrk="1" hangingPunct="1"/>
            <a:r>
              <a:rPr lang="en-US" altLang="en-US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065588" cy="4530725"/>
          </a:xfrm>
        </p:spPr>
        <p:txBody>
          <a:bodyPr/>
          <a:lstStyle/>
          <a:p>
            <a:r>
              <a:rPr lang="en-US" altLang="en-US" dirty="0"/>
              <a:t>Three queues: 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0</a:t>
            </a:r>
            <a:r>
              <a:rPr lang="en-US" altLang="en-US" sz="1400" dirty="0"/>
              <a:t> – RR with time quantum 8 milliseconds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 – RR time quantum 16 milliseconds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 – FCFS</a:t>
            </a:r>
          </a:p>
          <a:p>
            <a:pPr lvl="1"/>
            <a:endParaRPr lang="en-US" altLang="en-US" sz="1400" dirty="0"/>
          </a:p>
          <a:p>
            <a:r>
              <a:rPr lang="en-US" altLang="en-US" dirty="0"/>
              <a:t>Scheduling</a:t>
            </a:r>
          </a:p>
          <a:p>
            <a:pPr lvl="1"/>
            <a:r>
              <a:rPr lang="en-US" altLang="en-US" sz="1400" dirty="0"/>
              <a:t>A new job enters queue </a:t>
            </a:r>
            <a:r>
              <a:rPr lang="en-US" altLang="en-US" sz="1400" i="1" dirty="0"/>
              <a:t>Q</a:t>
            </a:r>
            <a:r>
              <a:rPr lang="en-US" altLang="en-US" sz="1400" i="1" baseline="-25000" dirty="0"/>
              <a:t>0</a:t>
            </a:r>
            <a:r>
              <a:rPr lang="en-US" altLang="en-US" sz="1400" i="1" dirty="0"/>
              <a:t> </a:t>
            </a:r>
            <a:r>
              <a:rPr lang="en-US" altLang="en-US" sz="1400" dirty="0"/>
              <a:t>which is served</a:t>
            </a:r>
            <a:r>
              <a:rPr lang="en-US" altLang="en-US" sz="1400" i="1" dirty="0"/>
              <a:t> </a:t>
            </a:r>
            <a:r>
              <a:rPr lang="en-US" altLang="en-US" sz="1400" dirty="0"/>
              <a:t>FCFS</a:t>
            </a:r>
          </a:p>
          <a:p>
            <a:pPr lvl="2"/>
            <a:r>
              <a:rPr lang="en-US" altLang="en-US" sz="1400" dirty="0"/>
              <a:t>When it gains CPU, job receives 8 milliseconds</a:t>
            </a:r>
          </a:p>
          <a:p>
            <a:pPr lvl="2"/>
            <a:r>
              <a:rPr lang="en-US" altLang="en-US" sz="1400" dirty="0"/>
              <a:t>If it does not finish in 8 milliseconds, job is moved to queue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endParaRPr lang="en-US" altLang="en-US" sz="1400" dirty="0"/>
          </a:p>
          <a:p>
            <a:pPr lvl="1"/>
            <a:r>
              <a:rPr lang="en-US" altLang="en-US" sz="1400" dirty="0"/>
              <a:t>At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 job is again served FCFS and receives 16 additional milliseconds</a:t>
            </a:r>
          </a:p>
          <a:p>
            <a:pPr lvl="2"/>
            <a:r>
              <a:rPr lang="en-US" altLang="en-US" sz="1400" dirty="0"/>
              <a:t>If it still does not complete, it is preempted and moved to queue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2</a:t>
            </a:r>
            <a:endParaRPr lang="en-US" altLang="en-US" sz="1400" dirty="0"/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163513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Multiple-Processor Scheduling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1122363"/>
            <a:ext cx="7034212" cy="4808537"/>
          </a:xfrm>
        </p:spPr>
        <p:txBody>
          <a:bodyPr/>
          <a:lstStyle/>
          <a:p>
            <a:r>
              <a:rPr lang="en-US" altLang="en-US" dirty="0"/>
              <a:t>CPU scheduling more complex when multiple CPUs are available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Homogeneous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processors</a:t>
            </a:r>
            <a:r>
              <a:rPr lang="en-US" altLang="en-US" b="1" dirty="0"/>
              <a:t> </a:t>
            </a:r>
            <a:r>
              <a:rPr lang="en-US" altLang="en-US" dirty="0"/>
              <a:t>within a multiprocessor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Asymmetric multiprocessing </a:t>
            </a:r>
            <a:r>
              <a:rPr lang="en-US" altLang="en-US" dirty="0"/>
              <a:t>– only one processor accesses the system data structures, alleviating the need for data sharing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Symmetric multiprocessing </a:t>
            </a:r>
            <a:r>
              <a:rPr lang="en-US" altLang="en-US" b="1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SMP</a:t>
            </a:r>
            <a:r>
              <a:rPr lang="en-US" altLang="en-US" b="1" dirty="0"/>
              <a:t>) </a:t>
            </a:r>
            <a:r>
              <a:rPr lang="en-US" altLang="en-US" dirty="0"/>
              <a:t>– each processor is self-scheduling, all processes in common ready queue, or each has its own private queue of ready processes</a:t>
            </a:r>
          </a:p>
          <a:p>
            <a:pPr lvl="1"/>
            <a:r>
              <a:rPr lang="en-US" altLang="en-US" dirty="0"/>
              <a:t>Currently, most common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Processor affinity </a:t>
            </a:r>
            <a:r>
              <a:rPr lang="en-US" altLang="en-US" dirty="0"/>
              <a:t>– process has affinity for processor on which it is currently running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soft affinity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hard affinity</a:t>
            </a:r>
          </a:p>
          <a:p>
            <a:pPr lvl="1"/>
            <a:r>
              <a:rPr lang="en-US" altLang="en-US" dirty="0"/>
              <a:t>Variations including </a:t>
            </a:r>
            <a:r>
              <a:rPr lang="en-US" altLang="en-US" b="1" dirty="0">
                <a:solidFill>
                  <a:srgbClr val="3366FF"/>
                </a:solidFill>
              </a:rPr>
              <a:t>processor sets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119188" y="201613"/>
            <a:ext cx="7567612" cy="576262"/>
          </a:xfrm>
        </p:spPr>
        <p:txBody>
          <a:bodyPr/>
          <a:lstStyle/>
          <a:p>
            <a:pPr eaLnBrk="1" hangingPunct="1"/>
            <a:r>
              <a:rPr lang="en-US" altLang="en-US"/>
              <a:t>NUMA and CPU Scheduling</a:t>
            </a:r>
          </a:p>
        </p:txBody>
      </p:sp>
      <p:sp>
        <p:nvSpPr>
          <p:cNvPr id="35843" name="TextBox 3"/>
          <p:cNvSpPr txBox="1">
            <a:spLocks noChangeArrowheads="1"/>
          </p:cNvSpPr>
          <p:nvPr/>
        </p:nvSpPr>
        <p:spPr bwMode="auto">
          <a:xfrm>
            <a:off x="2041525" y="5449888"/>
            <a:ext cx="5908675" cy="492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1300" b="1" dirty="0"/>
              <a:t>Non-Uniform Memory Access</a:t>
            </a:r>
          </a:p>
          <a:p>
            <a:r>
              <a:rPr lang="en-US" altLang="en-US" sz="1300" dirty="0"/>
              <a:t>Note that memory-placement algorithms can also consider affinity</a:t>
            </a:r>
          </a:p>
        </p:txBody>
      </p:sp>
      <p:pic>
        <p:nvPicPr>
          <p:cNvPr id="35844" name="Picture 1" descr="6_09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266825"/>
            <a:ext cx="6262688" cy="376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2213" y="101600"/>
            <a:ext cx="7723187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Multiple-Processor Scheduling – Load Balancing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233488"/>
            <a:ext cx="7008812" cy="4808537"/>
          </a:xfrm>
        </p:spPr>
        <p:txBody>
          <a:bodyPr/>
          <a:lstStyle/>
          <a:p>
            <a:r>
              <a:rPr lang="en-US" altLang="en-US"/>
              <a:t>If SMP, need to keep all CPUs loaded for efficiency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Load balancing </a:t>
            </a:r>
            <a:r>
              <a:rPr lang="en-US" altLang="en-US"/>
              <a:t>attempts to keep workload evenly distributed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Push migration </a:t>
            </a:r>
            <a:r>
              <a:rPr lang="en-US" altLang="en-US"/>
              <a:t>– periodic task checks load on each processor, and if found pushes task from overloaded CPU to other CPUs</a:t>
            </a:r>
            <a:endParaRPr lang="en-US" altLang="en-US" b="1">
              <a:solidFill>
                <a:srgbClr val="3366FF"/>
              </a:solidFill>
            </a:endParaRPr>
          </a:p>
          <a:p>
            <a:r>
              <a:rPr lang="en-US" altLang="en-US" b="1">
                <a:solidFill>
                  <a:srgbClr val="3366FF"/>
                </a:solidFill>
              </a:rPr>
              <a:t>Pull migration </a:t>
            </a:r>
            <a:r>
              <a:rPr lang="en-US" altLang="en-US"/>
              <a:t>– idle processors pulls waiting task from busy processor</a:t>
            </a:r>
          </a:p>
          <a:p>
            <a:endParaRPr lang="en-US" altLang="en-US" sz="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865188" y="176213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Multicore Processors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882650" y="1233488"/>
            <a:ext cx="6915150" cy="4530725"/>
          </a:xfrm>
        </p:spPr>
        <p:txBody>
          <a:bodyPr/>
          <a:lstStyle/>
          <a:p>
            <a:r>
              <a:rPr lang="en-US" altLang="en-US"/>
              <a:t>Recent trend to place multiple processor cores on same physical chip</a:t>
            </a:r>
          </a:p>
          <a:p>
            <a:r>
              <a:rPr lang="en-US" altLang="en-US"/>
              <a:t>Faster and consumes less power</a:t>
            </a:r>
          </a:p>
          <a:p>
            <a:r>
              <a:rPr lang="en-US" altLang="en-US"/>
              <a:t>Multiple threads per core also growing</a:t>
            </a:r>
          </a:p>
          <a:p>
            <a:pPr lvl="1"/>
            <a:r>
              <a:rPr lang="en-US" altLang="en-US"/>
              <a:t>Takes advantage of memory stall to make progress on another thread while memory retrieve happens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196975" y="277813"/>
            <a:ext cx="748982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Multithreaded Multicore System</a:t>
            </a:r>
          </a:p>
        </p:txBody>
      </p:sp>
      <p:pic>
        <p:nvPicPr>
          <p:cNvPr id="38915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5" y="1401763"/>
            <a:ext cx="6781800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3722688"/>
            <a:ext cx="6872288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865188" y="277813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Real-Time CPU Scheduling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3552825" cy="4530725"/>
          </a:xfrm>
        </p:spPr>
        <p:txBody>
          <a:bodyPr/>
          <a:lstStyle/>
          <a:p>
            <a:r>
              <a:rPr lang="en-US" altLang="en-US"/>
              <a:t>Can present obvious challenges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Soft real-time systems </a:t>
            </a:r>
            <a:r>
              <a:rPr lang="en-US" altLang="en-US"/>
              <a:t>– no guarantee as to when critical real-time process will be scheduled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Hard real-time systems</a:t>
            </a:r>
            <a:r>
              <a:rPr lang="en-US" altLang="en-US"/>
              <a:t> – task must be serviced by its deadline</a:t>
            </a:r>
          </a:p>
          <a:p>
            <a:r>
              <a:rPr lang="en-US" altLang="en-US"/>
              <a:t>Two types of latencies affect performance</a:t>
            </a:r>
          </a:p>
          <a:p>
            <a:pPr lvl="1">
              <a:buFont typeface="Arial" pitchFamily="34" charset="0"/>
              <a:buAutoNum type="arabicPeriod"/>
            </a:pPr>
            <a:r>
              <a:rPr lang="en-US" altLang="en-US" sz="1400"/>
              <a:t>Interrupt latency – time from arrival of interrupt to start of routine that services interrupt</a:t>
            </a:r>
          </a:p>
          <a:p>
            <a:pPr lvl="1">
              <a:buFont typeface="Arial" pitchFamily="34" charset="0"/>
              <a:buAutoNum type="arabicPeriod"/>
            </a:pPr>
            <a:r>
              <a:rPr lang="en-US" altLang="en-US" sz="1400"/>
              <a:t>Dispatch latency – time for schedule to take current process off CPU and switch to another</a:t>
            </a:r>
          </a:p>
          <a:p>
            <a:endParaRPr lang="en-US" altLang="en-US"/>
          </a:p>
          <a:p>
            <a:pPr lvl="1">
              <a:buFont typeface="Monotype Sorts" pitchFamily="-84" charset="2"/>
              <a:buNone/>
            </a:pPr>
            <a:r>
              <a:rPr lang="en-US" altLang="en-US"/>
              <a:t> </a:t>
            </a:r>
          </a:p>
        </p:txBody>
      </p:sp>
      <p:pic>
        <p:nvPicPr>
          <p:cNvPr id="39940" name="Picture 1" descr="Screen Shot 2012-12-17 at 8.37.2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513" y="1489075"/>
            <a:ext cx="4813300" cy="397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903288" y="176213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Real-Time CPU Scheduling (Cont.)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2633663" cy="4530725"/>
          </a:xfrm>
        </p:spPr>
        <p:txBody>
          <a:bodyPr/>
          <a:lstStyle/>
          <a:p>
            <a:r>
              <a:rPr lang="en-US" altLang="en-US"/>
              <a:t>Conflict phase of dispatch latency:</a:t>
            </a:r>
          </a:p>
          <a:p>
            <a:pPr lvl="1">
              <a:buFont typeface="Arial" pitchFamily="34" charset="0"/>
              <a:buAutoNum type="arabicPeriod"/>
            </a:pPr>
            <a:r>
              <a:rPr lang="en-US" altLang="en-US"/>
              <a:t>Preemption of any process running in kernel mode</a:t>
            </a:r>
          </a:p>
          <a:p>
            <a:pPr lvl="1">
              <a:buFont typeface="Arial" pitchFamily="34" charset="0"/>
              <a:buAutoNum type="arabicPeriod"/>
            </a:pPr>
            <a:r>
              <a:rPr lang="en-US" altLang="en-US"/>
              <a:t>Release by low-priority process of resources needed by high-priority processes</a:t>
            </a:r>
          </a:p>
          <a:p>
            <a:endParaRPr lang="en-US" altLang="en-US"/>
          </a:p>
          <a:p>
            <a:pPr lvl="1">
              <a:buFont typeface="Monotype Sorts" pitchFamily="-84" charset="2"/>
              <a:buNone/>
            </a:pPr>
            <a:r>
              <a:rPr lang="en-US" altLang="en-US"/>
              <a:t> </a:t>
            </a:r>
          </a:p>
        </p:txBody>
      </p:sp>
      <p:pic>
        <p:nvPicPr>
          <p:cNvPr id="40964" name="Picture 3" descr="6_14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450" y="1384300"/>
            <a:ext cx="4572000" cy="379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865188" y="277813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Priority-based Scheduling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1022350" y="1195388"/>
            <a:ext cx="7570788" cy="4530725"/>
          </a:xfrm>
        </p:spPr>
        <p:txBody>
          <a:bodyPr/>
          <a:lstStyle/>
          <a:p>
            <a:r>
              <a:rPr lang="en-US" altLang="en-US" dirty="0"/>
              <a:t>For real-time scheduling, scheduler must support preemptive, priority-based scheduling</a:t>
            </a:r>
          </a:p>
          <a:p>
            <a:pPr lvl="1"/>
            <a:r>
              <a:rPr lang="en-US" altLang="en-US" sz="1400" dirty="0"/>
              <a:t>But only guarantees soft real-time</a:t>
            </a:r>
          </a:p>
          <a:p>
            <a:r>
              <a:rPr lang="en-US" altLang="en-US" dirty="0"/>
              <a:t>For hard real-time must also provide ability to meet deadlines</a:t>
            </a:r>
          </a:p>
          <a:p>
            <a:r>
              <a:rPr lang="en-US" altLang="en-US" dirty="0"/>
              <a:t>Processes have new characteristics: </a:t>
            </a:r>
            <a:r>
              <a:rPr lang="en-US" altLang="en-US" b="1" dirty="0">
                <a:solidFill>
                  <a:srgbClr val="3366FF"/>
                </a:solidFill>
              </a:rPr>
              <a:t>periodic</a:t>
            </a:r>
            <a:r>
              <a:rPr lang="en-US" altLang="en-US" dirty="0"/>
              <a:t> ones require CPU at constant intervals</a:t>
            </a:r>
          </a:p>
          <a:p>
            <a:pPr lvl="1"/>
            <a:r>
              <a:rPr lang="en-US" altLang="en-US" sz="1400" dirty="0"/>
              <a:t>Has processing time </a:t>
            </a:r>
            <a:r>
              <a:rPr lang="en-US" altLang="en-US" sz="1400" b="1" i="1" dirty="0">
                <a:solidFill>
                  <a:srgbClr val="CC6600"/>
                </a:solidFill>
              </a:rPr>
              <a:t>t</a:t>
            </a:r>
            <a:r>
              <a:rPr lang="en-US" altLang="en-US" sz="1400" dirty="0"/>
              <a:t>, deadline </a:t>
            </a:r>
            <a:r>
              <a:rPr lang="en-US" altLang="en-US" sz="1400" b="1" i="1" dirty="0">
                <a:solidFill>
                  <a:srgbClr val="CC6600"/>
                </a:solidFill>
              </a:rPr>
              <a:t>d</a:t>
            </a:r>
            <a:r>
              <a:rPr lang="en-US" altLang="en-US" sz="1400" i="1" dirty="0"/>
              <a:t>, </a:t>
            </a:r>
            <a:r>
              <a:rPr lang="en-US" altLang="en-US" sz="1400" dirty="0"/>
              <a:t>period </a:t>
            </a:r>
            <a:r>
              <a:rPr lang="en-US" altLang="en-US" sz="1400" b="1" i="1" dirty="0">
                <a:solidFill>
                  <a:srgbClr val="CC6600"/>
                </a:solidFill>
              </a:rPr>
              <a:t>p</a:t>
            </a:r>
          </a:p>
          <a:p>
            <a:pPr lvl="1"/>
            <a:r>
              <a:rPr lang="en-US" altLang="en-US" sz="1400" dirty="0"/>
              <a:t>0 ≤ </a:t>
            </a:r>
            <a:r>
              <a:rPr lang="en-US" altLang="en-US" sz="1400" i="1" dirty="0"/>
              <a:t>t</a:t>
            </a:r>
            <a:r>
              <a:rPr lang="en-US" altLang="en-US" sz="1400" dirty="0"/>
              <a:t> ≤ </a:t>
            </a:r>
            <a:r>
              <a:rPr lang="en-US" altLang="en-US" sz="1400" i="1" dirty="0"/>
              <a:t>d</a:t>
            </a:r>
            <a:r>
              <a:rPr lang="en-US" altLang="en-US" sz="1400" dirty="0"/>
              <a:t> ≤ </a:t>
            </a:r>
            <a:r>
              <a:rPr lang="en-US" altLang="en-US" sz="1400" i="1" dirty="0"/>
              <a:t>p</a:t>
            </a:r>
          </a:p>
          <a:p>
            <a:pPr lvl="1"/>
            <a:r>
              <a:rPr lang="en-US" altLang="en-US" sz="1400" b="1" dirty="0">
                <a:solidFill>
                  <a:srgbClr val="3366FF"/>
                </a:solidFill>
              </a:rPr>
              <a:t>Rate</a:t>
            </a:r>
            <a:r>
              <a:rPr lang="en-US" altLang="en-US" sz="1400" dirty="0"/>
              <a:t> of periodic task is 1/</a:t>
            </a:r>
            <a:r>
              <a:rPr lang="en-US" altLang="en-US" sz="1400" i="1" dirty="0"/>
              <a:t>p</a:t>
            </a:r>
            <a:endParaRPr lang="en-US" altLang="en-US" sz="1400" dirty="0"/>
          </a:p>
          <a:p>
            <a:pPr lvl="1"/>
            <a:endParaRPr lang="en-US" altLang="en-US" dirty="0"/>
          </a:p>
          <a:p>
            <a:endParaRPr lang="en-US" altLang="en-US" dirty="0"/>
          </a:p>
          <a:p>
            <a:pPr lvl="1"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</p:txBody>
      </p:sp>
      <p:pic>
        <p:nvPicPr>
          <p:cNvPr id="41988" name="Picture 1" descr="Screen Shot 2012-12-17 at 8.41.5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4075113"/>
            <a:ext cx="5837237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088" y="163513"/>
            <a:ext cx="7694612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Earliest Deadline First Scheduling (EDF)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257300"/>
            <a:ext cx="7353300" cy="4483100"/>
          </a:xfrm>
        </p:spPr>
        <p:txBody>
          <a:bodyPr/>
          <a:lstStyle/>
          <a:p>
            <a:r>
              <a:rPr lang="en-US" altLang="en-US" dirty="0"/>
              <a:t>Priorities are assigned according to deadlines: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the earlier the deadline, the higher the priority;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the later the deadline, the lower the priority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	P</a:t>
            </a:r>
            <a:r>
              <a:rPr lang="en-US" altLang="en-US" baseline="-25000" dirty="0"/>
              <a:t>1</a:t>
            </a:r>
            <a:r>
              <a:rPr lang="en-US" altLang="en-US" dirty="0"/>
              <a:t>:</a:t>
            </a:r>
            <a:r>
              <a:rPr lang="en-US" altLang="en-US" baseline="-25000" dirty="0"/>
              <a:t> </a:t>
            </a:r>
            <a:r>
              <a:rPr lang="en-US" altLang="en-US" dirty="0"/>
              <a:t>p=50, d=50, t=25</a:t>
            </a:r>
          </a:p>
          <a:p>
            <a:pPr>
              <a:buNone/>
            </a:pPr>
            <a:r>
              <a:rPr lang="en-US" altLang="en-US" dirty="0"/>
              <a:t>	P</a:t>
            </a:r>
            <a:r>
              <a:rPr lang="en-US" altLang="en-US" baseline="-25000" dirty="0"/>
              <a:t>2</a:t>
            </a:r>
            <a:r>
              <a:rPr lang="en-US" altLang="en-US" dirty="0"/>
              <a:t>:</a:t>
            </a:r>
            <a:r>
              <a:rPr lang="en-US" altLang="en-US" baseline="-25000" dirty="0"/>
              <a:t> </a:t>
            </a:r>
            <a:r>
              <a:rPr lang="en-US" altLang="en-US" dirty="0"/>
              <a:t>p=80, d=80, t=35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t="40184" r="711" b="39867"/>
          <a:stretch>
            <a:fillRect/>
          </a:stretch>
        </p:blipFill>
        <p:spPr bwMode="auto">
          <a:xfrm>
            <a:off x="1081088" y="3976388"/>
            <a:ext cx="677227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V="1">
            <a:off x="1136694" y="5005088"/>
            <a:ext cx="0" cy="3336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821724" y="5257800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  <a:r>
              <a:rPr lang="en-US" dirty="0"/>
              <a:t>,P</a:t>
            </a:r>
            <a:r>
              <a:rPr lang="en-US" baseline="-25000" dirty="0"/>
              <a:t>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201613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Algorithm Evaluation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116013"/>
            <a:ext cx="7566025" cy="4643437"/>
          </a:xfrm>
        </p:spPr>
        <p:txBody>
          <a:bodyPr/>
          <a:lstStyle/>
          <a:p>
            <a:r>
              <a:rPr lang="en-US" altLang="en-US"/>
              <a:t>How to select CPU-scheduling algorithm for an OS?</a:t>
            </a:r>
          </a:p>
          <a:p>
            <a:r>
              <a:rPr lang="en-US" altLang="en-US"/>
              <a:t>Determine criteria, then evaluate algorithms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Deterministic modeling</a:t>
            </a:r>
          </a:p>
          <a:p>
            <a:pPr lvl="1"/>
            <a:r>
              <a:rPr lang="en-US" altLang="en-US"/>
              <a:t>Type of </a:t>
            </a:r>
            <a:r>
              <a:rPr lang="en-US" altLang="en-US" b="1">
                <a:solidFill>
                  <a:srgbClr val="3366FF"/>
                </a:solidFill>
              </a:rPr>
              <a:t>analytic evaluation</a:t>
            </a:r>
          </a:p>
          <a:p>
            <a:pPr lvl="1"/>
            <a:r>
              <a:rPr lang="en-US" altLang="en-US"/>
              <a:t>Takes a particular predetermined workload and defines the performance of each algorithm  for that workload</a:t>
            </a:r>
          </a:p>
          <a:p>
            <a:r>
              <a:rPr lang="en-US" altLang="en-US"/>
              <a:t>Consider 5 processes arriving at time 0:</a:t>
            </a:r>
          </a:p>
        </p:txBody>
      </p:sp>
      <p:pic>
        <p:nvPicPr>
          <p:cNvPr id="64516" name="Picture 1" descr="Screen Shot 2012-12-17 at 9.44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888" y="3821113"/>
            <a:ext cx="1897062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277813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/>
              <a:t>Deterministic Evaluation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382713"/>
            <a:ext cx="7566025" cy="4643437"/>
          </a:xfrm>
        </p:spPr>
        <p:txBody>
          <a:bodyPr/>
          <a:lstStyle/>
          <a:p>
            <a:pPr marL="342197" indent="-342197"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each algorithm, calculate minimum average waiting time</a:t>
            </a:r>
          </a:p>
          <a:p>
            <a:pPr marL="342197" indent="-342197"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Simple and fast, but requires exact numbers for input, applies only to those inputs</a:t>
            </a: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FCFS is 28ms:</a:t>
            </a:r>
          </a:p>
          <a:p>
            <a:pPr marL="342197" indent="-342197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Non-preemptive SJF is 13ms:</a:t>
            </a:r>
          </a:p>
          <a:p>
            <a:pPr marL="342197" indent="-342197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RR is 23ms: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65540" name="Picture 2" descr="Screen Shot 2012-12-17 at 9.47.1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2720975"/>
            <a:ext cx="44450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3" descr="Screen Shot 2012-12-17 at 9.47.18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888" y="3852863"/>
            <a:ext cx="4529137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2" name="Picture 4" descr="Screen Shot 2012-12-17 at 9.47.24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650" y="4902200"/>
            <a:ext cx="4445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Screen Shot 2012-12-17 at 9.44.14 PM.png">
            <a:extLst>
              <a:ext uri="{FF2B5EF4-FFF2-40B4-BE49-F238E27FC236}">
                <a16:creationId xmlns:a16="http://schemas.microsoft.com/office/drawing/2014/main" id="{8681F645-2319-4C35-BFC0-4D991E4795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112" y="2541587"/>
            <a:ext cx="1897062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Simulations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Queueing models limited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Simulations</a:t>
            </a:r>
            <a:r>
              <a:rPr lang="en-US" altLang="en-US" b="1"/>
              <a:t> </a:t>
            </a:r>
            <a:r>
              <a:rPr lang="en-US" altLang="en-US"/>
              <a:t>more accurate</a:t>
            </a:r>
          </a:p>
          <a:p>
            <a:pPr lvl="1"/>
            <a:r>
              <a:rPr lang="en-US" altLang="en-US"/>
              <a:t>Programmed model of computer system</a:t>
            </a:r>
          </a:p>
          <a:p>
            <a:pPr lvl="1"/>
            <a:r>
              <a:rPr lang="en-US" altLang="en-US"/>
              <a:t>Clock is a variable</a:t>
            </a:r>
          </a:p>
          <a:p>
            <a:pPr lvl="1"/>
            <a:r>
              <a:rPr lang="en-US" altLang="en-US"/>
              <a:t>Gather statistics  indicating algorithm performance</a:t>
            </a:r>
          </a:p>
          <a:p>
            <a:pPr lvl="1"/>
            <a:r>
              <a:rPr lang="en-US" altLang="en-US"/>
              <a:t>Data to drive simulation gathered via</a:t>
            </a:r>
          </a:p>
          <a:p>
            <a:pPr lvl="2"/>
            <a:r>
              <a:rPr lang="en-US" altLang="en-US"/>
              <a:t>Random number generator according to probabilities</a:t>
            </a:r>
          </a:p>
          <a:p>
            <a:pPr lvl="2"/>
            <a:r>
              <a:rPr lang="en-US" altLang="en-US"/>
              <a:t>Distributions defined mathematically or empirically</a:t>
            </a:r>
          </a:p>
          <a:p>
            <a:pPr lvl="2"/>
            <a:r>
              <a:rPr lang="en-US" altLang="en-US"/>
              <a:t>Trace tapes record sequences of real events in real systems</a:t>
            </a:r>
          </a:p>
          <a:p>
            <a:pPr lvl="2"/>
            <a:endParaRPr lang="en-US" altLang="en-US"/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30313" y="166688"/>
            <a:ext cx="785018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Evaluation of CPU Schedulers by Simulation</a:t>
            </a:r>
          </a:p>
        </p:txBody>
      </p:sp>
      <p:pic>
        <p:nvPicPr>
          <p:cNvPr id="69635" name="Picture 1" descr="6_2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379538"/>
            <a:ext cx="6367463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12467</TotalTime>
  <Words>2152</Words>
  <Application>Microsoft Office PowerPoint</Application>
  <PresentationFormat>On-screen Show (4:3)</PresentationFormat>
  <Paragraphs>345</Paragraphs>
  <Slides>41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Lucida Grande</vt:lpstr>
      <vt:lpstr>Monotype Sorts</vt:lpstr>
      <vt:lpstr>Arial</vt:lpstr>
      <vt:lpstr>Helvetica</vt:lpstr>
      <vt:lpstr>Times New Roman</vt:lpstr>
      <vt:lpstr>Verdana</vt:lpstr>
      <vt:lpstr>Webdings</vt:lpstr>
      <vt:lpstr>os-8</vt:lpstr>
      <vt:lpstr>Equation</vt:lpstr>
      <vt:lpstr>Chapter 6:  CPU Scheduling</vt:lpstr>
      <vt:lpstr>Chapter 6:  CPU Scheduling</vt:lpstr>
      <vt:lpstr>Objectives</vt:lpstr>
      <vt:lpstr>Basic Concepts</vt:lpstr>
      <vt:lpstr>Histogram of CPU-burst Times</vt:lpstr>
      <vt:lpstr>CPU Scheduler</vt:lpstr>
      <vt:lpstr>Dispatcher</vt:lpstr>
      <vt:lpstr>Scheduling Criteria</vt:lpstr>
      <vt:lpstr>Scheduling Algorithm Optimization Criteria</vt:lpstr>
      <vt:lpstr>First-Come, First-Served (FCFS) Scheduling</vt:lpstr>
      <vt:lpstr>FCFS Scheduling (Cont.)</vt:lpstr>
      <vt:lpstr>Shortest-Job-First (SJF) Scheduling</vt:lpstr>
      <vt:lpstr>Example of SJF</vt:lpstr>
      <vt:lpstr>Determining Length of Next CPU Burst</vt:lpstr>
      <vt:lpstr>Prediction of the Length of the Next CPU Burst</vt:lpstr>
      <vt:lpstr>Examples of Exponential Averaging</vt:lpstr>
      <vt:lpstr>Example of Shortest-remaining-time-first</vt:lpstr>
      <vt:lpstr>Priority Scheduling</vt:lpstr>
      <vt:lpstr>Example of Priority Scheduling</vt:lpstr>
      <vt:lpstr>Round Robin (RR)</vt:lpstr>
      <vt:lpstr>Example of RR with Time Quantum = 4</vt:lpstr>
      <vt:lpstr>Time Quantum and Context Switch Time</vt:lpstr>
      <vt:lpstr>Turnaround Time Varies With The Time Quantum</vt:lpstr>
      <vt:lpstr>Multilevel Queue</vt:lpstr>
      <vt:lpstr>Multilevel Queue Scheduling</vt:lpstr>
      <vt:lpstr>Multilevel Feedback Queue</vt:lpstr>
      <vt:lpstr>Example of Multilevel Feedback Queue</vt:lpstr>
      <vt:lpstr>Multiple-Processor Scheduling</vt:lpstr>
      <vt:lpstr>NUMA and CPU Scheduling</vt:lpstr>
      <vt:lpstr>Multiple-Processor Scheduling – Load Balancing</vt:lpstr>
      <vt:lpstr>Multicore Processors</vt:lpstr>
      <vt:lpstr>Multithreaded Multicore System</vt:lpstr>
      <vt:lpstr>Real-Time CPU Scheduling</vt:lpstr>
      <vt:lpstr>Real-Time CPU Scheduling (Cont.)</vt:lpstr>
      <vt:lpstr>Priority-based Scheduling</vt:lpstr>
      <vt:lpstr>Earliest Deadline First Scheduling (EDF)</vt:lpstr>
      <vt:lpstr>Algorithm Evaluation</vt:lpstr>
      <vt:lpstr>Deterministic Evaluation</vt:lpstr>
      <vt:lpstr>Simulations</vt:lpstr>
      <vt:lpstr>Evaluation of CPU Schedulers by Simulation</vt:lpstr>
      <vt:lpstr>End of Chapter 6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Liu, Siming</cp:lastModifiedBy>
  <cp:revision>230</cp:revision>
  <cp:lastPrinted>2013-09-10T17:57:57Z</cp:lastPrinted>
  <dcterms:created xsi:type="dcterms:W3CDTF">2011-01-13T23:43:38Z</dcterms:created>
  <dcterms:modified xsi:type="dcterms:W3CDTF">2020-10-06T16:34:28Z</dcterms:modified>
</cp:coreProperties>
</file>