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60"/>
  </p:notesMasterIdLst>
  <p:handoutMasterIdLst>
    <p:handoutMasterId r:id="rId61"/>
  </p:handoutMasterIdLst>
  <p:sldIdLst>
    <p:sldId id="389" r:id="rId2"/>
    <p:sldId id="284" r:id="rId3"/>
    <p:sldId id="419" r:id="rId4"/>
    <p:sldId id="286" r:id="rId5"/>
    <p:sldId id="438" r:id="rId6"/>
    <p:sldId id="287" r:id="rId7"/>
    <p:sldId id="369" r:id="rId8"/>
    <p:sldId id="370" r:id="rId9"/>
    <p:sldId id="373" r:id="rId10"/>
    <p:sldId id="371" r:id="rId11"/>
    <p:sldId id="285" r:id="rId12"/>
    <p:sldId id="288" r:id="rId13"/>
    <p:sldId id="292" r:id="rId14"/>
    <p:sldId id="293" r:id="rId15"/>
    <p:sldId id="294" r:id="rId16"/>
    <p:sldId id="415" r:id="rId17"/>
    <p:sldId id="295" r:id="rId18"/>
    <p:sldId id="296" r:id="rId19"/>
    <p:sldId id="297" r:id="rId20"/>
    <p:sldId id="441" r:id="rId21"/>
    <p:sldId id="442" r:id="rId22"/>
    <p:sldId id="443" r:id="rId23"/>
    <p:sldId id="444" r:id="rId24"/>
    <p:sldId id="445" r:id="rId25"/>
    <p:sldId id="446" r:id="rId26"/>
    <p:sldId id="447" r:id="rId27"/>
    <p:sldId id="298" r:id="rId28"/>
    <p:sldId id="299" r:id="rId29"/>
    <p:sldId id="439" r:id="rId30"/>
    <p:sldId id="301" r:id="rId31"/>
    <p:sldId id="375" r:id="rId32"/>
    <p:sldId id="376" r:id="rId33"/>
    <p:sldId id="302" r:id="rId34"/>
    <p:sldId id="303" r:id="rId35"/>
    <p:sldId id="377" r:id="rId36"/>
    <p:sldId id="304" r:id="rId37"/>
    <p:sldId id="305" r:id="rId38"/>
    <p:sldId id="378" r:id="rId39"/>
    <p:sldId id="448" r:id="rId40"/>
    <p:sldId id="417" r:id="rId41"/>
    <p:sldId id="440" r:id="rId42"/>
    <p:sldId id="379" r:id="rId43"/>
    <p:sldId id="380" r:id="rId44"/>
    <p:sldId id="416" r:id="rId45"/>
    <p:sldId id="381" r:id="rId46"/>
    <p:sldId id="308" r:id="rId47"/>
    <p:sldId id="436" r:id="rId48"/>
    <p:sldId id="384" r:id="rId49"/>
    <p:sldId id="382" r:id="rId50"/>
    <p:sldId id="310" r:id="rId51"/>
    <p:sldId id="311" r:id="rId52"/>
    <p:sldId id="420" r:id="rId53"/>
    <p:sldId id="422" r:id="rId54"/>
    <p:sldId id="423" r:id="rId55"/>
    <p:sldId id="424" r:id="rId56"/>
    <p:sldId id="435" r:id="rId57"/>
    <p:sldId id="425" r:id="rId58"/>
    <p:sldId id="413" r:id="rId5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8">
          <p15:clr>
            <a:srgbClr val="A4A3A4"/>
          </p15:clr>
        </p15:guide>
        <p15:guide id="2" pos="4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66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642" y="62"/>
      </p:cViewPr>
      <p:guideLst>
        <p:guide orient="horz" pos="868"/>
        <p:guide pos="4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Siming" userId="1e4b75e0-8938-470c-9583-bf4243e4c4f1" providerId="ADAL" clId="{66290451-2C4D-4095-9FB9-0B7CD64D4DDE}"/>
    <pc:docChg chg="modSld">
      <pc:chgData name="Liu, Siming" userId="1e4b75e0-8938-470c-9583-bf4243e4c4f1" providerId="ADAL" clId="{66290451-2C4D-4095-9FB9-0B7CD64D4DDE}" dt="2020-10-30T18:42:55.904" v="104" actId="20577"/>
      <pc:docMkLst>
        <pc:docMk/>
      </pc:docMkLst>
      <pc:sldChg chg="modSp mod">
        <pc:chgData name="Liu, Siming" userId="1e4b75e0-8938-470c-9583-bf4243e4c4f1" providerId="ADAL" clId="{66290451-2C4D-4095-9FB9-0B7CD64D4DDE}" dt="2020-10-30T18:42:55.904" v="104" actId="20577"/>
        <pc:sldMkLst>
          <pc:docMk/>
          <pc:sldMk cId="1251680640" sldId="449"/>
        </pc:sldMkLst>
        <pc:spChg chg="mod">
          <ac:chgData name="Liu, Siming" userId="1e4b75e0-8938-470c-9583-bf4243e4c4f1" providerId="ADAL" clId="{66290451-2C4D-4095-9FB9-0B7CD64D4DDE}" dt="2020-10-30T18:42:55.904" v="104" actId="20577"/>
          <ac:spMkLst>
            <pc:docMk/>
            <pc:sldMk cId="1251680640" sldId="449"/>
            <ac:spMk id="3" creationId="{00000000-0000-0000-0000-000000000000}"/>
          </ac:spMkLst>
        </pc:spChg>
      </pc:sldChg>
    </pc:docChg>
  </pc:docChgLst>
  <pc:docChgLst>
    <pc:chgData name="Liu, Siming" userId="1e4b75e0-8938-470c-9583-bf4243e4c4f1" providerId="ADAL" clId="{62783CCA-26C8-47BB-AA79-66E0545CE5A3}"/>
    <pc:docChg chg="modSld">
      <pc:chgData name="Liu, Siming" userId="1e4b75e0-8938-470c-9583-bf4243e4c4f1" providerId="ADAL" clId="{62783CCA-26C8-47BB-AA79-66E0545CE5A3}" dt="2020-10-19T18:57:52.809" v="8" actId="20577"/>
      <pc:docMkLst>
        <pc:docMk/>
      </pc:docMkLst>
      <pc:sldChg chg="modSp mod">
        <pc:chgData name="Liu, Siming" userId="1e4b75e0-8938-470c-9583-bf4243e4c4f1" providerId="ADAL" clId="{62783CCA-26C8-47BB-AA79-66E0545CE5A3}" dt="2020-10-19T18:57:52.809" v="8" actId="20577"/>
        <pc:sldMkLst>
          <pc:docMk/>
          <pc:sldMk cId="1251680640" sldId="449"/>
        </pc:sldMkLst>
        <pc:spChg chg="mod">
          <ac:chgData name="Liu, Siming" userId="1e4b75e0-8938-470c-9583-bf4243e4c4f1" providerId="ADAL" clId="{62783CCA-26C8-47BB-AA79-66E0545CE5A3}" dt="2020-10-19T18:57:52.809" v="8" actId="20577"/>
          <ac:spMkLst>
            <pc:docMk/>
            <pc:sldMk cId="1251680640" sldId="449"/>
            <ac:spMk id="3" creationId="{00000000-0000-0000-0000-000000000000}"/>
          </ac:spMkLst>
        </pc:spChg>
      </pc:sldChg>
    </pc:docChg>
  </pc:docChgLst>
  <pc:docChgLst>
    <pc:chgData name="Liu, Siming" userId="1e4b75e0-8938-470c-9583-bf4243e4c4f1" providerId="ADAL" clId="{2E5DF64E-BD41-457B-9276-A37E7FED4D1C}"/>
    <pc:docChg chg="delSld">
      <pc:chgData name="Liu, Siming" userId="1e4b75e0-8938-470c-9583-bf4243e4c4f1" providerId="ADAL" clId="{2E5DF64E-BD41-457B-9276-A37E7FED4D1C}" dt="2023-10-03T18:41:53.582" v="0" actId="47"/>
      <pc:docMkLst>
        <pc:docMk/>
      </pc:docMkLst>
      <pc:sldChg chg="del">
        <pc:chgData name="Liu, Siming" userId="1e4b75e0-8938-470c-9583-bf4243e4c4f1" providerId="ADAL" clId="{2E5DF64E-BD41-457B-9276-A37E7FED4D1C}" dt="2023-10-03T18:41:53.582" v="0" actId="47"/>
        <pc:sldMkLst>
          <pc:docMk/>
          <pc:sldMk cId="1251680640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74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74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fld id="{380BDA06-3125-41AD-A001-BE08DD3FF2C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51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fld id="{D4B658E5-083D-454B-B1D4-CF779E49047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5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08DEDECC-4366-45F8-9300-20659C19623A}" type="slidenum">
              <a:rPr lang="en-US" sz="1300">
                <a:latin typeface="Helvetica" charset="0"/>
              </a:rPr>
              <a:pPr/>
              <a:t>1</a:t>
            </a:fld>
            <a:endParaRPr lang="en-US" sz="1300">
              <a:latin typeface="Helvetica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E1C3277-835D-4987-96DB-52E7322C1C09}" type="slidenum">
              <a:rPr lang="en-US" sz="1300">
                <a:latin typeface="Helvetica" charset="0"/>
              </a:rPr>
              <a:pPr/>
              <a:t>2</a:t>
            </a:fld>
            <a:endParaRPr lang="en-US" sz="1300">
              <a:latin typeface="Helvetica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C74E627-D090-4F97-AF79-D04461AE0706}" type="slidenum">
              <a:rPr lang="en-US" sz="1300">
                <a:latin typeface="Helvetica" charset="0"/>
              </a:rPr>
              <a:pPr/>
              <a:t>3</a:t>
            </a:fld>
            <a:endParaRPr lang="en-US" sz="1300">
              <a:latin typeface="Helvetica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A74993C-8781-4276-8E63-02A8CC904A3F}" type="slidenum">
              <a:rPr lang="en-US" sz="1300">
                <a:latin typeface="Helvetica" charset="0"/>
              </a:rPr>
              <a:pPr/>
              <a:t>4</a:t>
            </a:fld>
            <a:endParaRPr lang="en-US" sz="1300">
              <a:latin typeface="Helvetica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BBA12A4A-9799-4AE7-AA6B-552F511A11DC}" type="slidenum">
              <a:rPr lang="en-US" sz="1300">
                <a:latin typeface="Helvetica" charset="0"/>
              </a:rPr>
              <a:pPr/>
              <a:t>5</a:t>
            </a:fld>
            <a:endParaRPr lang="en-US" sz="1300">
              <a:latin typeface="Helvetica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1078332D-9495-407B-B339-3E0C26449B9D}" type="slidenum">
              <a:rPr lang="en-US" sz="1300">
                <a:latin typeface="Helvetica" charset="0"/>
              </a:rPr>
              <a:pPr/>
              <a:t>6</a:t>
            </a:fld>
            <a:endParaRPr lang="en-US" sz="1300">
              <a:latin typeface="Helvetica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3B8CE33C-FE12-4580-AB9B-2FCA8253A6E2}" type="slidenum">
              <a:rPr lang="en-US" sz="1300">
                <a:latin typeface="Helvetica" charset="0"/>
              </a:rPr>
              <a:pPr/>
              <a:t>7</a:t>
            </a:fld>
            <a:endParaRPr lang="en-US" sz="1300">
              <a:latin typeface="Helvetica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FE79D63-93DE-4EE1-9167-302302560C57}" type="slidenum">
              <a:rPr lang="en-US" sz="1300">
                <a:latin typeface="Helvetica" charset="0"/>
              </a:rPr>
              <a:pPr/>
              <a:t>8</a:t>
            </a:fld>
            <a:endParaRPr lang="en-US" sz="1300">
              <a:latin typeface="Helvetica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3D0C7880-9DD2-469C-B4C6-00A44B685B83}" type="slidenum">
              <a:rPr lang="en-US" sz="1300">
                <a:latin typeface="Helvetica" charset="0"/>
              </a:rPr>
              <a:pPr/>
              <a:t>9</a:t>
            </a:fld>
            <a:endParaRPr lang="en-US" sz="1300">
              <a:latin typeface="Helvetica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1EBDEFEC-EC7C-4DEC-BC04-38AAD2B199CA}" type="slidenum">
              <a:rPr lang="en-US" sz="1300">
                <a:latin typeface="Helvetica" charset="0"/>
              </a:rPr>
              <a:pPr/>
              <a:t>10</a:t>
            </a:fld>
            <a:endParaRPr lang="en-US" sz="1300">
              <a:latin typeface="Helvetica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6CC01A83-B69D-4216-BCD5-4366ECA34CFD}" type="slidenum">
              <a:rPr lang="en-US" sz="1300">
                <a:latin typeface="Helvetica" charset="0"/>
              </a:rPr>
              <a:pPr/>
              <a:t>11</a:t>
            </a:fld>
            <a:endParaRPr lang="en-US" sz="1300">
              <a:latin typeface="Helvetica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76619A9D-667C-4CA6-8C49-AA5B4EC2322C}" type="slidenum">
              <a:rPr lang="en-US" sz="1300">
                <a:latin typeface="Helvetica" charset="0"/>
              </a:rPr>
              <a:pPr/>
              <a:t>12</a:t>
            </a:fld>
            <a:endParaRPr lang="en-US" sz="1300">
              <a:latin typeface="Helvetica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B30673EA-F1A3-4AD7-AD81-C4EB738B58D8}" type="slidenum">
              <a:rPr lang="en-US" sz="1300">
                <a:latin typeface="Helvetica" charset="0"/>
              </a:rPr>
              <a:pPr/>
              <a:t>13</a:t>
            </a:fld>
            <a:endParaRPr lang="en-US" sz="1300">
              <a:latin typeface="Helvetica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2FB7049-D04C-486B-A449-65894668BA71}" type="slidenum">
              <a:rPr lang="en-US" sz="1300">
                <a:latin typeface="Helvetica" charset="0"/>
              </a:rPr>
              <a:pPr/>
              <a:t>14</a:t>
            </a:fld>
            <a:endParaRPr lang="en-US" sz="1300">
              <a:latin typeface="Helvetica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782FA000-C101-4D69-847F-BAFF5C562F54}" type="slidenum">
              <a:rPr lang="en-US" sz="1300">
                <a:latin typeface="Helvetica" charset="0"/>
              </a:rPr>
              <a:pPr/>
              <a:t>15</a:t>
            </a:fld>
            <a:endParaRPr lang="en-US" sz="1300">
              <a:latin typeface="Helvetica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884F04A-2732-4C24-950C-50B9936D99C4}" type="slidenum">
              <a:rPr lang="en-US" sz="1300">
                <a:latin typeface="Helvetica" charset="0"/>
              </a:rPr>
              <a:pPr/>
              <a:t>16</a:t>
            </a:fld>
            <a:endParaRPr lang="en-US" sz="1300">
              <a:latin typeface="Helvetica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DCFB8FE9-269F-4C22-B139-5776B1A65B7B}" type="slidenum">
              <a:rPr lang="en-US" sz="1300">
                <a:latin typeface="Helvetica" charset="0"/>
              </a:rPr>
              <a:pPr/>
              <a:t>17</a:t>
            </a:fld>
            <a:endParaRPr lang="en-US" sz="1300">
              <a:latin typeface="Helvetica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6488E955-A2C1-43B9-9D1F-8E52DBA2C55C}" type="slidenum">
              <a:rPr lang="en-US" sz="1300">
                <a:latin typeface="Helvetica" charset="0"/>
              </a:rPr>
              <a:pPr/>
              <a:t>18</a:t>
            </a:fld>
            <a:endParaRPr lang="en-US" sz="1300">
              <a:latin typeface="Helvetica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D3E9ECA8-4855-4642-A871-ABF1730A3629}" type="slidenum">
              <a:rPr lang="en-US" sz="1300">
                <a:latin typeface="Helvetica" charset="0"/>
              </a:rPr>
              <a:pPr/>
              <a:t>19</a:t>
            </a:fld>
            <a:endParaRPr lang="en-US" sz="1300">
              <a:latin typeface="Helvetica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A1C423C-E42B-41EC-8934-DEC72FE325FA}" type="slidenum">
              <a:rPr lang="en-US" sz="1300">
                <a:latin typeface="Helvetica" charset="0"/>
              </a:rPr>
              <a:pPr/>
              <a:t>20</a:t>
            </a:fld>
            <a:endParaRPr lang="en-US" sz="1300">
              <a:latin typeface="Helvetica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438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89203DBD-C24B-4BB0-895D-40C0B9513C7E}" type="slidenum">
              <a:rPr lang="en-US" sz="1300">
                <a:latin typeface="Helvetica" charset="0"/>
              </a:rPr>
              <a:pPr/>
              <a:t>21</a:t>
            </a:fld>
            <a:endParaRPr lang="en-US" sz="1300">
              <a:latin typeface="Helvetica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41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AF5E8541-06DB-4D13-9BF2-1C43CE897762}" type="slidenum">
              <a:rPr lang="en-US" sz="1300">
                <a:latin typeface="Helvetica" charset="0"/>
              </a:rPr>
              <a:pPr/>
              <a:t>22</a:t>
            </a:fld>
            <a:endParaRPr lang="en-US" sz="1300">
              <a:latin typeface="Helvetica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46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DD6DCBBC-342F-4274-9FA0-25B71CF38BF8}" type="slidenum">
              <a:rPr lang="en-US" sz="1300">
                <a:latin typeface="Helvetica" charset="0"/>
              </a:rPr>
              <a:pPr/>
              <a:t>23</a:t>
            </a:fld>
            <a:endParaRPr lang="en-US" sz="1300">
              <a:latin typeface="Helvetica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233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F3A56FF0-E71A-48B7-B470-93F6A2F61EE2}" type="slidenum">
              <a:rPr lang="en-US" sz="1300">
                <a:latin typeface="Helvetica" charset="0"/>
              </a:rPr>
              <a:pPr/>
              <a:t>24</a:t>
            </a:fld>
            <a:endParaRPr lang="en-US" sz="1300">
              <a:latin typeface="Helvetica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132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36B47D33-48B2-45F4-B278-3B45F52D08B7}" type="slidenum">
              <a:rPr lang="en-US" sz="1300">
                <a:latin typeface="Helvetica" charset="0"/>
              </a:rPr>
              <a:pPr/>
              <a:t>25</a:t>
            </a:fld>
            <a:endParaRPr lang="en-US" sz="1300">
              <a:latin typeface="Helvetica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02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0D4E95F-D2A4-40C9-AD44-73706367CE6E}" type="slidenum">
              <a:rPr lang="en-US" sz="1300">
                <a:latin typeface="Helvetica" charset="0"/>
              </a:rPr>
              <a:pPr/>
              <a:t>26</a:t>
            </a:fld>
            <a:endParaRPr lang="en-US" sz="1300">
              <a:latin typeface="Helvetica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185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5BD705B-D459-4533-882E-AE3DB8F5A897}" type="slidenum">
              <a:rPr lang="en-US" sz="1300">
                <a:latin typeface="Helvetica" charset="0"/>
              </a:rPr>
              <a:pPr/>
              <a:t>27</a:t>
            </a:fld>
            <a:endParaRPr lang="en-US" sz="1300">
              <a:latin typeface="Helvetica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8646748F-AA11-4686-A451-782692AC2036}" type="slidenum">
              <a:rPr lang="en-US" sz="1300">
                <a:latin typeface="Helvetica" charset="0"/>
              </a:rPr>
              <a:pPr/>
              <a:t>28</a:t>
            </a:fld>
            <a:endParaRPr lang="en-US" sz="1300">
              <a:latin typeface="Helvetica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B8028C41-9A0F-4F2B-9240-4A33CAFCBA65}" type="slidenum">
              <a:rPr lang="en-US" sz="1300">
                <a:latin typeface="Helvetica" charset="0"/>
              </a:rPr>
              <a:pPr/>
              <a:t>29</a:t>
            </a:fld>
            <a:endParaRPr lang="en-US" sz="1300">
              <a:latin typeface="Helvetica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762D5DA-3B92-4DAE-9154-39B45CC2BAFF}" type="slidenum">
              <a:rPr lang="en-US" sz="1300">
                <a:latin typeface="Helvetica" charset="0"/>
              </a:rPr>
              <a:pPr/>
              <a:t>30</a:t>
            </a:fld>
            <a:endParaRPr lang="en-US" sz="1300">
              <a:latin typeface="Helvetica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10D13D41-F9E1-4588-9BCC-0571702CDE22}" type="slidenum">
              <a:rPr lang="en-US" sz="1300">
                <a:latin typeface="Helvetica" charset="0"/>
              </a:rPr>
              <a:pPr/>
              <a:t>31</a:t>
            </a:fld>
            <a:endParaRPr lang="en-US" sz="1300">
              <a:latin typeface="Helvetica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5EACEE17-C84E-4B62-A7EA-A826F32389DB}" type="slidenum">
              <a:rPr lang="en-US" sz="1300">
                <a:latin typeface="Helvetica" charset="0"/>
              </a:rPr>
              <a:pPr/>
              <a:t>32</a:t>
            </a:fld>
            <a:endParaRPr lang="en-US" sz="1300">
              <a:latin typeface="Helvetica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E56C5B6A-63AA-4F9A-AE8D-32F8CADBFD53}" type="slidenum">
              <a:rPr lang="en-US" sz="1300">
                <a:latin typeface="Helvetica" charset="0"/>
              </a:rPr>
              <a:pPr/>
              <a:t>33</a:t>
            </a:fld>
            <a:endParaRPr lang="en-US" sz="1300">
              <a:latin typeface="Helvetica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FCCF138-6188-4A33-8986-377E504F0E18}" type="slidenum">
              <a:rPr lang="en-US" sz="1300">
                <a:latin typeface="Helvetica" charset="0"/>
              </a:rPr>
              <a:pPr/>
              <a:t>34</a:t>
            </a:fld>
            <a:endParaRPr lang="en-US" sz="1300">
              <a:latin typeface="Helvetica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6F68FAB5-6EE1-4AE1-AF1A-5B6D446FDDD8}" type="slidenum">
              <a:rPr lang="en-US" sz="1300">
                <a:latin typeface="Helvetica" charset="0"/>
              </a:rPr>
              <a:pPr/>
              <a:t>35</a:t>
            </a:fld>
            <a:endParaRPr lang="en-US" sz="1300">
              <a:latin typeface="Helvetica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7D3FDF21-1134-4F4B-BD55-E0699D87C59F}" type="slidenum">
              <a:rPr lang="en-US" sz="1300">
                <a:latin typeface="Helvetica" charset="0"/>
              </a:rPr>
              <a:pPr/>
              <a:t>36</a:t>
            </a:fld>
            <a:endParaRPr lang="en-US" sz="1300">
              <a:latin typeface="Helvetica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C369B4C-90D1-455D-96ED-DD50965AB22F}" type="slidenum">
              <a:rPr lang="en-US" sz="1300">
                <a:latin typeface="Helvetica" charset="0"/>
              </a:rPr>
              <a:pPr/>
              <a:t>37</a:t>
            </a:fld>
            <a:endParaRPr lang="en-US" sz="1300">
              <a:latin typeface="Helvetica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07893F0-1889-4C7C-A6FB-A25E855FD20E}" type="slidenum">
              <a:rPr lang="en-US" sz="1300">
                <a:latin typeface="Helvetica" charset="0"/>
              </a:rPr>
              <a:pPr/>
              <a:t>38</a:t>
            </a:fld>
            <a:endParaRPr lang="en-US" sz="1300">
              <a:latin typeface="Helvetica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28EE497-FA90-48A9-AF5E-128C7E4B9DB7}" type="slidenum">
              <a:rPr lang="en-US" sz="1300">
                <a:latin typeface="Helvetica" charset="0"/>
              </a:rPr>
              <a:pPr/>
              <a:t>40</a:t>
            </a:fld>
            <a:endParaRPr lang="en-US" sz="1300">
              <a:latin typeface="Helvetica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6F9A44FD-ED9D-4F8C-AB01-5AED4E56BE4E}" type="slidenum">
              <a:rPr lang="en-US" sz="1300">
                <a:latin typeface="Helvetica" charset="0"/>
              </a:rPr>
              <a:pPr/>
              <a:t>41</a:t>
            </a:fld>
            <a:endParaRPr lang="en-US" sz="1300">
              <a:latin typeface="Helvetica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F2ED4392-5B96-4A4B-B1A1-0F0FFB4D5096}" type="slidenum">
              <a:rPr lang="en-US" sz="1300">
                <a:latin typeface="Helvetica" charset="0"/>
              </a:rPr>
              <a:pPr/>
              <a:t>42</a:t>
            </a:fld>
            <a:endParaRPr lang="en-US" sz="1300">
              <a:latin typeface="Helvetica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52A1DD14-6BDE-4063-A192-3B21205460B6}" type="slidenum">
              <a:rPr lang="en-US" sz="1300">
                <a:latin typeface="Helvetica" charset="0"/>
              </a:rPr>
              <a:pPr/>
              <a:t>43</a:t>
            </a:fld>
            <a:endParaRPr lang="en-US" sz="1300">
              <a:latin typeface="Helvetica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1D45440B-1418-4AA2-9FB2-4041F31BA65B}" type="slidenum">
              <a:rPr lang="en-US" sz="1300">
                <a:latin typeface="Helvetica" charset="0"/>
              </a:rPr>
              <a:pPr/>
              <a:t>44</a:t>
            </a:fld>
            <a:endParaRPr lang="en-US" sz="1300">
              <a:latin typeface="Helvetica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534BFC4D-157A-4ED1-A9D4-58EBE5ACD043}" type="slidenum">
              <a:rPr lang="en-US" sz="1300">
                <a:latin typeface="Helvetica" charset="0"/>
              </a:rPr>
              <a:pPr/>
              <a:t>45</a:t>
            </a:fld>
            <a:endParaRPr lang="en-US" sz="1300">
              <a:latin typeface="Helvetica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2598F80-2F68-4D57-A644-F9C66CEE31A1}" type="slidenum">
              <a:rPr lang="en-US" sz="1300">
                <a:latin typeface="Helvetica" charset="0"/>
              </a:rPr>
              <a:pPr/>
              <a:t>46</a:t>
            </a:fld>
            <a:endParaRPr lang="en-US" sz="1300">
              <a:latin typeface="Helvetica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F948219-0EB1-48E6-A006-7F7C94B5F628}" type="slidenum">
              <a:rPr lang="en-US" sz="1300">
                <a:latin typeface="Helvetica" charset="0"/>
              </a:rPr>
              <a:pPr/>
              <a:t>47</a:t>
            </a:fld>
            <a:endParaRPr lang="en-US" sz="1300">
              <a:latin typeface="Helvetica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0237A887-2CF6-44E4-A9DD-A7CB400551F0}" type="slidenum">
              <a:rPr lang="en-US" sz="1300">
                <a:latin typeface="Helvetica" charset="0"/>
              </a:rPr>
              <a:pPr/>
              <a:t>48</a:t>
            </a:fld>
            <a:endParaRPr lang="en-US" sz="1300">
              <a:latin typeface="Helvetica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1CAA76AC-51E3-40FE-8B0A-36F0A320D21D}" type="slidenum">
              <a:rPr lang="en-US" sz="1300">
                <a:latin typeface="Helvetica" charset="0"/>
              </a:rPr>
              <a:pPr/>
              <a:t>49</a:t>
            </a:fld>
            <a:endParaRPr lang="en-US" sz="1300">
              <a:latin typeface="Helvetica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9DCD29DE-4D4D-4C3A-8BCC-92F36D59BD17}" type="slidenum">
              <a:rPr lang="en-US" sz="1300">
                <a:latin typeface="Helvetica" charset="0"/>
              </a:rPr>
              <a:pPr/>
              <a:t>50</a:t>
            </a:fld>
            <a:endParaRPr lang="en-US" sz="1300">
              <a:latin typeface="Helvetica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DA36387D-2786-4768-82E6-773521A70D76}" type="slidenum">
              <a:rPr lang="en-US" sz="1300">
                <a:latin typeface="Helvetica" charset="0"/>
              </a:rPr>
              <a:pPr/>
              <a:t>51</a:t>
            </a:fld>
            <a:endParaRPr lang="en-US" sz="1300">
              <a:latin typeface="Helvetica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70855441-74B7-4779-80E9-054806A457BD}" type="slidenum">
              <a:rPr lang="en-US" sz="1300">
                <a:latin typeface="Helvetica" charset="0"/>
              </a:rPr>
              <a:pPr/>
              <a:t>52</a:t>
            </a:fld>
            <a:endParaRPr lang="en-US" sz="1300">
              <a:latin typeface="Helvetica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861D331-B08A-4CDF-8AC6-F6DBB9D3ACD8}" type="slidenum">
              <a:rPr lang="en-US" sz="1300">
                <a:latin typeface="Helvetica" charset="0"/>
              </a:rPr>
              <a:pPr/>
              <a:t>53</a:t>
            </a:fld>
            <a:endParaRPr lang="en-US" sz="1300">
              <a:latin typeface="Helvetica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0AE97E99-C4DD-4696-9C8F-5DD17D1BC198}" type="slidenum">
              <a:rPr lang="en-US" sz="1300">
                <a:latin typeface="Helvetica" charset="0"/>
              </a:rPr>
              <a:pPr/>
              <a:t>54</a:t>
            </a:fld>
            <a:endParaRPr lang="en-US" sz="1300">
              <a:latin typeface="Helvetica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36EBB033-8134-46B1-B615-B250B0C6E607}" type="slidenum">
              <a:rPr lang="en-US" sz="1300">
                <a:latin typeface="Helvetica" charset="0"/>
              </a:rPr>
              <a:pPr/>
              <a:t>55</a:t>
            </a:fld>
            <a:endParaRPr lang="en-US" sz="1300">
              <a:latin typeface="Helvetica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B4B7131-620E-4D5C-A6F4-940C571AC19B}" type="slidenum">
              <a:rPr lang="en-US" sz="1300">
                <a:latin typeface="Helvetica" charset="0"/>
              </a:rPr>
              <a:pPr/>
              <a:t>56</a:t>
            </a:fld>
            <a:endParaRPr lang="en-US" sz="1300">
              <a:latin typeface="Helvetica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6873FE5D-4074-4919-8D0A-53ACA5DC6A9D}" type="slidenum">
              <a:rPr lang="en-US" sz="1300">
                <a:latin typeface="Helvetica" charset="0"/>
              </a:rPr>
              <a:pPr/>
              <a:t>57</a:t>
            </a:fld>
            <a:endParaRPr lang="en-US" sz="1300">
              <a:latin typeface="Helvetica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66DEB070-14EB-4C84-84C3-8E3318901818}" type="slidenum">
              <a:rPr lang="en-US" sz="1300">
                <a:latin typeface="Helvetica" charset="0"/>
              </a:rPr>
              <a:pPr/>
              <a:t>58</a:t>
            </a:fld>
            <a:endParaRPr lang="en-US" sz="1300">
              <a:latin typeface="Helvetica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70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336699"/>
                </a:solidFill>
                <a:latin typeface="Helvetica" charset="0"/>
              </a:rPr>
              <a:t>Operating System Concepts – 8</a:t>
            </a:r>
            <a:r>
              <a:rPr lang="en-US" sz="10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000" b="1">
                <a:solidFill>
                  <a:srgbClr val="336699"/>
                </a:solidFill>
                <a:latin typeface="Helvetica" charset="0"/>
              </a:rPr>
              <a:t> Edition,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4326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346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179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891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1446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003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36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705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317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478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68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399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86759" y="5513948"/>
            <a:ext cx="7759700" cy="83343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215900" y="6492875"/>
            <a:ext cx="86725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Bo,Modern  Operating Systems:4th ed., (c) 2013 Prentice-Hall,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0037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3957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253958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253959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253960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253961" name="Text Box 9"/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8.</a:t>
            </a:r>
            <a:fld id="{7936F83A-2FCE-4C7B-8F1C-71341FAFACAC}" type="slidenum">
              <a:rPr lang="en-US" sz="10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253962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253963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0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0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ＭＳ Ｐゴシック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Chapter 8: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Chapter 8:  Memory Management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r>
              <a:rPr lang="en-US"/>
              <a:t>Background</a:t>
            </a:r>
          </a:p>
          <a:p>
            <a:r>
              <a:rPr lang="en-US"/>
              <a:t>Swapping </a:t>
            </a:r>
          </a:p>
          <a:p>
            <a:r>
              <a:rPr lang="en-US"/>
              <a:t>Contiguous Memory Allocation</a:t>
            </a:r>
          </a:p>
          <a:p>
            <a:r>
              <a:rPr lang="en-US"/>
              <a:t>Segmentation</a:t>
            </a:r>
          </a:p>
          <a:p>
            <a:r>
              <a:rPr lang="en-US"/>
              <a:t>Paging</a:t>
            </a:r>
          </a:p>
          <a:p>
            <a:r>
              <a:rPr lang="en-US"/>
              <a:t>Structure of the Page Table</a:t>
            </a:r>
          </a:p>
          <a:p>
            <a:r>
              <a:rPr lang="en-US"/>
              <a:t>Example: The Intel Pentium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25575"/>
            <a:ext cx="6651625" cy="4440238"/>
          </a:xfrm>
        </p:spPr>
        <p:txBody>
          <a:bodyPr/>
          <a:lstStyle/>
          <a:p>
            <a:r>
              <a:rPr lang="en-US"/>
              <a:t>To provide a detailed description of various ways of organizing memory hardware</a:t>
            </a:r>
          </a:p>
          <a:p>
            <a:r>
              <a:rPr lang="en-US"/>
              <a:t>To discuss various memory-management techniques, including paging and segmentation</a:t>
            </a:r>
          </a:p>
          <a:p>
            <a:r>
              <a:rPr lang="en-US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367588" cy="576262"/>
          </a:xfrm>
        </p:spPr>
        <p:txBody>
          <a:bodyPr/>
          <a:lstStyle/>
          <a:p>
            <a:pPr eaLnBrk="1" hangingPunct="1"/>
            <a:r>
              <a:rPr lang="en-US"/>
              <a:t>Background</a:t>
            </a:r>
          </a:p>
        </p:txBody>
      </p:sp>
      <p:sp>
        <p:nvSpPr>
          <p:cNvPr id="215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r>
              <a:rPr lang="en-US"/>
              <a:t>Program must be brought (from disk)  into memory and placed within a process for it to be run</a:t>
            </a:r>
          </a:p>
          <a:p>
            <a:r>
              <a:rPr lang="en-US"/>
              <a:t>Main memory and registers are only storage CPU can access directly</a:t>
            </a:r>
          </a:p>
          <a:p>
            <a:r>
              <a:rPr lang="en-US"/>
              <a:t>Register access in one CPU clock (or less)</a:t>
            </a:r>
          </a:p>
          <a:p>
            <a:r>
              <a:rPr lang="en-US"/>
              <a:t>Main memory can take many cycles</a:t>
            </a:r>
          </a:p>
          <a:p>
            <a:r>
              <a:rPr lang="en-US" b="1">
                <a:solidFill>
                  <a:srgbClr val="3366FF"/>
                </a:solidFill>
              </a:rPr>
              <a:t>Cache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sits between main memory and CPU registers</a:t>
            </a:r>
          </a:p>
          <a:p>
            <a:r>
              <a:rPr lang="en-US"/>
              <a:t>Protection of memory required to ensure correct operation</a:t>
            </a:r>
          </a:p>
          <a:p>
            <a:pPr>
              <a:buFont typeface="Monotype Sorts" charset="2"/>
              <a:buNone/>
            </a:pPr>
            <a:endParaRPr 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367588" cy="576262"/>
          </a:xfrm>
        </p:spPr>
        <p:txBody>
          <a:bodyPr/>
          <a:lstStyle/>
          <a:p>
            <a:pPr eaLnBrk="1" hangingPunct="1"/>
            <a:r>
              <a:rPr lang="en-US"/>
              <a:t>Base and Limit Registers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838"/>
            <a:ext cx="7351713" cy="4483100"/>
          </a:xfrm>
        </p:spPr>
        <p:txBody>
          <a:bodyPr/>
          <a:lstStyle/>
          <a:p>
            <a:r>
              <a:rPr lang="en-US"/>
              <a:t>A pair of </a:t>
            </a:r>
            <a:r>
              <a:rPr lang="en-US" b="1">
                <a:solidFill>
                  <a:srgbClr val="3366FF"/>
                </a:solidFill>
              </a:rPr>
              <a:t>base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and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3366FF"/>
                </a:solidFill>
              </a:rPr>
              <a:t>limit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registers define the logical address space</a:t>
            </a:r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063" y="1869603"/>
            <a:ext cx="3600450" cy="396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38" y="2356455"/>
            <a:ext cx="2554238" cy="2993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9650" y="307975"/>
            <a:ext cx="8134350" cy="457200"/>
          </a:xfrm>
        </p:spPr>
        <p:txBody>
          <a:bodyPr/>
          <a:lstStyle/>
          <a:p>
            <a:pPr eaLnBrk="1" hangingPunct="1"/>
            <a:r>
              <a:rPr lang="en-US" sz="2800"/>
              <a:t>Binding of Instructions and Data to Memory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139825"/>
            <a:ext cx="7029450" cy="4114800"/>
          </a:xfrm>
        </p:spPr>
        <p:txBody>
          <a:bodyPr/>
          <a:lstStyle/>
          <a:p>
            <a:pPr>
              <a:buFont typeface="Monotype Sorts" charset="2"/>
              <a:buNone/>
            </a:pPr>
            <a:endParaRPr lang="en-US"/>
          </a:p>
          <a:p>
            <a:r>
              <a:rPr kumimoji="0" lang="en-US"/>
              <a:t>Address binding of instructions and data to memory addresses can happen at three different stages</a:t>
            </a:r>
          </a:p>
          <a:p>
            <a:pPr lvl="1"/>
            <a:r>
              <a:rPr lang="en-US" b="1"/>
              <a:t>Compile time</a:t>
            </a:r>
            <a:r>
              <a:rPr lang="en-US"/>
              <a:t>:  If memory location is known </a:t>
            </a:r>
            <a:r>
              <a:rPr lang="en-US" i="1"/>
              <a:t>a priori</a:t>
            </a:r>
            <a:r>
              <a:rPr lang="en-US"/>
              <a:t>, </a:t>
            </a:r>
            <a:r>
              <a:rPr lang="en-US" b="1">
                <a:solidFill>
                  <a:srgbClr val="3366FF"/>
                </a:solidFill>
              </a:rPr>
              <a:t>absolute code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can be generated; must recompile code if starting location changes</a:t>
            </a:r>
          </a:p>
          <a:p>
            <a:pPr lvl="1"/>
            <a:r>
              <a:rPr lang="en-US" b="1"/>
              <a:t>Load time</a:t>
            </a:r>
            <a:r>
              <a:rPr lang="en-US"/>
              <a:t>:  Must generate </a:t>
            </a:r>
            <a:r>
              <a:rPr lang="en-US" b="1" err="1">
                <a:solidFill>
                  <a:srgbClr val="3366FF"/>
                </a:solidFill>
              </a:rPr>
              <a:t>relocatable</a:t>
            </a:r>
            <a:r>
              <a:rPr lang="en-US" b="1">
                <a:solidFill>
                  <a:srgbClr val="3366FF"/>
                </a:solidFill>
              </a:rPr>
              <a:t> code</a:t>
            </a:r>
            <a:r>
              <a:rPr lang="en-US"/>
              <a:t> if memory location is not known at compile time</a:t>
            </a:r>
          </a:p>
          <a:p>
            <a:pPr lvl="1"/>
            <a:r>
              <a:rPr lang="en-US" b="1"/>
              <a:t>Execution time</a:t>
            </a:r>
            <a:r>
              <a:rPr lang="en-US"/>
              <a:t>:  Binding delayed until run time if the process can be moved during its execution from one memory segment to another.  Need hardware support for address maps (e.g., base and limit</a:t>
            </a:r>
            <a:r>
              <a:rPr lang="en-US" i="1"/>
              <a:t> </a:t>
            </a:r>
            <a:r>
              <a:rPr lang="en-US"/>
              <a:t>registers)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/>
              <a:t>Multistep Processing of a User Program </a:t>
            </a: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1374775"/>
            <a:ext cx="2355850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Logical vs. Physical Address Space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6937375" cy="4468813"/>
          </a:xfrm>
        </p:spPr>
        <p:txBody>
          <a:bodyPr/>
          <a:lstStyle/>
          <a:p>
            <a:r>
              <a:rPr lang="en-US"/>
              <a:t>The concept of a logical address space that is bound to a separate </a:t>
            </a:r>
            <a:r>
              <a:rPr lang="en-US" b="1">
                <a:solidFill>
                  <a:srgbClr val="3366FF"/>
                </a:solidFill>
              </a:rPr>
              <a:t>physical address space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is central to proper memory management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Logical address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generated by the CPU; also referred to as </a:t>
            </a:r>
            <a:r>
              <a:rPr lang="en-US" b="1">
                <a:solidFill>
                  <a:srgbClr val="3366FF"/>
                </a:solidFill>
              </a:rPr>
              <a:t>virtual address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Physical address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address seen by the memory unit</a:t>
            </a:r>
          </a:p>
          <a:p>
            <a:r>
              <a:rPr lang="en-US"/>
              <a:t>Logical and physical addresses are the same in compile-time and load-time address-binding schemes; logical (virtual) and physical addresses differ in execution-time address-binding scheme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Memory-Management Unit (</a:t>
            </a:r>
            <a:r>
              <a:rPr lang="en-US" sz="2400"/>
              <a:t>MMU</a:t>
            </a:r>
            <a:r>
              <a:rPr lang="en-US"/>
              <a:t>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r>
              <a:rPr lang="en-US"/>
              <a:t>Hardware device that maps virtual to physical address</a:t>
            </a:r>
            <a:br>
              <a:rPr lang="en-US"/>
            </a:br>
            <a:endParaRPr lang="en-US"/>
          </a:p>
          <a:p>
            <a:r>
              <a:rPr lang="en-US"/>
              <a:t>In MMU scheme, the value in the relocation register is added to every address generated by a user process at the time it is sent to memory</a:t>
            </a:r>
            <a:br>
              <a:rPr lang="en-US"/>
            </a:br>
            <a:endParaRPr lang="en-US"/>
          </a:p>
          <a:p>
            <a:r>
              <a:rPr lang="en-US"/>
              <a:t>The user program deals with </a:t>
            </a:r>
            <a:r>
              <a:rPr lang="en-US" b="1" i="1">
                <a:solidFill>
                  <a:srgbClr val="0070C0"/>
                </a:solidFill>
              </a:rPr>
              <a:t>logical</a:t>
            </a:r>
            <a:r>
              <a:rPr lang="en-US"/>
              <a:t> addresses; it never sees the </a:t>
            </a:r>
            <a:r>
              <a:rPr lang="en-US" b="1" i="1">
                <a:solidFill>
                  <a:srgbClr val="0070C0"/>
                </a:solidFill>
              </a:rPr>
              <a:t>real</a:t>
            </a:r>
            <a:r>
              <a:rPr lang="en-US" b="1" i="1"/>
              <a:t> </a:t>
            </a:r>
            <a:r>
              <a:rPr lang="en-US" b="1" i="1">
                <a:solidFill>
                  <a:srgbClr val="0070C0"/>
                </a:solidFill>
              </a:rPr>
              <a:t>physical</a:t>
            </a:r>
            <a:r>
              <a:rPr lang="en-US" b="1" i="1"/>
              <a:t> </a:t>
            </a:r>
            <a:r>
              <a:rPr lang="en-US"/>
              <a:t>addresses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0"/>
            <a:ext cx="8054975" cy="844550"/>
          </a:xfrm>
        </p:spPr>
        <p:txBody>
          <a:bodyPr/>
          <a:lstStyle/>
          <a:p>
            <a:pPr eaLnBrk="1" hangingPunct="1"/>
            <a:r>
              <a:rPr lang="en-US" sz="2800"/>
              <a:t>Dynamic relocation using a relocation register</a:t>
            </a:r>
          </a:p>
        </p:txBody>
      </p:sp>
      <p:pic>
        <p:nvPicPr>
          <p:cNvPr id="3379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1474788"/>
            <a:ext cx="5357813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Dynamic Loading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r>
              <a:rPr lang="en-US"/>
              <a:t>Routine is not loaded until it is called</a:t>
            </a:r>
          </a:p>
          <a:p>
            <a:r>
              <a:rPr lang="en-US"/>
              <a:t>Better memory-space utilization; unused routine is never loaded</a:t>
            </a:r>
          </a:p>
          <a:p>
            <a:r>
              <a:rPr lang="en-US"/>
              <a:t>Useful when large amounts of code are needed to handle infrequently occurring cases</a:t>
            </a:r>
          </a:p>
          <a:p>
            <a:r>
              <a:rPr lang="en-US"/>
              <a:t>No special support from the operating system is required implemented through program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Dynamic Linking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6734175" cy="4341813"/>
          </a:xfrm>
        </p:spPr>
        <p:txBody>
          <a:bodyPr/>
          <a:lstStyle/>
          <a:p>
            <a:r>
              <a:rPr lang="en-US"/>
              <a:t>Linking postponed until execution time</a:t>
            </a:r>
          </a:p>
          <a:p>
            <a:r>
              <a:rPr lang="en-US"/>
              <a:t>Small piece of code, </a:t>
            </a:r>
            <a:r>
              <a:rPr lang="en-US" i="1"/>
              <a:t>stub</a:t>
            </a:r>
            <a:r>
              <a:rPr lang="en-US"/>
              <a:t>, used to locate the appropriate memory-resident library routine</a:t>
            </a:r>
          </a:p>
          <a:p>
            <a:r>
              <a:rPr lang="en-US"/>
              <a:t>Stub replaces itself with the address of the routine, and executes the routine</a:t>
            </a:r>
          </a:p>
          <a:p>
            <a:r>
              <a:rPr lang="en-US"/>
              <a:t>Operating system needed to check if routine is in processes’ memory address</a:t>
            </a:r>
          </a:p>
          <a:p>
            <a:r>
              <a:rPr lang="en-US"/>
              <a:t>Dynamic linking is particularly useful for libraries</a:t>
            </a:r>
          </a:p>
          <a:p>
            <a:r>
              <a:rPr lang="en-US"/>
              <a:t>System also known as </a:t>
            </a:r>
            <a:r>
              <a:rPr lang="en-US" b="1">
                <a:solidFill>
                  <a:srgbClr val="3366FF"/>
                </a:solidFill>
              </a:rPr>
              <a:t>shared libraries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Swapping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/>
              <a:t>A process can be swapped temporarily out of memory to a backing store, and then brought back into memory for continued execution</a:t>
            </a:r>
            <a:br>
              <a:rPr lang="en-US" sz="1600"/>
            </a:br>
            <a:endParaRPr lang="en-US" sz="1600"/>
          </a:p>
          <a:p>
            <a:pPr>
              <a:lnSpc>
                <a:spcPct val="80000"/>
              </a:lnSpc>
            </a:pPr>
            <a:r>
              <a:rPr lang="en-US" sz="1600" b="1">
                <a:solidFill>
                  <a:srgbClr val="3366FF"/>
                </a:solidFill>
              </a:rPr>
              <a:t>Backing store</a:t>
            </a:r>
            <a:r>
              <a:rPr lang="en-US" sz="1600">
                <a:solidFill>
                  <a:srgbClr val="3366FF"/>
                </a:solidFill>
              </a:rPr>
              <a:t> </a:t>
            </a:r>
            <a:r>
              <a:rPr lang="en-US" sz="1600"/>
              <a:t>– fast disk large enough to accommodate copies of all memory images for all users; must provide direct access to these memory images</a:t>
            </a:r>
            <a:br>
              <a:rPr lang="en-US" sz="1600"/>
            </a:br>
            <a:endParaRPr lang="en-US" sz="1600"/>
          </a:p>
          <a:p>
            <a:pPr>
              <a:lnSpc>
                <a:spcPct val="80000"/>
              </a:lnSpc>
            </a:pPr>
            <a:r>
              <a:rPr lang="en-US" sz="1600" b="1">
                <a:solidFill>
                  <a:srgbClr val="3366FF"/>
                </a:solidFill>
              </a:rPr>
              <a:t>Roll out, roll in</a:t>
            </a:r>
            <a:r>
              <a:rPr lang="en-US" sz="1600">
                <a:solidFill>
                  <a:srgbClr val="3366FF"/>
                </a:solidFill>
              </a:rPr>
              <a:t> </a:t>
            </a:r>
            <a:r>
              <a:rPr lang="en-US" sz="1600"/>
              <a:t>– swapping variant used for priority-based scheduling algorithms; lower-priority process is swapped out so higher-priority process can be loaded and executed</a:t>
            </a:r>
            <a:br>
              <a:rPr lang="en-US" sz="1600"/>
            </a:br>
            <a:endParaRPr lang="en-US" sz="1600"/>
          </a:p>
          <a:p>
            <a:pPr>
              <a:lnSpc>
                <a:spcPct val="80000"/>
              </a:lnSpc>
            </a:pPr>
            <a:r>
              <a:rPr lang="en-US" sz="1600"/>
              <a:t>Major part of swap time is transfer time; total transfer time is directly proportional to the amount of memory swapped</a:t>
            </a:r>
            <a:br>
              <a:rPr lang="en-US" sz="1600"/>
            </a:br>
            <a:endParaRPr lang="en-US" sz="1600"/>
          </a:p>
          <a:p>
            <a:pPr>
              <a:lnSpc>
                <a:spcPct val="80000"/>
              </a:lnSpc>
            </a:pPr>
            <a:r>
              <a:rPr lang="en-US" sz="1600"/>
              <a:t>Modified versions of swapping are found on many systems (i.e., UNIX, Linux, and Windows)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Schematic View of Swapping</a:t>
            </a:r>
            <a:endParaRPr lang="en-US" sz="2400"/>
          </a:p>
        </p:txBody>
      </p:sp>
      <p:pic>
        <p:nvPicPr>
          <p:cNvPr id="4198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296988"/>
            <a:ext cx="6080125" cy="453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Contiguous Allocation</a:t>
            </a:r>
          </a:p>
        </p:txBody>
      </p:sp>
      <p:sp>
        <p:nvSpPr>
          <p:cNvPr id="440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037388" cy="4511675"/>
          </a:xfrm>
        </p:spPr>
        <p:txBody>
          <a:bodyPr/>
          <a:lstStyle/>
          <a:p>
            <a:r>
              <a:rPr lang="en-US"/>
              <a:t>Main memory is usually broken into two partitions:</a:t>
            </a:r>
          </a:p>
          <a:p>
            <a:pPr lvl="1"/>
            <a:r>
              <a:rPr lang="en-US"/>
              <a:t>Resident OS, usually held in low memory with interrupt vector</a:t>
            </a:r>
          </a:p>
          <a:p>
            <a:pPr lvl="1"/>
            <a:r>
              <a:rPr lang="en-US"/>
              <a:t>User processes then held in high memory</a:t>
            </a:r>
            <a:br>
              <a:rPr lang="en-US"/>
            </a:br>
            <a:endParaRPr lang="en-US"/>
          </a:p>
          <a:p>
            <a:r>
              <a:rPr lang="en-US"/>
              <a:t>Relocation registers used to protect user processes from each other, and from changing operating-system code and data</a:t>
            </a:r>
          </a:p>
          <a:p>
            <a:pPr lvl="1"/>
            <a:r>
              <a:rPr lang="en-US"/>
              <a:t>Base register contains value of smallest physical address</a:t>
            </a:r>
          </a:p>
          <a:p>
            <a:pPr lvl="1"/>
            <a:r>
              <a:rPr lang="en-US"/>
              <a:t>Limit register contains range of logical addresses – each logical address must be less than the limit register </a:t>
            </a:r>
          </a:p>
          <a:p>
            <a:pPr lvl="1"/>
            <a:r>
              <a:rPr lang="en-US"/>
              <a:t>MMU maps logical address </a:t>
            </a:r>
            <a:r>
              <a:rPr lang="en-US" i="1"/>
              <a:t>dynamically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77813"/>
            <a:ext cx="8229600" cy="576262"/>
          </a:xfrm>
        </p:spPr>
        <p:txBody>
          <a:bodyPr/>
          <a:lstStyle/>
          <a:p>
            <a:pPr eaLnBrk="1" hangingPunct="1"/>
            <a:r>
              <a:rPr lang="en-US" sz="2400"/>
              <a:t>Hardware Support for Relocation and Limit Registers</a:t>
            </a:r>
          </a:p>
        </p:txBody>
      </p:sp>
      <p:pic>
        <p:nvPicPr>
          <p:cNvPr id="46084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1858963"/>
            <a:ext cx="6437313" cy="319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Contiguous Allocation (Cont)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35088"/>
            <a:ext cx="7351713" cy="2605087"/>
          </a:xfrm>
        </p:spPr>
        <p:txBody>
          <a:bodyPr/>
          <a:lstStyle/>
          <a:p>
            <a:r>
              <a:rPr lang="en-US"/>
              <a:t>Multiple-partition allocation</a:t>
            </a:r>
          </a:p>
          <a:p>
            <a:pPr lvl="1"/>
            <a:r>
              <a:rPr lang="en-US"/>
              <a:t>Hole – block of available memory; holes of various size are scattered throughout memory</a:t>
            </a:r>
          </a:p>
          <a:p>
            <a:pPr lvl="1"/>
            <a:r>
              <a:rPr lang="en-US"/>
              <a:t>When a process arrives, it is allocated memory from a hole large enough to accommodate it</a:t>
            </a:r>
          </a:p>
          <a:p>
            <a:pPr lvl="1"/>
            <a:r>
              <a:rPr lang="en-US"/>
              <a:t>OS maintains information about:</a:t>
            </a:r>
            <a:br>
              <a:rPr lang="en-US"/>
            </a:br>
            <a:r>
              <a:rPr lang="en-US"/>
              <a:t>a) allocated partitions    b) free partitions (hole)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11049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3" name="Line 5"/>
          <p:cNvSpPr>
            <a:spLocks noChangeShapeType="1"/>
          </p:cNvSpPr>
          <p:nvPr/>
        </p:nvSpPr>
        <p:spPr bwMode="auto">
          <a:xfrm>
            <a:off x="11049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4" name="Line 6"/>
          <p:cNvSpPr>
            <a:spLocks noChangeShapeType="1"/>
          </p:cNvSpPr>
          <p:nvPr/>
        </p:nvSpPr>
        <p:spPr bwMode="auto">
          <a:xfrm>
            <a:off x="11049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5" name="Line 7"/>
          <p:cNvSpPr>
            <a:spLocks noChangeShapeType="1"/>
          </p:cNvSpPr>
          <p:nvPr/>
        </p:nvSpPr>
        <p:spPr bwMode="auto">
          <a:xfrm>
            <a:off x="11049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1409700" y="4067175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OS</a:t>
            </a: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104900" y="45116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5</a:t>
            </a:r>
          </a:p>
        </p:txBody>
      </p:sp>
      <p:sp>
        <p:nvSpPr>
          <p:cNvPr id="48138" name="Text Box 10"/>
          <p:cNvSpPr txBox="1">
            <a:spLocks noChangeArrowheads="1"/>
          </p:cNvSpPr>
          <p:nvPr/>
        </p:nvSpPr>
        <p:spPr bwMode="auto">
          <a:xfrm>
            <a:off x="1104900" y="51943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8</a:t>
            </a:r>
          </a:p>
        </p:txBody>
      </p:sp>
      <p:sp>
        <p:nvSpPr>
          <p:cNvPr id="48139" name="Text Box 11"/>
          <p:cNvSpPr txBox="1">
            <a:spLocks noChangeArrowheads="1"/>
          </p:cNvSpPr>
          <p:nvPr/>
        </p:nvSpPr>
        <p:spPr bwMode="auto">
          <a:xfrm>
            <a:off x="1104900" y="57912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2</a:t>
            </a:r>
          </a:p>
        </p:txBody>
      </p:sp>
      <p:sp>
        <p:nvSpPr>
          <p:cNvPr id="48140" name="Rectangle 14"/>
          <p:cNvSpPr>
            <a:spLocks noChangeArrowheads="1"/>
          </p:cNvSpPr>
          <p:nvPr/>
        </p:nvSpPr>
        <p:spPr bwMode="auto">
          <a:xfrm>
            <a:off x="29337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Line 15"/>
          <p:cNvSpPr>
            <a:spLocks noChangeShapeType="1"/>
          </p:cNvSpPr>
          <p:nvPr/>
        </p:nvSpPr>
        <p:spPr bwMode="auto">
          <a:xfrm>
            <a:off x="29337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2" name="Line 16"/>
          <p:cNvSpPr>
            <a:spLocks noChangeShapeType="1"/>
          </p:cNvSpPr>
          <p:nvPr/>
        </p:nvSpPr>
        <p:spPr bwMode="auto">
          <a:xfrm>
            <a:off x="29337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3" name="Line 17"/>
          <p:cNvSpPr>
            <a:spLocks noChangeShapeType="1"/>
          </p:cNvSpPr>
          <p:nvPr/>
        </p:nvSpPr>
        <p:spPr bwMode="auto">
          <a:xfrm>
            <a:off x="29337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4" name="Text Box 18"/>
          <p:cNvSpPr txBox="1">
            <a:spLocks noChangeArrowheads="1"/>
          </p:cNvSpPr>
          <p:nvPr/>
        </p:nvSpPr>
        <p:spPr bwMode="auto">
          <a:xfrm>
            <a:off x="3238500" y="4067175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OS</a:t>
            </a:r>
          </a:p>
        </p:txBody>
      </p:sp>
      <p:sp>
        <p:nvSpPr>
          <p:cNvPr id="48145" name="Text Box 19"/>
          <p:cNvSpPr txBox="1">
            <a:spLocks noChangeArrowheads="1"/>
          </p:cNvSpPr>
          <p:nvPr/>
        </p:nvSpPr>
        <p:spPr bwMode="auto">
          <a:xfrm>
            <a:off x="2933700" y="45116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5</a:t>
            </a:r>
          </a:p>
        </p:txBody>
      </p:sp>
      <p:sp>
        <p:nvSpPr>
          <p:cNvPr id="48146" name="Text Box 21"/>
          <p:cNvSpPr txBox="1">
            <a:spLocks noChangeArrowheads="1"/>
          </p:cNvSpPr>
          <p:nvPr/>
        </p:nvSpPr>
        <p:spPr bwMode="auto">
          <a:xfrm>
            <a:off x="2933700" y="57912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2</a:t>
            </a:r>
          </a:p>
        </p:txBody>
      </p:sp>
      <p:sp>
        <p:nvSpPr>
          <p:cNvPr id="48147" name="Rectangle 23"/>
          <p:cNvSpPr>
            <a:spLocks noChangeArrowheads="1"/>
          </p:cNvSpPr>
          <p:nvPr/>
        </p:nvSpPr>
        <p:spPr bwMode="auto">
          <a:xfrm>
            <a:off x="47625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8" name="Line 24"/>
          <p:cNvSpPr>
            <a:spLocks noChangeShapeType="1"/>
          </p:cNvSpPr>
          <p:nvPr/>
        </p:nvSpPr>
        <p:spPr bwMode="auto">
          <a:xfrm>
            <a:off x="47625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9" name="Line 25"/>
          <p:cNvSpPr>
            <a:spLocks noChangeShapeType="1"/>
          </p:cNvSpPr>
          <p:nvPr/>
        </p:nvSpPr>
        <p:spPr bwMode="auto">
          <a:xfrm>
            <a:off x="47625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0" name="Line 26"/>
          <p:cNvSpPr>
            <a:spLocks noChangeShapeType="1"/>
          </p:cNvSpPr>
          <p:nvPr/>
        </p:nvSpPr>
        <p:spPr bwMode="auto">
          <a:xfrm>
            <a:off x="47625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1" name="Text Box 27"/>
          <p:cNvSpPr txBox="1">
            <a:spLocks noChangeArrowheads="1"/>
          </p:cNvSpPr>
          <p:nvPr/>
        </p:nvSpPr>
        <p:spPr bwMode="auto">
          <a:xfrm>
            <a:off x="5067300" y="4067175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OS</a:t>
            </a:r>
          </a:p>
        </p:txBody>
      </p:sp>
      <p:sp>
        <p:nvSpPr>
          <p:cNvPr id="48152" name="Text Box 28"/>
          <p:cNvSpPr txBox="1">
            <a:spLocks noChangeArrowheads="1"/>
          </p:cNvSpPr>
          <p:nvPr/>
        </p:nvSpPr>
        <p:spPr bwMode="auto">
          <a:xfrm>
            <a:off x="4762500" y="45116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5</a:t>
            </a:r>
          </a:p>
        </p:txBody>
      </p:sp>
      <p:sp>
        <p:nvSpPr>
          <p:cNvPr id="48153" name="Text Box 30"/>
          <p:cNvSpPr txBox="1">
            <a:spLocks noChangeArrowheads="1"/>
          </p:cNvSpPr>
          <p:nvPr/>
        </p:nvSpPr>
        <p:spPr bwMode="auto">
          <a:xfrm>
            <a:off x="4762500" y="57912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2</a:t>
            </a:r>
          </a:p>
        </p:txBody>
      </p:sp>
      <p:sp>
        <p:nvSpPr>
          <p:cNvPr id="48154" name="Rectangle 32"/>
          <p:cNvSpPr>
            <a:spLocks noChangeArrowheads="1"/>
          </p:cNvSpPr>
          <p:nvPr/>
        </p:nvSpPr>
        <p:spPr bwMode="auto">
          <a:xfrm>
            <a:off x="65913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5" name="Line 33"/>
          <p:cNvSpPr>
            <a:spLocks noChangeShapeType="1"/>
          </p:cNvSpPr>
          <p:nvPr/>
        </p:nvSpPr>
        <p:spPr bwMode="auto">
          <a:xfrm>
            <a:off x="65913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6" name="Line 34"/>
          <p:cNvSpPr>
            <a:spLocks noChangeShapeType="1"/>
          </p:cNvSpPr>
          <p:nvPr/>
        </p:nvSpPr>
        <p:spPr bwMode="auto">
          <a:xfrm>
            <a:off x="65913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7" name="Line 35"/>
          <p:cNvSpPr>
            <a:spLocks noChangeShapeType="1"/>
          </p:cNvSpPr>
          <p:nvPr/>
        </p:nvSpPr>
        <p:spPr bwMode="auto">
          <a:xfrm>
            <a:off x="65913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8" name="Text Box 36"/>
          <p:cNvSpPr txBox="1">
            <a:spLocks noChangeArrowheads="1"/>
          </p:cNvSpPr>
          <p:nvPr/>
        </p:nvSpPr>
        <p:spPr bwMode="auto">
          <a:xfrm>
            <a:off x="6896100" y="4067175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OS</a:t>
            </a:r>
          </a:p>
        </p:txBody>
      </p:sp>
      <p:sp>
        <p:nvSpPr>
          <p:cNvPr id="48159" name="Text Box 37"/>
          <p:cNvSpPr txBox="1">
            <a:spLocks noChangeArrowheads="1"/>
          </p:cNvSpPr>
          <p:nvPr/>
        </p:nvSpPr>
        <p:spPr bwMode="auto">
          <a:xfrm>
            <a:off x="6591300" y="45116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5</a:t>
            </a:r>
          </a:p>
        </p:txBody>
      </p:sp>
      <p:sp>
        <p:nvSpPr>
          <p:cNvPr id="48160" name="Text Box 38"/>
          <p:cNvSpPr txBox="1">
            <a:spLocks noChangeArrowheads="1"/>
          </p:cNvSpPr>
          <p:nvPr/>
        </p:nvSpPr>
        <p:spPr bwMode="auto">
          <a:xfrm>
            <a:off x="6591300" y="48291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9</a:t>
            </a:r>
          </a:p>
        </p:txBody>
      </p:sp>
      <p:sp>
        <p:nvSpPr>
          <p:cNvPr id="48161" name="Text Box 39"/>
          <p:cNvSpPr txBox="1">
            <a:spLocks noChangeArrowheads="1"/>
          </p:cNvSpPr>
          <p:nvPr/>
        </p:nvSpPr>
        <p:spPr bwMode="auto">
          <a:xfrm>
            <a:off x="6591300" y="57912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2</a:t>
            </a:r>
          </a:p>
        </p:txBody>
      </p:sp>
      <p:sp>
        <p:nvSpPr>
          <p:cNvPr id="48162" name="Rectangle 41"/>
          <p:cNvSpPr>
            <a:spLocks noChangeArrowheads="1"/>
          </p:cNvSpPr>
          <p:nvPr/>
        </p:nvSpPr>
        <p:spPr bwMode="auto">
          <a:xfrm>
            <a:off x="2933700" y="4829175"/>
            <a:ext cx="11430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3" name="Rectangle 42"/>
          <p:cNvSpPr>
            <a:spLocks noChangeArrowheads="1"/>
          </p:cNvSpPr>
          <p:nvPr/>
        </p:nvSpPr>
        <p:spPr bwMode="auto">
          <a:xfrm>
            <a:off x="4762500" y="5210175"/>
            <a:ext cx="1143000" cy="609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4" name="Text Box 43"/>
          <p:cNvSpPr txBox="1">
            <a:spLocks noChangeArrowheads="1"/>
          </p:cNvSpPr>
          <p:nvPr/>
        </p:nvSpPr>
        <p:spPr bwMode="auto">
          <a:xfrm>
            <a:off x="4762500" y="48291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9</a:t>
            </a:r>
          </a:p>
        </p:txBody>
      </p:sp>
      <p:sp>
        <p:nvSpPr>
          <p:cNvPr id="48165" name="Rectangle 44"/>
          <p:cNvSpPr>
            <a:spLocks noChangeArrowheads="1"/>
          </p:cNvSpPr>
          <p:nvPr/>
        </p:nvSpPr>
        <p:spPr bwMode="auto">
          <a:xfrm>
            <a:off x="6591300" y="5514975"/>
            <a:ext cx="11430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6" name="Line 45"/>
          <p:cNvSpPr>
            <a:spLocks noChangeShapeType="1"/>
          </p:cNvSpPr>
          <p:nvPr/>
        </p:nvSpPr>
        <p:spPr bwMode="auto">
          <a:xfrm>
            <a:off x="6591300" y="51657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67" name="Text Box 46"/>
          <p:cNvSpPr txBox="1">
            <a:spLocks noChangeArrowheads="1"/>
          </p:cNvSpPr>
          <p:nvPr/>
        </p:nvSpPr>
        <p:spPr bwMode="auto">
          <a:xfrm>
            <a:off x="6591300" y="521017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process 10</a:t>
            </a:r>
          </a:p>
        </p:txBody>
      </p:sp>
      <p:sp>
        <p:nvSpPr>
          <p:cNvPr id="48168" name="AutoShape 47"/>
          <p:cNvSpPr>
            <a:spLocks noChangeArrowheads="1"/>
          </p:cNvSpPr>
          <p:nvPr/>
        </p:nvSpPr>
        <p:spPr bwMode="auto">
          <a:xfrm>
            <a:off x="23241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9" name="AutoShape 48"/>
          <p:cNvSpPr>
            <a:spLocks noChangeArrowheads="1"/>
          </p:cNvSpPr>
          <p:nvPr/>
        </p:nvSpPr>
        <p:spPr bwMode="auto">
          <a:xfrm>
            <a:off x="41529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70" name="AutoShape 49"/>
          <p:cNvSpPr>
            <a:spLocks noChangeArrowheads="1"/>
          </p:cNvSpPr>
          <p:nvPr/>
        </p:nvSpPr>
        <p:spPr bwMode="auto">
          <a:xfrm>
            <a:off x="59817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Dynamic Storage-Allocation Problem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871663"/>
            <a:ext cx="7515225" cy="22923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First-fit</a:t>
            </a:r>
            <a:r>
              <a:rPr lang="en-US"/>
              <a:t>:  Allocate the </a:t>
            </a:r>
            <a:r>
              <a:rPr lang="en-US" i="1"/>
              <a:t>first</a:t>
            </a:r>
            <a:r>
              <a:rPr lang="en-US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Best-fit</a:t>
            </a:r>
            <a:r>
              <a:rPr lang="en-US"/>
              <a:t>:  Allocate the </a:t>
            </a:r>
            <a:r>
              <a:rPr lang="en-US" i="1"/>
              <a:t>smallest</a:t>
            </a:r>
            <a:r>
              <a:rPr lang="en-US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Worst-fit</a:t>
            </a:r>
            <a:r>
              <a:rPr lang="en-US"/>
              <a:t>:  Allocate the </a:t>
            </a:r>
            <a:r>
              <a:rPr lang="en-US" i="1"/>
              <a:t>largest</a:t>
            </a:r>
            <a:r>
              <a:rPr lang="en-US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/>
              <a:t>Produces the largest leftover hole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762000" y="1377950"/>
            <a:ext cx="653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latin typeface="Helvetica" charset="0"/>
              </a:rPr>
              <a:t>How to satisfy a request of size </a:t>
            </a:r>
            <a:r>
              <a:rPr lang="en-US" sz="2000" i="1">
                <a:latin typeface="Helvetica" charset="0"/>
              </a:rPr>
              <a:t>n</a:t>
            </a:r>
            <a:r>
              <a:rPr lang="en-US" sz="2000">
                <a:latin typeface="Helvetica" charset="0"/>
              </a:rPr>
              <a:t> from a list of free holes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762000" y="4333875"/>
            <a:ext cx="6530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latin typeface="Helvetica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Fragmentation</a:t>
            </a:r>
          </a:p>
        </p:txBody>
      </p:sp>
      <p:sp>
        <p:nvSpPr>
          <p:cNvPr id="5222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External Fragmentation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total memory space exists to satisfy a request, but it is not contiguous</a:t>
            </a:r>
          </a:p>
          <a:p>
            <a:r>
              <a:rPr lang="en-US" b="1">
                <a:solidFill>
                  <a:srgbClr val="3366FF"/>
                </a:solidFill>
              </a:rPr>
              <a:t>Internal Fragmentation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allocated memory may be slightly larger than requested memory; this size difference is memory internal to a partition, but not being used</a:t>
            </a:r>
          </a:p>
          <a:p>
            <a:r>
              <a:rPr lang="en-US"/>
              <a:t>Reduce external fragmentation by </a:t>
            </a:r>
            <a:r>
              <a:rPr lang="en-US" b="1">
                <a:solidFill>
                  <a:srgbClr val="3366FF"/>
                </a:solidFill>
              </a:rPr>
              <a:t>compaction</a:t>
            </a:r>
          </a:p>
          <a:p>
            <a:pPr lvl="1"/>
            <a:r>
              <a:rPr lang="en-US"/>
              <a:t>Shuffle memory contents to place all free memory together in one large block</a:t>
            </a:r>
          </a:p>
          <a:p>
            <a:pPr lvl="1"/>
            <a:r>
              <a:rPr lang="en-US"/>
              <a:t>Compaction is possible </a:t>
            </a:r>
            <a:r>
              <a:rPr lang="en-US" i="1"/>
              <a:t>only</a:t>
            </a:r>
            <a:r>
              <a:rPr lang="en-US"/>
              <a:t> if relocation is dynamic, and is done at execution time</a:t>
            </a:r>
          </a:p>
          <a:p>
            <a:pPr lvl="1"/>
            <a:r>
              <a:rPr lang="en-US"/>
              <a:t>I/O problem</a:t>
            </a:r>
          </a:p>
          <a:p>
            <a:pPr lvl="2"/>
            <a:r>
              <a:rPr lang="en-US"/>
              <a:t>Latch job in memory while it is involved in I/O</a:t>
            </a:r>
          </a:p>
          <a:p>
            <a:pPr lvl="2"/>
            <a:r>
              <a:rPr lang="en-US"/>
              <a:t>Do I/O only into OS buffers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Segmentation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833563" algn="l"/>
              </a:tabLst>
            </a:pPr>
            <a:r>
              <a:rPr lang="en-US"/>
              <a:t>Memory-management scheme that supports user view of memory </a:t>
            </a:r>
          </a:p>
          <a:p>
            <a:pPr>
              <a:lnSpc>
                <a:spcPct val="90000"/>
              </a:lnSpc>
              <a:tabLst>
                <a:tab pos="1833563" algn="l"/>
              </a:tabLst>
            </a:pPr>
            <a:r>
              <a:rPr lang="en-US"/>
              <a:t>A program is a collection of segments</a:t>
            </a:r>
          </a:p>
          <a:p>
            <a:pPr lvl="1">
              <a:lnSpc>
                <a:spcPct val="90000"/>
              </a:lnSpc>
              <a:tabLst>
                <a:tab pos="1833563" algn="l"/>
              </a:tabLst>
            </a:pPr>
            <a:r>
              <a:rPr lang="en-US"/>
              <a:t>A segment is a logical unit such as: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main program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procedure 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function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method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object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local variables, global variables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common block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stack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symbol table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/>
              <a:t>		arrays</a:t>
            </a:r>
          </a:p>
        </p:txBody>
      </p:sp>
    </p:spTree>
    <p:extLst>
      <p:ext uri="{BB962C8B-B14F-4D97-AF65-F5344CB8AC3E}">
        <p14:creationId xmlns:p14="http://schemas.microsoft.com/office/powerpoint/2010/main" val="2931981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User’s View of a Program</a:t>
            </a:r>
            <a:endParaRPr lang="en-US" sz="2400"/>
          </a:p>
        </p:txBody>
      </p:sp>
      <p:pic>
        <p:nvPicPr>
          <p:cNvPr id="10547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1233488"/>
            <a:ext cx="36957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682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Logical View of Segmentation</a:t>
            </a:r>
          </a:p>
        </p:txBody>
      </p:sp>
      <p:sp>
        <p:nvSpPr>
          <p:cNvPr id="107523" name="Oval 3"/>
          <p:cNvSpPr>
            <a:spLocks noChangeArrowheads="1"/>
          </p:cNvSpPr>
          <p:nvPr/>
        </p:nvSpPr>
        <p:spPr bwMode="auto">
          <a:xfrm>
            <a:off x="1371600" y="1171575"/>
            <a:ext cx="2895600" cy="396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1905000" y="1857375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1</a:t>
            </a:r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1752600" y="3000375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3</a:t>
            </a:r>
          </a:p>
        </p:txBody>
      </p:sp>
      <p:sp>
        <p:nvSpPr>
          <p:cNvPr id="107526" name="Rectangle 6"/>
          <p:cNvSpPr>
            <a:spLocks noChangeArrowheads="1"/>
          </p:cNvSpPr>
          <p:nvPr/>
        </p:nvSpPr>
        <p:spPr bwMode="auto">
          <a:xfrm>
            <a:off x="3200400" y="2466975"/>
            <a:ext cx="914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3124200" y="3457575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4</a:t>
            </a:r>
          </a:p>
        </p:txBody>
      </p:sp>
      <p:grpSp>
        <p:nvGrpSpPr>
          <p:cNvPr id="107528" name="Group 24"/>
          <p:cNvGrpSpPr>
            <a:grpSpLocks/>
          </p:cNvGrpSpPr>
          <p:nvPr/>
        </p:nvGrpSpPr>
        <p:grpSpPr bwMode="auto">
          <a:xfrm>
            <a:off x="5638800" y="1171575"/>
            <a:ext cx="1143000" cy="3962400"/>
            <a:chOff x="3888" y="1056"/>
            <a:chExt cx="720" cy="2496"/>
          </a:xfrm>
        </p:grpSpPr>
        <p:grpSp>
          <p:nvGrpSpPr>
            <p:cNvPr id="107531" name="Group 11"/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107542" name="Rectangle 8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543" name="Line 9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7532" name="Group 12"/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107540" name="Rectangle 13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541" name="Line 14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7533" name="Text Box 15"/>
            <p:cNvSpPr txBox="1">
              <a:spLocks noChangeArrowheads="1"/>
            </p:cNvSpPr>
            <p:nvPr/>
          </p:nvSpPr>
          <p:spPr bwMode="auto">
            <a:xfrm>
              <a:off x="4126" y="113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>
                  <a:latin typeface="Helvetica" charset="0"/>
                </a:rPr>
                <a:t>1</a:t>
              </a:r>
            </a:p>
          </p:txBody>
        </p:sp>
        <p:sp>
          <p:nvSpPr>
            <p:cNvPr id="107534" name="Text Box 16"/>
            <p:cNvSpPr txBox="1">
              <a:spLocks noChangeArrowheads="1"/>
            </p:cNvSpPr>
            <p:nvPr/>
          </p:nvSpPr>
          <p:spPr bwMode="auto">
            <a:xfrm>
              <a:off x="4128" y="1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>
                  <a:latin typeface="Helvetica" charset="0"/>
                </a:rPr>
                <a:t>4</a:t>
              </a:r>
            </a:p>
          </p:txBody>
        </p:sp>
        <p:sp>
          <p:nvSpPr>
            <p:cNvPr id="107535" name="Rectangle 17"/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6" name="Rectangle 18"/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7" name="Line 19"/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8" name="Text Box 20"/>
            <p:cNvSpPr txBox="1">
              <a:spLocks noChangeArrowheads="1"/>
            </p:cNvSpPr>
            <p:nvPr/>
          </p:nvSpPr>
          <p:spPr bwMode="auto">
            <a:xfrm>
              <a:off x="4128" y="242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>
                  <a:latin typeface="Helvetica" charset="0"/>
                </a:rPr>
                <a:t>2</a:t>
              </a:r>
            </a:p>
          </p:txBody>
        </p:sp>
        <p:sp>
          <p:nvSpPr>
            <p:cNvPr id="107539" name="Text Box 21"/>
            <p:cNvSpPr txBox="1">
              <a:spLocks noChangeArrowheads="1"/>
            </p:cNvSpPr>
            <p:nvPr/>
          </p:nvSpPr>
          <p:spPr bwMode="auto">
            <a:xfrm>
              <a:off x="4128" y="288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>
                  <a:latin typeface="Helvetica" charset="0"/>
                </a:rPr>
                <a:t>3</a:t>
              </a:r>
            </a:p>
          </p:txBody>
        </p:sp>
      </p:grpSp>
      <p:sp>
        <p:nvSpPr>
          <p:cNvPr id="107529" name="Text Box 22"/>
          <p:cNvSpPr txBox="1">
            <a:spLocks noChangeArrowheads="1"/>
          </p:cNvSpPr>
          <p:nvPr/>
        </p:nvSpPr>
        <p:spPr bwMode="auto">
          <a:xfrm>
            <a:off x="2022475" y="5256213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user space </a:t>
            </a:r>
          </a:p>
        </p:txBody>
      </p:sp>
      <p:sp>
        <p:nvSpPr>
          <p:cNvPr id="107530" name="Text Box 23"/>
          <p:cNvSpPr txBox="1">
            <a:spLocks noChangeArrowheads="1"/>
          </p:cNvSpPr>
          <p:nvPr/>
        </p:nvSpPr>
        <p:spPr bwMode="auto">
          <a:xfrm>
            <a:off x="4883150" y="5256213"/>
            <a:ext cx="257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physical memory space</a:t>
            </a:r>
          </a:p>
        </p:txBody>
      </p:sp>
    </p:spTree>
    <p:extLst>
      <p:ext uri="{BB962C8B-B14F-4D97-AF65-F5344CB8AC3E}">
        <p14:creationId xmlns:p14="http://schemas.microsoft.com/office/powerpoint/2010/main" val="2975959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Segmentation Architecture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477963"/>
            <a:ext cx="6791325" cy="4527550"/>
          </a:xfrm>
        </p:spPr>
        <p:txBody>
          <a:bodyPr/>
          <a:lstStyle/>
          <a:p>
            <a:pPr>
              <a:tabLst>
                <a:tab pos="1830388" algn="l"/>
                <a:tab pos="2857500" algn="ctr"/>
              </a:tabLst>
            </a:pPr>
            <a:r>
              <a:rPr lang="en-US"/>
              <a:t>Logical address consists of a two tuple:</a:t>
            </a:r>
          </a:p>
          <a:p>
            <a:pPr>
              <a:buFont typeface="Monotype Sorts" charset="2"/>
              <a:buNone/>
              <a:tabLst>
                <a:tab pos="1830388" algn="l"/>
                <a:tab pos="2857500" algn="ctr"/>
              </a:tabLst>
            </a:pPr>
            <a:r>
              <a:rPr lang="en-US"/>
              <a:t>		&lt;segment-number, offset&gt;,</a:t>
            </a:r>
          </a:p>
          <a:p>
            <a:pPr>
              <a:tabLst>
                <a:tab pos="1830388" algn="l"/>
                <a:tab pos="2857500" algn="ctr"/>
              </a:tabLst>
            </a:pPr>
            <a:r>
              <a:rPr lang="en-US" b="1">
                <a:solidFill>
                  <a:srgbClr val="3366FF"/>
                </a:solidFill>
              </a:rPr>
              <a:t>Segment table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maps two-dimensional physical addresses; each table entry has:</a:t>
            </a:r>
          </a:p>
          <a:p>
            <a:pPr lvl="1">
              <a:tabLst>
                <a:tab pos="1830388" algn="l"/>
                <a:tab pos="2857500" algn="ctr"/>
              </a:tabLst>
            </a:pPr>
            <a:r>
              <a:rPr lang="en-US" b="1">
                <a:solidFill>
                  <a:srgbClr val="3366FF"/>
                </a:solidFill>
              </a:rPr>
              <a:t>base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contains the starting physical address where the segments reside in memory</a:t>
            </a:r>
          </a:p>
          <a:p>
            <a:pPr lvl="1">
              <a:tabLst>
                <a:tab pos="1830388" algn="l"/>
                <a:tab pos="2857500" algn="ctr"/>
              </a:tabLst>
            </a:pPr>
            <a:r>
              <a:rPr lang="en-US" b="1">
                <a:solidFill>
                  <a:srgbClr val="3366FF"/>
                </a:solidFill>
              </a:rPr>
              <a:t>limit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specifies the length of the segment</a:t>
            </a:r>
          </a:p>
          <a:p>
            <a:pPr>
              <a:tabLst>
                <a:tab pos="1830388" algn="l"/>
                <a:tab pos="2857500" algn="ctr"/>
              </a:tabLst>
            </a:pPr>
            <a:r>
              <a:rPr lang="en-US" b="1">
                <a:solidFill>
                  <a:srgbClr val="3366FF"/>
                </a:solidFill>
              </a:rPr>
              <a:t>Segment-table base register (STBR)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points to the segment table’s location in memory</a:t>
            </a:r>
          </a:p>
          <a:p>
            <a:pPr>
              <a:tabLst>
                <a:tab pos="1830388" algn="l"/>
                <a:tab pos="2857500" algn="ctr"/>
              </a:tabLst>
            </a:pPr>
            <a:r>
              <a:rPr lang="en-US" b="1">
                <a:solidFill>
                  <a:srgbClr val="3366FF"/>
                </a:solidFill>
              </a:rPr>
              <a:t>Segment-table length register (STLR)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indicates number of segments used by a program;</a:t>
            </a:r>
          </a:p>
          <a:p>
            <a:pPr>
              <a:buFont typeface="Monotype Sorts" charset="2"/>
              <a:buNone/>
              <a:tabLst>
                <a:tab pos="1830388" algn="l"/>
                <a:tab pos="2857500" algn="ctr"/>
              </a:tabLst>
            </a:pPr>
            <a:r>
              <a:rPr lang="en-US"/>
              <a:t>	                  segment number </a:t>
            </a:r>
            <a:r>
              <a:rPr lang="en-US" b="1" i="1">
                <a:solidFill>
                  <a:srgbClr val="FF0000"/>
                </a:solidFill>
              </a:rPr>
              <a:t>s</a:t>
            </a:r>
            <a:r>
              <a:rPr lang="en-US"/>
              <a:t> is legal if </a:t>
            </a:r>
            <a:r>
              <a:rPr lang="en-US" b="1" i="1">
                <a:solidFill>
                  <a:srgbClr val="FF0000"/>
                </a:solidFill>
              </a:rPr>
              <a:t>s</a:t>
            </a:r>
            <a:r>
              <a:rPr lang="en-US"/>
              <a:t> &lt; </a:t>
            </a:r>
            <a:r>
              <a:rPr lang="en-US" b="1">
                <a:solidFill>
                  <a:srgbClr val="FF0000"/>
                </a:solidFill>
              </a:rPr>
              <a:t>STLR</a:t>
            </a:r>
          </a:p>
        </p:txBody>
      </p:sp>
    </p:spTree>
    <p:extLst>
      <p:ext uri="{BB962C8B-B14F-4D97-AF65-F5344CB8AC3E}">
        <p14:creationId xmlns:p14="http://schemas.microsoft.com/office/powerpoint/2010/main" val="879507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Segmentation Architecture (Cont.)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150" y="1477963"/>
            <a:ext cx="6657975" cy="4468812"/>
          </a:xfrm>
        </p:spPr>
        <p:txBody>
          <a:bodyPr/>
          <a:lstStyle/>
          <a:p>
            <a:r>
              <a:rPr lang="en-US"/>
              <a:t>Protection</a:t>
            </a:r>
          </a:p>
          <a:p>
            <a:pPr lvl="1"/>
            <a:r>
              <a:rPr lang="en-US"/>
              <a:t>With each entry in segment table associate:</a:t>
            </a:r>
          </a:p>
          <a:p>
            <a:pPr lvl="2"/>
            <a:r>
              <a:rPr lang="en-US"/>
              <a:t>validation bit = 0 </a:t>
            </a:r>
            <a:r>
              <a:rPr lang="en-US">
                <a:sym typeface="Symbol" charset="2"/>
              </a:rPr>
              <a:t> illegal segment</a:t>
            </a:r>
          </a:p>
          <a:p>
            <a:pPr lvl="2"/>
            <a:r>
              <a:rPr lang="en-US">
                <a:sym typeface="Symbol" charset="2"/>
              </a:rPr>
              <a:t>read/write/execute privileges</a:t>
            </a:r>
          </a:p>
          <a:p>
            <a:r>
              <a:rPr lang="en-US"/>
              <a:t>Protection bits associated with segments; code sharing occurs at segment level</a:t>
            </a:r>
          </a:p>
          <a:p>
            <a:r>
              <a:rPr lang="en-US"/>
              <a:t>Since segments vary in length, memory allocation is a dynamic storage-allocation problem</a:t>
            </a:r>
          </a:p>
          <a:p>
            <a:r>
              <a:rPr lang="en-US"/>
              <a:t>A segmentation example is shown in the following diagram</a:t>
            </a:r>
          </a:p>
        </p:txBody>
      </p:sp>
    </p:spTree>
    <p:extLst>
      <p:ext uri="{BB962C8B-B14F-4D97-AF65-F5344CB8AC3E}">
        <p14:creationId xmlns:p14="http://schemas.microsoft.com/office/powerpoint/2010/main" val="2061199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Segmentation Hardware</a:t>
            </a:r>
            <a:endParaRPr lang="en-US" sz="2400"/>
          </a:p>
        </p:txBody>
      </p:sp>
      <p:pic>
        <p:nvPicPr>
          <p:cNvPr id="11366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1419225"/>
            <a:ext cx="6357938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022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of Segmentation</a:t>
            </a:r>
            <a:endParaRPr lang="en-US" sz="2400"/>
          </a:p>
        </p:txBody>
      </p:sp>
      <p:pic>
        <p:nvPicPr>
          <p:cNvPr id="1157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14438"/>
            <a:ext cx="554990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0803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Paging</a:t>
            </a:r>
          </a:p>
        </p:txBody>
      </p:sp>
      <p:sp>
        <p:nvSpPr>
          <p:cNvPr id="5427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9163" y="1449388"/>
            <a:ext cx="6883400" cy="4524375"/>
          </a:xfrm>
        </p:spPr>
        <p:txBody>
          <a:bodyPr/>
          <a:lstStyle/>
          <a:p>
            <a:r>
              <a:rPr lang="en-US"/>
              <a:t>Logical address space of a process can be noncontiguous; process is allocated physical memory whenever the latter is available</a:t>
            </a:r>
          </a:p>
          <a:p>
            <a:r>
              <a:rPr lang="en-US"/>
              <a:t>Divide physical memory into fixed-sized blocks called </a:t>
            </a:r>
            <a:r>
              <a:rPr lang="en-US" b="1">
                <a:solidFill>
                  <a:srgbClr val="3366FF"/>
                </a:solidFill>
              </a:rPr>
              <a:t>frames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(size is power of 2, between 512 bytes and 8,192 bytes)</a:t>
            </a:r>
          </a:p>
          <a:p>
            <a:r>
              <a:rPr lang="en-US"/>
              <a:t>Divide logical memory into blocks of same size called </a:t>
            </a:r>
            <a:r>
              <a:rPr lang="en-US" b="1">
                <a:solidFill>
                  <a:srgbClr val="3366FF"/>
                </a:solidFill>
              </a:rPr>
              <a:t>pages</a:t>
            </a:r>
            <a:endParaRPr lang="en-US">
              <a:solidFill>
                <a:srgbClr val="3366FF"/>
              </a:solidFill>
            </a:endParaRPr>
          </a:p>
          <a:p>
            <a:r>
              <a:rPr lang="en-US"/>
              <a:t>Keep track of all free frames</a:t>
            </a:r>
          </a:p>
          <a:p>
            <a:r>
              <a:rPr lang="en-US"/>
              <a:t>To run a program of size </a:t>
            </a:r>
            <a:r>
              <a:rPr lang="en-US" b="1" i="1">
                <a:solidFill>
                  <a:srgbClr val="FF0000"/>
                </a:solidFill>
              </a:rPr>
              <a:t>n</a:t>
            </a:r>
            <a:r>
              <a:rPr lang="en-US"/>
              <a:t> pages, need to find </a:t>
            </a:r>
            <a:r>
              <a:rPr lang="en-US" i="1"/>
              <a:t>n</a:t>
            </a:r>
            <a:r>
              <a:rPr lang="en-US"/>
              <a:t> free frames and load program</a:t>
            </a:r>
          </a:p>
          <a:p>
            <a:r>
              <a:rPr lang="en-US"/>
              <a:t>Set up a page table to translate logical to physical addresses</a:t>
            </a:r>
          </a:p>
          <a:p>
            <a:r>
              <a:rPr lang="en-US"/>
              <a:t>May lead to internal fragmentation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Address Translation Scheme</a:t>
            </a:r>
          </a:p>
        </p:txBody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6689725" cy="4483100"/>
          </a:xfrm>
        </p:spPr>
        <p:txBody>
          <a:bodyPr/>
          <a:lstStyle/>
          <a:p>
            <a:r>
              <a:rPr lang="en-US" sz="1600"/>
              <a:t>Address generated by CPU is divided into:</a:t>
            </a:r>
            <a:br>
              <a:rPr lang="en-US" sz="1600"/>
            </a:br>
            <a:endParaRPr lang="en-US" sz="1600"/>
          </a:p>
          <a:p>
            <a:pPr lvl="1"/>
            <a:r>
              <a:rPr lang="en-US" sz="1600" b="1">
                <a:solidFill>
                  <a:srgbClr val="3366FF"/>
                </a:solidFill>
              </a:rPr>
              <a:t>Page number (</a:t>
            </a:r>
            <a:r>
              <a:rPr lang="en-US" sz="1600" b="1" i="1">
                <a:solidFill>
                  <a:srgbClr val="3366FF"/>
                </a:solidFill>
              </a:rPr>
              <a:t>p</a:t>
            </a:r>
            <a:r>
              <a:rPr lang="en-US" sz="1600" b="1">
                <a:solidFill>
                  <a:srgbClr val="3366FF"/>
                </a:solidFill>
              </a:rPr>
              <a:t>)</a:t>
            </a:r>
            <a:r>
              <a:rPr lang="en-US" sz="1600">
                <a:solidFill>
                  <a:srgbClr val="3366FF"/>
                </a:solidFill>
              </a:rPr>
              <a:t> </a:t>
            </a:r>
            <a:r>
              <a:rPr lang="en-US" sz="1600"/>
              <a:t>– used as an index into a </a:t>
            </a:r>
            <a:r>
              <a:rPr lang="en-US" sz="1600" i="1"/>
              <a:t>page</a:t>
            </a:r>
            <a:r>
              <a:rPr lang="en-US" sz="1600"/>
              <a:t> </a:t>
            </a:r>
            <a:r>
              <a:rPr lang="en-US" sz="1600" i="1"/>
              <a:t>table</a:t>
            </a:r>
            <a:r>
              <a:rPr lang="en-US" sz="1600"/>
              <a:t> which contains base address of each page in physical memory</a:t>
            </a:r>
            <a:br>
              <a:rPr lang="en-US" sz="1600"/>
            </a:br>
            <a:endParaRPr lang="en-US" sz="1600"/>
          </a:p>
          <a:p>
            <a:pPr lvl="1"/>
            <a:r>
              <a:rPr lang="en-US" sz="1600" b="1">
                <a:solidFill>
                  <a:srgbClr val="3366FF"/>
                </a:solidFill>
              </a:rPr>
              <a:t>Page offset (d)</a:t>
            </a:r>
            <a:r>
              <a:rPr lang="en-US" sz="1600">
                <a:solidFill>
                  <a:srgbClr val="3366FF"/>
                </a:solidFill>
              </a:rPr>
              <a:t> </a:t>
            </a:r>
            <a:r>
              <a:rPr lang="en-US" sz="1600"/>
              <a:t>– combined with base address to define the physical memory address that is sent to the memory unit</a:t>
            </a:r>
          </a:p>
          <a:p>
            <a:pPr lvl="1"/>
            <a:endParaRPr lang="en-US" sz="1600"/>
          </a:p>
          <a:p>
            <a:pPr lvl="1"/>
            <a:endParaRPr lang="en-US" sz="1600"/>
          </a:p>
          <a:p>
            <a:pPr lvl="1"/>
            <a:endParaRPr lang="en-US" sz="1600"/>
          </a:p>
          <a:p>
            <a:pPr lvl="1"/>
            <a:endParaRPr lang="en-US" sz="1600"/>
          </a:p>
          <a:p>
            <a:pPr lvl="1"/>
            <a:endParaRPr lang="en-US" sz="1600"/>
          </a:p>
          <a:p>
            <a:pPr lvl="1"/>
            <a:r>
              <a:rPr lang="en-US" sz="1600"/>
              <a:t>For given logical address space 2</a:t>
            </a:r>
            <a:r>
              <a:rPr lang="en-US" sz="1600" i="1" baseline="30000"/>
              <a:t>m </a:t>
            </a:r>
            <a:r>
              <a:rPr lang="en-US" sz="1600" i="1"/>
              <a:t>and page size</a:t>
            </a:r>
            <a:r>
              <a:rPr lang="en-US" sz="1600" i="1" baseline="30000"/>
              <a:t> </a:t>
            </a:r>
            <a:r>
              <a:rPr lang="en-US" sz="1600" i="1"/>
              <a:t>2</a:t>
            </a:r>
            <a:r>
              <a:rPr lang="en-US" sz="1600" baseline="30000"/>
              <a:t>n</a:t>
            </a:r>
          </a:p>
        </p:txBody>
      </p:sp>
      <p:sp>
        <p:nvSpPr>
          <p:cNvPr id="56324" name="Rectangle 1028"/>
          <p:cNvSpPr>
            <a:spLocks noChangeArrowheads="1"/>
          </p:cNvSpPr>
          <p:nvPr/>
        </p:nvSpPr>
        <p:spPr bwMode="auto">
          <a:xfrm>
            <a:off x="2592388" y="3913188"/>
            <a:ext cx="3105150" cy="438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5" name="Line 1030"/>
          <p:cNvSpPr>
            <a:spLocks noChangeShapeType="1"/>
          </p:cNvSpPr>
          <p:nvPr/>
        </p:nvSpPr>
        <p:spPr bwMode="auto">
          <a:xfrm>
            <a:off x="4225925" y="35702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6" name="Text Box 1031"/>
          <p:cNvSpPr txBox="1">
            <a:spLocks noChangeArrowheads="1"/>
          </p:cNvSpPr>
          <p:nvPr/>
        </p:nvSpPr>
        <p:spPr bwMode="auto">
          <a:xfrm>
            <a:off x="2433638" y="3481388"/>
            <a:ext cx="153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page number</a:t>
            </a:r>
          </a:p>
        </p:txBody>
      </p:sp>
      <p:sp>
        <p:nvSpPr>
          <p:cNvPr id="56327" name="Text Box 1032"/>
          <p:cNvSpPr txBox="1">
            <a:spLocks noChangeArrowheads="1"/>
          </p:cNvSpPr>
          <p:nvPr/>
        </p:nvSpPr>
        <p:spPr bwMode="auto">
          <a:xfrm>
            <a:off x="4297363" y="3494088"/>
            <a:ext cx="1314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page offset</a:t>
            </a:r>
          </a:p>
        </p:txBody>
      </p:sp>
      <p:sp>
        <p:nvSpPr>
          <p:cNvPr id="56328" name="Text Box 1033"/>
          <p:cNvSpPr txBox="1">
            <a:spLocks noChangeArrowheads="1"/>
          </p:cNvSpPr>
          <p:nvPr/>
        </p:nvSpPr>
        <p:spPr bwMode="auto">
          <a:xfrm>
            <a:off x="3146425" y="39401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charset="0"/>
              </a:rPr>
              <a:t>p</a:t>
            </a:r>
            <a:endParaRPr lang="en-US" sz="1800">
              <a:latin typeface="Helvetica" charset="0"/>
            </a:endParaRPr>
          </a:p>
        </p:txBody>
      </p:sp>
      <p:sp>
        <p:nvSpPr>
          <p:cNvPr id="56329" name="Text Box 1035"/>
          <p:cNvSpPr txBox="1">
            <a:spLocks noChangeArrowheads="1"/>
          </p:cNvSpPr>
          <p:nvPr/>
        </p:nvSpPr>
        <p:spPr bwMode="auto">
          <a:xfrm>
            <a:off x="4595813" y="39703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charset="0"/>
              </a:rPr>
              <a:t>d</a:t>
            </a:r>
            <a:endParaRPr lang="en-US" sz="1800">
              <a:latin typeface="Helvetica" charset="0"/>
            </a:endParaRPr>
          </a:p>
        </p:txBody>
      </p:sp>
      <p:sp>
        <p:nvSpPr>
          <p:cNvPr id="56330" name="Text Box 1036"/>
          <p:cNvSpPr txBox="1">
            <a:spLocks noChangeArrowheads="1"/>
          </p:cNvSpPr>
          <p:nvPr/>
        </p:nvSpPr>
        <p:spPr bwMode="auto">
          <a:xfrm>
            <a:off x="2952750" y="4387850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charset="0"/>
              </a:rPr>
              <a:t>m - n</a:t>
            </a:r>
          </a:p>
        </p:txBody>
      </p:sp>
      <p:sp>
        <p:nvSpPr>
          <p:cNvPr id="56331" name="Text Box 1038"/>
          <p:cNvSpPr txBox="1">
            <a:spLocks noChangeArrowheads="1"/>
          </p:cNvSpPr>
          <p:nvPr/>
        </p:nvSpPr>
        <p:spPr bwMode="auto">
          <a:xfrm>
            <a:off x="4549775" y="439737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charset="0"/>
              </a:rPr>
              <a:t>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Paging Hardware</a:t>
            </a:r>
          </a:p>
        </p:txBody>
      </p:sp>
      <p:pic>
        <p:nvPicPr>
          <p:cNvPr id="5837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3" y="1343025"/>
            <a:ext cx="66309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/>
              <a:t>Paging Model of Logical and Physical Memory</a:t>
            </a:r>
            <a:endParaRPr lang="en-US" sz="2000"/>
          </a:p>
        </p:txBody>
      </p:sp>
      <p:pic>
        <p:nvPicPr>
          <p:cNvPr id="60419" name="Picture 10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28600"/>
            <a:ext cx="8077200" cy="609600"/>
          </a:xfrm>
        </p:spPr>
        <p:txBody>
          <a:bodyPr/>
          <a:lstStyle/>
          <a:p>
            <a:pPr eaLnBrk="1" hangingPunct="1"/>
            <a:r>
              <a:rPr lang="en-US"/>
              <a:t>Paging Example</a:t>
            </a:r>
          </a:p>
        </p:txBody>
      </p:sp>
      <p:sp>
        <p:nvSpPr>
          <p:cNvPr id="62467" name="Text Box 5"/>
          <p:cNvSpPr txBox="1">
            <a:spLocks noChangeArrowheads="1"/>
          </p:cNvSpPr>
          <p:nvPr/>
        </p:nvSpPr>
        <p:spPr bwMode="auto">
          <a:xfrm>
            <a:off x="2506663" y="6107113"/>
            <a:ext cx="40782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>
                <a:latin typeface="Helvetica" charset="0"/>
              </a:rPr>
              <a:t>32-byte memory and 4-byte pages</a:t>
            </a:r>
          </a:p>
        </p:txBody>
      </p:sp>
      <p:pic>
        <p:nvPicPr>
          <p:cNvPr id="6246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663" y="1270000"/>
            <a:ext cx="3760787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Free Frames</a:t>
            </a:r>
          </a:p>
        </p:txBody>
      </p:sp>
      <p:sp>
        <p:nvSpPr>
          <p:cNvPr id="64515" name="Text Box 4"/>
          <p:cNvSpPr txBox="1">
            <a:spLocks noChangeArrowheads="1"/>
          </p:cNvSpPr>
          <p:nvPr/>
        </p:nvSpPr>
        <p:spPr bwMode="auto">
          <a:xfrm>
            <a:off x="1936750" y="6002338"/>
            <a:ext cx="188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Before allocation</a:t>
            </a:r>
          </a:p>
        </p:txBody>
      </p:sp>
      <p:sp>
        <p:nvSpPr>
          <p:cNvPr id="64516" name="Text Box 5"/>
          <p:cNvSpPr txBox="1">
            <a:spLocks noChangeArrowheads="1"/>
          </p:cNvSpPr>
          <p:nvPr/>
        </p:nvSpPr>
        <p:spPr bwMode="auto">
          <a:xfrm>
            <a:off x="5351463" y="5964238"/>
            <a:ext cx="1695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After allocation</a:t>
            </a:r>
          </a:p>
        </p:txBody>
      </p:sp>
      <p:pic>
        <p:nvPicPr>
          <p:cNvPr id="6451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175" y="1360488"/>
            <a:ext cx="6202363" cy="444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Implementation of Page Table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6675438" cy="4454525"/>
          </a:xfrm>
        </p:spPr>
        <p:txBody>
          <a:bodyPr/>
          <a:lstStyle/>
          <a:p>
            <a:r>
              <a:rPr lang="en-US"/>
              <a:t>Page table is kept in main memory</a:t>
            </a:r>
          </a:p>
          <a:p>
            <a:r>
              <a:rPr lang="en-US" b="1">
                <a:solidFill>
                  <a:srgbClr val="3366FF"/>
                </a:solidFill>
              </a:rPr>
              <a:t>Page-table base register (PTBR)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points to the page table</a:t>
            </a:r>
          </a:p>
          <a:p>
            <a:r>
              <a:rPr lang="en-US" b="1">
                <a:solidFill>
                  <a:srgbClr val="3366FF"/>
                </a:solidFill>
              </a:rPr>
              <a:t>Page-table length register (PRLR)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indicates size of the page table</a:t>
            </a:r>
          </a:p>
          <a:p>
            <a:r>
              <a:rPr lang="en-US"/>
              <a:t>In this scheme every data/instruction access requires two memory accesses.  One for the page table and one for the data/instruction.</a:t>
            </a:r>
          </a:p>
          <a:p>
            <a:r>
              <a:rPr lang="en-US"/>
              <a:t>The two memory access problem can be solved by the use of a special fast-lookup hardware cache called </a:t>
            </a:r>
            <a:r>
              <a:rPr lang="en-US" b="1">
                <a:solidFill>
                  <a:srgbClr val="3366FF"/>
                </a:solidFill>
              </a:rPr>
              <a:t>associative memory </a:t>
            </a:r>
            <a:r>
              <a:rPr lang="en-US"/>
              <a:t>or </a:t>
            </a:r>
            <a:r>
              <a:rPr lang="en-US" b="1">
                <a:solidFill>
                  <a:srgbClr val="3366FF"/>
                </a:solidFill>
              </a:rPr>
              <a:t>translation look-aside buffers (TLBs)</a:t>
            </a:r>
          </a:p>
          <a:p>
            <a:r>
              <a:rPr lang="en-US"/>
              <a:t>Some TLBs store</a:t>
            </a:r>
            <a:r>
              <a:rPr lang="en-US" b="1"/>
              <a:t> </a:t>
            </a:r>
            <a:r>
              <a:rPr lang="en-US" b="1">
                <a:solidFill>
                  <a:srgbClr val="3366FF"/>
                </a:solidFill>
              </a:rPr>
              <a:t>address-space identifiers (ASIDs) </a:t>
            </a:r>
            <a:r>
              <a:rPr lang="en-US"/>
              <a:t>in each TLB entry – uniquely identifies each process to provide address-space protection for that process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Associative Memory</a:t>
            </a:r>
          </a:p>
        </p:txBody>
      </p:sp>
      <p:sp>
        <p:nvSpPr>
          <p:cNvPr id="68611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762000" y="1306513"/>
            <a:ext cx="7351713" cy="4483100"/>
          </a:xfrm>
        </p:spPr>
        <p:txBody>
          <a:bodyPr/>
          <a:lstStyle/>
          <a:p>
            <a:r>
              <a:rPr lang="en-US"/>
              <a:t>Associative memory – parallel search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>
              <a:buFont typeface="Monotype Sorts" charset="2"/>
              <a:buNone/>
            </a:pPr>
            <a:r>
              <a:rPr lang="en-US"/>
              <a:t>	Address translation (p, d)</a:t>
            </a:r>
          </a:p>
          <a:p>
            <a:pPr marL="628650" lvl="1"/>
            <a:r>
              <a:rPr lang="en-US"/>
              <a:t>If p is in associative register, get frame # out</a:t>
            </a:r>
          </a:p>
          <a:p>
            <a:pPr marL="628650" lvl="1"/>
            <a:r>
              <a:rPr lang="en-US"/>
              <a:t>Otherwise get frame # from page table in memory</a:t>
            </a:r>
          </a:p>
          <a:p>
            <a:pPr marL="628650" lvl="1"/>
            <a:endParaRPr lang="en-US"/>
          </a:p>
        </p:txBody>
      </p:sp>
      <p:sp>
        <p:nvSpPr>
          <p:cNvPr id="68612" name="Rectangle 2052"/>
          <p:cNvSpPr>
            <a:spLocks noChangeArrowheads="1"/>
          </p:cNvSpPr>
          <p:nvPr/>
        </p:nvSpPr>
        <p:spPr bwMode="auto">
          <a:xfrm>
            <a:off x="3059113" y="2105025"/>
            <a:ext cx="28956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13" name="Line 2053"/>
          <p:cNvSpPr>
            <a:spLocks noChangeShapeType="1"/>
          </p:cNvSpPr>
          <p:nvPr/>
        </p:nvSpPr>
        <p:spPr bwMode="auto">
          <a:xfrm>
            <a:off x="4506913" y="1647825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4" name="Line 2054"/>
          <p:cNvSpPr>
            <a:spLocks noChangeShapeType="1"/>
          </p:cNvSpPr>
          <p:nvPr/>
        </p:nvSpPr>
        <p:spPr bwMode="auto">
          <a:xfrm>
            <a:off x="3059113" y="240982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5" name="Line 2055"/>
          <p:cNvSpPr>
            <a:spLocks noChangeShapeType="1"/>
          </p:cNvSpPr>
          <p:nvPr/>
        </p:nvSpPr>
        <p:spPr bwMode="auto">
          <a:xfrm>
            <a:off x="3059113" y="271462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6" name="Line 2056"/>
          <p:cNvSpPr>
            <a:spLocks noChangeShapeType="1"/>
          </p:cNvSpPr>
          <p:nvPr/>
        </p:nvSpPr>
        <p:spPr bwMode="auto">
          <a:xfrm>
            <a:off x="3059113" y="309562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7" name="Rectangle 2057"/>
          <p:cNvSpPr>
            <a:spLocks noChangeArrowheads="1"/>
          </p:cNvSpPr>
          <p:nvPr/>
        </p:nvSpPr>
        <p:spPr bwMode="auto">
          <a:xfrm>
            <a:off x="3363913" y="172402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sz="1400">
                <a:latin typeface="Helvetica" charset="0"/>
              </a:rPr>
              <a:t>Page #</a:t>
            </a:r>
          </a:p>
        </p:txBody>
      </p:sp>
      <p:sp>
        <p:nvSpPr>
          <p:cNvPr id="68618" name="Rectangle 2058"/>
          <p:cNvSpPr>
            <a:spLocks noChangeArrowheads="1"/>
          </p:cNvSpPr>
          <p:nvPr/>
        </p:nvSpPr>
        <p:spPr bwMode="auto">
          <a:xfrm>
            <a:off x="4735513" y="172402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sz="1400">
                <a:latin typeface="Helvetica" charset="0"/>
              </a:rPr>
              <a:t>Frame #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Paging Hardware With TLB</a:t>
            </a:r>
            <a:endParaRPr lang="en-US" sz="2400"/>
          </a:p>
        </p:txBody>
      </p:sp>
      <p:pic>
        <p:nvPicPr>
          <p:cNvPr id="7065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1362075"/>
            <a:ext cx="6100763" cy="46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Effective Access Time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304925"/>
            <a:ext cx="7473950" cy="4432300"/>
          </a:xfrm>
        </p:spPr>
        <p:txBody>
          <a:bodyPr/>
          <a:lstStyle/>
          <a:p>
            <a:pPr>
              <a:tabLst>
                <a:tab pos="2063750" algn="l"/>
                <a:tab pos="2568575" algn="l"/>
              </a:tabLst>
            </a:pPr>
            <a:r>
              <a:rPr lang="en-US"/>
              <a:t>Associative Lookup = </a:t>
            </a:r>
            <a:r>
              <a:rPr lang="en-US">
                <a:sym typeface="Symbol" charset="2"/>
              </a:rPr>
              <a:t> time unit</a:t>
            </a:r>
          </a:p>
          <a:p>
            <a:pPr>
              <a:tabLst>
                <a:tab pos="2063750" algn="l"/>
                <a:tab pos="2568575" algn="l"/>
              </a:tabLst>
            </a:pPr>
            <a:r>
              <a:rPr lang="en-US">
                <a:sym typeface="Symbol" charset="2"/>
              </a:rPr>
              <a:t>Assume memory cycle time is 1 microsecond</a:t>
            </a:r>
          </a:p>
          <a:p>
            <a:pPr>
              <a:tabLst>
                <a:tab pos="2063750" algn="l"/>
                <a:tab pos="2568575" algn="l"/>
              </a:tabLst>
            </a:pPr>
            <a:r>
              <a:rPr lang="en-US">
                <a:sym typeface="Symbol" charset="2"/>
              </a:rPr>
              <a:t>Hit ratio – percentage of times that a page number is found in the associative registers; ratio related to number of associative registers</a:t>
            </a:r>
          </a:p>
          <a:p>
            <a:pPr>
              <a:tabLst>
                <a:tab pos="2063750" algn="l"/>
                <a:tab pos="2568575" algn="l"/>
              </a:tabLst>
            </a:pPr>
            <a:r>
              <a:rPr lang="en-US">
                <a:sym typeface="Symbol" charset="2"/>
              </a:rPr>
              <a:t>Hit ratio = </a:t>
            </a:r>
          </a:p>
          <a:p>
            <a:pPr>
              <a:tabLst>
                <a:tab pos="2063750" algn="l"/>
                <a:tab pos="2568575" algn="l"/>
              </a:tabLst>
            </a:pPr>
            <a:r>
              <a:rPr lang="en-US" b="1">
                <a:solidFill>
                  <a:srgbClr val="3366FF"/>
                </a:solidFill>
                <a:sym typeface="Symbol" charset="2"/>
              </a:rPr>
              <a:t>Effective Access Time</a:t>
            </a:r>
            <a:r>
              <a:rPr lang="en-US">
                <a:solidFill>
                  <a:srgbClr val="3366FF"/>
                </a:solidFill>
                <a:sym typeface="Symbol" charset="2"/>
              </a:rPr>
              <a:t> </a:t>
            </a:r>
            <a:r>
              <a:rPr lang="en-US">
                <a:sym typeface="Symbol" charset="2"/>
              </a:rPr>
              <a:t>(EAT)</a:t>
            </a:r>
          </a:p>
          <a:p>
            <a:pPr>
              <a:buFont typeface="Monotype Sorts" charset="2"/>
              <a:buNone/>
              <a:tabLst>
                <a:tab pos="2063750" algn="l"/>
                <a:tab pos="2568575" algn="l"/>
              </a:tabLst>
            </a:pPr>
            <a:r>
              <a:rPr lang="en-US"/>
              <a:t>		EAT = (1 + </a:t>
            </a:r>
            <a:r>
              <a:rPr lang="en-US">
                <a:sym typeface="Symbol" charset="2"/>
              </a:rPr>
              <a:t>)  + (2 + )(1 – )</a:t>
            </a:r>
          </a:p>
          <a:p>
            <a:pPr>
              <a:buFont typeface="Monotype Sorts" charset="2"/>
              <a:buNone/>
              <a:tabLst>
                <a:tab pos="2063750" algn="l"/>
                <a:tab pos="2568575" algn="l"/>
              </a:tabLst>
            </a:pPr>
            <a:r>
              <a:rPr lang="en-US">
                <a:sym typeface="Symbol" charset="2"/>
              </a:rPr>
              <a:t>			= 2 +  – </a:t>
            </a:r>
          </a:p>
          <a:p>
            <a:pPr>
              <a:buFont typeface="Monotype Sorts" charset="2"/>
              <a:buNone/>
              <a:tabLst>
                <a:tab pos="2063750" algn="l"/>
                <a:tab pos="2568575" algn="l"/>
              </a:tabLst>
            </a:pP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Memory Protection</a:t>
            </a:r>
          </a:p>
        </p:txBody>
      </p:sp>
      <p:sp>
        <p:nvSpPr>
          <p:cNvPr id="74755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6873875" cy="4468813"/>
          </a:xfrm>
        </p:spPr>
        <p:txBody>
          <a:bodyPr/>
          <a:lstStyle/>
          <a:p>
            <a:r>
              <a:rPr lang="en-US"/>
              <a:t>Memory protection implemented by associating protection bit with each frame</a:t>
            </a:r>
            <a:br>
              <a:rPr lang="en-US"/>
            </a:br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Valid-invalid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bit attached to each entry in the page table:</a:t>
            </a:r>
          </a:p>
          <a:p>
            <a:pPr lvl="1"/>
            <a:r>
              <a:rPr lang="en-US"/>
              <a:t>“valid” indicates that the associated page is in the process’ logical address space, and is thus a legal page</a:t>
            </a:r>
          </a:p>
          <a:p>
            <a:pPr lvl="1"/>
            <a:r>
              <a:rPr lang="en-US"/>
              <a:t>“invalid” indicates that the page is not in the process’ logical address space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922338" y="0"/>
            <a:ext cx="8161337" cy="844550"/>
          </a:xfrm>
        </p:spPr>
        <p:txBody>
          <a:bodyPr/>
          <a:lstStyle/>
          <a:p>
            <a:pPr eaLnBrk="1" hangingPunct="1"/>
            <a:r>
              <a:rPr lang="en-US"/>
              <a:t>Valid (v) or Invalid (i) Bit In A Page Table</a:t>
            </a:r>
          </a:p>
        </p:txBody>
      </p:sp>
      <p:pic>
        <p:nvPicPr>
          <p:cNvPr id="7680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341438"/>
            <a:ext cx="5505450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0070C0"/>
                </a:solidFill>
              </a:rPr>
              <a:t>Paging Example</a:t>
            </a:r>
            <a:endParaRPr lang="en-US" altLang="en-US">
              <a:solidFill>
                <a:srgbClr val="0070C0"/>
              </a:solidFill>
            </a:endParaRPr>
          </a:p>
        </p:txBody>
      </p:sp>
      <p:pic>
        <p:nvPicPr>
          <p:cNvPr id="2560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1157288"/>
            <a:ext cx="3687763" cy="470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34910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Shared Pages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6821488" cy="4483100"/>
          </a:xfrm>
        </p:spPr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Shared code</a:t>
            </a:r>
          </a:p>
          <a:p>
            <a:pPr lvl="1"/>
            <a:r>
              <a:rPr lang="en-US"/>
              <a:t>One copy of read-only (reentrant) code shared among processes (i.e., text editors, compilers, window systems).</a:t>
            </a:r>
          </a:p>
          <a:p>
            <a:pPr lvl="1"/>
            <a:r>
              <a:rPr lang="en-US"/>
              <a:t>Shared code must appear in same location in the logical address space of all processes</a:t>
            </a:r>
            <a:br>
              <a:rPr lang="en-US"/>
            </a:br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Private code and data</a:t>
            </a:r>
            <a:r>
              <a:rPr lang="en-US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/>
              <a:t>Each process keeps a separate copy of the code and data</a:t>
            </a:r>
          </a:p>
          <a:p>
            <a:pPr lvl="1"/>
            <a:r>
              <a:rPr lang="en-US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Shared Pages Example</a:t>
            </a:r>
            <a:endParaRPr lang="en-US" sz="2400"/>
          </a:p>
        </p:txBody>
      </p:sp>
      <p:pic>
        <p:nvPicPr>
          <p:cNvPr id="8089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1447800"/>
            <a:ext cx="4814888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Structure of the Page Table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r>
              <a:rPr lang="en-US"/>
              <a:t>Hierarchical Paging</a:t>
            </a:r>
          </a:p>
          <a:p>
            <a:endParaRPr lang="en-US"/>
          </a:p>
          <a:p>
            <a:r>
              <a:rPr lang="en-US"/>
              <a:t>Hashed Page Tables</a:t>
            </a:r>
          </a:p>
          <a:p>
            <a:endParaRPr lang="en-US"/>
          </a:p>
          <a:p>
            <a:r>
              <a:rPr lang="en-US"/>
              <a:t>Inverted Page Tables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Hierarchical Page Tables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r>
              <a:rPr lang="en-US"/>
              <a:t>Break up the logical address space into multiple page tables</a:t>
            </a:r>
          </a:p>
          <a:p>
            <a:endParaRPr lang="en-US"/>
          </a:p>
          <a:p>
            <a:r>
              <a:rPr lang="en-US"/>
              <a:t>A simple technique is a two-level page table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Two-Level Page-Table Scheme</a:t>
            </a:r>
            <a:endParaRPr lang="en-US" sz="2400"/>
          </a:p>
        </p:txBody>
      </p:sp>
      <p:pic>
        <p:nvPicPr>
          <p:cNvPr id="8704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8" y="1011238"/>
            <a:ext cx="4906962" cy="515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Two-Level Paging Example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4738" y="1477963"/>
            <a:ext cx="7932737" cy="41576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600"/>
              <a:t>A logical address (on 32-bit machine with 1K page size) is divided into:</a:t>
            </a:r>
          </a:p>
          <a:p>
            <a:pPr marL="628650" lvl="1">
              <a:lnSpc>
                <a:spcPct val="90000"/>
              </a:lnSpc>
            </a:pPr>
            <a:r>
              <a:rPr lang="en-US" sz="1600"/>
              <a:t>a page number consisting of 22 bits</a:t>
            </a:r>
          </a:p>
          <a:p>
            <a:pPr marL="628650" lvl="1">
              <a:lnSpc>
                <a:spcPct val="90000"/>
              </a:lnSpc>
            </a:pPr>
            <a:r>
              <a:rPr lang="en-US" sz="1600"/>
              <a:t>a page offset consisting of 10 bits</a:t>
            </a:r>
          </a:p>
          <a:p>
            <a:pPr>
              <a:lnSpc>
                <a:spcPct val="90000"/>
              </a:lnSpc>
            </a:pPr>
            <a:r>
              <a:rPr lang="en-US" sz="1600"/>
              <a:t>Since the page table is paged, the page number is further divided into:</a:t>
            </a:r>
          </a:p>
          <a:p>
            <a:pPr marL="628650" lvl="1">
              <a:lnSpc>
                <a:spcPct val="90000"/>
              </a:lnSpc>
            </a:pPr>
            <a:r>
              <a:rPr lang="en-US" sz="1600"/>
              <a:t>a 12-bit page number </a:t>
            </a:r>
          </a:p>
          <a:p>
            <a:pPr marL="628650" lvl="1">
              <a:lnSpc>
                <a:spcPct val="90000"/>
              </a:lnSpc>
            </a:pPr>
            <a:r>
              <a:rPr lang="en-US" sz="1600"/>
              <a:t>a 10-bit page offset</a:t>
            </a:r>
          </a:p>
          <a:p>
            <a:pPr>
              <a:lnSpc>
                <a:spcPct val="90000"/>
              </a:lnSpc>
            </a:pPr>
            <a:r>
              <a:rPr lang="en-US" sz="1600"/>
              <a:t>Thus, a logical address is as follows:</a:t>
            </a: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r>
              <a:rPr lang="en-US" sz="1600"/>
              <a:t>where</a:t>
            </a:r>
            <a:r>
              <a:rPr lang="en-US" sz="1600" i="1"/>
              <a:t> p</a:t>
            </a:r>
            <a:r>
              <a:rPr lang="en-US" sz="1600" i="1" baseline="-25000"/>
              <a:t>i</a:t>
            </a:r>
            <a:r>
              <a:rPr lang="en-US" sz="1600"/>
              <a:t> is an index into the outer page table, and </a:t>
            </a:r>
            <a:r>
              <a:rPr lang="en-US" sz="1600" i="1"/>
              <a:t>p</a:t>
            </a:r>
            <a:r>
              <a:rPr lang="en-US" sz="1600" i="1" baseline="-25000"/>
              <a:t>2</a:t>
            </a:r>
            <a:r>
              <a:rPr lang="en-US" sz="1600"/>
              <a:t> is the displacement within the page of the outer page table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3067050" y="4387850"/>
            <a:ext cx="3105150" cy="438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093" name="Line 5"/>
          <p:cNvSpPr>
            <a:spLocks noChangeShapeType="1"/>
          </p:cNvSpPr>
          <p:nvPr/>
        </p:nvSpPr>
        <p:spPr bwMode="auto">
          <a:xfrm>
            <a:off x="3905250" y="442595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4" name="Line 6"/>
          <p:cNvSpPr>
            <a:spLocks noChangeShapeType="1"/>
          </p:cNvSpPr>
          <p:nvPr/>
        </p:nvSpPr>
        <p:spPr bwMode="auto">
          <a:xfrm>
            <a:off x="4700588" y="404495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5" name="Text Box 7"/>
          <p:cNvSpPr txBox="1">
            <a:spLocks noChangeArrowheads="1"/>
          </p:cNvSpPr>
          <p:nvPr/>
        </p:nvSpPr>
        <p:spPr bwMode="auto">
          <a:xfrm>
            <a:off x="2908300" y="3956050"/>
            <a:ext cx="153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page number</a:t>
            </a:r>
          </a:p>
        </p:txBody>
      </p:sp>
      <p:sp>
        <p:nvSpPr>
          <p:cNvPr id="89096" name="Text Box 8"/>
          <p:cNvSpPr txBox="1">
            <a:spLocks noChangeArrowheads="1"/>
          </p:cNvSpPr>
          <p:nvPr/>
        </p:nvSpPr>
        <p:spPr bwMode="auto">
          <a:xfrm>
            <a:off x="4772025" y="3968750"/>
            <a:ext cx="1314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page offset</a:t>
            </a:r>
          </a:p>
        </p:txBody>
      </p:sp>
      <p:sp>
        <p:nvSpPr>
          <p:cNvPr id="89097" name="Text Box 9"/>
          <p:cNvSpPr txBox="1">
            <a:spLocks noChangeArrowheads="1"/>
          </p:cNvSpPr>
          <p:nvPr/>
        </p:nvSpPr>
        <p:spPr bwMode="auto">
          <a:xfrm>
            <a:off x="3295650" y="4414838"/>
            <a:ext cx="344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charset="0"/>
              </a:rPr>
              <a:t>p</a:t>
            </a:r>
            <a:r>
              <a:rPr lang="en-US" sz="1800" baseline="-25000">
                <a:latin typeface="Helvetica" charset="0"/>
              </a:rPr>
              <a:t>i</a:t>
            </a:r>
            <a:endParaRPr lang="en-US" sz="1800">
              <a:latin typeface="Helvetica" charset="0"/>
            </a:endParaRPr>
          </a:p>
        </p:txBody>
      </p:sp>
      <p:sp>
        <p:nvSpPr>
          <p:cNvPr id="89098" name="Text Box 10"/>
          <p:cNvSpPr txBox="1">
            <a:spLocks noChangeArrowheads="1"/>
          </p:cNvSpPr>
          <p:nvPr/>
        </p:nvSpPr>
        <p:spPr bwMode="auto">
          <a:xfrm>
            <a:off x="4070350" y="4406900"/>
            <a:ext cx="3952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charset="0"/>
              </a:rPr>
              <a:t>p</a:t>
            </a:r>
            <a:r>
              <a:rPr lang="en-US" sz="1800" baseline="-25000">
                <a:latin typeface="Helvetica" charset="0"/>
              </a:rPr>
              <a:t>2</a:t>
            </a:r>
            <a:endParaRPr lang="en-US" sz="1800">
              <a:latin typeface="Helvetica" charset="0"/>
            </a:endParaRPr>
          </a:p>
        </p:txBody>
      </p:sp>
      <p:sp>
        <p:nvSpPr>
          <p:cNvPr id="89099" name="Text Box 11"/>
          <p:cNvSpPr txBox="1">
            <a:spLocks noChangeArrowheads="1"/>
          </p:cNvSpPr>
          <p:nvPr/>
        </p:nvSpPr>
        <p:spPr bwMode="auto">
          <a:xfrm>
            <a:off x="5070475" y="4445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i="1">
                <a:latin typeface="Helvetica" charset="0"/>
              </a:rPr>
              <a:t>d</a:t>
            </a:r>
            <a:endParaRPr lang="en-US" sz="1800">
              <a:latin typeface="Helvetica" charset="0"/>
            </a:endParaRPr>
          </a:p>
        </p:txBody>
      </p:sp>
      <p:sp>
        <p:nvSpPr>
          <p:cNvPr id="89100" name="Text Box 12"/>
          <p:cNvSpPr txBox="1">
            <a:spLocks noChangeArrowheads="1"/>
          </p:cNvSpPr>
          <p:nvPr/>
        </p:nvSpPr>
        <p:spPr bwMode="auto">
          <a:xfrm>
            <a:off x="3371850" y="506412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12</a:t>
            </a:r>
          </a:p>
        </p:txBody>
      </p:sp>
      <p:sp>
        <p:nvSpPr>
          <p:cNvPr id="89101" name="Text Box 13"/>
          <p:cNvSpPr txBox="1">
            <a:spLocks noChangeArrowheads="1"/>
          </p:cNvSpPr>
          <p:nvPr/>
        </p:nvSpPr>
        <p:spPr bwMode="auto">
          <a:xfrm>
            <a:off x="4038600" y="50355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10</a:t>
            </a:r>
          </a:p>
        </p:txBody>
      </p:sp>
      <p:sp>
        <p:nvSpPr>
          <p:cNvPr id="89102" name="Text Box 14"/>
          <p:cNvSpPr txBox="1">
            <a:spLocks noChangeArrowheads="1"/>
          </p:cNvSpPr>
          <p:nvPr/>
        </p:nvSpPr>
        <p:spPr bwMode="auto">
          <a:xfrm>
            <a:off x="5105400" y="50355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10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Address-Translation Scheme</a:t>
            </a:r>
            <a:endParaRPr lang="en-US" sz="2400"/>
          </a:p>
        </p:txBody>
      </p:sp>
      <p:pic>
        <p:nvPicPr>
          <p:cNvPr id="91139" name="Picture 10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1747838"/>
            <a:ext cx="70977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Three-level Paging Scheme</a:t>
            </a:r>
          </a:p>
        </p:txBody>
      </p:sp>
      <p:pic>
        <p:nvPicPr>
          <p:cNvPr id="9318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1817688"/>
            <a:ext cx="6208712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63" y="3925888"/>
            <a:ext cx="6446837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Hashed Page Tables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r>
              <a:rPr lang="en-US"/>
              <a:t>Common in address spaces &gt; 32 bits</a:t>
            </a:r>
          </a:p>
          <a:p>
            <a:endParaRPr lang="en-US"/>
          </a:p>
          <a:p>
            <a:r>
              <a:rPr lang="en-US"/>
              <a:t>The virtual page number is hashed into a page table</a:t>
            </a:r>
          </a:p>
          <a:p>
            <a:pPr lvl="1"/>
            <a:r>
              <a:rPr lang="en-US"/>
              <a:t>This page table contains a chain of elements hashing to the same location</a:t>
            </a:r>
          </a:p>
          <a:p>
            <a:endParaRPr lang="en-US"/>
          </a:p>
          <a:p>
            <a:r>
              <a:rPr lang="en-US"/>
              <a:t>Virtual page numbers are compared in this chain searching for a match</a:t>
            </a:r>
          </a:p>
          <a:p>
            <a:pPr lvl="1"/>
            <a:r>
              <a:rPr lang="en-US"/>
              <a:t>If a match is found, the corresponding physical frame is extracted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Hashed Page Table</a:t>
            </a:r>
            <a:endParaRPr lang="en-US" sz="2400"/>
          </a:p>
        </p:txBody>
      </p:sp>
      <p:pic>
        <p:nvPicPr>
          <p:cNvPr id="9728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1530350"/>
            <a:ext cx="6883400" cy="397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Inverted Page Table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9175" y="1420813"/>
            <a:ext cx="6516688" cy="4792662"/>
          </a:xfrm>
        </p:spPr>
        <p:txBody>
          <a:bodyPr/>
          <a:lstStyle/>
          <a:p>
            <a:r>
              <a:rPr lang="en-US"/>
              <a:t>One entry for each real page of memory</a:t>
            </a:r>
          </a:p>
          <a:p>
            <a:r>
              <a:rPr lang="en-US"/>
              <a:t>Entry consists of the virtual address of the page stored in that real memory location, with information about the process that owns that page</a:t>
            </a:r>
          </a:p>
          <a:p>
            <a:r>
              <a:rPr lang="en-US"/>
              <a:t>Decreases memory needed to store each page table, but increases time needed to search the table when a page reference occurs</a:t>
            </a:r>
          </a:p>
          <a:p>
            <a:r>
              <a:rPr lang="en-US"/>
              <a:t>Use hash table to limit the search to one — or at most a few — page-table entries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Inverted Page Table Architecture</a:t>
            </a:r>
            <a:endParaRPr lang="en-US" sz="2400"/>
          </a:p>
        </p:txBody>
      </p:sp>
      <p:pic>
        <p:nvPicPr>
          <p:cNvPr id="10137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175" y="1296988"/>
            <a:ext cx="6502400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The Intel Pentium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Supports both segmentation and segmentation with paging</a:t>
            </a:r>
          </a:p>
          <a:p>
            <a:r>
              <a:rPr lang="en-US"/>
              <a:t>CPU generates logical address</a:t>
            </a:r>
          </a:p>
          <a:p>
            <a:pPr lvl="1"/>
            <a:r>
              <a:rPr lang="en-US"/>
              <a:t>Given to segmentation unit</a:t>
            </a:r>
          </a:p>
          <a:p>
            <a:pPr lvl="2"/>
            <a:r>
              <a:rPr lang="en-US"/>
              <a:t>Which produces linear addresses </a:t>
            </a:r>
          </a:p>
          <a:p>
            <a:pPr lvl="1"/>
            <a:r>
              <a:rPr lang="en-US"/>
              <a:t>Linear address given to paging unit</a:t>
            </a:r>
          </a:p>
          <a:p>
            <a:pPr lvl="2"/>
            <a:r>
              <a:rPr lang="en-US"/>
              <a:t>Which generates physical address in main memory</a:t>
            </a:r>
          </a:p>
          <a:p>
            <a:pPr lvl="2"/>
            <a:r>
              <a:rPr lang="en-US"/>
              <a:t>Paging units form equivalent of MMU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198438"/>
            <a:ext cx="7670800" cy="619125"/>
          </a:xfrm>
        </p:spPr>
        <p:txBody>
          <a:bodyPr/>
          <a:lstStyle/>
          <a:p>
            <a:pPr eaLnBrk="1" hangingPunct="1"/>
            <a:r>
              <a:rPr lang="en-US" sz="2400"/>
              <a:t>Logical to Physical Address Translation in Pentium</a:t>
            </a:r>
          </a:p>
        </p:txBody>
      </p:sp>
      <p:pic>
        <p:nvPicPr>
          <p:cNvPr id="1198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1533525" y="4364038"/>
            <a:ext cx="5805488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50" y="2179638"/>
            <a:ext cx="70389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Intel Pentium Segmentation</a:t>
            </a:r>
          </a:p>
        </p:txBody>
      </p:sp>
      <p:pic>
        <p:nvPicPr>
          <p:cNvPr id="1218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" t="9654" r="665" b="10266"/>
          <a:stretch>
            <a:fillRect/>
          </a:stretch>
        </p:blipFill>
        <p:spPr bwMode="auto">
          <a:xfrm>
            <a:off x="1266825" y="1754188"/>
            <a:ext cx="6435725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Pentium Paging Architecture</a:t>
            </a:r>
          </a:p>
        </p:txBody>
      </p:sp>
      <p:pic>
        <p:nvPicPr>
          <p:cNvPr id="12390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588" y="1219200"/>
            <a:ext cx="5119687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Linear Address in Linux</a:t>
            </a:r>
          </a:p>
        </p:txBody>
      </p:sp>
      <p:sp>
        <p:nvSpPr>
          <p:cNvPr id="125955" name="Text Box 4"/>
          <p:cNvSpPr txBox="1">
            <a:spLocks noChangeArrowheads="1"/>
          </p:cNvSpPr>
          <p:nvPr/>
        </p:nvSpPr>
        <p:spPr bwMode="auto">
          <a:xfrm>
            <a:off x="1211263" y="1512888"/>
            <a:ext cx="5861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sz="1800">
                <a:latin typeface="Helvetica" charset="0"/>
              </a:rPr>
              <a:t>Broken into four parts:</a:t>
            </a:r>
          </a:p>
        </p:txBody>
      </p:sp>
      <p:pic>
        <p:nvPicPr>
          <p:cNvPr id="12595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2630488"/>
            <a:ext cx="6907213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Three-level Paging in Linux</a:t>
            </a:r>
          </a:p>
        </p:txBody>
      </p:sp>
      <p:pic>
        <p:nvPicPr>
          <p:cNvPr id="12800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1304925"/>
            <a:ext cx="6877050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End of Chapter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2234</Words>
  <Application>Microsoft Office PowerPoint</Application>
  <PresentationFormat>On-screen Show (4:3)</PresentationFormat>
  <Paragraphs>341</Paragraphs>
  <Slides>58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Monotype Sorts</vt:lpstr>
      <vt:lpstr>Arial</vt:lpstr>
      <vt:lpstr>Helvetica</vt:lpstr>
      <vt:lpstr>Times New Roman</vt:lpstr>
      <vt:lpstr>Verdana</vt:lpstr>
      <vt:lpstr>Webdings</vt:lpstr>
      <vt:lpstr>os-8</vt:lpstr>
      <vt:lpstr>Chapter 8:  Main Memory</vt:lpstr>
      <vt:lpstr>Chapter 8:  Memory Management</vt:lpstr>
      <vt:lpstr>Objectives</vt:lpstr>
      <vt:lpstr>Background</vt:lpstr>
      <vt:lpstr>Base and Limit Registers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Dynamic relocation using a relocation register</vt:lpstr>
      <vt:lpstr>Dynamic Loading</vt:lpstr>
      <vt:lpstr>Dynamic Linking</vt:lpstr>
      <vt:lpstr>Swapping</vt:lpstr>
      <vt:lpstr>Schematic View of Swapping</vt:lpstr>
      <vt:lpstr>Contiguous Allocation</vt:lpstr>
      <vt:lpstr>Hardware Support for Relocation and Limit Registers</vt:lpstr>
      <vt:lpstr>Contiguous Allocation (Cont)</vt:lpstr>
      <vt:lpstr>Dynamic Storage-Allocation Problem</vt:lpstr>
      <vt:lpstr>Fragmentation</vt:lpstr>
      <vt:lpstr>Segmentation</vt:lpstr>
      <vt:lpstr>User’s View of a Program</vt:lpstr>
      <vt:lpstr>Logical View of Segmentation</vt:lpstr>
      <vt:lpstr>Segmentation Architecture </vt:lpstr>
      <vt:lpstr>Segmentation Architecture (Cont.)</vt:lpstr>
      <vt:lpstr>Segmentation Hardware</vt:lpstr>
      <vt:lpstr>Example of Segmentation</vt:lpstr>
      <vt:lpstr>Paging</vt:lpstr>
      <vt:lpstr>Address Translation Scheme</vt:lpstr>
      <vt:lpstr>Paging Hardware</vt:lpstr>
      <vt:lpstr>Paging Model of Logical and Physical Memory</vt:lpstr>
      <vt:lpstr>Paging Example</vt:lpstr>
      <vt:lpstr>Free Frames</vt:lpstr>
      <vt:lpstr>Implementation of Page Table</vt:lpstr>
      <vt:lpstr>Associative Memory</vt:lpstr>
      <vt:lpstr>Paging Hardware With TLB</vt:lpstr>
      <vt:lpstr>Effective Access Time</vt:lpstr>
      <vt:lpstr>Memory Protection</vt:lpstr>
      <vt:lpstr>Valid (v) or Invalid (i) Bit In A Page Table</vt:lpstr>
      <vt:lpstr>Paging Example</vt:lpstr>
      <vt:lpstr>Shared Pages</vt:lpstr>
      <vt:lpstr>Shared Pages Example</vt:lpstr>
      <vt:lpstr>Structure of the Page Table</vt:lpstr>
      <vt:lpstr>Hierarchical Page Tables</vt:lpstr>
      <vt:lpstr>Two-Level Page-Table Scheme</vt:lpstr>
      <vt:lpstr>Two-Level Paging Example</vt:lpstr>
      <vt:lpstr>Address-Translation Scheme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Example: The Intel Pentium</vt:lpstr>
      <vt:lpstr>Logical to Physical Address Translation in Pentium</vt:lpstr>
      <vt:lpstr>Intel Pentium Segmentation</vt:lpstr>
      <vt:lpstr>Pentium Paging Architecture</vt:lpstr>
      <vt:lpstr>Linear Address in Linux</vt:lpstr>
      <vt:lpstr>Three-level Paging in Linux</vt:lpstr>
      <vt:lpstr>End of Chapter 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9.01</dc:title>
  <dc:creator>Marilyn Turnamian</dc:creator>
  <cp:lastModifiedBy>Liu, Siming</cp:lastModifiedBy>
  <cp:revision>1</cp:revision>
  <cp:lastPrinted>2001-06-14T19:17:20Z</cp:lastPrinted>
  <dcterms:created xsi:type="dcterms:W3CDTF">2008-08-19T19:48:45Z</dcterms:created>
  <dcterms:modified xsi:type="dcterms:W3CDTF">2023-10-03T18:41:54Z</dcterms:modified>
</cp:coreProperties>
</file>