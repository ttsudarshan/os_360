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</p:sldMasterIdLst>
  <p:notesMasterIdLst>
    <p:notesMasterId r:id="rId64"/>
  </p:notesMasterIdLst>
  <p:handoutMasterIdLst>
    <p:handoutMasterId r:id="rId65"/>
  </p:handoutMasterIdLst>
  <p:sldIdLst>
    <p:sldId id="356" r:id="rId2"/>
    <p:sldId id="274" r:id="rId3"/>
    <p:sldId id="275" r:id="rId4"/>
    <p:sldId id="378" r:id="rId5"/>
    <p:sldId id="354" r:id="rId6"/>
    <p:sldId id="352" r:id="rId7"/>
    <p:sldId id="276" r:id="rId8"/>
    <p:sldId id="379" r:id="rId9"/>
    <p:sldId id="277" r:id="rId10"/>
    <p:sldId id="380" r:id="rId11"/>
    <p:sldId id="278" r:id="rId12"/>
    <p:sldId id="367" r:id="rId13"/>
    <p:sldId id="323" r:id="rId14"/>
    <p:sldId id="280" r:id="rId15"/>
    <p:sldId id="281" r:id="rId16"/>
    <p:sldId id="324" r:id="rId17"/>
    <p:sldId id="325" r:id="rId18"/>
    <p:sldId id="370" r:id="rId19"/>
    <p:sldId id="371" r:id="rId20"/>
    <p:sldId id="368" r:id="rId21"/>
    <p:sldId id="282" r:id="rId22"/>
    <p:sldId id="329" r:id="rId23"/>
    <p:sldId id="328" r:id="rId24"/>
    <p:sldId id="330" r:id="rId25"/>
    <p:sldId id="283" r:id="rId26"/>
    <p:sldId id="331" r:id="rId27"/>
    <p:sldId id="284" r:id="rId28"/>
    <p:sldId id="333" r:id="rId29"/>
    <p:sldId id="332" r:id="rId30"/>
    <p:sldId id="285" r:id="rId31"/>
    <p:sldId id="334" r:id="rId32"/>
    <p:sldId id="286" r:id="rId33"/>
    <p:sldId id="335" r:id="rId34"/>
    <p:sldId id="287" r:id="rId35"/>
    <p:sldId id="288" r:id="rId36"/>
    <p:sldId id="337" r:id="rId37"/>
    <p:sldId id="382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365" r:id="rId46"/>
    <p:sldId id="338" r:id="rId47"/>
    <p:sldId id="296" r:id="rId48"/>
    <p:sldId id="339" r:id="rId49"/>
    <p:sldId id="298" r:id="rId50"/>
    <p:sldId id="381" r:id="rId51"/>
    <p:sldId id="372" r:id="rId52"/>
    <p:sldId id="373" r:id="rId53"/>
    <p:sldId id="374" r:id="rId54"/>
    <p:sldId id="376" r:id="rId55"/>
    <p:sldId id="377" r:id="rId56"/>
    <p:sldId id="299" r:id="rId57"/>
    <p:sldId id="366" r:id="rId58"/>
    <p:sldId id="340" r:id="rId59"/>
    <p:sldId id="300" r:id="rId60"/>
    <p:sldId id="343" r:id="rId61"/>
    <p:sldId id="342" r:id="rId62"/>
    <p:sldId id="363" r:id="rId6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08">
          <p15:clr>
            <a:srgbClr val="A4A3A4"/>
          </p15:clr>
        </p15:guide>
        <p15:guide id="2" pos="5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66CCFF"/>
    <a:srgbClr val="000008"/>
    <a:srgbClr val="0076F0"/>
    <a:srgbClr val="009900"/>
    <a:srgbClr val="663300"/>
    <a:srgbClr val="FF0000"/>
    <a:srgbClr val="0000CC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7" autoAdjust="0"/>
    <p:restoredTop sz="94660"/>
  </p:normalViewPr>
  <p:slideViewPr>
    <p:cSldViewPr snapToGrid="0">
      <p:cViewPr varScale="1">
        <p:scale>
          <a:sx n="81" d="100"/>
          <a:sy n="81" d="100"/>
        </p:scale>
        <p:origin x="1555" y="53"/>
      </p:cViewPr>
      <p:guideLst>
        <p:guide orient="horz" pos="808"/>
        <p:guide pos="52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62.xml"/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ing Liu" userId="1e4b75e0-8938-470c-9583-bf4243e4c4f1" providerId="ADAL" clId="{5D12CE04-D2D2-4E85-8C07-6873734245BF}"/>
    <pc:docChg chg="modSld">
      <pc:chgData name="Siming Liu" userId="1e4b75e0-8938-470c-9583-bf4243e4c4f1" providerId="ADAL" clId="{5D12CE04-D2D2-4E85-8C07-6873734245BF}" dt="2020-11-05T15:53:10.454" v="25" actId="20577"/>
      <pc:docMkLst>
        <pc:docMk/>
      </pc:docMkLst>
      <pc:sldChg chg="modSp mod">
        <pc:chgData name="Siming Liu" userId="1e4b75e0-8938-470c-9583-bf4243e4c4f1" providerId="ADAL" clId="{5D12CE04-D2D2-4E85-8C07-6873734245BF}" dt="2020-11-05T15:53:10.454" v="25" actId="20577"/>
        <pc:sldMkLst>
          <pc:docMk/>
          <pc:sldMk cId="0" sldId="300"/>
        </pc:sldMkLst>
        <pc:spChg chg="mod">
          <ac:chgData name="Siming Liu" userId="1e4b75e0-8938-470c-9583-bf4243e4c4f1" providerId="ADAL" clId="{5D12CE04-D2D2-4E85-8C07-6873734245BF}" dt="2020-11-05T15:53:10.454" v="25" actId="20577"/>
          <ac:spMkLst>
            <pc:docMk/>
            <pc:sldMk cId="0" sldId="300"/>
            <ac:spMk id="143363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77" tIns="45789" rIns="91577" bIns="45789" numCol="1" anchor="ctr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22738" y="0"/>
            <a:ext cx="3205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77" tIns="45789" rIns="91577" bIns="45789" numCol="1" anchor="ctr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56700"/>
            <a:ext cx="320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46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22738" y="9156700"/>
            <a:ext cx="3205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Helvetica" charset="0"/>
              </a:defRPr>
            </a:lvl1pPr>
          </a:lstStyle>
          <a:p>
            <a:fld id="{DB987C33-E781-4552-B628-A2BC4BDAE0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85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fld id="{AE2EC846-2964-4104-AFC3-55E0633A83F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889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AFC52B37-493E-4785-AE9A-216F24BC6406}" type="slidenum">
              <a:rPr lang="en-US" sz="1300">
                <a:latin typeface="Times New Roman" charset="0"/>
              </a:rPr>
              <a:pPr/>
              <a:t>1</a:t>
            </a:fld>
            <a:endParaRPr lang="en-US" sz="130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D63486F6-E92A-423B-8528-B6D66D1DC3FF}" type="slidenum">
              <a:rPr lang="en-US" sz="1300">
                <a:latin typeface="Times New Roman" charset="0"/>
              </a:rPr>
              <a:pPr/>
              <a:t>2</a:t>
            </a:fld>
            <a:endParaRPr lang="en-US" sz="1300">
              <a:latin typeface="Times New Roman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E68B87DF-7597-4551-B931-4C4E5322B9DD}" type="slidenum">
              <a:rPr lang="en-US" sz="1300">
                <a:latin typeface="Times New Roman" charset="0"/>
              </a:rPr>
              <a:pPr/>
              <a:t>3</a:t>
            </a:fld>
            <a:endParaRPr lang="en-US" sz="1300">
              <a:latin typeface="Times New Roman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ED850FF-3362-49F8-8E3C-42C20AAEA70F}" type="slidenum">
              <a:rPr lang="en-US" sz="1300">
                <a:latin typeface="Times New Roman" charset="0"/>
              </a:rPr>
              <a:pPr/>
              <a:t>4</a:t>
            </a:fld>
            <a:endParaRPr lang="en-US" sz="1300">
              <a:latin typeface="Times New Roman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0397FF90-5CBB-429B-A2AB-051B8B034CA8}" type="slidenum">
              <a:rPr lang="en-US" sz="1300">
                <a:latin typeface="Times New Roman" charset="0"/>
              </a:rPr>
              <a:pPr/>
              <a:t>5</a:t>
            </a:fld>
            <a:endParaRPr lang="en-US" sz="1300">
              <a:latin typeface="Times New Roman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44A85F4C-E07E-4410-B105-5BC1A03F366A}" type="slidenum">
              <a:rPr lang="en-US" sz="1300">
                <a:latin typeface="Times New Roman" charset="0"/>
              </a:rPr>
              <a:pPr/>
              <a:t>6</a:t>
            </a:fld>
            <a:endParaRPr lang="en-US" sz="1300">
              <a:latin typeface="Times New Roman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240D14A-0E52-40C7-8C6E-34BE63771834}" type="slidenum">
              <a:rPr lang="en-US" sz="1300">
                <a:latin typeface="Times New Roman" charset="0"/>
              </a:rPr>
              <a:pPr/>
              <a:t>7</a:t>
            </a:fld>
            <a:endParaRPr lang="en-US" sz="1300">
              <a:latin typeface="Times New Roman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3896CDC7-D1D6-47C3-A925-207290A5C6EA}" type="slidenum">
              <a:rPr lang="en-US" sz="1300">
                <a:latin typeface="Times New Roman" charset="0"/>
              </a:rPr>
              <a:pPr/>
              <a:t>8</a:t>
            </a:fld>
            <a:endParaRPr lang="en-US" sz="1300">
              <a:latin typeface="Times New Roman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4D7A7B0C-BCDF-494A-917B-83A763BCD8F4}" type="slidenum">
              <a:rPr lang="en-US" sz="1300">
                <a:latin typeface="Times New Roman" charset="0"/>
              </a:rPr>
              <a:pPr/>
              <a:t>9</a:t>
            </a:fld>
            <a:endParaRPr lang="en-US" sz="1300">
              <a:latin typeface="Times New Roman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41B995E6-D808-4011-B5C3-10319B0AC33A}" type="slidenum">
              <a:rPr lang="en-US" sz="1300">
                <a:latin typeface="Times New Roman" charset="0"/>
              </a:rPr>
              <a:pPr/>
              <a:t>10</a:t>
            </a:fld>
            <a:endParaRPr lang="en-US" sz="1300">
              <a:latin typeface="Times New Roman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58886A30-0463-49DC-A342-5FAC06D5C559}" type="slidenum">
              <a:rPr lang="en-US" sz="1300">
                <a:latin typeface="Times New Roman" charset="0"/>
              </a:rPr>
              <a:pPr/>
              <a:t>11</a:t>
            </a:fld>
            <a:endParaRPr lang="en-US" sz="1300">
              <a:latin typeface="Times New Roman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07E9A0E7-081B-461B-9D7A-C8036B6ACA87}" type="slidenum">
              <a:rPr lang="en-US" sz="1300">
                <a:latin typeface="Times New Roman" charset="0"/>
              </a:rPr>
              <a:pPr/>
              <a:t>12</a:t>
            </a:fld>
            <a:endParaRPr lang="en-US" sz="1300">
              <a:latin typeface="Times New Roman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B67370B0-EBA6-48F7-B2F4-6FFF66F7B159}" type="slidenum">
              <a:rPr lang="en-US" sz="1300">
                <a:latin typeface="Times New Roman" charset="0"/>
              </a:rPr>
              <a:pPr/>
              <a:t>13</a:t>
            </a:fld>
            <a:endParaRPr lang="en-US" sz="1300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5C93404-297C-4142-A575-60E7128AB372}" type="slidenum">
              <a:rPr lang="en-US" sz="1300">
                <a:latin typeface="Times New Roman" charset="0"/>
              </a:rPr>
              <a:pPr/>
              <a:t>14</a:t>
            </a:fld>
            <a:endParaRPr lang="en-US" sz="1300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ED4F278B-2C0E-42DC-8B25-04952FD34BE0}" type="slidenum">
              <a:rPr lang="en-US" sz="1300">
                <a:latin typeface="Times New Roman" charset="0"/>
              </a:rPr>
              <a:pPr/>
              <a:t>15</a:t>
            </a:fld>
            <a:endParaRPr lang="en-US" sz="1300">
              <a:latin typeface="Times New Roman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5EDAED19-08DA-4FD8-8DDC-A054A539007D}" type="slidenum">
              <a:rPr lang="en-US" sz="1300">
                <a:latin typeface="Times New Roman" charset="0"/>
              </a:rPr>
              <a:pPr/>
              <a:t>16</a:t>
            </a:fld>
            <a:endParaRPr lang="en-US" sz="1300">
              <a:latin typeface="Times New Roman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314AE99F-99FA-4103-B2AE-8DC53B0F47B3}" type="slidenum">
              <a:rPr lang="en-US" sz="1300">
                <a:latin typeface="Times New Roman" charset="0"/>
              </a:rPr>
              <a:pPr/>
              <a:t>17</a:t>
            </a:fld>
            <a:endParaRPr lang="en-US" sz="1300">
              <a:latin typeface="Times New Roman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3F855F95-05B0-4BF6-AE22-DDAA7563FAF9}" type="slidenum">
              <a:rPr lang="en-US" sz="1300">
                <a:latin typeface="Times New Roman" charset="0"/>
              </a:rPr>
              <a:pPr/>
              <a:t>18</a:t>
            </a:fld>
            <a:endParaRPr lang="en-US" sz="1300">
              <a:latin typeface="Times New Roman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E1A9B32D-CCA8-4AF7-9F8A-B4085782C8D1}" type="slidenum">
              <a:rPr lang="en-US" sz="1300">
                <a:latin typeface="Times New Roman" charset="0"/>
              </a:rPr>
              <a:pPr/>
              <a:t>19</a:t>
            </a:fld>
            <a:endParaRPr lang="en-US" sz="1300">
              <a:latin typeface="Times New Roman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169F71FE-4A27-4DF1-94BB-0E46DBDE7287}" type="slidenum">
              <a:rPr lang="en-US" sz="1300">
                <a:latin typeface="Times New Roman" charset="0"/>
              </a:rPr>
              <a:pPr/>
              <a:t>20</a:t>
            </a:fld>
            <a:endParaRPr lang="en-US" sz="1300">
              <a:latin typeface="Times New Roman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FAF32BCE-F9A7-4679-9068-82A116B547FE}" type="slidenum">
              <a:rPr lang="en-US" sz="1300">
                <a:latin typeface="Times New Roman" charset="0"/>
              </a:rPr>
              <a:pPr/>
              <a:t>21</a:t>
            </a:fld>
            <a:endParaRPr lang="en-US" sz="130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1BBBFD9-B944-475C-A83B-1DF6D5BF33B3}" type="slidenum">
              <a:rPr lang="en-US" sz="1300">
                <a:latin typeface="Times New Roman" charset="0"/>
              </a:rPr>
              <a:pPr/>
              <a:t>22</a:t>
            </a:fld>
            <a:endParaRPr lang="en-US" sz="1300">
              <a:latin typeface="Times New Roman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D37D07BB-2D37-4F88-8BB1-7FA6B20B95A9}" type="slidenum">
              <a:rPr lang="en-US" sz="1300">
                <a:latin typeface="Times New Roman" charset="0"/>
              </a:rPr>
              <a:pPr/>
              <a:t>23</a:t>
            </a:fld>
            <a:endParaRPr lang="en-US" sz="1300">
              <a:latin typeface="Times New Roman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69A3A73B-0A4E-40F0-B30A-A3F6C526F5B2}" type="slidenum">
              <a:rPr lang="en-US" sz="1300">
                <a:latin typeface="Times New Roman" charset="0"/>
              </a:rPr>
              <a:pPr/>
              <a:t>24</a:t>
            </a:fld>
            <a:endParaRPr lang="en-US" sz="1300">
              <a:latin typeface="Times New Roman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7E862E14-5D29-4BCA-A1BA-90FC25D086F2}" type="slidenum">
              <a:rPr lang="en-US" sz="1300">
                <a:latin typeface="Times New Roman" charset="0"/>
              </a:rPr>
              <a:pPr/>
              <a:t>25</a:t>
            </a:fld>
            <a:endParaRPr lang="en-US" sz="1300">
              <a:latin typeface="Times New Roman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B325BBAA-28CF-4FDE-BDA1-8D2E2DC83A9C}" type="slidenum">
              <a:rPr lang="en-US" sz="1300">
                <a:latin typeface="Times New Roman" charset="0"/>
              </a:rPr>
              <a:pPr/>
              <a:t>26</a:t>
            </a:fld>
            <a:endParaRPr lang="en-US" sz="130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E6526F71-11E3-4C58-BC93-3C8881B3A272}" type="slidenum">
              <a:rPr lang="en-US" sz="1300">
                <a:latin typeface="Times New Roman" charset="0"/>
              </a:rPr>
              <a:pPr/>
              <a:t>27</a:t>
            </a:fld>
            <a:endParaRPr lang="en-US" sz="1300">
              <a:latin typeface="Times New Roman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1699F7AD-A2B6-41E4-9393-BE76D732C01B}" type="slidenum">
              <a:rPr lang="en-US" sz="1300">
                <a:latin typeface="Times New Roman" charset="0"/>
              </a:rPr>
              <a:pPr/>
              <a:t>28</a:t>
            </a:fld>
            <a:endParaRPr lang="en-US" sz="1300">
              <a:latin typeface="Times New Roman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FE4F46EC-E590-4F6C-B645-F74A1E3A9A39}" type="slidenum">
              <a:rPr lang="en-US" sz="1300">
                <a:latin typeface="Times New Roman" charset="0"/>
              </a:rPr>
              <a:pPr/>
              <a:t>29</a:t>
            </a:fld>
            <a:endParaRPr lang="en-US" sz="1300">
              <a:latin typeface="Times New Roman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EBA22EF6-B64B-4D59-9B5A-BC6677BBAE78}" type="slidenum">
              <a:rPr lang="en-US" sz="1300">
                <a:latin typeface="Times New Roman" charset="0"/>
              </a:rPr>
              <a:pPr/>
              <a:t>30</a:t>
            </a:fld>
            <a:endParaRPr lang="en-US" sz="1300">
              <a:latin typeface="Times New Roman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00C5359-A08B-4D61-BA4F-6A3A8F81CD3F}" type="slidenum">
              <a:rPr lang="en-US" sz="1300">
                <a:latin typeface="Times New Roman" charset="0"/>
              </a:rPr>
              <a:pPr/>
              <a:t>31</a:t>
            </a:fld>
            <a:endParaRPr lang="en-US" sz="1300">
              <a:latin typeface="Times New Roman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8B37BCE8-E6C8-40EC-92CC-D3C0F07CE21A}" type="slidenum">
              <a:rPr lang="en-US" sz="1300">
                <a:latin typeface="Times New Roman" charset="0"/>
              </a:rPr>
              <a:pPr/>
              <a:t>32</a:t>
            </a:fld>
            <a:endParaRPr lang="en-US" sz="1300">
              <a:latin typeface="Times New Roman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9F68C7C6-FB03-4CBF-9592-86F913F310B4}" type="slidenum">
              <a:rPr lang="en-US" sz="1300">
                <a:latin typeface="Times New Roman" charset="0"/>
              </a:rPr>
              <a:pPr/>
              <a:t>33</a:t>
            </a:fld>
            <a:endParaRPr lang="en-US" sz="1300">
              <a:latin typeface="Times New Roman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78FCB031-92EB-446D-8D1B-C04AA8F47518}" type="slidenum">
              <a:rPr lang="en-US" sz="1300">
                <a:latin typeface="Times New Roman" charset="0"/>
              </a:rPr>
              <a:pPr/>
              <a:t>34</a:t>
            </a:fld>
            <a:endParaRPr lang="en-US" sz="1300">
              <a:latin typeface="Times New Roman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1E626FE-8FA8-4236-8AE2-9F56F0DF1C8E}" type="slidenum">
              <a:rPr lang="en-US" sz="1300">
                <a:latin typeface="Times New Roman" charset="0"/>
              </a:rPr>
              <a:pPr/>
              <a:t>35</a:t>
            </a:fld>
            <a:endParaRPr lang="en-US" sz="1300">
              <a:latin typeface="Times New Roman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00EE7115-9FE5-410F-8259-A4F4D8728160}" type="slidenum">
              <a:rPr lang="en-US" sz="1300">
                <a:latin typeface="Times New Roman" charset="0"/>
              </a:rPr>
              <a:pPr/>
              <a:t>36</a:t>
            </a:fld>
            <a:endParaRPr lang="en-US" sz="1300">
              <a:latin typeface="Times New Roman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9F68C7C6-FB03-4CBF-9592-86F913F310B4}" type="slidenum">
              <a:rPr lang="en-US" sz="1300">
                <a:latin typeface="Times New Roman" charset="0"/>
              </a:rPr>
              <a:pPr/>
              <a:t>37</a:t>
            </a:fld>
            <a:endParaRPr lang="en-US" sz="1300">
              <a:latin typeface="Times New Roman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492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EF6A3B16-3C35-4651-8C95-790B601313C5}" type="slidenum">
              <a:rPr lang="en-US" sz="1300">
                <a:latin typeface="Times New Roman" charset="0"/>
              </a:rPr>
              <a:pPr/>
              <a:t>38</a:t>
            </a:fld>
            <a:endParaRPr lang="en-US" sz="1300">
              <a:latin typeface="Times New Roman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2F82A4A3-0D89-4DB7-8831-2159E90414F1}" type="slidenum">
              <a:rPr lang="en-US" sz="1300">
                <a:latin typeface="Times New Roman" charset="0"/>
              </a:rPr>
              <a:pPr/>
              <a:t>39</a:t>
            </a:fld>
            <a:endParaRPr lang="en-US" sz="1300">
              <a:latin typeface="Times New Roman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77BF39FA-D59A-4734-9EE4-D9BB65E4A153}" type="slidenum">
              <a:rPr lang="en-US" sz="1300">
                <a:latin typeface="Times New Roman" charset="0"/>
              </a:rPr>
              <a:pPr/>
              <a:t>40</a:t>
            </a:fld>
            <a:endParaRPr lang="en-US" sz="130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E255D467-8565-4D2A-B5B7-D8569DE55A7E}" type="slidenum">
              <a:rPr lang="en-US" sz="1300">
                <a:latin typeface="Times New Roman" charset="0"/>
              </a:rPr>
              <a:pPr/>
              <a:t>41</a:t>
            </a:fld>
            <a:endParaRPr lang="en-US" sz="1300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9141D96E-405F-4A51-9992-E0B78C3A88B7}" type="slidenum">
              <a:rPr lang="en-US" sz="1300">
                <a:latin typeface="Times New Roman" charset="0"/>
              </a:rPr>
              <a:pPr/>
              <a:t>42</a:t>
            </a:fld>
            <a:endParaRPr lang="en-US" sz="1300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F876DEE6-E570-4EC7-B21E-7A53154E8AFB}" type="slidenum">
              <a:rPr lang="en-US" sz="1300">
                <a:latin typeface="Times New Roman" charset="0"/>
              </a:rPr>
              <a:pPr/>
              <a:t>43</a:t>
            </a:fld>
            <a:endParaRPr lang="en-US" sz="1300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A3F1B66C-3C55-40E6-931F-512F8A657FF6}" type="slidenum">
              <a:rPr lang="en-US" sz="1300">
                <a:latin typeface="Times New Roman" charset="0"/>
              </a:rPr>
              <a:pPr/>
              <a:t>44</a:t>
            </a:fld>
            <a:endParaRPr lang="en-US" sz="1300">
              <a:latin typeface="Times New Roman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8B043AB0-8D17-4BE7-A152-CF2D065FDBF1}" type="slidenum">
              <a:rPr lang="en-US" sz="1300">
                <a:latin typeface="Times New Roman" charset="0"/>
              </a:rPr>
              <a:pPr/>
              <a:t>45</a:t>
            </a:fld>
            <a:endParaRPr lang="en-US" sz="1300">
              <a:latin typeface="Times New Roman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D8D2CC08-6059-4B51-8CE0-8AAB7ED399AD}" type="slidenum">
              <a:rPr lang="en-US" sz="1300">
                <a:latin typeface="Times New Roman" charset="0"/>
              </a:rPr>
              <a:pPr/>
              <a:t>46</a:t>
            </a:fld>
            <a:endParaRPr lang="en-US" sz="1300">
              <a:latin typeface="Times New Roman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F6AEFDA3-0180-404B-A415-401002198583}" type="slidenum">
              <a:rPr lang="en-US" sz="1300">
                <a:latin typeface="Times New Roman" charset="0"/>
              </a:rPr>
              <a:pPr/>
              <a:t>47</a:t>
            </a:fld>
            <a:endParaRPr lang="en-US" sz="1300">
              <a:latin typeface="Times New Roman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48CC70A7-0094-4797-A0FE-BBD489701E3A}" type="slidenum">
              <a:rPr lang="en-US" sz="1300">
                <a:latin typeface="Times New Roman" charset="0"/>
              </a:rPr>
              <a:pPr/>
              <a:t>48</a:t>
            </a:fld>
            <a:endParaRPr lang="en-US" sz="1300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50C8F356-5896-4793-A4EE-DEEE8C9C3B03}" type="slidenum">
              <a:rPr lang="en-US" sz="1300">
                <a:latin typeface="Times New Roman" charset="0"/>
              </a:rPr>
              <a:pPr/>
              <a:t>49</a:t>
            </a:fld>
            <a:endParaRPr lang="en-US" sz="1300">
              <a:latin typeface="Times New Roman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3BF4EDD8-9717-4043-B37A-673E2CAC24E4}" type="slidenum">
              <a:rPr lang="en-US" sz="1300">
                <a:latin typeface="Times New Roman" charset="0"/>
              </a:rPr>
              <a:pPr/>
              <a:t>51</a:t>
            </a:fld>
            <a:endParaRPr lang="en-US" sz="1300">
              <a:latin typeface="Times New Roman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3BEC5110-3C9A-4D6B-96B1-EBBC7D9B8D42}" type="slidenum">
              <a:rPr lang="en-US" sz="1300">
                <a:latin typeface="Times New Roman" charset="0"/>
              </a:rPr>
              <a:pPr/>
              <a:t>52</a:t>
            </a:fld>
            <a:endParaRPr lang="en-US" sz="1300">
              <a:latin typeface="Times New Roman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5B019319-8AE0-42CB-B1D7-E07118434FC0}" type="slidenum">
              <a:rPr lang="en-US" sz="1300">
                <a:latin typeface="Times New Roman" charset="0"/>
              </a:rPr>
              <a:pPr/>
              <a:t>53</a:t>
            </a:fld>
            <a:endParaRPr lang="en-US" sz="1300">
              <a:latin typeface="Times New Roman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6B57855B-CF27-47B2-B211-E7A753BA7B88}" type="slidenum">
              <a:rPr lang="en-US" sz="1300">
                <a:latin typeface="Times New Roman" charset="0"/>
              </a:rPr>
              <a:pPr/>
              <a:t>54</a:t>
            </a:fld>
            <a:endParaRPr lang="en-US" sz="1300">
              <a:latin typeface="Times New Roman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7C060CD7-59EF-4B11-B3CC-5F3C523965E9}" type="slidenum">
              <a:rPr lang="en-US" sz="1300">
                <a:latin typeface="Times New Roman" charset="0"/>
              </a:rPr>
              <a:pPr/>
              <a:t>55</a:t>
            </a:fld>
            <a:endParaRPr lang="en-US" sz="1300">
              <a:latin typeface="Times New Roman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6B3A5F02-F494-4A50-895F-9D40C08EEF45}" type="slidenum">
              <a:rPr lang="en-US" sz="1300">
                <a:latin typeface="Times New Roman" charset="0"/>
              </a:rPr>
              <a:pPr/>
              <a:t>56</a:t>
            </a:fld>
            <a:endParaRPr lang="en-US" sz="1300">
              <a:latin typeface="Times New Roman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FDF04845-7DE2-40AE-A600-55418BBF195A}" type="slidenum">
              <a:rPr lang="en-US" sz="1300">
                <a:latin typeface="Times New Roman" charset="0"/>
              </a:rPr>
              <a:pPr/>
              <a:t>57</a:t>
            </a:fld>
            <a:endParaRPr lang="en-US" sz="1300">
              <a:latin typeface="Times New Roman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F63263EC-38E5-458C-A418-E36BA71F9431}" type="slidenum">
              <a:rPr lang="en-US" sz="1300">
                <a:latin typeface="Times New Roman" charset="0"/>
              </a:rPr>
              <a:pPr/>
              <a:t>58</a:t>
            </a:fld>
            <a:endParaRPr lang="en-US" sz="1300">
              <a:latin typeface="Times New Roman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067D95C4-9975-4148-B5AF-40933E001993}" type="slidenum">
              <a:rPr lang="en-US" sz="1300">
                <a:latin typeface="Times New Roman" charset="0"/>
              </a:rPr>
              <a:pPr/>
              <a:t>59</a:t>
            </a:fld>
            <a:endParaRPr lang="en-US" sz="1300">
              <a:latin typeface="Times New Roman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1F0DAD9-8CC7-40B5-A682-1D5A905FBFD0}" type="slidenum">
              <a:rPr lang="en-US" sz="1300">
                <a:latin typeface="Times New Roman" charset="0"/>
              </a:rPr>
              <a:pPr/>
              <a:t>60</a:t>
            </a:fld>
            <a:endParaRPr lang="en-US" sz="1300">
              <a:latin typeface="Times New Roman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AA60489F-741D-4282-8D8F-049679335882}" type="slidenum">
              <a:rPr lang="en-US" sz="1300">
                <a:latin typeface="Times New Roman" charset="0"/>
              </a:rPr>
              <a:pPr/>
              <a:t>61</a:t>
            </a:fld>
            <a:endParaRPr lang="en-US" sz="1300">
              <a:latin typeface="Times New Roman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A0D01D5B-057F-4BAB-A042-CF292A04C265}" type="slidenum">
              <a:rPr lang="en-US" sz="1300">
                <a:latin typeface="Times New Roman" charset="0"/>
              </a:rPr>
              <a:pPr/>
              <a:t>62</a:t>
            </a:fld>
            <a:endParaRPr lang="en-US" sz="1300">
              <a:latin typeface="Times New Roman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70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336699"/>
                </a:solidFill>
                <a:latin typeface="Helvetica" charset="0"/>
              </a:rPr>
              <a:t>Operating System Concepts – 8</a:t>
            </a:r>
            <a:r>
              <a:rPr lang="en-US" sz="10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000" b="1">
                <a:solidFill>
                  <a:srgbClr val="336699"/>
                </a:solidFill>
                <a:latin typeface="Helvetica" charset="0"/>
              </a:rPr>
              <a:t> Edition,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4326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157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01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397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8248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8631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6337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302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388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91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33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7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070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20071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20071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20071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200713" name="Text Box 9"/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9.</a:t>
            </a:r>
            <a:fld id="{F5DA565A-EC53-4517-A189-61299EEEBA2C}" type="slidenum">
              <a:rPr lang="en-US" sz="10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20071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20071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0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0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684" r:id="rId3"/>
    <p:sldLayoutId id="2147483683" r:id="rId4"/>
    <p:sldLayoutId id="2147483682" r:id="rId5"/>
    <p:sldLayoutId id="2147483681" r:id="rId6"/>
    <p:sldLayoutId id="2147483680" r:id="rId7"/>
    <p:sldLayoutId id="2147483679" r:id="rId8"/>
    <p:sldLayoutId id="2147483678" r:id="rId9"/>
    <p:sldLayoutId id="2147483677" r:id="rId10"/>
    <p:sldLayoutId id="214748367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ＭＳ Ｐゴシック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Chapter 9: 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Chapter 9:  Virtual Memory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213" y="1233488"/>
            <a:ext cx="8229600" cy="4530725"/>
          </a:xfrm>
        </p:spPr>
        <p:txBody>
          <a:bodyPr/>
          <a:lstStyle/>
          <a:p>
            <a:r>
              <a:rPr lang="en-US" dirty="0"/>
              <a:t>Background</a:t>
            </a:r>
          </a:p>
          <a:p>
            <a:r>
              <a:rPr lang="en-US" dirty="0"/>
              <a:t>Demand Paging</a:t>
            </a:r>
          </a:p>
          <a:p>
            <a:r>
              <a:rPr lang="en-US" dirty="0"/>
              <a:t>Copy-on-Write</a:t>
            </a:r>
          </a:p>
          <a:p>
            <a:r>
              <a:rPr lang="en-US" dirty="0"/>
              <a:t>Page Replacement</a:t>
            </a:r>
          </a:p>
          <a:p>
            <a:r>
              <a:rPr lang="en-US" dirty="0"/>
              <a:t>Allocation of Frames </a:t>
            </a:r>
          </a:p>
          <a:p>
            <a:r>
              <a:rPr lang="en-US" dirty="0"/>
              <a:t>Thrashing</a:t>
            </a:r>
          </a:p>
          <a:p>
            <a:r>
              <a:rPr lang="en-US" dirty="0"/>
              <a:t>Memory-Mapped Files</a:t>
            </a:r>
          </a:p>
          <a:p>
            <a:r>
              <a:rPr lang="en-US" dirty="0"/>
              <a:t>Allocating Kernel Memory</a:t>
            </a:r>
          </a:p>
          <a:p>
            <a:r>
              <a:rPr lang="en-US" dirty="0"/>
              <a:t>Other Considerations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Background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213" y="1233488"/>
            <a:ext cx="8229600" cy="4530725"/>
          </a:xfrm>
        </p:spPr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Virtual memory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separation of user logical memory from physical memory.</a:t>
            </a:r>
          </a:p>
          <a:p>
            <a:pPr lvl="1"/>
            <a:r>
              <a:rPr lang="en-US"/>
              <a:t>Only part of the program needs to be in memory for execution</a:t>
            </a:r>
          </a:p>
          <a:p>
            <a:pPr lvl="1"/>
            <a:r>
              <a:rPr lang="en-US"/>
              <a:t>Logical address space can therefore be much larger than physical address space</a:t>
            </a:r>
          </a:p>
          <a:p>
            <a:pPr lvl="1"/>
            <a:r>
              <a:rPr lang="en-US"/>
              <a:t>Allows address spaces to be shared by several processes</a:t>
            </a:r>
          </a:p>
          <a:p>
            <a:pPr lvl="1"/>
            <a:r>
              <a:rPr lang="en-US"/>
              <a:t>Allows for more efficient process creation</a:t>
            </a:r>
            <a:br>
              <a:rPr lang="en-US"/>
            </a:br>
            <a:endParaRPr lang="en-US"/>
          </a:p>
          <a:p>
            <a:r>
              <a:rPr lang="en-US"/>
              <a:t>Virtual memory can be implemented via:</a:t>
            </a:r>
          </a:p>
          <a:p>
            <a:pPr lvl="1"/>
            <a:r>
              <a:rPr lang="en-US"/>
              <a:t>Demand paging </a:t>
            </a:r>
          </a:p>
          <a:p>
            <a:pPr lvl="1"/>
            <a:r>
              <a:rPr lang="en-US"/>
              <a:t>Demand segmentation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0"/>
            <a:ext cx="8161337" cy="844550"/>
          </a:xfrm>
        </p:spPr>
        <p:txBody>
          <a:bodyPr/>
          <a:lstStyle/>
          <a:p>
            <a:pPr eaLnBrk="1" hangingPunct="1"/>
            <a:r>
              <a:rPr lang="en-US" sz="2400"/>
              <a:t>Virtual Memory That is Larger Than Physical Memory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4367213" y="3246438"/>
            <a:ext cx="4095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>
                <a:latin typeface="Helvetica" charset="0"/>
                <a:sym typeface="Symbol" charset="2"/>
              </a:rPr>
              <a:t></a:t>
            </a:r>
          </a:p>
        </p:txBody>
      </p:sp>
      <p:pic>
        <p:nvPicPr>
          <p:cNvPr id="2355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570038"/>
            <a:ext cx="5262562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Virtual-address Space</a:t>
            </a:r>
          </a:p>
        </p:txBody>
      </p:sp>
      <p:pic>
        <p:nvPicPr>
          <p:cNvPr id="2560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128746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Shared Library Using Virtual Memory</a:t>
            </a:r>
          </a:p>
        </p:txBody>
      </p:sp>
      <p:pic>
        <p:nvPicPr>
          <p:cNvPr id="2765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8" y="1273175"/>
            <a:ext cx="6770687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Demand Paging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Bring a page into memory only when it is needed</a:t>
            </a:r>
          </a:p>
          <a:p>
            <a:pPr lvl="1"/>
            <a:r>
              <a:rPr lang="en-US"/>
              <a:t>Less I/O needed</a:t>
            </a:r>
          </a:p>
          <a:p>
            <a:pPr lvl="1"/>
            <a:r>
              <a:rPr lang="en-US"/>
              <a:t>Less memory needed </a:t>
            </a:r>
          </a:p>
          <a:p>
            <a:pPr lvl="1"/>
            <a:r>
              <a:rPr lang="en-US"/>
              <a:t>Faster response</a:t>
            </a:r>
          </a:p>
          <a:p>
            <a:pPr lvl="1"/>
            <a:r>
              <a:rPr lang="en-US"/>
              <a:t>More users</a:t>
            </a:r>
            <a:br>
              <a:rPr lang="en-US"/>
            </a:br>
            <a:endParaRPr lang="en-US"/>
          </a:p>
          <a:p>
            <a:r>
              <a:rPr lang="en-US"/>
              <a:t>Page is needed </a:t>
            </a:r>
            <a:r>
              <a:rPr lang="en-US">
                <a:sym typeface="Symbol" charset="2"/>
              </a:rPr>
              <a:t> reference to it</a:t>
            </a:r>
          </a:p>
          <a:p>
            <a:pPr lvl="1"/>
            <a:r>
              <a:rPr lang="en-US"/>
              <a:t>invalid reference </a:t>
            </a:r>
            <a:r>
              <a:rPr lang="en-US">
                <a:sym typeface="Symbol" charset="2"/>
              </a:rPr>
              <a:t> abort</a:t>
            </a:r>
          </a:p>
          <a:p>
            <a:pPr lvl="1"/>
            <a:r>
              <a:rPr lang="en-US">
                <a:sym typeface="Symbol" charset="2"/>
              </a:rPr>
              <a:t>not-in-memory  bring to memory</a:t>
            </a:r>
          </a:p>
          <a:p>
            <a:r>
              <a:rPr lang="en-US" b="1">
                <a:solidFill>
                  <a:srgbClr val="3366FF"/>
                </a:solidFill>
                <a:sym typeface="Symbol" charset="2"/>
              </a:rPr>
              <a:t>Lazy swapper</a:t>
            </a:r>
            <a:r>
              <a:rPr lang="en-US">
                <a:solidFill>
                  <a:srgbClr val="3366FF"/>
                </a:solidFill>
                <a:sym typeface="Symbol" charset="2"/>
              </a:rPr>
              <a:t> </a:t>
            </a:r>
            <a:r>
              <a:rPr lang="en-US">
                <a:sym typeface="Symbol" charset="2"/>
              </a:rPr>
              <a:t>– never swaps a page into memory unless page will be needed</a:t>
            </a:r>
          </a:p>
          <a:p>
            <a:pPr lvl="1"/>
            <a:r>
              <a:rPr lang="en-US">
                <a:sym typeface="Symbol" charset="2"/>
              </a:rPr>
              <a:t>Swapper that deals with pages is a </a:t>
            </a:r>
            <a:r>
              <a:rPr lang="en-US" b="1">
                <a:solidFill>
                  <a:srgbClr val="3366FF"/>
                </a:solidFill>
                <a:sym typeface="Symbol" charset="2"/>
              </a:rPr>
              <a:t>pager</a:t>
            </a:r>
          </a:p>
          <a:p>
            <a:pPr lvl="1">
              <a:buFont typeface="Monotype Sorts" charset="2"/>
              <a:buNone/>
            </a:pPr>
            <a:endParaRPr lang="en-US">
              <a:sym typeface="Symbol" charset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93738" y="0"/>
            <a:ext cx="8350250" cy="844550"/>
          </a:xfrm>
        </p:spPr>
        <p:txBody>
          <a:bodyPr/>
          <a:lstStyle/>
          <a:p>
            <a:pPr eaLnBrk="1" hangingPunct="1"/>
            <a:r>
              <a:rPr lang="en-US" sz="2400"/>
              <a:t>Transfer of a Paged Memory to Contiguous Disk Space</a:t>
            </a:r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0" y="1265238"/>
            <a:ext cx="5227638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Valid-Invalid Bit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850" y="1282700"/>
            <a:ext cx="7245350" cy="571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600" dirty="0"/>
              <a:t>With each page table entry a valid–invalid bit is associated</a:t>
            </a:r>
            <a:br>
              <a:rPr lang="en-US" sz="1600" dirty="0"/>
            </a:br>
            <a:r>
              <a:rPr lang="en-US" sz="1600" dirty="0"/>
              <a:t>(</a:t>
            </a:r>
            <a:r>
              <a:rPr lang="en-US" sz="1600" b="1" dirty="0">
                <a:solidFill>
                  <a:srgbClr val="FF0000"/>
                </a:solidFill>
              </a:rPr>
              <a:t>v</a:t>
            </a:r>
            <a:r>
              <a:rPr lang="en-US" sz="1600" dirty="0"/>
              <a:t> </a:t>
            </a:r>
            <a:r>
              <a:rPr lang="en-US" sz="1600" dirty="0">
                <a:sym typeface="Symbol" charset="2"/>
              </a:rPr>
              <a:t> in-memory,</a:t>
            </a:r>
            <a:r>
              <a:rPr lang="en-US" sz="1600" dirty="0">
                <a:solidFill>
                  <a:srgbClr val="FF0000"/>
                </a:solidFill>
                <a:sym typeface="Symbol" charset="2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sym typeface="Symbol" charset="2"/>
              </a:rPr>
              <a:t>i</a:t>
            </a:r>
            <a:r>
              <a:rPr lang="en-US" sz="1600" dirty="0">
                <a:sym typeface="Symbol" charset="2"/>
              </a:rPr>
              <a:t>  not-in-memory)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ym typeface="Symbol" charset="2"/>
              </a:rPr>
              <a:t>Initially valid–invalid bit is set to</a:t>
            </a:r>
            <a:r>
              <a:rPr lang="en-US" sz="1600" b="1" dirty="0">
                <a:solidFill>
                  <a:srgbClr val="FF0000"/>
                </a:solidFill>
                <a:sym typeface="Symbol" charset="2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sym typeface="Symbol" charset="2"/>
              </a:rPr>
              <a:t>i</a:t>
            </a:r>
            <a:r>
              <a:rPr lang="en-US" sz="1600" b="1" dirty="0">
                <a:solidFill>
                  <a:srgbClr val="FF0000"/>
                </a:solidFill>
                <a:sym typeface="Symbol" charset="2"/>
              </a:rPr>
              <a:t> </a:t>
            </a:r>
            <a:r>
              <a:rPr lang="en-US" sz="1600" dirty="0">
                <a:sym typeface="Symbol" charset="2"/>
              </a:rPr>
              <a:t>on all entries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ym typeface="Symbol" charset="2"/>
              </a:rPr>
              <a:t>Example of a page table snapshot:</a:t>
            </a: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br>
              <a:rPr lang="en-US" sz="1600" dirty="0">
                <a:sym typeface="Symbol" charset="2"/>
              </a:rPr>
            </a:br>
            <a:endParaRPr lang="en-US" sz="1600" dirty="0">
              <a:sym typeface="Symbol" charset="2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ym typeface="Symbol" charset="2"/>
              </a:rPr>
              <a:t>During address translation, if valid–invalid bit in page table entry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sz="1600" dirty="0">
                <a:sym typeface="Symbol" charset="2"/>
              </a:rPr>
              <a:t>      is</a:t>
            </a:r>
            <a:r>
              <a:rPr lang="en-US" sz="1600" b="1" dirty="0">
                <a:solidFill>
                  <a:srgbClr val="FF0000"/>
                </a:solidFill>
                <a:sym typeface="Symbol" charset="2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sym typeface="Symbol" charset="2"/>
              </a:rPr>
              <a:t>i</a:t>
            </a:r>
            <a:r>
              <a:rPr lang="en-US" sz="1600" dirty="0">
                <a:sym typeface="Symbol" charset="2"/>
              </a:rPr>
              <a:t>  page fault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951163" y="2867025"/>
            <a:ext cx="1878012" cy="2667000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2901950" y="31511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2901950" y="34559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>
            <a:off x="2901950" y="37607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2901950" y="40655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Line 10"/>
          <p:cNvSpPr>
            <a:spLocks noChangeShapeType="1"/>
          </p:cNvSpPr>
          <p:nvPr/>
        </p:nvSpPr>
        <p:spPr bwMode="auto">
          <a:xfrm>
            <a:off x="2901950" y="43703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Line 11"/>
          <p:cNvSpPr>
            <a:spLocks noChangeShapeType="1"/>
          </p:cNvSpPr>
          <p:nvPr/>
        </p:nvSpPr>
        <p:spPr bwMode="auto">
          <a:xfrm>
            <a:off x="2901950" y="49276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3" name="Line 12"/>
          <p:cNvSpPr>
            <a:spLocks noChangeShapeType="1"/>
          </p:cNvSpPr>
          <p:nvPr/>
        </p:nvSpPr>
        <p:spPr bwMode="auto">
          <a:xfrm>
            <a:off x="2901950" y="520858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4" name="Line 13"/>
          <p:cNvSpPr>
            <a:spLocks noChangeShapeType="1"/>
          </p:cNvSpPr>
          <p:nvPr/>
        </p:nvSpPr>
        <p:spPr bwMode="auto">
          <a:xfrm>
            <a:off x="4349750" y="2541588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5" name="Text Box 14"/>
          <p:cNvSpPr txBox="1">
            <a:spLocks noChangeArrowheads="1"/>
          </p:cNvSpPr>
          <p:nvPr/>
        </p:nvSpPr>
        <p:spPr bwMode="auto">
          <a:xfrm>
            <a:off x="4427538" y="2817813"/>
            <a:ext cx="307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charset="0"/>
              </a:rPr>
              <a:t>v</a:t>
            </a:r>
          </a:p>
        </p:txBody>
      </p:sp>
      <p:sp>
        <p:nvSpPr>
          <p:cNvPr id="33806" name="Text Box 15"/>
          <p:cNvSpPr txBox="1">
            <a:spLocks noChangeArrowheads="1"/>
          </p:cNvSpPr>
          <p:nvPr/>
        </p:nvSpPr>
        <p:spPr bwMode="auto">
          <a:xfrm>
            <a:off x="4429125" y="3117850"/>
            <a:ext cx="307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charset="0"/>
              </a:rPr>
              <a:t>v</a:t>
            </a:r>
          </a:p>
        </p:txBody>
      </p:sp>
      <p:sp>
        <p:nvSpPr>
          <p:cNvPr id="33807" name="Text Box 16"/>
          <p:cNvSpPr txBox="1">
            <a:spLocks noChangeArrowheads="1"/>
          </p:cNvSpPr>
          <p:nvPr/>
        </p:nvSpPr>
        <p:spPr bwMode="auto">
          <a:xfrm>
            <a:off x="4427538" y="3417888"/>
            <a:ext cx="307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charset="0"/>
              </a:rPr>
              <a:t>v</a:t>
            </a:r>
          </a:p>
        </p:txBody>
      </p:sp>
      <p:sp>
        <p:nvSpPr>
          <p:cNvPr id="33808" name="Text Box 17"/>
          <p:cNvSpPr txBox="1">
            <a:spLocks noChangeArrowheads="1"/>
          </p:cNvSpPr>
          <p:nvPr/>
        </p:nvSpPr>
        <p:spPr bwMode="auto">
          <a:xfrm>
            <a:off x="4429125" y="3746500"/>
            <a:ext cx="307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charset="0"/>
              </a:rPr>
              <a:t>v</a:t>
            </a:r>
          </a:p>
        </p:txBody>
      </p:sp>
      <p:sp>
        <p:nvSpPr>
          <p:cNvPr id="33809" name="Text Box 18"/>
          <p:cNvSpPr txBox="1">
            <a:spLocks noChangeArrowheads="1"/>
          </p:cNvSpPr>
          <p:nvPr/>
        </p:nvSpPr>
        <p:spPr bwMode="auto">
          <a:xfrm>
            <a:off x="4457700" y="4065588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charset="0"/>
              </a:rPr>
              <a:t>i</a:t>
            </a:r>
          </a:p>
        </p:txBody>
      </p:sp>
      <p:sp>
        <p:nvSpPr>
          <p:cNvPr id="33810" name="Text Box 19"/>
          <p:cNvSpPr txBox="1">
            <a:spLocks noChangeArrowheads="1"/>
          </p:cNvSpPr>
          <p:nvPr/>
        </p:nvSpPr>
        <p:spPr bwMode="auto">
          <a:xfrm>
            <a:off x="4457700" y="4903788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charset="0"/>
              </a:rPr>
              <a:t>i</a:t>
            </a:r>
          </a:p>
        </p:txBody>
      </p:sp>
      <p:sp>
        <p:nvSpPr>
          <p:cNvPr id="33811" name="Text Box 20"/>
          <p:cNvSpPr txBox="1">
            <a:spLocks noChangeArrowheads="1"/>
          </p:cNvSpPr>
          <p:nvPr/>
        </p:nvSpPr>
        <p:spPr bwMode="auto">
          <a:xfrm>
            <a:off x="4457700" y="5208588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b="1">
                <a:solidFill>
                  <a:srgbClr val="FF0000"/>
                </a:solidFill>
                <a:latin typeface="Helvetica" charset="0"/>
              </a:rPr>
              <a:t>i</a:t>
            </a:r>
          </a:p>
        </p:txBody>
      </p:sp>
      <p:sp>
        <p:nvSpPr>
          <p:cNvPr id="33812" name="Text Box 21"/>
          <p:cNvSpPr txBox="1">
            <a:spLocks noChangeArrowheads="1"/>
          </p:cNvSpPr>
          <p:nvPr/>
        </p:nvSpPr>
        <p:spPr bwMode="auto">
          <a:xfrm>
            <a:off x="3403600" y="44465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….</a:t>
            </a:r>
          </a:p>
        </p:txBody>
      </p:sp>
      <p:sp>
        <p:nvSpPr>
          <p:cNvPr id="33813" name="Text Box 22"/>
          <p:cNvSpPr txBox="1">
            <a:spLocks noChangeArrowheads="1"/>
          </p:cNvSpPr>
          <p:nvPr/>
        </p:nvSpPr>
        <p:spPr bwMode="auto">
          <a:xfrm>
            <a:off x="3257550" y="2541588"/>
            <a:ext cx="842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Frame #</a:t>
            </a:r>
          </a:p>
        </p:txBody>
      </p:sp>
      <p:sp>
        <p:nvSpPr>
          <p:cNvPr id="33814" name="Text Box 23"/>
          <p:cNvSpPr txBox="1">
            <a:spLocks noChangeArrowheads="1"/>
          </p:cNvSpPr>
          <p:nvPr/>
        </p:nvSpPr>
        <p:spPr bwMode="auto">
          <a:xfrm>
            <a:off x="4373563" y="2541588"/>
            <a:ext cx="13477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valid-invalid bit</a:t>
            </a:r>
          </a:p>
        </p:txBody>
      </p:sp>
      <p:sp>
        <p:nvSpPr>
          <p:cNvPr id="33815" name="Text Box 24"/>
          <p:cNvSpPr txBox="1">
            <a:spLocks noChangeArrowheads="1"/>
          </p:cNvSpPr>
          <p:nvPr/>
        </p:nvSpPr>
        <p:spPr bwMode="auto">
          <a:xfrm>
            <a:off x="3452813" y="5513388"/>
            <a:ext cx="1011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400">
                <a:latin typeface="Helvetica" charset="0"/>
              </a:rPr>
              <a:t>page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3" y="0"/>
            <a:ext cx="8361362" cy="844550"/>
          </a:xfrm>
        </p:spPr>
        <p:txBody>
          <a:bodyPr/>
          <a:lstStyle/>
          <a:p>
            <a:pPr eaLnBrk="1" hangingPunct="1"/>
            <a:r>
              <a:rPr lang="en-US" sz="2400"/>
              <a:t>Page Table When Some Pages Are Not in Main Memory</a:t>
            </a:r>
          </a:p>
        </p:txBody>
      </p:sp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243013"/>
            <a:ext cx="474345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Page Fault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213" y="1349375"/>
            <a:ext cx="7218362" cy="42100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If there is a reference to a page, first reference to that page will trap to operating system: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>
                <a:solidFill>
                  <a:srgbClr val="3366FF"/>
                </a:solidFill>
                <a:sym typeface="Symbol" charset="2"/>
              </a:rPr>
              <a:t>              </a:t>
            </a:r>
            <a:r>
              <a:rPr lang="en-US" b="1">
                <a:solidFill>
                  <a:srgbClr val="3366FF"/>
                </a:solidFill>
                <a:sym typeface="Symbol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>
                <a:sym typeface="Symbol" charset="2"/>
              </a:rPr>
              <a:t>Operating system looks at another table to decide:</a:t>
            </a:r>
          </a:p>
          <a:p>
            <a:pPr marL="800100" lvl="1" indent="-342900">
              <a:lnSpc>
                <a:spcPct val="90000"/>
              </a:lnSpc>
            </a:pPr>
            <a:r>
              <a:rPr lang="en-US"/>
              <a:t>Invalid reference </a:t>
            </a:r>
            <a:r>
              <a:rPr lang="en-US">
                <a:sym typeface="Symbol" charset="2"/>
              </a:rPr>
              <a:t> abort</a:t>
            </a:r>
          </a:p>
          <a:p>
            <a:pPr marL="800100" lvl="1" indent="-342900">
              <a:lnSpc>
                <a:spcPct val="90000"/>
              </a:lnSpc>
            </a:pPr>
            <a:r>
              <a:rPr lang="en-US">
                <a:sym typeface="Symbol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>
                <a:sym typeface="Symbol" charset="2"/>
              </a:rPr>
              <a:t>Get empty frame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>
                <a:sym typeface="Symbol" charset="2"/>
              </a:rPr>
              <a:t>Swap page into frame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>
                <a:sym typeface="Symbol" charset="2"/>
              </a:rPr>
              <a:t>Reset tables</a:t>
            </a: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>
                <a:sym typeface="Symbol" charset="2"/>
              </a:rPr>
              <a:t>Set validation bit = </a:t>
            </a:r>
            <a:r>
              <a:rPr lang="en-US" b="1">
                <a:solidFill>
                  <a:srgbClr val="FF0000"/>
                </a:solidFill>
                <a:sym typeface="Symbol" charset="2"/>
              </a:rPr>
              <a:t>v</a:t>
            </a:r>
            <a:endParaRPr lang="en-US">
              <a:sym typeface="Symbol" charset="2"/>
            </a:endParaRPr>
          </a:p>
          <a:p>
            <a:pPr>
              <a:lnSpc>
                <a:spcPct val="90000"/>
              </a:lnSpc>
              <a:buFont typeface="Monotype Sorts" charset="2"/>
              <a:buAutoNum type="arabicPeriod"/>
            </a:pPr>
            <a:r>
              <a:rPr lang="en-US">
                <a:sym typeface="Symbol" charset="2"/>
              </a:rPr>
              <a:t>Restart the instruction that caused the page fault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Page Fault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213" y="1233488"/>
            <a:ext cx="77025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600">
                <a:sym typeface="Symbol" charset="2"/>
              </a:rPr>
              <a:t>Restart instruction</a:t>
            </a:r>
          </a:p>
          <a:p>
            <a:pPr lvl="1">
              <a:lnSpc>
                <a:spcPct val="90000"/>
              </a:lnSpc>
            </a:pPr>
            <a:r>
              <a:rPr lang="en-US" sz="1600">
                <a:sym typeface="Symbol" charset="2"/>
              </a:rPr>
              <a:t>block move</a:t>
            </a:r>
            <a:br>
              <a:rPr lang="en-US" sz="1600">
                <a:sym typeface="Symbol" charset="2"/>
              </a:rPr>
            </a:br>
            <a:br>
              <a:rPr lang="en-US" sz="1600">
                <a:sym typeface="Symbol" charset="2"/>
              </a:rPr>
            </a:br>
            <a:br>
              <a:rPr lang="en-US" sz="1600">
                <a:sym typeface="Symbol" charset="2"/>
              </a:rPr>
            </a:br>
            <a:br>
              <a:rPr lang="en-US" sz="1600">
                <a:sym typeface="Symbol" charset="2"/>
              </a:rPr>
            </a:br>
            <a:br>
              <a:rPr lang="en-US" sz="1600">
                <a:sym typeface="Symbol" charset="2"/>
              </a:rPr>
            </a:br>
            <a:endParaRPr lang="en-US" sz="1600">
              <a:sym typeface="Symbol" charset="2"/>
            </a:endParaRPr>
          </a:p>
          <a:p>
            <a:pPr lvl="1">
              <a:lnSpc>
                <a:spcPct val="90000"/>
              </a:lnSpc>
              <a:buFont typeface="Monotype Sorts" charset="2"/>
              <a:buNone/>
            </a:pPr>
            <a:endParaRPr lang="en-US" sz="1600">
              <a:sym typeface="Symbol" charset="2"/>
            </a:endParaRPr>
          </a:p>
          <a:p>
            <a:pPr lvl="1">
              <a:lnSpc>
                <a:spcPct val="90000"/>
              </a:lnSpc>
              <a:buFont typeface="Monotype Sorts" charset="2"/>
              <a:buNone/>
            </a:pPr>
            <a:endParaRPr lang="en-US" sz="1600">
              <a:sym typeface="Symbol" charset="2"/>
            </a:endParaRPr>
          </a:p>
          <a:p>
            <a:pPr lvl="1">
              <a:lnSpc>
                <a:spcPct val="90000"/>
              </a:lnSpc>
              <a:buFont typeface="Monotype Sorts" charset="2"/>
              <a:buNone/>
            </a:pPr>
            <a:endParaRPr lang="en-US" sz="1600">
              <a:sym typeface="Symbol" charset="2"/>
            </a:endParaRPr>
          </a:p>
          <a:p>
            <a:pPr lvl="1">
              <a:lnSpc>
                <a:spcPct val="90000"/>
              </a:lnSpc>
            </a:pPr>
            <a:r>
              <a:rPr lang="en-US" sz="1600">
                <a:sym typeface="Symbol" charset="2"/>
              </a:rPr>
              <a:t>auto increment/decrement location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3381375" y="2132013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3895725" y="2552700"/>
            <a:ext cx="914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2" name="Freeform 6"/>
          <p:cNvSpPr>
            <a:spLocks/>
          </p:cNvSpPr>
          <p:nvPr/>
        </p:nvSpPr>
        <p:spPr bwMode="auto">
          <a:xfrm>
            <a:off x="4289425" y="1965325"/>
            <a:ext cx="533400" cy="533400"/>
          </a:xfrm>
          <a:custGeom>
            <a:avLst/>
            <a:gdLst>
              <a:gd name="T0" fmla="*/ 336 w 344"/>
              <a:gd name="T1" fmla="*/ 376 h 376"/>
              <a:gd name="T2" fmla="*/ 288 w 344"/>
              <a:gd name="T3" fmla="*/ 40 h 376"/>
              <a:gd name="T4" fmla="*/ 0 w 344"/>
              <a:gd name="T5" fmla="*/ 136 h 376"/>
              <a:gd name="T6" fmla="*/ 0 60000 65536"/>
              <a:gd name="T7" fmla="*/ 0 60000 65536"/>
              <a:gd name="T8" fmla="*/ 0 60000 65536"/>
              <a:gd name="T9" fmla="*/ 0 w 344"/>
              <a:gd name="T10" fmla="*/ 0 h 376"/>
              <a:gd name="T11" fmla="*/ 344 w 344"/>
              <a:gd name="T12" fmla="*/ 376 h 3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376">
                <a:moveTo>
                  <a:pt x="336" y="376"/>
                </a:moveTo>
                <a:cubicBezTo>
                  <a:pt x="340" y="228"/>
                  <a:pt x="344" y="80"/>
                  <a:pt x="288" y="40"/>
                </a:cubicBezTo>
                <a:cubicBezTo>
                  <a:pt x="232" y="0"/>
                  <a:pt x="116" y="68"/>
                  <a:pt x="0" y="1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Steps in Handling a Page Fault</a:t>
            </a:r>
          </a:p>
        </p:txBody>
      </p:sp>
      <p:pic>
        <p:nvPicPr>
          <p:cNvPr id="4198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163" y="1303338"/>
            <a:ext cx="6156325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Performance of Demand Paging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2165350" algn="l"/>
                <a:tab pos="2857500" algn="l"/>
              </a:tabLst>
            </a:pPr>
            <a:r>
              <a:rPr lang="en-US"/>
              <a:t>Page Fault Rate 0 </a:t>
            </a:r>
            <a:r>
              <a:rPr lang="en-US">
                <a:sym typeface="Symbol" charset="2"/>
              </a:rPr>
              <a:t> </a:t>
            </a:r>
            <a:r>
              <a:rPr lang="en-US" i="1">
                <a:sym typeface="Symbol" charset="2"/>
              </a:rPr>
              <a:t>p</a:t>
            </a:r>
            <a:r>
              <a:rPr lang="en-US">
                <a:sym typeface="Symbol" charset="2"/>
              </a:rPr>
              <a:t>  1.0</a:t>
            </a:r>
          </a:p>
          <a:p>
            <a:pPr lvl="1">
              <a:tabLst>
                <a:tab pos="2165350" algn="l"/>
                <a:tab pos="2857500" algn="l"/>
              </a:tabLst>
            </a:pPr>
            <a:r>
              <a:rPr lang="en-US">
                <a:sym typeface="Symbol" charset="2"/>
              </a:rPr>
              <a:t>if </a:t>
            </a:r>
            <a:r>
              <a:rPr lang="en-US" i="1">
                <a:sym typeface="Symbol" charset="2"/>
              </a:rPr>
              <a:t>p</a:t>
            </a:r>
            <a:r>
              <a:rPr lang="en-US">
                <a:sym typeface="Symbol" charset="2"/>
              </a:rPr>
              <a:t> = 0 no page faults </a:t>
            </a:r>
          </a:p>
          <a:p>
            <a:pPr lvl="1">
              <a:tabLst>
                <a:tab pos="2165350" algn="l"/>
                <a:tab pos="2857500" algn="l"/>
              </a:tabLst>
            </a:pPr>
            <a:r>
              <a:rPr lang="en-US">
                <a:sym typeface="Symbol" charset="2"/>
              </a:rPr>
              <a:t>if </a:t>
            </a:r>
            <a:r>
              <a:rPr lang="en-US" i="1">
                <a:sym typeface="Symbol" charset="2"/>
              </a:rPr>
              <a:t>p</a:t>
            </a:r>
            <a:r>
              <a:rPr lang="en-US">
                <a:sym typeface="Symbol" charset="2"/>
              </a:rPr>
              <a:t> = 1, every reference is a fault</a:t>
            </a:r>
            <a:br>
              <a:rPr lang="en-US">
                <a:sym typeface="Symbol" charset="2"/>
              </a:rPr>
            </a:br>
            <a:endParaRPr lang="en-US">
              <a:sym typeface="Symbol" charset="2"/>
            </a:endParaRPr>
          </a:p>
          <a:p>
            <a:pPr>
              <a:tabLst>
                <a:tab pos="2165350" algn="l"/>
                <a:tab pos="2857500" algn="l"/>
              </a:tabLst>
            </a:pPr>
            <a:r>
              <a:rPr lang="en-US">
                <a:sym typeface="Symbol" charset="2"/>
              </a:rPr>
              <a:t>Effective Access Time (EAT)</a:t>
            </a:r>
          </a:p>
          <a:p>
            <a:pPr>
              <a:buFont typeface="Monotype Sorts" charset="2"/>
              <a:buNone/>
              <a:tabLst>
                <a:tab pos="2165350" algn="l"/>
                <a:tab pos="2857500" algn="l"/>
              </a:tabLst>
            </a:pPr>
            <a:r>
              <a:rPr lang="en-US">
                <a:sym typeface="Symbol" charset="2"/>
              </a:rPr>
              <a:t>		EAT = (1 – </a:t>
            </a:r>
            <a:r>
              <a:rPr lang="en-US" i="1">
                <a:sym typeface="Symbol" charset="2"/>
              </a:rPr>
              <a:t>p</a:t>
            </a:r>
            <a:r>
              <a:rPr lang="en-US">
                <a:sym typeface="Symbol" charset="2"/>
              </a:rPr>
              <a:t>) x memory access</a:t>
            </a:r>
          </a:p>
          <a:p>
            <a:pPr>
              <a:buFont typeface="Monotype Sorts" charset="2"/>
              <a:buNone/>
              <a:tabLst>
                <a:tab pos="2165350" algn="l"/>
                <a:tab pos="2857500" algn="l"/>
              </a:tabLst>
            </a:pPr>
            <a:r>
              <a:rPr lang="en-US">
                <a:sym typeface="Symbol" charset="2"/>
              </a:rPr>
              <a:t>			+ </a:t>
            </a:r>
            <a:r>
              <a:rPr lang="en-US" i="1">
                <a:sym typeface="Symbol" charset="2"/>
              </a:rPr>
              <a:t>p</a:t>
            </a:r>
            <a:r>
              <a:rPr lang="en-US">
                <a:sym typeface="Symbol" charset="2"/>
              </a:rPr>
              <a:t> (page fault overhead</a:t>
            </a:r>
          </a:p>
          <a:p>
            <a:pPr>
              <a:buFont typeface="Monotype Sorts" charset="2"/>
              <a:buNone/>
              <a:tabLst>
                <a:tab pos="2165350" algn="l"/>
                <a:tab pos="2857500" algn="l"/>
              </a:tabLst>
            </a:pPr>
            <a:r>
              <a:rPr lang="en-US">
                <a:sym typeface="Symbol" charset="2"/>
              </a:rPr>
              <a:t>			           + swap page out</a:t>
            </a:r>
          </a:p>
          <a:p>
            <a:pPr>
              <a:buFont typeface="Monotype Sorts" charset="2"/>
              <a:buNone/>
              <a:tabLst>
                <a:tab pos="2165350" algn="l"/>
                <a:tab pos="2857500" algn="l"/>
              </a:tabLst>
            </a:pPr>
            <a:r>
              <a:rPr lang="en-US">
                <a:sym typeface="Symbol" charset="2"/>
              </a:rPr>
              <a:t>			           + swap page in</a:t>
            </a:r>
          </a:p>
          <a:p>
            <a:pPr>
              <a:buFont typeface="Monotype Sorts" charset="2"/>
              <a:buNone/>
              <a:tabLst>
                <a:tab pos="2165350" algn="l"/>
                <a:tab pos="2857500" algn="l"/>
              </a:tabLst>
            </a:pPr>
            <a:r>
              <a:rPr lang="en-US">
                <a:sym typeface="Symbol" charset="2"/>
              </a:rPr>
              <a:t>			           + restart overhead</a:t>
            </a:r>
          </a:p>
          <a:p>
            <a:pPr>
              <a:buFont typeface="Monotype Sorts" charset="2"/>
              <a:buNone/>
              <a:tabLst>
                <a:tab pos="2165350" algn="l"/>
                <a:tab pos="2857500" algn="l"/>
              </a:tabLst>
            </a:pPr>
            <a:r>
              <a:rPr lang="en-US">
                <a:sym typeface="Symbol" charset="2"/>
              </a:rPr>
              <a:t>                                                     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Demand Paging Example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774825" algn="l"/>
                <a:tab pos="2279650" algn="l"/>
              </a:tabLst>
            </a:pPr>
            <a:r>
              <a:rPr lang="en-US" dirty="0"/>
              <a:t>Memory access time = 200 nanoseconds</a:t>
            </a:r>
          </a:p>
          <a:p>
            <a:pPr>
              <a:tabLst>
                <a:tab pos="1774825" algn="l"/>
                <a:tab pos="2279650" algn="l"/>
              </a:tabLst>
            </a:pPr>
            <a:r>
              <a:rPr lang="en-US" dirty="0"/>
              <a:t>Average page-fault service time = 8 milliseconds</a:t>
            </a:r>
          </a:p>
          <a:p>
            <a:pPr marL="457200" lvl="1" indent="0">
              <a:buNone/>
              <a:tabLst>
                <a:tab pos="1774825" algn="l"/>
                <a:tab pos="2279650" algn="l"/>
              </a:tabLst>
            </a:pPr>
            <a:r>
              <a:rPr lang="en-US" i="1" dirty="0">
                <a:solidFill>
                  <a:srgbClr val="0070C0"/>
                </a:solidFill>
              </a:rPr>
              <a:t>1 millisecond = 1,000 microseconds = 1,000,000 nanoseconds</a:t>
            </a:r>
            <a:br>
              <a:rPr lang="en-US" i="1" dirty="0"/>
            </a:br>
            <a:endParaRPr lang="en-US" i="1" dirty="0"/>
          </a:p>
          <a:p>
            <a:pPr>
              <a:tabLst>
                <a:tab pos="1774825" algn="l"/>
                <a:tab pos="2279650" algn="l"/>
              </a:tabLst>
            </a:pPr>
            <a:r>
              <a:rPr lang="en-US" dirty="0"/>
              <a:t>EAT = (1 – p) x 200 + p (8 milliseconds) </a:t>
            </a:r>
          </a:p>
          <a:p>
            <a:pPr>
              <a:buFont typeface="Monotype Sorts" charset="2"/>
              <a:buNone/>
              <a:tabLst>
                <a:tab pos="1774825" algn="l"/>
                <a:tab pos="2279650" algn="l"/>
              </a:tabLst>
            </a:pPr>
            <a:r>
              <a:rPr lang="en-US" dirty="0"/>
              <a:t>	        = (1 – p)  x 200 + p x 8,000,000 </a:t>
            </a:r>
          </a:p>
          <a:p>
            <a:pPr>
              <a:buFont typeface="Monotype Sorts" charset="2"/>
              <a:buNone/>
              <a:tabLst>
                <a:tab pos="1774825" algn="l"/>
                <a:tab pos="2279650" algn="l"/>
              </a:tabLst>
            </a:pPr>
            <a:r>
              <a:rPr lang="en-US" dirty="0"/>
              <a:t>              = 200 + p x 7,999,800</a:t>
            </a:r>
          </a:p>
          <a:p>
            <a:pPr>
              <a:buFont typeface="Monotype Sorts" charset="2"/>
              <a:buNone/>
              <a:tabLst>
                <a:tab pos="1774825" algn="l"/>
                <a:tab pos="2279650" algn="l"/>
              </a:tabLst>
            </a:pPr>
            <a:endParaRPr lang="en-US" dirty="0"/>
          </a:p>
          <a:p>
            <a:pPr>
              <a:tabLst>
                <a:tab pos="1774825" algn="l"/>
                <a:tab pos="2279650" algn="l"/>
              </a:tabLst>
            </a:pPr>
            <a:r>
              <a:rPr lang="en-US" dirty="0"/>
              <a:t>If one access out of 1,000 causes a page fault, then</a:t>
            </a:r>
          </a:p>
          <a:p>
            <a:pPr>
              <a:buFont typeface="Monotype Sorts" charset="2"/>
              <a:buNone/>
              <a:tabLst>
                <a:tab pos="1774825" algn="l"/>
                <a:tab pos="2279650" algn="l"/>
              </a:tabLst>
            </a:pPr>
            <a:r>
              <a:rPr lang="en-US" dirty="0"/>
              <a:t>         EAT = 8.2 microseconds. </a:t>
            </a:r>
          </a:p>
          <a:p>
            <a:pPr>
              <a:buFont typeface="Monotype Sorts" charset="2"/>
              <a:buNone/>
              <a:tabLst>
                <a:tab pos="1774825" algn="l"/>
                <a:tab pos="2279650" algn="l"/>
              </a:tabLst>
            </a:pPr>
            <a:r>
              <a:rPr lang="en-US" dirty="0"/>
              <a:t>      This is a slowdown by a factor of 40!!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Process Creation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81000" indent="-381000"/>
            <a:r>
              <a:rPr lang="en-US"/>
              <a:t>Virtual memory allows other benefits during process creation:</a:t>
            </a:r>
            <a:br>
              <a:rPr lang="en-US"/>
            </a:br>
            <a:endParaRPr lang="en-US"/>
          </a:p>
          <a:p>
            <a:pPr marL="381000" indent="-381000">
              <a:buFont typeface="Monotype Sorts" charset="2"/>
              <a:buNone/>
            </a:pPr>
            <a:r>
              <a:rPr lang="en-US"/>
              <a:t>	- Copy-on-Write</a:t>
            </a:r>
            <a:br>
              <a:rPr lang="en-US"/>
            </a:br>
            <a:endParaRPr lang="en-US"/>
          </a:p>
          <a:p>
            <a:pPr marL="381000" indent="-381000">
              <a:buFont typeface="Monotype Sorts" charset="2"/>
              <a:buNone/>
            </a:pPr>
            <a:r>
              <a:rPr lang="en-US"/>
              <a:t>	- Memory-Mapped Files (later)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Copy-on-Write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Copy-on-Write (COW) allows both parent and child processes to initially </a:t>
            </a:r>
            <a:r>
              <a:rPr lang="en-US" i="1"/>
              <a:t>share</a:t>
            </a:r>
            <a:r>
              <a:rPr lang="en-US"/>
              <a:t> the same pages in memory</a:t>
            </a:r>
            <a:br>
              <a:rPr lang="en-US"/>
            </a:br>
            <a:br>
              <a:rPr lang="en-US"/>
            </a:br>
            <a:r>
              <a:rPr lang="en-US"/>
              <a:t>If either process modifies a shared page, only then is the page copied</a:t>
            </a:r>
          </a:p>
          <a:p>
            <a:endParaRPr lang="en-US"/>
          </a:p>
          <a:p>
            <a:r>
              <a:rPr lang="en-US"/>
              <a:t>COW allows more efficient process creation as only modified pages are copied</a:t>
            </a:r>
          </a:p>
          <a:p>
            <a:endParaRPr lang="en-US"/>
          </a:p>
          <a:p>
            <a:r>
              <a:rPr lang="en-US"/>
              <a:t>Free pages are allocated from a </a:t>
            </a:r>
            <a:r>
              <a:rPr lang="en-US" b="1"/>
              <a:t>pool</a:t>
            </a:r>
            <a:r>
              <a:rPr lang="en-US"/>
              <a:t> of zeroed-out pages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Before Process 1 Modifies Page C</a:t>
            </a:r>
          </a:p>
        </p:txBody>
      </p:sp>
      <p:pic>
        <p:nvPicPr>
          <p:cNvPr id="5222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" y="1652588"/>
            <a:ext cx="748982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After Process 1 Modifies Page C</a:t>
            </a:r>
          </a:p>
        </p:txBody>
      </p:sp>
      <p:pic>
        <p:nvPicPr>
          <p:cNvPr id="54276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2044700"/>
            <a:ext cx="6731000" cy="310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/>
              <a:t>What happens if there is no free frame?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25575"/>
            <a:ext cx="6683375" cy="4511675"/>
          </a:xfrm>
        </p:spPr>
        <p:txBody>
          <a:bodyPr/>
          <a:lstStyle/>
          <a:p>
            <a:r>
              <a:rPr lang="en-US"/>
              <a:t>Page replacement – find some page in memory, but not really in use, swap it out</a:t>
            </a:r>
          </a:p>
          <a:p>
            <a:pPr lvl="1"/>
            <a:r>
              <a:rPr lang="en-US"/>
              <a:t>algorithm</a:t>
            </a:r>
          </a:p>
          <a:p>
            <a:pPr lvl="1"/>
            <a:r>
              <a:rPr lang="en-US"/>
              <a:t>performance – want an algorithm which will result in minimum number of page faults</a:t>
            </a:r>
          </a:p>
          <a:p>
            <a:r>
              <a:rPr lang="en-US"/>
              <a:t>Same page may be brought into memory several times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Page Replacement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Prevent over-allocation of memory by modifying page-fault service routine to include page replacement</a:t>
            </a:r>
            <a:br>
              <a:rPr lang="en-US"/>
            </a:br>
            <a:endParaRPr lang="en-US"/>
          </a:p>
          <a:p>
            <a:r>
              <a:rPr lang="en-US"/>
              <a:t>Use </a:t>
            </a:r>
            <a:r>
              <a:rPr lang="en-US" b="1">
                <a:solidFill>
                  <a:srgbClr val="3366FF"/>
                </a:solidFill>
              </a:rPr>
              <a:t>modify (dirty) bit </a:t>
            </a:r>
            <a:r>
              <a:rPr lang="en-US"/>
              <a:t>to reduce overhead of page transfers – only modified pages are written to disk</a:t>
            </a:r>
            <a:br>
              <a:rPr lang="en-US"/>
            </a:br>
            <a:endParaRPr lang="en-US"/>
          </a:p>
          <a:p>
            <a:r>
              <a:rPr lang="en-US"/>
              <a:t>Page replacement completes separation between logical memory and physical memory – large virtual memory can be provided on a smaller physical memory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Need For Page Replacement</a:t>
            </a:r>
          </a:p>
        </p:txBody>
      </p:sp>
      <p:pic>
        <p:nvPicPr>
          <p:cNvPr id="6041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938" y="1187450"/>
            <a:ext cx="6818312" cy="51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Basic Page Replacement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850" y="1439863"/>
            <a:ext cx="6329363" cy="4457700"/>
          </a:xfrm>
        </p:spPr>
        <p:txBody>
          <a:bodyPr/>
          <a:lstStyle/>
          <a:p>
            <a:pPr marL="381000" indent="-381000">
              <a:buFont typeface="Monotype Sorts" charset="2"/>
              <a:buAutoNum type="arabicPeriod"/>
            </a:pPr>
            <a:r>
              <a:rPr lang="en-US"/>
              <a:t>Find the location of the desired page on disk</a:t>
            </a:r>
            <a:br>
              <a:rPr lang="en-US"/>
            </a:br>
            <a:endParaRPr lang="en-US"/>
          </a:p>
          <a:p>
            <a:pPr marL="381000" indent="-381000">
              <a:buFont typeface="Monotype Sorts" charset="2"/>
              <a:buAutoNum type="arabicPeriod"/>
            </a:pPr>
            <a:r>
              <a:rPr lang="en-US"/>
              <a:t>Find a free frame:</a:t>
            </a:r>
            <a:br>
              <a:rPr lang="en-US"/>
            </a:br>
            <a:r>
              <a:rPr lang="en-US"/>
              <a:t>   -  If there is a free frame, use it</a:t>
            </a:r>
            <a:br>
              <a:rPr lang="en-US"/>
            </a:br>
            <a:r>
              <a:rPr lang="en-US"/>
              <a:t>   -  If there is no free frame, use a page replacement 	algorithm to select a </a:t>
            </a:r>
            <a:r>
              <a:rPr lang="en-US" b="1">
                <a:solidFill>
                  <a:srgbClr val="3366FF"/>
                </a:solidFill>
              </a:rPr>
              <a:t>victim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frame</a:t>
            </a:r>
            <a:br>
              <a:rPr lang="en-US"/>
            </a:br>
            <a:endParaRPr lang="en-US"/>
          </a:p>
          <a:p>
            <a:pPr marL="381000" indent="-381000">
              <a:buFont typeface="Monotype Sorts" charset="2"/>
              <a:buAutoNum type="arabicPeriod"/>
            </a:pPr>
            <a:r>
              <a:rPr lang="en-US"/>
              <a:t>Bring  the desired page into the (newly) free frame; update the page and frame tables</a:t>
            </a:r>
            <a:br>
              <a:rPr lang="en-US"/>
            </a:br>
            <a:endParaRPr lang="en-US"/>
          </a:p>
          <a:p>
            <a:pPr marL="381000" indent="-381000">
              <a:buFont typeface="Monotype Sorts" charset="2"/>
              <a:buAutoNum type="arabicPeriod"/>
            </a:pPr>
            <a:r>
              <a:rPr lang="en-US"/>
              <a:t>Restart the process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Page Replacement</a:t>
            </a:r>
          </a:p>
        </p:txBody>
      </p:sp>
      <p:pic>
        <p:nvPicPr>
          <p:cNvPr id="6451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1357313"/>
            <a:ext cx="6488113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Page Replacement Algorithms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349375"/>
            <a:ext cx="6457950" cy="4367213"/>
          </a:xfrm>
        </p:spPr>
        <p:txBody>
          <a:bodyPr/>
          <a:lstStyle/>
          <a:p>
            <a:pPr>
              <a:tabLst>
                <a:tab pos="3146425" algn="ctr"/>
              </a:tabLst>
            </a:pPr>
            <a:r>
              <a:rPr lang="en-US"/>
              <a:t>Want lowest page-fault rate</a:t>
            </a:r>
          </a:p>
          <a:p>
            <a:pPr>
              <a:buFont typeface="Monotype Sorts" charset="2"/>
              <a:buNone/>
              <a:tabLst>
                <a:tab pos="3146425" algn="ctr"/>
              </a:tabLst>
            </a:pPr>
            <a:endParaRPr lang="en-US"/>
          </a:p>
          <a:p>
            <a:pPr>
              <a:tabLst>
                <a:tab pos="3146425" algn="ctr"/>
              </a:tabLst>
            </a:pPr>
            <a:r>
              <a:rPr lang="en-US"/>
              <a:t>Evaluate algorithm by running it on a particular string of memory references (reference string) and computing the number of page faults on that string</a:t>
            </a:r>
          </a:p>
          <a:p>
            <a:pPr>
              <a:buFont typeface="Monotype Sorts" charset="2"/>
              <a:buNone/>
              <a:tabLst>
                <a:tab pos="3146425" algn="ctr"/>
              </a:tabLst>
            </a:pPr>
            <a:endParaRPr lang="en-US"/>
          </a:p>
          <a:p>
            <a:pPr>
              <a:tabLst>
                <a:tab pos="3146425" algn="ctr"/>
              </a:tabLst>
            </a:pPr>
            <a:r>
              <a:rPr lang="en-US"/>
              <a:t>In all our examples, the reference string is </a:t>
            </a:r>
          </a:p>
          <a:p>
            <a:pPr>
              <a:buFont typeface="Monotype Sorts" charset="2"/>
              <a:buNone/>
              <a:tabLst>
                <a:tab pos="3146425" algn="ctr"/>
              </a:tabLst>
            </a:pPr>
            <a:r>
              <a:rPr lang="en-US"/>
              <a:t>	   </a:t>
            </a:r>
          </a:p>
          <a:p>
            <a:pPr>
              <a:buFont typeface="Monotype Sorts" charset="2"/>
              <a:buNone/>
              <a:tabLst>
                <a:tab pos="3146425" algn="ctr"/>
              </a:tabLst>
            </a:pPr>
            <a:r>
              <a:rPr lang="en-US"/>
              <a:t>               </a:t>
            </a:r>
            <a:r>
              <a:rPr lang="en-US" b="1">
                <a:solidFill>
                  <a:srgbClr val="FF0000"/>
                </a:solidFill>
              </a:rPr>
              <a:t>1, 2, 3, 4, 1, 2, 5, 1, 2, 3, 4, 5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/>
              <a:t>Graph of Page Faults Versus The Number of Frames</a:t>
            </a:r>
          </a:p>
        </p:txBody>
      </p:sp>
      <p:pic>
        <p:nvPicPr>
          <p:cNvPr id="686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1709738"/>
            <a:ext cx="621506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First-In-First-Out (FIFO) Algorithm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850" y="1154113"/>
            <a:ext cx="7029450" cy="5762625"/>
          </a:xfrm>
        </p:spPr>
        <p:txBody>
          <a:bodyPr/>
          <a:lstStyle/>
          <a:p>
            <a:r>
              <a:rPr lang="en-US" sz="1600"/>
              <a:t>Reference string: 1, 2, 3, 4, 1, 2, 5, 1, 2, 3, 4, 5</a:t>
            </a:r>
          </a:p>
          <a:p>
            <a:r>
              <a:rPr lang="en-US" sz="1600"/>
              <a:t>3 frames (3 pages can be in memory at a time per process)</a:t>
            </a:r>
          </a:p>
          <a:p>
            <a:pPr>
              <a:buFont typeface="Monotype Sorts" charset="2"/>
              <a:buNone/>
            </a:pPr>
            <a:endParaRPr lang="en-US" sz="1600"/>
          </a:p>
          <a:p>
            <a:pPr>
              <a:buFont typeface="Monotype Sorts" charset="2"/>
              <a:buNone/>
            </a:pPr>
            <a:endParaRPr lang="en-US"/>
          </a:p>
          <a:p>
            <a:pPr>
              <a:buFont typeface="Monotype Sorts" charset="2"/>
              <a:buNone/>
            </a:pPr>
            <a:br>
              <a:rPr lang="en-US"/>
            </a:br>
            <a:endParaRPr lang="en-US"/>
          </a:p>
          <a:p>
            <a:pPr>
              <a:buFont typeface="Monotype Sorts" charset="2"/>
              <a:buNone/>
            </a:pPr>
            <a:endParaRPr lang="en-US"/>
          </a:p>
          <a:p>
            <a:r>
              <a:rPr lang="en-US" sz="1600"/>
              <a:t>4 frames</a:t>
            </a:r>
            <a:br>
              <a:rPr lang="en-US" sz="1600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>
              <a:buFont typeface="Monotype Sorts" charset="2"/>
              <a:buNone/>
            </a:pPr>
            <a:br>
              <a:rPr lang="en-US"/>
            </a:br>
            <a:endParaRPr lang="en-US"/>
          </a:p>
          <a:p>
            <a:r>
              <a:rPr lang="en-US" sz="1600"/>
              <a:t>Belady’s Anomaly: more frames </a:t>
            </a:r>
            <a:r>
              <a:rPr lang="en-US" sz="1600">
                <a:sym typeface="Symbol" charset="2"/>
              </a:rPr>
              <a:t> more page faults</a:t>
            </a:r>
            <a:endParaRPr lang="en-US" sz="1600"/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3441700" y="22256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1</a:t>
            </a:r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3441700" y="26828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2</a:t>
            </a:r>
          </a:p>
        </p:txBody>
      </p:sp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3441700" y="3140075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3</a:t>
            </a: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3054350" y="22590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1</a:t>
            </a: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3054350" y="27019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2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3054350" y="31781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3</a:t>
            </a:r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3898900" y="22971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4</a:t>
            </a:r>
          </a:p>
        </p:txBody>
      </p: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3898900" y="2740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1</a:t>
            </a:r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3898900" y="32162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2</a:t>
            </a: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4279900" y="22971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5</a:t>
            </a:r>
          </a:p>
        </p:txBody>
      </p:sp>
      <p:sp>
        <p:nvSpPr>
          <p:cNvPr id="70670" name="Text Box 14"/>
          <p:cNvSpPr txBox="1">
            <a:spLocks noChangeArrowheads="1"/>
          </p:cNvSpPr>
          <p:nvPr/>
        </p:nvSpPr>
        <p:spPr bwMode="auto">
          <a:xfrm>
            <a:off x="4279900" y="2740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3</a:t>
            </a:r>
          </a:p>
        </p:txBody>
      </p:sp>
      <p:sp>
        <p:nvSpPr>
          <p:cNvPr id="70671" name="Text Box 15"/>
          <p:cNvSpPr txBox="1">
            <a:spLocks noChangeArrowheads="1"/>
          </p:cNvSpPr>
          <p:nvPr/>
        </p:nvSpPr>
        <p:spPr bwMode="auto">
          <a:xfrm>
            <a:off x="4279900" y="32162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4</a:t>
            </a:r>
          </a:p>
        </p:txBody>
      </p:sp>
      <p:sp>
        <p:nvSpPr>
          <p:cNvPr id="70672" name="Text Box 16"/>
          <p:cNvSpPr txBox="1">
            <a:spLocks noChangeArrowheads="1"/>
          </p:cNvSpPr>
          <p:nvPr/>
        </p:nvSpPr>
        <p:spPr bwMode="auto">
          <a:xfrm>
            <a:off x="4737100" y="2740025"/>
            <a:ext cx="1492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9 page faults</a:t>
            </a:r>
          </a:p>
        </p:txBody>
      </p:sp>
      <p:sp>
        <p:nvSpPr>
          <p:cNvPr id="70673" name="Rectangle 17"/>
          <p:cNvSpPr>
            <a:spLocks noChangeArrowheads="1"/>
          </p:cNvSpPr>
          <p:nvPr/>
        </p:nvSpPr>
        <p:spPr bwMode="auto">
          <a:xfrm>
            <a:off x="3409950" y="39497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1</a:t>
            </a:r>
          </a:p>
        </p:txBody>
      </p:sp>
      <p:sp>
        <p:nvSpPr>
          <p:cNvPr id="70674" name="Rectangle 18"/>
          <p:cNvSpPr>
            <a:spLocks noChangeArrowheads="1"/>
          </p:cNvSpPr>
          <p:nvPr/>
        </p:nvSpPr>
        <p:spPr bwMode="auto">
          <a:xfrm>
            <a:off x="3409950" y="44069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2</a:t>
            </a:r>
          </a:p>
        </p:txBody>
      </p:sp>
      <p:sp>
        <p:nvSpPr>
          <p:cNvPr id="70675" name="Rectangle 19"/>
          <p:cNvSpPr>
            <a:spLocks noChangeArrowheads="1"/>
          </p:cNvSpPr>
          <p:nvPr/>
        </p:nvSpPr>
        <p:spPr bwMode="auto">
          <a:xfrm>
            <a:off x="3409950" y="48641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3</a:t>
            </a:r>
          </a:p>
        </p:txBody>
      </p:sp>
      <p:sp>
        <p:nvSpPr>
          <p:cNvPr id="70676" name="Text Box 20"/>
          <p:cNvSpPr txBox="1">
            <a:spLocks noChangeArrowheads="1"/>
          </p:cNvSpPr>
          <p:nvPr/>
        </p:nvSpPr>
        <p:spPr bwMode="auto">
          <a:xfrm>
            <a:off x="3022600" y="39830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1</a:t>
            </a:r>
          </a:p>
        </p:txBody>
      </p:sp>
      <p:sp>
        <p:nvSpPr>
          <p:cNvPr id="70677" name="Text Box 21"/>
          <p:cNvSpPr txBox="1">
            <a:spLocks noChangeArrowheads="1"/>
          </p:cNvSpPr>
          <p:nvPr/>
        </p:nvSpPr>
        <p:spPr bwMode="auto">
          <a:xfrm>
            <a:off x="3022600" y="44259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2</a:t>
            </a:r>
          </a:p>
        </p:txBody>
      </p:sp>
      <p:sp>
        <p:nvSpPr>
          <p:cNvPr id="70678" name="Text Box 22"/>
          <p:cNvSpPr txBox="1">
            <a:spLocks noChangeArrowheads="1"/>
          </p:cNvSpPr>
          <p:nvPr/>
        </p:nvSpPr>
        <p:spPr bwMode="auto">
          <a:xfrm>
            <a:off x="3022600" y="4902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3</a:t>
            </a:r>
          </a:p>
        </p:txBody>
      </p:sp>
      <p:sp>
        <p:nvSpPr>
          <p:cNvPr id="70679" name="Text Box 23"/>
          <p:cNvSpPr txBox="1">
            <a:spLocks noChangeArrowheads="1"/>
          </p:cNvSpPr>
          <p:nvPr/>
        </p:nvSpPr>
        <p:spPr bwMode="auto">
          <a:xfrm>
            <a:off x="3867150" y="40211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5</a:t>
            </a:r>
          </a:p>
        </p:txBody>
      </p:sp>
      <p:sp>
        <p:nvSpPr>
          <p:cNvPr id="70680" name="Text Box 24"/>
          <p:cNvSpPr txBox="1">
            <a:spLocks noChangeArrowheads="1"/>
          </p:cNvSpPr>
          <p:nvPr/>
        </p:nvSpPr>
        <p:spPr bwMode="auto">
          <a:xfrm>
            <a:off x="3867150" y="44640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1</a:t>
            </a:r>
          </a:p>
        </p:txBody>
      </p:sp>
      <p:sp>
        <p:nvSpPr>
          <p:cNvPr id="70681" name="Text Box 25"/>
          <p:cNvSpPr txBox="1">
            <a:spLocks noChangeArrowheads="1"/>
          </p:cNvSpPr>
          <p:nvPr/>
        </p:nvSpPr>
        <p:spPr bwMode="auto">
          <a:xfrm>
            <a:off x="3867150" y="49403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2</a:t>
            </a:r>
          </a:p>
        </p:txBody>
      </p:sp>
      <p:sp>
        <p:nvSpPr>
          <p:cNvPr id="70682" name="Text Box 26"/>
          <p:cNvSpPr txBox="1">
            <a:spLocks noChangeArrowheads="1"/>
          </p:cNvSpPr>
          <p:nvPr/>
        </p:nvSpPr>
        <p:spPr bwMode="auto">
          <a:xfrm>
            <a:off x="4248150" y="40211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4</a:t>
            </a:r>
          </a:p>
        </p:txBody>
      </p:sp>
      <p:sp>
        <p:nvSpPr>
          <p:cNvPr id="70683" name="Text Box 28"/>
          <p:cNvSpPr txBox="1">
            <a:spLocks noChangeArrowheads="1"/>
          </p:cNvSpPr>
          <p:nvPr/>
        </p:nvSpPr>
        <p:spPr bwMode="auto">
          <a:xfrm>
            <a:off x="4248150" y="44831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5</a:t>
            </a:r>
          </a:p>
        </p:txBody>
      </p:sp>
      <p:sp>
        <p:nvSpPr>
          <p:cNvPr id="70684" name="Text Box 29"/>
          <p:cNvSpPr txBox="1">
            <a:spLocks noChangeArrowheads="1"/>
          </p:cNvSpPr>
          <p:nvPr/>
        </p:nvSpPr>
        <p:spPr bwMode="auto">
          <a:xfrm>
            <a:off x="4641850" y="4464050"/>
            <a:ext cx="161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10 page faults</a:t>
            </a:r>
          </a:p>
        </p:txBody>
      </p:sp>
      <p:sp>
        <p:nvSpPr>
          <p:cNvPr id="70685" name="Rectangle 30"/>
          <p:cNvSpPr>
            <a:spLocks noChangeArrowheads="1"/>
          </p:cNvSpPr>
          <p:nvPr/>
        </p:nvSpPr>
        <p:spPr bwMode="auto">
          <a:xfrm>
            <a:off x="3409950" y="53213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4</a:t>
            </a:r>
          </a:p>
        </p:txBody>
      </p:sp>
      <p:sp>
        <p:nvSpPr>
          <p:cNvPr id="70686" name="Text Box 31"/>
          <p:cNvSpPr txBox="1">
            <a:spLocks noChangeArrowheads="1"/>
          </p:cNvSpPr>
          <p:nvPr/>
        </p:nvSpPr>
        <p:spPr bwMode="auto">
          <a:xfrm>
            <a:off x="3028950" y="53975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4</a:t>
            </a:r>
          </a:p>
        </p:txBody>
      </p:sp>
      <p:sp>
        <p:nvSpPr>
          <p:cNvPr id="70687" name="Text Box 32"/>
          <p:cNvSpPr txBox="1">
            <a:spLocks noChangeArrowheads="1"/>
          </p:cNvSpPr>
          <p:nvPr/>
        </p:nvSpPr>
        <p:spPr bwMode="auto">
          <a:xfrm>
            <a:off x="3867150" y="53975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>
                <a:latin typeface="Helvetica" charset="0"/>
              </a:rPr>
              <a:t>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FIFO Illustrating Belady’s Anomaly</a:t>
            </a:r>
          </a:p>
        </p:txBody>
      </p:sp>
      <p:pic>
        <p:nvPicPr>
          <p:cNvPr id="7475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393825"/>
            <a:ext cx="6810375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FIFO Page Replacement</a:t>
            </a:r>
          </a:p>
        </p:txBody>
      </p:sp>
      <p:pic>
        <p:nvPicPr>
          <p:cNvPr id="7270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488" y="2043113"/>
            <a:ext cx="6915150" cy="218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Optimal Algorithm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890713" algn="l"/>
              </a:tabLst>
            </a:pPr>
            <a:r>
              <a:rPr lang="en-US" dirty="0"/>
              <a:t>Replace page that </a:t>
            </a:r>
            <a:r>
              <a:rPr lang="en-US" u="sng" dirty="0"/>
              <a:t>will</a:t>
            </a:r>
            <a:r>
              <a:rPr lang="en-US" dirty="0"/>
              <a:t> not be used (in the future) for longest period of time</a:t>
            </a:r>
          </a:p>
          <a:p>
            <a:pPr>
              <a:tabLst>
                <a:tab pos="1890713" algn="l"/>
              </a:tabLst>
            </a:pPr>
            <a:r>
              <a:rPr lang="en-US" dirty="0"/>
              <a:t>4 frames example</a:t>
            </a:r>
          </a:p>
          <a:p>
            <a:pPr>
              <a:buFont typeface="Monotype Sorts" charset="2"/>
              <a:buNone/>
              <a:tabLst>
                <a:tab pos="1890713" algn="l"/>
              </a:tabLst>
            </a:pPr>
            <a:r>
              <a:rPr lang="en-US" dirty="0"/>
              <a:t>		 1, 2, 3, 4, 1, 2, 5, 1, 2, 3, 4, 5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tabLst>
                <a:tab pos="1890713" algn="l"/>
              </a:tabLst>
            </a:pPr>
            <a:r>
              <a:rPr lang="en-US" dirty="0"/>
              <a:t>How do you know this?</a:t>
            </a:r>
          </a:p>
          <a:p>
            <a:pPr>
              <a:tabLst>
                <a:tab pos="1890713" algn="l"/>
              </a:tabLst>
            </a:pPr>
            <a:r>
              <a:rPr lang="en-US" dirty="0"/>
              <a:t>Used for measuring how well your algorithm performs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3560763" y="26114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1</a:t>
            </a: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3560763" y="30686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2</a:t>
            </a:r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3560763" y="35258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3</a:t>
            </a:r>
          </a:p>
        </p:txBody>
      </p:sp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5425123" y="3125788"/>
            <a:ext cx="1492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Helvetica" charset="0"/>
              </a:rPr>
              <a:t>6 page faults</a:t>
            </a:r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3560763" y="39830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4</a:t>
            </a: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4017963" y="4050066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Helvetica" charset="0"/>
              </a:rPr>
              <a:t>5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4292819" y="357938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Helvetica" charset="0"/>
              </a:rPr>
              <a:t>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Optimal Page Replacement</a:t>
            </a:r>
          </a:p>
        </p:txBody>
      </p:sp>
      <p:pic>
        <p:nvPicPr>
          <p:cNvPr id="7885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619" y="1828799"/>
            <a:ext cx="7034212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Least Recently Used (LRU) Algorithm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96975"/>
            <a:ext cx="7351713" cy="4483100"/>
          </a:xfrm>
        </p:spPr>
        <p:txBody>
          <a:bodyPr/>
          <a:lstStyle/>
          <a:p>
            <a:r>
              <a:rPr lang="en-US"/>
              <a:t>Reference string:  1, 2, 3, 4, 1, 2, </a:t>
            </a:r>
            <a:r>
              <a:rPr lang="en-US" b="1">
                <a:solidFill>
                  <a:srgbClr val="FF0000"/>
                </a:solidFill>
              </a:rPr>
              <a:t>5</a:t>
            </a:r>
            <a:r>
              <a:rPr lang="en-US"/>
              <a:t>, 1, 2, </a:t>
            </a:r>
            <a:r>
              <a:rPr lang="en-US" b="1">
                <a:solidFill>
                  <a:srgbClr val="0000CC"/>
                </a:solidFill>
              </a:rPr>
              <a:t>3</a:t>
            </a:r>
            <a:r>
              <a:rPr lang="en-US"/>
              <a:t>, </a:t>
            </a:r>
            <a:r>
              <a:rPr lang="en-US" b="1">
                <a:solidFill>
                  <a:srgbClr val="663300"/>
                </a:solidFill>
              </a:rPr>
              <a:t>4</a:t>
            </a:r>
            <a:r>
              <a:rPr lang="en-US"/>
              <a:t>, </a:t>
            </a:r>
            <a:r>
              <a:rPr lang="en-US" b="1">
                <a:solidFill>
                  <a:srgbClr val="009900"/>
                </a:solidFill>
              </a:rPr>
              <a:t>5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>
              <a:buFont typeface="Monotype Sorts" charset="2"/>
              <a:buNone/>
            </a:pPr>
            <a:endParaRPr lang="en-US"/>
          </a:p>
          <a:p>
            <a:r>
              <a:rPr lang="en-US"/>
              <a:t>Counter implementation</a:t>
            </a:r>
          </a:p>
          <a:p>
            <a:pPr lvl="1"/>
            <a:r>
              <a:rPr lang="en-US"/>
              <a:t>Every page entry has a counter; every time page is referenced through this entry, copy the clock into the counter</a:t>
            </a:r>
          </a:p>
          <a:p>
            <a:pPr lvl="1"/>
            <a:r>
              <a:rPr lang="en-US"/>
              <a:t>When a page needs to be changed, look at the counters to determine which are to change</a:t>
            </a:r>
          </a:p>
          <a:p>
            <a:pPr>
              <a:buFont typeface="Monotype Sorts" charset="2"/>
              <a:buNone/>
            </a:pPr>
            <a:endParaRPr lang="en-US"/>
          </a:p>
        </p:txBody>
      </p:sp>
      <p:sp>
        <p:nvSpPr>
          <p:cNvPr id="80900" name="Rectangle 50"/>
          <p:cNvSpPr>
            <a:spLocks noChangeArrowheads="1"/>
          </p:cNvSpPr>
          <p:nvPr/>
        </p:nvSpPr>
        <p:spPr bwMode="auto">
          <a:xfrm>
            <a:off x="4638675" y="172878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9900"/>
                </a:solidFill>
                <a:latin typeface="Helvetica" charset="0"/>
              </a:rPr>
              <a:t>5</a:t>
            </a:r>
          </a:p>
        </p:txBody>
      </p:sp>
      <p:sp>
        <p:nvSpPr>
          <p:cNvPr id="80901" name="Rectangle 51"/>
          <p:cNvSpPr>
            <a:spLocks noChangeArrowheads="1"/>
          </p:cNvSpPr>
          <p:nvPr/>
        </p:nvSpPr>
        <p:spPr bwMode="auto">
          <a:xfrm>
            <a:off x="4638675" y="218598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2</a:t>
            </a:r>
          </a:p>
        </p:txBody>
      </p:sp>
      <p:sp>
        <p:nvSpPr>
          <p:cNvPr id="80902" name="Rectangle 52"/>
          <p:cNvSpPr>
            <a:spLocks noChangeArrowheads="1"/>
          </p:cNvSpPr>
          <p:nvPr/>
        </p:nvSpPr>
        <p:spPr bwMode="auto">
          <a:xfrm>
            <a:off x="4638675" y="264318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4</a:t>
            </a:r>
          </a:p>
        </p:txBody>
      </p:sp>
      <p:sp>
        <p:nvSpPr>
          <p:cNvPr id="80903" name="Rectangle 53"/>
          <p:cNvSpPr>
            <a:spLocks noChangeArrowheads="1"/>
          </p:cNvSpPr>
          <p:nvPr/>
        </p:nvSpPr>
        <p:spPr bwMode="auto">
          <a:xfrm>
            <a:off x="4638675" y="310038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3</a:t>
            </a:r>
          </a:p>
        </p:txBody>
      </p:sp>
      <p:sp>
        <p:nvSpPr>
          <p:cNvPr id="80904" name="Rectangle 54"/>
          <p:cNvSpPr>
            <a:spLocks noChangeArrowheads="1"/>
          </p:cNvSpPr>
          <p:nvPr/>
        </p:nvSpPr>
        <p:spPr bwMode="auto">
          <a:xfrm>
            <a:off x="2620963" y="17272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1</a:t>
            </a:r>
          </a:p>
        </p:txBody>
      </p:sp>
      <p:sp>
        <p:nvSpPr>
          <p:cNvPr id="80905" name="Rectangle 55"/>
          <p:cNvSpPr>
            <a:spLocks noChangeArrowheads="1"/>
          </p:cNvSpPr>
          <p:nvPr/>
        </p:nvSpPr>
        <p:spPr bwMode="auto">
          <a:xfrm>
            <a:off x="2620963" y="21844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2</a:t>
            </a:r>
          </a:p>
        </p:txBody>
      </p:sp>
      <p:sp>
        <p:nvSpPr>
          <p:cNvPr id="80906" name="Rectangle 56"/>
          <p:cNvSpPr>
            <a:spLocks noChangeArrowheads="1"/>
          </p:cNvSpPr>
          <p:nvPr/>
        </p:nvSpPr>
        <p:spPr bwMode="auto">
          <a:xfrm>
            <a:off x="2620963" y="26416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3</a:t>
            </a:r>
          </a:p>
        </p:txBody>
      </p:sp>
      <p:sp>
        <p:nvSpPr>
          <p:cNvPr id="80907" name="Rectangle 57"/>
          <p:cNvSpPr>
            <a:spLocks noChangeArrowheads="1"/>
          </p:cNvSpPr>
          <p:nvPr/>
        </p:nvSpPr>
        <p:spPr bwMode="auto">
          <a:xfrm>
            <a:off x="2620963" y="30988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4</a:t>
            </a:r>
          </a:p>
        </p:txBody>
      </p:sp>
      <p:sp>
        <p:nvSpPr>
          <p:cNvPr id="80908" name="Rectangle 58"/>
          <p:cNvSpPr>
            <a:spLocks noChangeArrowheads="1"/>
          </p:cNvSpPr>
          <p:nvPr/>
        </p:nvSpPr>
        <p:spPr bwMode="auto">
          <a:xfrm>
            <a:off x="3124200" y="17351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1</a:t>
            </a:r>
          </a:p>
        </p:txBody>
      </p:sp>
      <p:sp>
        <p:nvSpPr>
          <p:cNvPr id="80909" name="Rectangle 59"/>
          <p:cNvSpPr>
            <a:spLocks noChangeArrowheads="1"/>
          </p:cNvSpPr>
          <p:nvPr/>
        </p:nvSpPr>
        <p:spPr bwMode="auto">
          <a:xfrm>
            <a:off x="3124200" y="21923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2</a:t>
            </a:r>
          </a:p>
        </p:txBody>
      </p:sp>
      <p:sp>
        <p:nvSpPr>
          <p:cNvPr id="80910" name="Rectangle 60"/>
          <p:cNvSpPr>
            <a:spLocks noChangeArrowheads="1"/>
          </p:cNvSpPr>
          <p:nvPr/>
        </p:nvSpPr>
        <p:spPr bwMode="auto">
          <a:xfrm>
            <a:off x="3124200" y="26495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tx2"/>
                </a:solidFill>
                <a:latin typeface="Helvetica" charset="0"/>
              </a:rPr>
              <a:t>5</a:t>
            </a:r>
          </a:p>
        </p:txBody>
      </p:sp>
      <p:sp>
        <p:nvSpPr>
          <p:cNvPr id="80911" name="Rectangle 61"/>
          <p:cNvSpPr>
            <a:spLocks noChangeArrowheads="1"/>
          </p:cNvSpPr>
          <p:nvPr/>
        </p:nvSpPr>
        <p:spPr bwMode="auto">
          <a:xfrm>
            <a:off x="3124200" y="31067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4</a:t>
            </a:r>
          </a:p>
        </p:txBody>
      </p:sp>
      <p:sp>
        <p:nvSpPr>
          <p:cNvPr id="80912" name="Rectangle 62"/>
          <p:cNvSpPr>
            <a:spLocks noChangeArrowheads="1"/>
          </p:cNvSpPr>
          <p:nvPr/>
        </p:nvSpPr>
        <p:spPr bwMode="auto">
          <a:xfrm>
            <a:off x="3643313" y="17145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1</a:t>
            </a:r>
          </a:p>
        </p:txBody>
      </p:sp>
      <p:sp>
        <p:nvSpPr>
          <p:cNvPr id="80913" name="Rectangle 63"/>
          <p:cNvSpPr>
            <a:spLocks noChangeArrowheads="1"/>
          </p:cNvSpPr>
          <p:nvPr/>
        </p:nvSpPr>
        <p:spPr bwMode="auto">
          <a:xfrm>
            <a:off x="3643313" y="21717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2</a:t>
            </a:r>
          </a:p>
        </p:txBody>
      </p:sp>
      <p:sp>
        <p:nvSpPr>
          <p:cNvPr id="80914" name="Rectangle 64"/>
          <p:cNvSpPr>
            <a:spLocks noChangeArrowheads="1"/>
          </p:cNvSpPr>
          <p:nvPr/>
        </p:nvSpPr>
        <p:spPr bwMode="auto">
          <a:xfrm>
            <a:off x="3643313" y="26289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5</a:t>
            </a:r>
          </a:p>
        </p:txBody>
      </p:sp>
      <p:sp>
        <p:nvSpPr>
          <p:cNvPr id="80915" name="Rectangle 65"/>
          <p:cNvSpPr>
            <a:spLocks noChangeArrowheads="1"/>
          </p:cNvSpPr>
          <p:nvPr/>
        </p:nvSpPr>
        <p:spPr bwMode="auto">
          <a:xfrm>
            <a:off x="3643313" y="3086100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00CC"/>
                </a:solidFill>
                <a:latin typeface="Helvetica" charset="0"/>
              </a:rPr>
              <a:t>3</a:t>
            </a:r>
          </a:p>
        </p:txBody>
      </p:sp>
      <p:sp>
        <p:nvSpPr>
          <p:cNvPr id="80916" name="Rectangle 66"/>
          <p:cNvSpPr>
            <a:spLocks noChangeArrowheads="1"/>
          </p:cNvSpPr>
          <p:nvPr/>
        </p:nvSpPr>
        <p:spPr bwMode="auto">
          <a:xfrm>
            <a:off x="4146550" y="17224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1</a:t>
            </a:r>
          </a:p>
        </p:txBody>
      </p:sp>
      <p:sp>
        <p:nvSpPr>
          <p:cNvPr id="80917" name="Rectangle 67"/>
          <p:cNvSpPr>
            <a:spLocks noChangeArrowheads="1"/>
          </p:cNvSpPr>
          <p:nvPr/>
        </p:nvSpPr>
        <p:spPr bwMode="auto">
          <a:xfrm>
            <a:off x="4146550" y="21796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2</a:t>
            </a:r>
          </a:p>
        </p:txBody>
      </p:sp>
      <p:sp>
        <p:nvSpPr>
          <p:cNvPr id="80918" name="Rectangle 68"/>
          <p:cNvSpPr>
            <a:spLocks noChangeArrowheads="1"/>
          </p:cNvSpPr>
          <p:nvPr/>
        </p:nvSpPr>
        <p:spPr bwMode="auto">
          <a:xfrm>
            <a:off x="4146550" y="26368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Helvetica" charset="0"/>
              </a:rPr>
              <a:t>4</a:t>
            </a:r>
          </a:p>
        </p:txBody>
      </p:sp>
      <p:sp>
        <p:nvSpPr>
          <p:cNvPr id="80919" name="Rectangle 69"/>
          <p:cNvSpPr>
            <a:spLocks noChangeArrowheads="1"/>
          </p:cNvSpPr>
          <p:nvPr/>
        </p:nvSpPr>
        <p:spPr bwMode="auto">
          <a:xfrm>
            <a:off x="4146550" y="3094038"/>
            <a:ext cx="381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LRU Page Replacement</a:t>
            </a:r>
          </a:p>
        </p:txBody>
      </p:sp>
      <p:pic>
        <p:nvPicPr>
          <p:cNvPr id="8294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" t="32875" r="789" b="32362"/>
          <a:stretch>
            <a:fillRect/>
          </a:stretch>
        </p:blipFill>
        <p:spPr bwMode="auto">
          <a:xfrm>
            <a:off x="911225" y="1755775"/>
            <a:ext cx="728662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LRU Algorithm (Cont.)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implementation</a:t>
            </a:r>
          </a:p>
          <a:p>
            <a:pPr lvl="1"/>
            <a:r>
              <a:rPr lang="en-US" dirty="0"/>
              <a:t>Page referenced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move it to the top</a:t>
            </a:r>
          </a:p>
          <a:p>
            <a:pPr lvl="1"/>
            <a:r>
              <a:rPr lang="en-US" dirty="0"/>
              <a:t>No search for replacement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" t="4620" r="830" b="4620"/>
          <a:stretch>
            <a:fillRect/>
          </a:stretch>
        </p:blipFill>
        <p:spPr bwMode="auto">
          <a:xfrm>
            <a:off x="1844690" y="2813050"/>
            <a:ext cx="4654535" cy="32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LRU Approximation Algorithms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3150" y="1233488"/>
            <a:ext cx="7370763" cy="3883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Reference bit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With each page associate a bit, initially = 0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When page is referenced bit set to 1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Replace the one which is 0 (if one exists)</a:t>
            </a:r>
          </a:p>
          <a:p>
            <a:pPr lvl="2">
              <a:lnSpc>
                <a:spcPct val="90000"/>
              </a:lnSpc>
            </a:pPr>
            <a:r>
              <a:rPr lang="en-US" sz="1600"/>
              <a:t>We do not know the order, however</a:t>
            </a:r>
          </a:p>
          <a:p>
            <a:pPr>
              <a:lnSpc>
                <a:spcPct val="90000"/>
              </a:lnSpc>
            </a:pPr>
            <a:r>
              <a:rPr lang="en-US"/>
              <a:t>Second chance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Need reference bit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Clock replacement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If page to be replaced (in clock order) has reference bit = 1 then:</a:t>
            </a:r>
          </a:p>
          <a:p>
            <a:pPr lvl="2">
              <a:lnSpc>
                <a:spcPct val="90000"/>
              </a:lnSpc>
            </a:pPr>
            <a:r>
              <a:rPr lang="en-US" sz="1600"/>
              <a:t>set reference bit 0</a:t>
            </a:r>
          </a:p>
          <a:p>
            <a:pPr lvl="2">
              <a:lnSpc>
                <a:spcPct val="90000"/>
              </a:lnSpc>
            </a:pPr>
            <a:r>
              <a:rPr lang="en-US" sz="1600"/>
              <a:t>leave page in memory</a:t>
            </a:r>
          </a:p>
          <a:p>
            <a:pPr lvl="2">
              <a:lnSpc>
                <a:spcPct val="90000"/>
              </a:lnSpc>
            </a:pPr>
            <a:r>
              <a:rPr lang="en-US" sz="1600"/>
              <a:t>replace next page (in clock order), subject to same rules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28675" y="0"/>
            <a:ext cx="8267700" cy="844550"/>
          </a:xfrm>
        </p:spPr>
        <p:txBody>
          <a:bodyPr/>
          <a:lstStyle/>
          <a:p>
            <a:pPr eaLnBrk="1" hangingPunct="1"/>
            <a:r>
              <a:rPr lang="en-US" sz="2400"/>
              <a:t>Second-Chance (clock) Page-Replacement Algorithm</a:t>
            </a:r>
          </a:p>
        </p:txBody>
      </p:sp>
      <p:pic>
        <p:nvPicPr>
          <p:cNvPr id="9113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8" y="1285875"/>
            <a:ext cx="5897562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Second-Chance Page Replacement Algorithm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357635"/>
            <a:ext cx="2064114" cy="24068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767" y="2546315"/>
            <a:ext cx="1197083" cy="3842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62" y="3140079"/>
            <a:ext cx="1704975" cy="1047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2" y="1245492"/>
            <a:ext cx="75342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78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Counting Algorithms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282700"/>
            <a:ext cx="6765925" cy="4551363"/>
          </a:xfrm>
        </p:spPr>
        <p:txBody>
          <a:bodyPr/>
          <a:lstStyle/>
          <a:p>
            <a:r>
              <a:rPr lang="en-US"/>
              <a:t>Keep a counter of the number of references that have been made to each page</a:t>
            </a:r>
            <a:br>
              <a:rPr lang="en-US"/>
            </a:br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LFU Algorithm</a:t>
            </a:r>
            <a:r>
              <a:rPr lang="en-US"/>
              <a:t>:  replaces page with smallest count</a:t>
            </a:r>
            <a:br>
              <a:rPr lang="en-US"/>
            </a:br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MFU Algorithm</a:t>
            </a:r>
            <a:r>
              <a:rPr lang="en-US"/>
              <a:t>: based on the argument that the page with the smallest count was probably just brought in and has yet to be used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Allocation of Frames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25575"/>
            <a:ext cx="7351712" cy="4483100"/>
          </a:xfrm>
        </p:spPr>
        <p:txBody>
          <a:bodyPr/>
          <a:lstStyle/>
          <a:p>
            <a:r>
              <a:rPr lang="en-US"/>
              <a:t>Each process needs </a:t>
            </a:r>
            <a:r>
              <a:rPr lang="en-US" i="1"/>
              <a:t>minimum</a:t>
            </a:r>
            <a:r>
              <a:rPr lang="en-US"/>
              <a:t> number of pages</a:t>
            </a:r>
          </a:p>
          <a:p>
            <a:r>
              <a:rPr lang="en-US"/>
              <a:t>Example:  IBM 370 – 6 pages to handle SS MOVE instruction:</a:t>
            </a:r>
          </a:p>
          <a:p>
            <a:pPr lvl="1"/>
            <a:r>
              <a:rPr lang="en-US"/>
              <a:t>instruction is 6 bytes, might span 2 pages</a:t>
            </a:r>
          </a:p>
          <a:p>
            <a:pPr lvl="1"/>
            <a:r>
              <a:rPr lang="en-US"/>
              <a:t>2 pages to handle </a:t>
            </a:r>
            <a:r>
              <a:rPr lang="en-US" i="1"/>
              <a:t>from</a:t>
            </a:r>
          </a:p>
          <a:p>
            <a:pPr lvl="1"/>
            <a:r>
              <a:rPr lang="en-US"/>
              <a:t>2 pages to handle </a:t>
            </a:r>
            <a:r>
              <a:rPr lang="en-US" i="1"/>
              <a:t>to</a:t>
            </a:r>
          </a:p>
          <a:p>
            <a:r>
              <a:rPr lang="en-US"/>
              <a:t>Two major allocation schemes</a:t>
            </a:r>
          </a:p>
          <a:p>
            <a:pPr lvl="1"/>
            <a:r>
              <a:rPr lang="en-US"/>
              <a:t>fixed allocation</a:t>
            </a:r>
          </a:p>
          <a:p>
            <a:pPr lvl="1"/>
            <a:r>
              <a:rPr lang="en-US"/>
              <a:t>priority allocation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Allocation</a:t>
            </a:r>
          </a:p>
        </p:txBody>
      </p:sp>
      <p:sp>
        <p:nvSpPr>
          <p:cNvPr id="972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298575"/>
            <a:ext cx="7551738" cy="3841750"/>
          </a:xfrm>
        </p:spPr>
        <p:txBody>
          <a:bodyPr/>
          <a:lstStyle/>
          <a:p>
            <a:r>
              <a:rPr lang="en-US"/>
              <a:t>Equal allocation – For example, if there are 100 frames and 5 processes, give each process 20 frames.</a:t>
            </a:r>
          </a:p>
          <a:p>
            <a:r>
              <a:rPr lang="en-US"/>
              <a:t>Proportional allocation – Allocate according to the size of process</a:t>
            </a:r>
          </a:p>
        </p:txBody>
      </p:sp>
      <p:graphicFrame>
        <p:nvGraphicFramePr>
          <p:cNvPr id="97282" name="Object 2"/>
          <p:cNvGraphicFramePr>
            <a:graphicFrameLocks noChangeAspect="1"/>
          </p:cNvGraphicFramePr>
          <p:nvPr/>
        </p:nvGraphicFramePr>
        <p:xfrm>
          <a:off x="1625600" y="2312988"/>
          <a:ext cx="28575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2857320" imgH="1612800" progId="Equation.3">
                  <p:embed/>
                </p:oleObj>
              </mc:Choice>
              <mc:Fallback>
                <p:oleObj name="Equation" r:id="rId4" imgW="2857320" imgH="1612800" progId="Equation.3">
                  <p:embed/>
                  <p:pic>
                    <p:nvPicPr>
                      <p:cNvPr id="972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2312988"/>
                        <a:ext cx="28575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6" name="Line 5"/>
          <p:cNvSpPr>
            <a:spLocks noChangeShapeType="1"/>
          </p:cNvSpPr>
          <p:nvPr/>
        </p:nvSpPr>
        <p:spPr bwMode="auto">
          <a:xfrm>
            <a:off x="1447800" y="24812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7" name="Line 6"/>
          <p:cNvSpPr>
            <a:spLocks noChangeShapeType="1"/>
          </p:cNvSpPr>
          <p:nvPr/>
        </p:nvSpPr>
        <p:spPr bwMode="auto">
          <a:xfrm>
            <a:off x="1447800" y="27908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8" name="Line 7"/>
          <p:cNvSpPr>
            <a:spLocks noChangeShapeType="1"/>
          </p:cNvSpPr>
          <p:nvPr/>
        </p:nvSpPr>
        <p:spPr bwMode="auto">
          <a:xfrm>
            <a:off x="1447800" y="3157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9" name="Line 8"/>
          <p:cNvSpPr>
            <a:spLocks noChangeShapeType="1"/>
          </p:cNvSpPr>
          <p:nvPr/>
        </p:nvSpPr>
        <p:spPr bwMode="auto">
          <a:xfrm>
            <a:off x="1447800" y="3657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2324100" y="4000500"/>
          <a:ext cx="18415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1841400" imgH="2209680" progId="Equation.3">
                  <p:embed/>
                </p:oleObj>
              </mc:Choice>
              <mc:Fallback>
                <p:oleObj name="Equation" r:id="rId6" imgW="1841400" imgH="2209680" progId="Equation.3">
                  <p:embed/>
                  <p:pic>
                    <p:nvPicPr>
                      <p:cNvPr id="972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000500"/>
                        <a:ext cx="18415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Priority Allocation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304925"/>
            <a:ext cx="7312025" cy="4394200"/>
          </a:xfrm>
        </p:spPr>
        <p:txBody>
          <a:bodyPr/>
          <a:lstStyle/>
          <a:p>
            <a:r>
              <a:rPr lang="en-US"/>
              <a:t>Use a proportional allocation scheme using priorities rather than size</a:t>
            </a:r>
            <a:br>
              <a:rPr lang="en-US"/>
            </a:br>
            <a:endParaRPr lang="en-US"/>
          </a:p>
          <a:p>
            <a:r>
              <a:rPr lang="en-US"/>
              <a:t>If process </a:t>
            </a:r>
            <a:r>
              <a:rPr lang="en-US" i="1"/>
              <a:t>P</a:t>
            </a:r>
            <a:r>
              <a:rPr lang="en-US" i="1" baseline="-25000"/>
              <a:t>i</a:t>
            </a:r>
            <a:r>
              <a:rPr lang="en-US"/>
              <a:t> generates a page fault,</a:t>
            </a:r>
          </a:p>
          <a:p>
            <a:pPr lvl="1"/>
            <a:r>
              <a:rPr lang="en-US"/>
              <a:t>select for replacement one of its frames</a:t>
            </a:r>
          </a:p>
          <a:p>
            <a:pPr lvl="1"/>
            <a:r>
              <a:rPr lang="en-US"/>
              <a:t>select for replacement a frame from a process with lower priority number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Global vs. Local Allocation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382713"/>
            <a:ext cx="6546850" cy="4470400"/>
          </a:xfrm>
        </p:spPr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Global replacement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process selects a replacement frame from the set of all frames; one process can take a frame from another</a:t>
            </a:r>
          </a:p>
          <a:p>
            <a:r>
              <a:rPr lang="en-US" b="1">
                <a:solidFill>
                  <a:srgbClr val="3366FF"/>
                </a:solidFill>
              </a:rPr>
              <a:t>Local replacement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each process selects from only its own set of allocated frames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Thrashing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411288"/>
            <a:ext cx="7351713" cy="4483100"/>
          </a:xfrm>
        </p:spPr>
        <p:txBody>
          <a:bodyPr/>
          <a:lstStyle/>
          <a:p>
            <a:r>
              <a:rPr lang="en-US"/>
              <a:t>If a process does not have “enough” pages, the page-fault rate is very high.  This leads to:</a:t>
            </a:r>
          </a:p>
          <a:p>
            <a:pPr lvl="1"/>
            <a:r>
              <a:rPr lang="en-US"/>
              <a:t>low CPU utilization</a:t>
            </a:r>
          </a:p>
          <a:p>
            <a:pPr lvl="1"/>
            <a:r>
              <a:rPr lang="en-US"/>
              <a:t>operating system thinks that it needs to increase the degree of multiprogramming</a:t>
            </a:r>
          </a:p>
          <a:p>
            <a:pPr lvl="1"/>
            <a:r>
              <a:rPr lang="en-US"/>
              <a:t>another process added to the system</a:t>
            </a:r>
            <a:br>
              <a:rPr lang="en-US"/>
            </a:br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Thrashing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>
                <a:sym typeface="Symbol" charset="2"/>
              </a:rPr>
              <a:t> a process is busy swapping pages in and out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410450" cy="576262"/>
          </a:xfrm>
        </p:spPr>
        <p:txBody>
          <a:bodyPr/>
          <a:lstStyle/>
          <a:p>
            <a:pPr eaLnBrk="1" hangingPunct="1"/>
            <a:r>
              <a:rPr lang="en-US"/>
              <a:t>Thrashing (Cont.)</a:t>
            </a:r>
            <a:endParaRPr lang="en-US" sz="2400"/>
          </a:p>
        </p:txBody>
      </p:sp>
      <p:pic>
        <p:nvPicPr>
          <p:cNvPr id="10547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535113"/>
            <a:ext cx="6753225" cy="389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9650" y="277813"/>
            <a:ext cx="7412038" cy="576262"/>
          </a:xfrm>
        </p:spPr>
        <p:txBody>
          <a:bodyPr/>
          <a:lstStyle/>
          <a:p>
            <a:pPr eaLnBrk="1" hangingPunct="1"/>
            <a:r>
              <a:rPr lang="en-US"/>
              <a:t>Demand Paging and Thrashing </a:t>
            </a:r>
            <a:endParaRPr lang="en-US" sz="240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9013" y="1477963"/>
            <a:ext cx="7869237" cy="2203450"/>
          </a:xfrm>
        </p:spPr>
        <p:txBody>
          <a:bodyPr/>
          <a:lstStyle/>
          <a:p>
            <a:r>
              <a:rPr lang="en-US" sz="1600"/>
              <a:t>Why does demand paging work?</a:t>
            </a:r>
            <a:br>
              <a:rPr lang="en-US" sz="1600"/>
            </a:br>
            <a:r>
              <a:rPr lang="en-US" sz="1600"/>
              <a:t>Locality model</a:t>
            </a:r>
          </a:p>
          <a:p>
            <a:pPr lvl="1"/>
            <a:r>
              <a:rPr lang="en-US" sz="1600"/>
              <a:t>Process migrates from one locality to another</a:t>
            </a:r>
          </a:p>
          <a:p>
            <a:pPr lvl="1"/>
            <a:r>
              <a:rPr lang="en-US" sz="1600"/>
              <a:t>Localities may overlap</a:t>
            </a:r>
          </a:p>
          <a:p>
            <a:pPr lvl="1">
              <a:buFont typeface="Monotype Sorts" charset="2"/>
              <a:buNone/>
            </a:pPr>
            <a:endParaRPr lang="en-US" sz="1600"/>
          </a:p>
          <a:p>
            <a:r>
              <a:rPr lang="en-US" sz="1600"/>
              <a:t>Why does thrashing occur?</a:t>
            </a:r>
            <a:br>
              <a:rPr lang="en-US" sz="1600"/>
            </a:br>
            <a:r>
              <a:rPr lang="en-US" sz="1600">
                <a:sym typeface="Symbol" charset="2"/>
              </a:rPr>
              <a:t> size of locality &gt; total memory size</a:t>
            </a:r>
            <a:endParaRPr lang="en-US" sz="1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/>
              <a:t>Locality In A Memory-Reference Pattern</a:t>
            </a:r>
          </a:p>
        </p:txBody>
      </p:sp>
      <p:pic>
        <p:nvPicPr>
          <p:cNvPr id="10957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1182688"/>
            <a:ext cx="4179888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Working-Set Model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573963" cy="4502150"/>
          </a:xfrm>
        </p:spPr>
        <p:txBody>
          <a:bodyPr/>
          <a:lstStyle/>
          <a:p>
            <a:r>
              <a:rPr lang="en-US" dirty="0">
                <a:sym typeface="Symbol" charset="2"/>
              </a:rPr>
              <a:t>  working-set window  </a:t>
            </a:r>
            <a:r>
              <a:rPr lang="en-US" dirty="0">
                <a:solidFill>
                  <a:srgbClr val="0070C0"/>
                </a:solidFill>
                <a:sym typeface="Symbol" charset="2"/>
              </a:rPr>
              <a:t>a fixed number of page </a:t>
            </a:r>
            <a:r>
              <a:rPr lang="en-US" dirty="0">
                <a:sym typeface="Symbol" charset="2"/>
              </a:rPr>
              <a:t>references </a:t>
            </a:r>
            <a:br>
              <a:rPr lang="en-US" dirty="0">
                <a:sym typeface="Symbol" charset="2"/>
              </a:rPr>
            </a:br>
            <a:r>
              <a:rPr lang="en-US" dirty="0">
                <a:sym typeface="Symbol" charset="2"/>
              </a:rPr>
              <a:t>Example:  10,000 instruction</a:t>
            </a:r>
          </a:p>
          <a:p>
            <a:r>
              <a:rPr lang="en-US" i="1" dirty="0" err="1">
                <a:sym typeface="Symbol" charset="2"/>
              </a:rPr>
              <a:t>WSS</a:t>
            </a:r>
            <a:r>
              <a:rPr lang="en-US" i="1" baseline="-25000" dirty="0" err="1">
                <a:sym typeface="Symbol" charset="2"/>
              </a:rPr>
              <a:t>i</a:t>
            </a:r>
            <a:r>
              <a:rPr lang="en-US" dirty="0">
                <a:sym typeface="Symbol" charset="2"/>
              </a:rPr>
              <a:t> (working set of Process </a:t>
            </a:r>
            <a:r>
              <a:rPr lang="en-US" i="1" dirty="0">
                <a:sym typeface="Symbol" charset="2"/>
              </a:rPr>
              <a:t>P</a:t>
            </a:r>
            <a:r>
              <a:rPr lang="en-US" i="1" baseline="-25000" dirty="0">
                <a:sym typeface="Symbol" charset="2"/>
              </a:rPr>
              <a:t>i</a:t>
            </a:r>
            <a:r>
              <a:rPr lang="en-US" dirty="0">
                <a:sym typeface="Symbol" charset="2"/>
              </a:rPr>
              <a:t>) =</a:t>
            </a:r>
            <a:br>
              <a:rPr lang="en-US" dirty="0">
                <a:sym typeface="Symbol" charset="2"/>
              </a:rPr>
            </a:br>
            <a:r>
              <a:rPr lang="en-US" dirty="0">
                <a:solidFill>
                  <a:srgbClr val="0070C0"/>
                </a:solidFill>
                <a:sym typeface="Symbol" charset="2"/>
              </a:rPr>
              <a:t>total number of pages </a:t>
            </a:r>
            <a:r>
              <a:rPr lang="en-US" dirty="0">
                <a:sym typeface="Symbol" charset="2"/>
              </a:rPr>
              <a:t>referenced in the most recent  (varies in time)</a:t>
            </a:r>
          </a:p>
          <a:p>
            <a:pPr lvl="1"/>
            <a:r>
              <a:rPr lang="en-US" dirty="0">
                <a:sym typeface="Symbol" charset="2"/>
              </a:rPr>
              <a:t>if  too small will not encompass entire locality</a:t>
            </a:r>
          </a:p>
          <a:p>
            <a:pPr lvl="1"/>
            <a:r>
              <a:rPr lang="en-US" dirty="0">
                <a:sym typeface="Symbol" charset="2"/>
              </a:rPr>
              <a:t>if  too large will encompass several localities</a:t>
            </a:r>
          </a:p>
          <a:p>
            <a:pPr lvl="1"/>
            <a:r>
              <a:rPr lang="en-US" dirty="0">
                <a:sym typeface="Symbol" charset="2"/>
              </a:rPr>
              <a:t>if  =   will encompass entire program</a:t>
            </a:r>
          </a:p>
          <a:p>
            <a:r>
              <a:rPr lang="en-US" i="1" dirty="0">
                <a:sym typeface="Symbol" charset="2"/>
              </a:rPr>
              <a:t>D</a:t>
            </a:r>
            <a:r>
              <a:rPr lang="en-US" dirty="0">
                <a:sym typeface="Symbol" charset="2"/>
              </a:rPr>
              <a:t> =  </a:t>
            </a:r>
            <a:r>
              <a:rPr lang="en-US" i="1" dirty="0" err="1">
                <a:sym typeface="Symbol" charset="2"/>
              </a:rPr>
              <a:t>WSS</a:t>
            </a:r>
            <a:r>
              <a:rPr lang="en-US" i="1" baseline="-25000" dirty="0" err="1">
                <a:sym typeface="Symbol" charset="2"/>
              </a:rPr>
              <a:t>i</a:t>
            </a:r>
            <a:r>
              <a:rPr lang="en-US" dirty="0">
                <a:sym typeface="Symbol" charset="2"/>
              </a:rPr>
              <a:t>  total demand frames </a:t>
            </a:r>
          </a:p>
          <a:p>
            <a:r>
              <a:rPr lang="en-US" dirty="0">
                <a:sym typeface="Symbol" charset="2"/>
              </a:rPr>
              <a:t>if </a:t>
            </a:r>
            <a:r>
              <a:rPr lang="en-US" i="1" dirty="0">
                <a:sym typeface="Symbol" charset="2"/>
              </a:rPr>
              <a:t>D</a:t>
            </a:r>
            <a:r>
              <a:rPr lang="en-US" dirty="0">
                <a:sym typeface="Symbol" charset="2"/>
              </a:rPr>
              <a:t> &gt; </a:t>
            </a:r>
            <a:r>
              <a:rPr lang="en-US" i="1" dirty="0">
                <a:sym typeface="Symbol" charset="2"/>
              </a:rPr>
              <a:t>m</a:t>
            </a:r>
            <a:r>
              <a:rPr lang="en-US" dirty="0">
                <a:sym typeface="Symbol" charset="2"/>
              </a:rPr>
              <a:t>  Thrashing</a:t>
            </a:r>
          </a:p>
          <a:p>
            <a:r>
              <a:rPr lang="en-US" dirty="0">
                <a:sym typeface="Symbol" charset="2"/>
              </a:rPr>
              <a:t>Policy if </a:t>
            </a:r>
            <a:r>
              <a:rPr lang="en-US" i="1" dirty="0">
                <a:sym typeface="Symbol" charset="2"/>
              </a:rPr>
              <a:t>D</a:t>
            </a:r>
            <a:r>
              <a:rPr lang="en-US" dirty="0">
                <a:sym typeface="Symbol" charset="2"/>
              </a:rPr>
              <a:t> &gt; m, then suspend one of the processes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Working-set model</a:t>
            </a:r>
          </a:p>
        </p:txBody>
      </p:sp>
      <p:pic>
        <p:nvPicPr>
          <p:cNvPr id="11366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363" y="2068513"/>
            <a:ext cx="6772275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Page-Fault Frequency Scheme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28738"/>
            <a:ext cx="7029450" cy="1447800"/>
          </a:xfrm>
        </p:spPr>
        <p:txBody>
          <a:bodyPr/>
          <a:lstStyle/>
          <a:p>
            <a:r>
              <a:rPr lang="en-US"/>
              <a:t>Establish “acceptable” page-fault rate</a:t>
            </a:r>
          </a:p>
          <a:p>
            <a:pPr lvl="1"/>
            <a:r>
              <a:rPr lang="en-US"/>
              <a:t>If actual rate too low, process loses frame</a:t>
            </a:r>
          </a:p>
          <a:p>
            <a:pPr lvl="1"/>
            <a:r>
              <a:rPr lang="en-US"/>
              <a:t>If actual rate too high, process gains frame</a:t>
            </a:r>
          </a:p>
        </p:txBody>
      </p:sp>
      <p:pic>
        <p:nvPicPr>
          <p:cNvPr id="11776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" t="16351" r="1137" b="16667"/>
          <a:stretch>
            <a:fillRect/>
          </a:stretch>
        </p:blipFill>
        <p:spPr bwMode="auto">
          <a:xfrm>
            <a:off x="1530350" y="2933700"/>
            <a:ext cx="5886450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>
          <a:xfrm>
            <a:off x="771525" y="277813"/>
            <a:ext cx="8229600" cy="576262"/>
          </a:xfrm>
        </p:spPr>
        <p:txBody>
          <a:bodyPr/>
          <a:lstStyle/>
          <a:p>
            <a:pPr eaLnBrk="1" hangingPunct="1"/>
            <a:r>
              <a:rPr lang="en-US"/>
              <a:t>Working Sets and Page Fault Rates</a:t>
            </a:r>
          </a:p>
        </p:txBody>
      </p:sp>
      <p:pic>
        <p:nvPicPr>
          <p:cNvPr id="119812" name="Picture 4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2082800"/>
            <a:ext cx="6869112" cy="313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Allocating Kernel Memory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Treated differently from user memory</a:t>
            </a:r>
          </a:p>
          <a:p>
            <a:r>
              <a:rPr lang="en-US"/>
              <a:t>Often allocated from a free-memory pool</a:t>
            </a:r>
          </a:p>
          <a:p>
            <a:pPr lvl="1"/>
            <a:r>
              <a:rPr lang="en-US"/>
              <a:t>Kernel requests memory for structures of varying sizes</a:t>
            </a:r>
          </a:p>
          <a:p>
            <a:pPr lvl="1"/>
            <a:r>
              <a:rPr lang="en-US"/>
              <a:t>Some kernel memory needs to be contiguous</a:t>
            </a:r>
          </a:p>
          <a:p>
            <a:pPr>
              <a:buFont typeface="Monotype Sorts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Buddy System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Allocates memory from fixed-size segment consisting of physically-contiguous pages</a:t>
            </a:r>
          </a:p>
          <a:p>
            <a:r>
              <a:rPr lang="en-US"/>
              <a:t>Memory allocated using </a:t>
            </a:r>
            <a:r>
              <a:rPr lang="en-US" b="1"/>
              <a:t>power-of-2 allocator</a:t>
            </a:r>
          </a:p>
          <a:p>
            <a:pPr lvl="1"/>
            <a:r>
              <a:rPr lang="en-US"/>
              <a:t>Satisfies requests in units sized as power of 2</a:t>
            </a:r>
          </a:p>
          <a:p>
            <a:pPr lvl="1"/>
            <a:r>
              <a:rPr lang="en-US"/>
              <a:t>Request rounded up to next highest power of 2</a:t>
            </a:r>
          </a:p>
          <a:p>
            <a:pPr lvl="1"/>
            <a:r>
              <a:rPr lang="en-US"/>
              <a:t>When smaller allocation needed than is available, current chunk split into two buddies of next-lower power of 2</a:t>
            </a:r>
          </a:p>
          <a:p>
            <a:pPr lvl="2"/>
            <a:r>
              <a:rPr lang="en-US"/>
              <a:t>Continue until appropriate sized chunk available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Buddy System Allocator</a:t>
            </a:r>
          </a:p>
        </p:txBody>
      </p:sp>
      <p:pic>
        <p:nvPicPr>
          <p:cNvPr id="13107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1136650"/>
            <a:ext cx="56959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Slab Allocator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Alternate strategy</a:t>
            </a:r>
          </a:p>
          <a:p>
            <a:r>
              <a:rPr lang="en-US" b="1">
                <a:solidFill>
                  <a:srgbClr val="3366FF"/>
                </a:solidFill>
              </a:rPr>
              <a:t>Slab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is one or more physically contiguous pages</a:t>
            </a:r>
          </a:p>
          <a:p>
            <a:r>
              <a:rPr lang="en-US" b="1">
                <a:solidFill>
                  <a:srgbClr val="3366FF"/>
                </a:solidFill>
              </a:rPr>
              <a:t>Cache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consists of one or more slabs</a:t>
            </a:r>
          </a:p>
          <a:p>
            <a:r>
              <a:rPr lang="en-US"/>
              <a:t>Single cache for each unique kernel data structure</a:t>
            </a:r>
          </a:p>
          <a:p>
            <a:pPr lvl="1"/>
            <a:r>
              <a:rPr lang="en-US"/>
              <a:t>Each cache filled with </a:t>
            </a:r>
            <a:r>
              <a:rPr lang="en-US" b="1">
                <a:solidFill>
                  <a:srgbClr val="3366FF"/>
                </a:solidFill>
              </a:rPr>
              <a:t>objects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instantiations of the data structure</a:t>
            </a:r>
          </a:p>
          <a:p>
            <a:r>
              <a:rPr lang="en-US"/>
              <a:t>When cache created, filled with objects marked as </a:t>
            </a:r>
            <a:r>
              <a:rPr lang="en-US" b="1"/>
              <a:t>free</a:t>
            </a:r>
          </a:p>
          <a:p>
            <a:r>
              <a:rPr lang="en-US"/>
              <a:t>When structures stored, objects marked as </a:t>
            </a:r>
            <a:r>
              <a:rPr lang="en-US" b="1"/>
              <a:t>used</a:t>
            </a:r>
          </a:p>
          <a:p>
            <a:r>
              <a:rPr lang="en-US"/>
              <a:t>If slab is full of used objects, next object allocated from empty slab</a:t>
            </a:r>
          </a:p>
          <a:p>
            <a:pPr lvl="1"/>
            <a:r>
              <a:rPr lang="en-US"/>
              <a:t>If no empty slabs, new slab allocated</a:t>
            </a:r>
          </a:p>
          <a:p>
            <a:r>
              <a:rPr lang="en-US"/>
              <a:t>Benefits include no fragmentation, fast memory request satisfaction</a:t>
            </a:r>
          </a:p>
          <a:p>
            <a:pPr>
              <a:buFont typeface="Monotype Sorts" charset="2"/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Slab Allocation</a:t>
            </a:r>
          </a:p>
        </p:txBody>
      </p:sp>
      <p:pic>
        <p:nvPicPr>
          <p:cNvPr id="13517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" t="3944" r="720" b="3635"/>
          <a:stretch>
            <a:fillRect/>
          </a:stretch>
        </p:blipFill>
        <p:spPr bwMode="auto">
          <a:xfrm>
            <a:off x="1417638" y="1601788"/>
            <a:ext cx="6130925" cy="431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Issues -- Prepaging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47800"/>
            <a:ext cx="7523162" cy="4908550"/>
          </a:xfrm>
        </p:spPr>
        <p:txBody>
          <a:bodyPr/>
          <a:lstStyle/>
          <a:p>
            <a:r>
              <a:rPr lang="en-US" dirty="0" err="1"/>
              <a:t>Prepaging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 reduce the large number of page faults that occurs at process startup</a:t>
            </a:r>
          </a:p>
          <a:p>
            <a:pPr lvl="1"/>
            <a:r>
              <a:rPr lang="en-US" dirty="0" err="1"/>
              <a:t>Prepage</a:t>
            </a:r>
            <a:r>
              <a:rPr lang="en-US" dirty="0"/>
              <a:t> all or some of the pages a process will need, before they are referenced</a:t>
            </a:r>
          </a:p>
          <a:p>
            <a:pPr lvl="1"/>
            <a:r>
              <a:rPr lang="en-US" dirty="0"/>
              <a:t>But if </a:t>
            </a:r>
            <a:r>
              <a:rPr lang="en-US" dirty="0" err="1"/>
              <a:t>prepaged</a:t>
            </a:r>
            <a:r>
              <a:rPr lang="en-US" dirty="0"/>
              <a:t> pages are unused, I/O and memory </a:t>
            </a:r>
            <a:r>
              <a:rPr lang="en-US"/>
              <a:t>was wasted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Issues – Page Size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311275"/>
            <a:ext cx="7289800" cy="4233863"/>
          </a:xfrm>
        </p:spPr>
        <p:txBody>
          <a:bodyPr/>
          <a:lstStyle/>
          <a:p>
            <a:r>
              <a:rPr lang="en-US"/>
              <a:t>Page size selection must take into consideration:</a:t>
            </a:r>
          </a:p>
          <a:p>
            <a:pPr lvl="1"/>
            <a:r>
              <a:rPr lang="en-US"/>
              <a:t>fragmentation</a:t>
            </a:r>
          </a:p>
          <a:p>
            <a:pPr lvl="1"/>
            <a:r>
              <a:rPr lang="en-US"/>
              <a:t>table size </a:t>
            </a:r>
          </a:p>
          <a:p>
            <a:pPr lvl="1"/>
            <a:r>
              <a:rPr lang="en-US"/>
              <a:t>I/O overhead</a:t>
            </a:r>
          </a:p>
          <a:p>
            <a:pPr lvl="1"/>
            <a:r>
              <a:rPr lang="en-US"/>
              <a:t>locality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Issues – TLB Reach 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70025"/>
            <a:ext cx="6804025" cy="4418013"/>
          </a:xfrm>
        </p:spPr>
        <p:txBody>
          <a:bodyPr/>
          <a:lstStyle/>
          <a:p>
            <a:r>
              <a:rPr lang="en-US"/>
              <a:t>TLB Reach - The amount of memory accessible from the TLB</a:t>
            </a:r>
          </a:p>
          <a:p>
            <a:r>
              <a:rPr lang="en-US"/>
              <a:t>TLB Reach = (TLB Size) X (Page Size)</a:t>
            </a:r>
          </a:p>
          <a:p>
            <a:r>
              <a:rPr lang="en-US"/>
              <a:t>Ideally, the working set of each process is stored in the TLB</a:t>
            </a:r>
          </a:p>
          <a:p>
            <a:pPr lvl="1"/>
            <a:r>
              <a:rPr lang="en-US"/>
              <a:t>Otherwise there is a high degree of page faults</a:t>
            </a:r>
          </a:p>
          <a:p>
            <a:r>
              <a:rPr lang="en-US"/>
              <a:t>Increase the Page Size</a:t>
            </a:r>
          </a:p>
          <a:p>
            <a:pPr lvl="1"/>
            <a:r>
              <a:rPr lang="en-US"/>
              <a:t>This may lead to an increase in fragmentation as not all applications require a large page size</a:t>
            </a:r>
          </a:p>
          <a:p>
            <a:r>
              <a:rPr lang="en-US"/>
              <a:t>Provide Multiple Page Sizes</a:t>
            </a:r>
          </a:p>
          <a:p>
            <a:pPr lvl="1"/>
            <a:r>
              <a:rPr lang="en-US"/>
              <a:t>This allows applications that require larger page sizes the opportunity to use them without an increase in fragmentation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Issues – Program Structure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282700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9463" algn="l"/>
                <a:tab pos="3651250" algn="l"/>
              </a:tabLst>
            </a:pPr>
            <a:r>
              <a:rPr lang="en-US" dirty="0"/>
              <a:t>Program structure</a:t>
            </a:r>
          </a:p>
          <a:p>
            <a:pPr lvl="1">
              <a:lnSpc>
                <a:spcPct val="90000"/>
              </a:lnSpc>
              <a:tabLst>
                <a:tab pos="3319463" algn="l"/>
                <a:tab pos="3651250" algn="l"/>
              </a:tabLst>
            </a:pPr>
            <a:r>
              <a:rPr lang="en-US" dirty="0">
                <a:latin typeface="Courier New" charset="0"/>
              </a:rPr>
              <a:t>int[128,128] data;</a:t>
            </a:r>
          </a:p>
          <a:p>
            <a:pPr lvl="1">
              <a:lnSpc>
                <a:spcPct val="90000"/>
              </a:lnSpc>
              <a:tabLst>
                <a:tab pos="3319463" algn="l"/>
                <a:tab pos="3651250" algn="l"/>
              </a:tabLst>
            </a:pPr>
            <a:r>
              <a:rPr lang="en-US" dirty="0"/>
              <a:t>Each row is stored in one page </a:t>
            </a:r>
          </a:p>
          <a:p>
            <a:pPr lvl="1">
              <a:lnSpc>
                <a:spcPct val="90000"/>
              </a:lnSpc>
              <a:tabLst>
                <a:tab pos="3319463" algn="l"/>
                <a:tab pos="3651250" algn="l"/>
              </a:tabLst>
            </a:pPr>
            <a:r>
              <a:rPr lang="en-US" dirty="0"/>
              <a:t>Program 1 	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3319463" algn="l"/>
                <a:tab pos="3651250" algn="l"/>
              </a:tabLst>
            </a:pPr>
            <a:r>
              <a:rPr lang="en-US" dirty="0">
                <a:latin typeface="Courier New" charset="0"/>
              </a:rPr>
              <a:t>                for (int j = 0; j &lt;128; </a:t>
            </a:r>
            <a:r>
              <a:rPr lang="en-US" dirty="0" err="1">
                <a:latin typeface="Courier New" charset="0"/>
              </a:rPr>
              <a:t>j++</a:t>
            </a:r>
            <a:r>
              <a:rPr lang="en-US" dirty="0">
                <a:latin typeface="Courier New" charset="0"/>
              </a:rPr>
              <a:t>)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                  for (int i = 0; i &lt; 128; i++)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                        data[</a:t>
            </a:r>
            <a:r>
              <a:rPr lang="en-US" dirty="0" err="1">
                <a:latin typeface="Courier New" charset="0"/>
              </a:rPr>
              <a:t>i,j</a:t>
            </a:r>
            <a:r>
              <a:rPr lang="en-US" dirty="0">
                <a:latin typeface="Courier New" charset="0"/>
              </a:rPr>
              <a:t>] = 0;</a:t>
            </a:r>
            <a:br>
              <a:rPr lang="en-US" dirty="0">
                <a:latin typeface="Courier New" charset="0"/>
              </a:rPr>
            </a:br>
            <a:endParaRPr lang="en-US" dirty="0">
              <a:latin typeface="Courier New" charset="0"/>
            </a:endParaRPr>
          </a:p>
          <a:p>
            <a:pPr lvl="1">
              <a:lnSpc>
                <a:spcPct val="90000"/>
              </a:lnSpc>
              <a:buFont typeface="Monotype Sorts" charset="2"/>
              <a:buNone/>
              <a:tabLst>
                <a:tab pos="3319463" algn="l"/>
                <a:tab pos="3651250" algn="l"/>
              </a:tabLst>
            </a:pPr>
            <a:r>
              <a:rPr lang="en-US" dirty="0"/>
              <a:t>     128 x 128 = 16,384 page faults </a:t>
            </a:r>
            <a:br>
              <a:rPr lang="en-US" dirty="0"/>
            </a:br>
            <a:endParaRPr lang="en-US" dirty="0"/>
          </a:p>
          <a:p>
            <a:pPr lvl="1">
              <a:lnSpc>
                <a:spcPct val="90000"/>
              </a:lnSpc>
              <a:tabLst>
                <a:tab pos="3319463" algn="l"/>
                <a:tab pos="3651250" algn="l"/>
              </a:tabLst>
            </a:pPr>
            <a:r>
              <a:rPr lang="en-US" dirty="0"/>
              <a:t>Program 2 	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tabLst>
                <a:tab pos="3319463" algn="l"/>
                <a:tab pos="3651250" algn="l"/>
              </a:tabLst>
            </a:pPr>
            <a:r>
              <a:rPr lang="en-US" dirty="0">
                <a:latin typeface="Courier New" charset="0"/>
              </a:rPr>
              <a:t>             for (int i = 0; i &lt; 128; i++)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               for </a:t>
            </a:r>
            <a:r>
              <a:rPr lang="en-US">
                <a:latin typeface="Courier New" charset="0"/>
              </a:rPr>
              <a:t>(int j </a:t>
            </a:r>
            <a:r>
              <a:rPr lang="en-US" dirty="0">
                <a:latin typeface="Courier New" charset="0"/>
              </a:rPr>
              <a:t>= 0; j &lt; 128; </a:t>
            </a:r>
            <a:r>
              <a:rPr lang="en-US" dirty="0" err="1">
                <a:latin typeface="Courier New" charset="0"/>
              </a:rPr>
              <a:t>j++</a:t>
            </a:r>
            <a:r>
              <a:rPr lang="en-US" dirty="0">
                <a:latin typeface="Courier New" charset="0"/>
              </a:rPr>
              <a:t>)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                     data[</a:t>
            </a:r>
            <a:r>
              <a:rPr lang="en-US" dirty="0" err="1">
                <a:latin typeface="Courier New" charset="0"/>
              </a:rPr>
              <a:t>i,j</a:t>
            </a:r>
            <a:r>
              <a:rPr lang="en-US" dirty="0">
                <a:latin typeface="Courier New" charset="0"/>
              </a:rPr>
              <a:t>] = 0;</a:t>
            </a:r>
          </a:p>
          <a:p>
            <a:pPr lvl="1">
              <a:lnSpc>
                <a:spcPct val="90000"/>
              </a:lnSpc>
              <a:buFont typeface="Monotype Sorts" charset="2"/>
              <a:buNone/>
              <a:tabLst>
                <a:tab pos="3319463" algn="l"/>
                <a:tab pos="3651250" algn="l"/>
              </a:tabLst>
            </a:pPr>
            <a:br>
              <a:rPr lang="en-US" dirty="0"/>
            </a:br>
            <a:r>
              <a:rPr lang="en-US" dirty="0"/>
              <a:t>128 page faults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Issues – I/O interlock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09700"/>
            <a:ext cx="6265862" cy="4459288"/>
          </a:xfrm>
        </p:spPr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I/O Interlock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Pages must sometimes be locked into memory</a:t>
            </a:r>
          </a:p>
          <a:p>
            <a:endParaRPr lang="en-US"/>
          </a:p>
          <a:p>
            <a:r>
              <a:rPr lang="en-US"/>
              <a:t>Consider I/O - Pages that are used for copying a file from a device must be locked from being selected for eviction by a page replacement algorithm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73125" y="0"/>
            <a:ext cx="8134350" cy="844550"/>
          </a:xfrm>
        </p:spPr>
        <p:txBody>
          <a:bodyPr/>
          <a:lstStyle/>
          <a:p>
            <a:pPr eaLnBrk="1" hangingPunct="1"/>
            <a:r>
              <a:rPr lang="en-US" sz="2400"/>
              <a:t>Reason Why Frames Used For I/O Must Be In Memory</a:t>
            </a:r>
          </a:p>
        </p:txBody>
      </p:sp>
      <p:pic>
        <p:nvPicPr>
          <p:cNvPr id="14745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1647825"/>
            <a:ext cx="3478212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6609</TotalTime>
  <Words>2342</Words>
  <Application>Microsoft Office PowerPoint</Application>
  <PresentationFormat>On-screen Show (4:3)</PresentationFormat>
  <Paragraphs>407</Paragraphs>
  <Slides>62</Slides>
  <Notes>62</Notes>
  <HiddenSlides>1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os-8</vt:lpstr>
      <vt:lpstr>Equation</vt:lpstr>
      <vt:lpstr>Chapter 9:  Virtual Memory</vt:lpstr>
      <vt:lpstr>Chapter 9:  Virtual Memory</vt:lpstr>
      <vt:lpstr>Background</vt:lpstr>
      <vt:lpstr>Virtual Memory That is Larger Than Physical Memory</vt:lpstr>
      <vt:lpstr>Virtual-address Space</vt:lpstr>
      <vt:lpstr>Shared Library Using Virtual Memory</vt:lpstr>
      <vt:lpstr>Demand Paging</vt:lpstr>
      <vt:lpstr>Transfer of a Paged Memory to Contiguous Disk Space</vt:lpstr>
      <vt:lpstr>Valid-Invalid Bit</vt:lpstr>
      <vt:lpstr>Page Table When Some Pages Are Not in Main Memory</vt:lpstr>
      <vt:lpstr>Page Fault</vt:lpstr>
      <vt:lpstr>Page Fault (Cont.)</vt:lpstr>
      <vt:lpstr>Steps in Handling a Page Fault</vt:lpstr>
      <vt:lpstr>Performance of Demand Paging</vt:lpstr>
      <vt:lpstr>Demand Paging Example</vt:lpstr>
      <vt:lpstr>Process Creation</vt:lpstr>
      <vt:lpstr>Copy-on-Write</vt:lpstr>
      <vt:lpstr>Before Process 1 Modifies Page C</vt:lpstr>
      <vt:lpstr>After Process 1 Modifies Page C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Replacement Algorithms</vt:lpstr>
      <vt:lpstr>Graph of Page Faults Versus The Number of Frames</vt:lpstr>
      <vt:lpstr>First-In-First-Out (FIFO) Algorithm</vt:lpstr>
      <vt:lpstr>FIFO Illustrating Belady’s Anomaly</vt:lpstr>
      <vt:lpstr>FIFO Page Replacement</vt:lpstr>
      <vt:lpstr>Optimal Algorithm</vt:lpstr>
      <vt:lpstr>Optimal Page Replacement</vt:lpstr>
      <vt:lpstr>Least Recently Used (LRU) Algorithm</vt:lpstr>
      <vt:lpstr>LRU Page Replacement</vt:lpstr>
      <vt:lpstr>LRU Algorithm (Cont.)</vt:lpstr>
      <vt:lpstr>LRU Approximation Algorithms</vt:lpstr>
      <vt:lpstr>Second-Chance (clock) Page-Replacement Algorithm</vt:lpstr>
      <vt:lpstr>Second-Chance Page Replacement Algorithm</vt:lpstr>
      <vt:lpstr>Counting Algorithms</vt:lpstr>
      <vt:lpstr>Allocation of Frames</vt:lpstr>
      <vt:lpstr>Fixed Allocation</vt:lpstr>
      <vt:lpstr>Priority Allocation</vt:lpstr>
      <vt:lpstr>Global vs. Local Allocation</vt:lpstr>
      <vt:lpstr>Thrashing</vt:lpstr>
      <vt:lpstr>Thrashing (Cont.)</vt:lpstr>
      <vt:lpstr>Demand Paging and Thrashing </vt:lpstr>
      <vt:lpstr>Locality In A Memory-Reference Pattern</vt:lpstr>
      <vt:lpstr>Working-Set Model</vt:lpstr>
      <vt:lpstr>Working-set model</vt:lpstr>
      <vt:lpstr>Page-Fault Frequency Scheme</vt:lpstr>
      <vt:lpstr>Working Sets and Page Fault Rates</vt:lpstr>
      <vt:lpstr>Allocating Kernel Memory</vt:lpstr>
      <vt:lpstr>Buddy System</vt:lpstr>
      <vt:lpstr>Buddy System Allocator</vt:lpstr>
      <vt:lpstr>Slab Allocator</vt:lpstr>
      <vt:lpstr>Slab Allocation</vt:lpstr>
      <vt:lpstr>Other Issues -- Prepaging</vt:lpstr>
      <vt:lpstr>Other Issues – Page Size</vt:lpstr>
      <vt:lpstr>Other Issues – TLB Reach </vt:lpstr>
      <vt:lpstr>Other Issues – Program Structure</vt:lpstr>
      <vt:lpstr>Other Issues – I/O interlock</vt:lpstr>
      <vt:lpstr>Reason Why Frames Used For I/O Must Be In Memory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Marilyn Turnamian</dc:creator>
  <cp:lastModifiedBy>Siming Liu</cp:lastModifiedBy>
  <cp:revision>220</cp:revision>
  <cp:lastPrinted>2001-06-15T13:47:43Z</cp:lastPrinted>
  <dcterms:created xsi:type="dcterms:W3CDTF">1999-08-03T15:41:59Z</dcterms:created>
  <dcterms:modified xsi:type="dcterms:W3CDTF">2020-11-05T15:53:11Z</dcterms:modified>
</cp:coreProperties>
</file>